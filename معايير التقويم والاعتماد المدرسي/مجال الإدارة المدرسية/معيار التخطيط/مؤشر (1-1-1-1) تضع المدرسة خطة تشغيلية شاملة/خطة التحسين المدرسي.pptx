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60"/>
  </p:notesMasterIdLst>
  <p:sldIdLst>
    <p:sldId id="256" r:id="rId2"/>
    <p:sldId id="282" r:id="rId3"/>
    <p:sldId id="300" r:id="rId4"/>
    <p:sldId id="257" r:id="rId5"/>
    <p:sldId id="258" r:id="rId6"/>
    <p:sldId id="259" r:id="rId7"/>
    <p:sldId id="260" r:id="rId8"/>
    <p:sldId id="261" r:id="rId9"/>
    <p:sldId id="263" r:id="rId10"/>
    <p:sldId id="266" r:id="rId11"/>
    <p:sldId id="267" r:id="rId12"/>
    <p:sldId id="268" r:id="rId13"/>
    <p:sldId id="269" r:id="rId14"/>
    <p:sldId id="270" r:id="rId15"/>
    <p:sldId id="271" r:id="rId16"/>
    <p:sldId id="262" r:id="rId17"/>
    <p:sldId id="272" r:id="rId18"/>
    <p:sldId id="273" r:id="rId19"/>
    <p:sldId id="274" r:id="rId20"/>
    <p:sldId id="275" r:id="rId21"/>
    <p:sldId id="276" r:id="rId22"/>
    <p:sldId id="277" r:id="rId23"/>
    <p:sldId id="278" r:id="rId24"/>
    <p:sldId id="280" r:id="rId25"/>
    <p:sldId id="285" r:id="rId26"/>
    <p:sldId id="286" r:id="rId27"/>
    <p:sldId id="287" r:id="rId28"/>
    <p:sldId id="264" r:id="rId29"/>
    <p:sldId id="265" r:id="rId30"/>
    <p:sldId id="289" r:id="rId31"/>
    <p:sldId id="290" r:id="rId32"/>
    <p:sldId id="291" r:id="rId33"/>
    <p:sldId id="292" r:id="rId34"/>
    <p:sldId id="293" r:id="rId35"/>
    <p:sldId id="294" r:id="rId36"/>
    <p:sldId id="295" r:id="rId37"/>
    <p:sldId id="296" r:id="rId38"/>
    <p:sldId id="298" r:id="rId39"/>
    <p:sldId id="299" r:id="rId40"/>
    <p:sldId id="302" r:id="rId41"/>
    <p:sldId id="303" r:id="rId42"/>
    <p:sldId id="304" r:id="rId43"/>
    <p:sldId id="305" r:id="rId44"/>
    <p:sldId id="306" r:id="rId45"/>
    <p:sldId id="307" r:id="rId46"/>
    <p:sldId id="308" r:id="rId47"/>
    <p:sldId id="309" r:id="rId48"/>
    <p:sldId id="310" r:id="rId49"/>
    <p:sldId id="321" r:id="rId50"/>
    <p:sldId id="312" r:id="rId51"/>
    <p:sldId id="313" r:id="rId52"/>
    <p:sldId id="314" r:id="rId53"/>
    <p:sldId id="315" r:id="rId54"/>
    <p:sldId id="316" r:id="rId55"/>
    <p:sldId id="317" r:id="rId56"/>
    <p:sldId id="318" r:id="rId57"/>
    <p:sldId id="319" r:id="rId58"/>
    <p:sldId id="320"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5B96"/>
    <a:srgbClr val="128086"/>
    <a:srgbClr val="1B4977"/>
    <a:srgbClr val="102F5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snapToObjects="1">
      <p:cViewPr varScale="1">
        <p:scale>
          <a:sx n="75" d="100"/>
          <a:sy n="75" d="100"/>
        </p:scale>
        <p:origin x="87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92D886E-BD98-4C48-A811-0D7DF15D249F}" type="datetimeFigureOut">
              <a:rPr lang="ar-SA" smtClean="0"/>
              <a:t>19/02/1448</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7E04BA32-8DFA-4328-89A7-F8B7A8AFE28D}" type="slidenum">
              <a:rPr lang="ar-SA" smtClean="0"/>
              <a:t>‹#›</a:t>
            </a:fld>
            <a:endParaRPr lang="ar-SA"/>
          </a:p>
        </p:txBody>
      </p:sp>
    </p:spTree>
    <p:extLst>
      <p:ext uri="{BB962C8B-B14F-4D97-AF65-F5344CB8AC3E}">
        <p14:creationId xmlns:p14="http://schemas.microsoft.com/office/powerpoint/2010/main" val="214372915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04BA32-8DFA-4328-89A7-F8B7A8AFE28D}" type="slidenum">
              <a:rPr lang="ar-SA" smtClean="0"/>
              <a:t>1</a:t>
            </a:fld>
            <a:endParaRPr lang="ar-SA" dirty="0"/>
          </a:p>
        </p:txBody>
      </p:sp>
    </p:spTree>
    <p:extLst>
      <p:ext uri="{BB962C8B-B14F-4D97-AF65-F5344CB8AC3E}">
        <p14:creationId xmlns:p14="http://schemas.microsoft.com/office/powerpoint/2010/main" val="231210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04BA32-8DFA-4328-89A7-F8B7A8AFE28D}" type="slidenum">
              <a:rPr lang="ar-SA" smtClean="0"/>
              <a:t>4</a:t>
            </a:fld>
            <a:endParaRPr lang="ar-SA" dirty="0"/>
          </a:p>
        </p:txBody>
      </p:sp>
    </p:spTree>
    <p:extLst>
      <p:ext uri="{BB962C8B-B14F-4D97-AF65-F5344CB8AC3E}">
        <p14:creationId xmlns:p14="http://schemas.microsoft.com/office/powerpoint/2010/main" val="3301379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04BA32-8DFA-4328-89A7-F8B7A8AFE28D}" type="slidenum">
              <a:rPr lang="ar-SA" smtClean="0"/>
              <a:t>18</a:t>
            </a:fld>
            <a:endParaRPr lang="ar-SA" dirty="0"/>
          </a:p>
        </p:txBody>
      </p:sp>
    </p:spTree>
    <p:extLst>
      <p:ext uri="{BB962C8B-B14F-4D97-AF65-F5344CB8AC3E}">
        <p14:creationId xmlns:p14="http://schemas.microsoft.com/office/powerpoint/2010/main" val="3945471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04BA32-8DFA-4328-89A7-F8B7A8AFE28D}" type="slidenum">
              <a:rPr lang="ar-SA" smtClean="0"/>
              <a:t>29</a:t>
            </a:fld>
            <a:endParaRPr lang="ar-SA"/>
          </a:p>
        </p:txBody>
      </p:sp>
    </p:spTree>
    <p:extLst>
      <p:ext uri="{BB962C8B-B14F-4D97-AF65-F5344CB8AC3E}">
        <p14:creationId xmlns:p14="http://schemas.microsoft.com/office/powerpoint/2010/main" val="4118174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ar-EG"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75000"/>
              </a:schemeClr>
            </a:gs>
            <a:gs pos="0">
              <a:srgbClr val="102F5D"/>
            </a:gs>
            <a:gs pos="25000">
              <a:schemeClr val="accent5">
                <a:lumMod val="60000"/>
              </a:schemeClr>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2.xml"/><Relationship Id="rId16"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6.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44.png"/><Relationship Id="rId21" Type="http://schemas.openxmlformats.org/officeDocument/2006/relationships/image" Target="../media/image62.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image" Target="../media/image16.png"/><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6.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2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27.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76.png"/><Relationship Id="rId7" Type="http://schemas.openxmlformats.org/officeDocument/2006/relationships/image" Target="../media/image102.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s>
</file>

<file path=ppt/slides/_rels/slide28.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2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png"/>
          <p:cNvPicPr>
            <a:picLocks noChangeAspect="1"/>
          </p:cNvPicPr>
          <p:nvPr/>
        </p:nvPicPr>
        <p:blipFill>
          <a:blip r:embed="rId3"/>
          <a:stretch>
            <a:fillRect/>
          </a:stretch>
        </p:blipFill>
        <p:spPr>
          <a:xfrm>
            <a:off x="666750" y="614362"/>
            <a:ext cx="1017980" cy="1017980"/>
          </a:xfrm>
          <a:prstGeom prst="rect">
            <a:avLst/>
          </a:prstGeom>
        </p:spPr>
      </p:pic>
      <p:sp>
        <p:nvSpPr>
          <p:cNvPr id="6" name="TextBox 5"/>
          <p:cNvSpPr txBox="1"/>
          <p:nvPr/>
        </p:nvSpPr>
        <p:spPr>
          <a:xfrm>
            <a:off x="2470136" y="1914133"/>
            <a:ext cx="8553552" cy="705321"/>
          </a:xfrm>
          <a:prstGeom prst="rect">
            <a:avLst/>
          </a:prstGeom>
          <a:noFill/>
        </p:spPr>
        <p:txBody>
          <a:bodyPr wrap="square" lIns="0" tIns="0" rIns="0" bIns="0" anchor="t">
            <a:spAutoFit/>
          </a:bodyPr>
          <a:lstStyle/>
          <a:p>
            <a:pPr algn="ctr">
              <a:lnSpc>
                <a:spcPts val="5520"/>
              </a:lnSpc>
              <a:defRPr/>
            </a:pPr>
            <a:r>
              <a:rPr lang="ar-EG" sz="6000" b="0" i="0" u="none" noProof="1">
                <a:solidFill>
                  <a:srgbClr val="FFFFFF"/>
                </a:solidFill>
                <a:latin typeface="Cairo Black"/>
              </a:rPr>
              <a:t> إعداد خطة التحسين المدرسي</a:t>
            </a:r>
          </a:p>
        </p:txBody>
      </p:sp>
      <p:pic>
        <p:nvPicPr>
          <p:cNvPr id="9" name="Picture 8" descr="A computer with a graph on it&#10;&#10;AI-generated content may be incorrect.">
            <a:extLst>
              <a:ext uri="{FF2B5EF4-FFF2-40B4-BE49-F238E27FC236}">
                <a16:creationId xmlns:a16="http://schemas.microsoft.com/office/drawing/2014/main" id="{7B1AA28C-FFFA-E666-D2F6-053277E7AD0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231" b="90385" l="20000" r="80000">
                        <a14:foregroundMark x1="24423" y1="90769" x2="24038" y2="80769"/>
                        <a14:foregroundMark x1="21154" y1="87692" x2="20192" y2="89615"/>
                        <a14:foregroundMark x1="77115" y1="88846" x2="75385" y2="79615"/>
                        <a14:foregroundMark x1="78462" y1="88846" x2="80192" y2="90385"/>
                        <a14:foregroundMark x1="69038" y1="10000" x2="69038" y2="10000"/>
                        <a14:foregroundMark x1="69615" y1="9231" x2="69615" y2="9231"/>
                        <a14:foregroundMark x1="56346" y1="15385" x2="56346" y2="15385"/>
                        <a14:foregroundMark x1="56346" y1="15385" x2="25962" y2="15000"/>
                        <a14:foregroundMark x1="56154" y1="15769" x2="67115" y2="16923"/>
                        <a14:foregroundMark x1="67115" y1="16923" x2="74615" y2="15385"/>
                        <a14:foregroundMark x1="72115" y1="15769" x2="61538" y2="15385"/>
                        <a14:foregroundMark x1="74615" y1="17692" x2="75000" y2="75385"/>
                        <a14:foregroundMark x1="74808" y1="53462" x2="75000" y2="18846"/>
                        <a14:foregroundMark x1="74808" y1="38077" x2="75000" y2="79231"/>
                        <a14:foregroundMark x1="24808" y1="78846" x2="24808" y2="17308"/>
                        <a14:foregroundMark x1="25769" y1="16538" x2="24808" y2="15769"/>
                        <a14:foregroundMark x1="26346" y1="15385" x2="24615" y2="17308"/>
                        <a14:foregroundMark x1="24231" y1="17308" x2="24231" y2="80385"/>
                      </a14:backgroundRemoval>
                    </a14:imgEffect>
                  </a14:imgLayer>
                </a14:imgProps>
              </a:ext>
            </a:extLst>
          </a:blip>
          <a:srcRect l="16296" r="17756"/>
          <a:stretch/>
        </p:blipFill>
        <p:spPr>
          <a:xfrm>
            <a:off x="545938" y="3017520"/>
            <a:ext cx="6100166" cy="315499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250"/>
                                        <p:tgtEl>
                                          <p:spTgt spid="6"/>
                                        </p:tgtEl>
                                      </p:cBhvr>
                                    </p:animEffect>
                                  </p:childTnLst>
                                </p:cTn>
                              </p:par>
                              <p:par>
                                <p:cTn id="8" presetID="21"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250"/>
                                        <p:tgtEl>
                                          <p:spTgt spid="5"/>
                                        </p:tgtEl>
                                      </p:cBhvr>
                                    </p:animEffect>
                                  </p:childTnLst>
                                </p:cTn>
                              </p:par>
                              <p:par>
                                <p:cTn id="11" presetID="21" presetClass="entr" presetSubtype="1"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heel(1)">
                                      <p:cBhvr>
                                        <p:cTn id="13" dur="2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mage.png"/>
          <p:cNvPicPr>
            <a:picLocks noChangeAspect="1"/>
          </p:cNvPicPr>
          <p:nvPr/>
        </p:nvPicPr>
        <p:blipFill>
          <a:blip r:embed="rId2"/>
          <a:stretch>
            <a:fillRect/>
          </a:stretch>
        </p:blipFill>
        <p:spPr>
          <a:xfrm>
            <a:off x="6215062" y="2371725"/>
            <a:ext cx="5500687" cy="1323975"/>
          </a:xfrm>
          <a:prstGeom prst="rect">
            <a:avLst/>
          </a:prstGeom>
        </p:spPr>
      </p:pic>
      <p:pic>
        <p:nvPicPr>
          <p:cNvPr id="6" name="Picture 5" descr="image.png"/>
          <p:cNvPicPr>
            <a:picLocks noChangeAspect="1"/>
          </p:cNvPicPr>
          <p:nvPr/>
        </p:nvPicPr>
        <p:blipFill>
          <a:blip r:embed="rId3"/>
          <a:stretch>
            <a:fillRect/>
          </a:stretch>
        </p:blipFill>
        <p:spPr>
          <a:xfrm>
            <a:off x="476250" y="2371725"/>
            <a:ext cx="5500687" cy="1323975"/>
          </a:xfrm>
          <a:prstGeom prst="rect">
            <a:avLst/>
          </a:prstGeom>
        </p:spPr>
      </p:pic>
      <p:pic>
        <p:nvPicPr>
          <p:cNvPr id="7" name="Picture 6" descr="image.png"/>
          <p:cNvPicPr>
            <a:picLocks noChangeAspect="1"/>
          </p:cNvPicPr>
          <p:nvPr/>
        </p:nvPicPr>
        <p:blipFill>
          <a:blip r:embed="rId4"/>
          <a:stretch>
            <a:fillRect/>
          </a:stretch>
        </p:blipFill>
        <p:spPr>
          <a:xfrm>
            <a:off x="6215062" y="3933825"/>
            <a:ext cx="5500687" cy="1323975"/>
          </a:xfrm>
          <a:prstGeom prst="rect">
            <a:avLst/>
          </a:prstGeom>
        </p:spPr>
      </p:pic>
      <p:pic>
        <p:nvPicPr>
          <p:cNvPr id="8" name="Picture 7" descr="image.png"/>
          <p:cNvPicPr>
            <a:picLocks noChangeAspect="1"/>
          </p:cNvPicPr>
          <p:nvPr/>
        </p:nvPicPr>
        <p:blipFill>
          <a:blip r:embed="rId5"/>
          <a:stretch>
            <a:fillRect/>
          </a:stretch>
        </p:blipFill>
        <p:spPr>
          <a:xfrm>
            <a:off x="476250" y="3933825"/>
            <a:ext cx="5500687" cy="1323975"/>
          </a:xfrm>
          <a:prstGeom prst="rect">
            <a:avLst/>
          </a:prstGeom>
        </p:spPr>
      </p:pic>
      <p:sp>
        <p:nvSpPr>
          <p:cNvPr id="16" name="TextBox 15"/>
          <p:cNvSpPr txBox="1"/>
          <p:nvPr/>
        </p:nvSpPr>
        <p:spPr>
          <a:xfrm>
            <a:off x="4150908" y="830798"/>
            <a:ext cx="4891856" cy="615553"/>
          </a:xfrm>
          <a:prstGeom prst="rect">
            <a:avLst/>
          </a:prstGeom>
          <a:noFill/>
        </p:spPr>
        <p:txBody>
          <a:bodyPr wrap="square" lIns="0" tIns="0" rIns="0" bIns="0" anchor="t">
            <a:spAutoFit/>
          </a:bodyPr>
          <a:lstStyle/>
          <a:p>
            <a:pPr algn="l"/>
            <a:r>
              <a:rPr lang="ar-EG" sz="4000" b="1" i="0" u="none" noProof="1">
                <a:solidFill>
                  <a:schemeClr val="bg1"/>
                </a:solidFill>
                <a:latin typeface="Cairo ExtraBold"/>
              </a:rPr>
              <a:t>الأهداف التدريبية للدورة</a:t>
            </a:r>
          </a:p>
        </p:txBody>
      </p:sp>
      <p:pic>
        <p:nvPicPr>
          <p:cNvPr id="17" name="Picture 16" descr="image.png"/>
          <p:cNvPicPr>
            <a:picLocks noChangeAspect="1"/>
          </p:cNvPicPr>
          <p:nvPr/>
        </p:nvPicPr>
        <p:blipFill>
          <a:blip r:embed="rId6"/>
          <a:stretch>
            <a:fillRect/>
          </a:stretch>
        </p:blipFill>
        <p:spPr>
          <a:xfrm>
            <a:off x="10848975" y="2667000"/>
            <a:ext cx="571500" cy="571500"/>
          </a:xfrm>
          <a:prstGeom prst="rect">
            <a:avLst/>
          </a:prstGeom>
        </p:spPr>
      </p:pic>
      <p:pic>
        <p:nvPicPr>
          <p:cNvPr id="18" name="Picture 17" descr="image.png"/>
          <p:cNvPicPr>
            <a:picLocks noChangeAspect="1"/>
          </p:cNvPicPr>
          <p:nvPr/>
        </p:nvPicPr>
        <p:blipFill>
          <a:blip r:embed="rId7"/>
          <a:stretch>
            <a:fillRect/>
          </a:stretch>
        </p:blipFill>
        <p:spPr>
          <a:xfrm>
            <a:off x="5110162" y="2667000"/>
            <a:ext cx="571500" cy="571500"/>
          </a:xfrm>
          <a:prstGeom prst="rect">
            <a:avLst/>
          </a:prstGeom>
        </p:spPr>
      </p:pic>
      <p:pic>
        <p:nvPicPr>
          <p:cNvPr id="19" name="Picture 18" descr="image.png"/>
          <p:cNvPicPr>
            <a:picLocks noChangeAspect="1"/>
          </p:cNvPicPr>
          <p:nvPr/>
        </p:nvPicPr>
        <p:blipFill>
          <a:blip r:embed="rId8"/>
          <a:stretch>
            <a:fillRect/>
          </a:stretch>
        </p:blipFill>
        <p:spPr>
          <a:xfrm>
            <a:off x="10848975" y="4229100"/>
            <a:ext cx="571500" cy="571500"/>
          </a:xfrm>
          <a:prstGeom prst="rect">
            <a:avLst/>
          </a:prstGeom>
        </p:spPr>
      </p:pic>
      <p:pic>
        <p:nvPicPr>
          <p:cNvPr id="20" name="Picture 19" descr="image.png"/>
          <p:cNvPicPr>
            <a:picLocks noChangeAspect="1"/>
          </p:cNvPicPr>
          <p:nvPr/>
        </p:nvPicPr>
        <p:blipFill>
          <a:blip r:embed="rId9"/>
          <a:stretch>
            <a:fillRect/>
          </a:stretch>
        </p:blipFill>
        <p:spPr>
          <a:xfrm>
            <a:off x="5110162" y="4229100"/>
            <a:ext cx="571500" cy="571500"/>
          </a:xfrm>
          <a:prstGeom prst="rect">
            <a:avLst/>
          </a:prstGeom>
        </p:spPr>
      </p:pic>
      <p:pic>
        <p:nvPicPr>
          <p:cNvPr id="21" name="Picture 20" descr="image.png"/>
          <p:cNvPicPr>
            <a:picLocks noChangeAspect="1"/>
          </p:cNvPicPr>
          <p:nvPr/>
        </p:nvPicPr>
        <p:blipFill>
          <a:blip r:embed="rId10"/>
          <a:stretch>
            <a:fillRect/>
          </a:stretch>
        </p:blipFill>
        <p:spPr>
          <a:xfrm>
            <a:off x="11010900" y="2828925"/>
            <a:ext cx="247650" cy="247650"/>
          </a:xfrm>
          <a:prstGeom prst="rect">
            <a:avLst/>
          </a:prstGeom>
        </p:spPr>
      </p:pic>
      <p:sp>
        <p:nvSpPr>
          <p:cNvPr id="22" name="TextBox 21"/>
          <p:cNvSpPr txBox="1"/>
          <p:nvPr/>
        </p:nvSpPr>
        <p:spPr>
          <a:xfrm>
            <a:off x="6510337" y="2455796"/>
            <a:ext cx="4355544" cy="369332"/>
          </a:xfrm>
          <a:prstGeom prst="rect">
            <a:avLst/>
          </a:prstGeom>
          <a:noFill/>
        </p:spPr>
        <p:txBody>
          <a:bodyPr wrap="square" lIns="0" tIns="0" rIns="0" bIns="0" anchor="t">
            <a:spAutoFit/>
          </a:bodyPr>
          <a:lstStyle/>
          <a:p>
            <a:pPr algn="r" rtl="1"/>
            <a:r>
              <a:rPr lang="ar-EG" sz="2400" b="1" i="0" u="none" noProof="1">
                <a:solidFill>
                  <a:srgbClr val="0F172A"/>
                </a:solidFill>
                <a:latin typeface="Tajawal"/>
              </a:rPr>
              <a:t>فهم المعايير والمؤشرات</a:t>
            </a:r>
          </a:p>
        </p:txBody>
      </p:sp>
      <p:sp>
        <p:nvSpPr>
          <p:cNvPr id="23" name="TextBox 22"/>
          <p:cNvSpPr txBox="1"/>
          <p:nvPr/>
        </p:nvSpPr>
        <p:spPr>
          <a:xfrm>
            <a:off x="6510337" y="2971800"/>
            <a:ext cx="4148137" cy="450764"/>
          </a:xfrm>
          <a:prstGeom prst="rect">
            <a:avLst/>
          </a:prstGeom>
          <a:noFill/>
        </p:spPr>
        <p:txBody>
          <a:bodyPr wrap="square" lIns="0" tIns="0" rIns="0" bIns="0" anchor="t">
            <a:spAutoFit/>
          </a:bodyPr>
          <a:lstStyle/>
          <a:p>
            <a:pPr algn="r" rtl="1">
              <a:lnSpc>
                <a:spcPts val="1687"/>
              </a:lnSpc>
            </a:pPr>
            <a:r>
              <a:rPr lang="ar-EG" b="1" i="0" u="none" noProof="1">
                <a:solidFill>
                  <a:srgbClr val="475569"/>
                </a:solidFill>
                <a:latin typeface="Tajawal"/>
              </a:rPr>
              <a:t>استيعاب  الإطار الوطني للتقويم المدرسي  الصادر عن هيئة تقويم  التعليم  والتدريب  ودقة مؤشراته.</a:t>
            </a:r>
          </a:p>
        </p:txBody>
      </p:sp>
      <p:pic>
        <p:nvPicPr>
          <p:cNvPr id="24" name="Picture 23" descr="image.png"/>
          <p:cNvPicPr>
            <a:picLocks noChangeAspect="1"/>
          </p:cNvPicPr>
          <p:nvPr/>
        </p:nvPicPr>
        <p:blipFill>
          <a:blip r:embed="rId11"/>
          <a:stretch>
            <a:fillRect/>
          </a:stretch>
        </p:blipFill>
        <p:spPr>
          <a:xfrm>
            <a:off x="5257800" y="2828925"/>
            <a:ext cx="276225" cy="247650"/>
          </a:xfrm>
          <a:prstGeom prst="rect">
            <a:avLst/>
          </a:prstGeom>
        </p:spPr>
      </p:pic>
      <p:sp>
        <p:nvSpPr>
          <p:cNvPr id="25" name="TextBox 24"/>
          <p:cNvSpPr txBox="1"/>
          <p:nvPr/>
        </p:nvSpPr>
        <p:spPr>
          <a:xfrm>
            <a:off x="819384" y="2475251"/>
            <a:ext cx="4355544" cy="307777"/>
          </a:xfrm>
          <a:prstGeom prst="rect">
            <a:avLst/>
          </a:prstGeom>
          <a:noFill/>
        </p:spPr>
        <p:txBody>
          <a:bodyPr wrap="square" lIns="0" tIns="0" rIns="0" bIns="0" anchor="t">
            <a:spAutoFit/>
          </a:bodyPr>
          <a:lstStyle/>
          <a:p>
            <a:pPr algn="r" rtl="1"/>
            <a:r>
              <a:rPr lang="ar-EG" sz="2000" b="1" i="0" u="none" noProof="1">
                <a:solidFill>
                  <a:srgbClr val="0F172A"/>
                </a:solidFill>
                <a:latin typeface="Tajawal"/>
              </a:rPr>
              <a:t>تشخيص الفجوات والأداء</a:t>
            </a:r>
          </a:p>
        </p:txBody>
      </p:sp>
      <p:sp>
        <p:nvSpPr>
          <p:cNvPr id="26" name="TextBox 25"/>
          <p:cNvSpPr txBox="1"/>
          <p:nvPr/>
        </p:nvSpPr>
        <p:spPr>
          <a:xfrm>
            <a:off x="771525" y="2971800"/>
            <a:ext cx="4148137" cy="443070"/>
          </a:xfrm>
          <a:prstGeom prst="rect">
            <a:avLst/>
          </a:prstGeom>
          <a:noFill/>
        </p:spPr>
        <p:txBody>
          <a:bodyPr wrap="square" lIns="0" tIns="0" rIns="0" bIns="0" anchor="t">
            <a:spAutoFit/>
          </a:bodyPr>
          <a:lstStyle/>
          <a:p>
            <a:pPr algn="r" rtl="1">
              <a:lnSpc>
                <a:spcPts val="1687"/>
              </a:lnSpc>
            </a:pPr>
            <a:r>
              <a:rPr lang="ar-EG" sz="1600" b="1" i="0" u="none" noProof="1">
                <a:solidFill>
                  <a:srgbClr val="475569"/>
                </a:solidFill>
                <a:latin typeface="Tajawal"/>
              </a:rPr>
              <a:t>قراءة  نتائج التقرير الذاتي وتحديد  الثغرات التشغيلية  بين الواقع الفعلي والمستوى المستهدف.</a:t>
            </a:r>
          </a:p>
        </p:txBody>
      </p:sp>
      <p:pic>
        <p:nvPicPr>
          <p:cNvPr id="27" name="Picture 26" descr="image.png"/>
          <p:cNvPicPr>
            <a:picLocks noChangeAspect="1"/>
          </p:cNvPicPr>
          <p:nvPr/>
        </p:nvPicPr>
        <p:blipFill>
          <a:blip r:embed="rId12"/>
          <a:stretch>
            <a:fillRect/>
          </a:stretch>
        </p:blipFill>
        <p:spPr>
          <a:xfrm>
            <a:off x="11039475" y="4391025"/>
            <a:ext cx="190500" cy="247650"/>
          </a:xfrm>
          <a:prstGeom prst="rect">
            <a:avLst/>
          </a:prstGeom>
        </p:spPr>
      </p:pic>
      <p:sp>
        <p:nvSpPr>
          <p:cNvPr id="28" name="TextBox 27"/>
          <p:cNvSpPr txBox="1"/>
          <p:nvPr/>
        </p:nvSpPr>
        <p:spPr>
          <a:xfrm>
            <a:off x="6493431" y="4063530"/>
            <a:ext cx="4355544" cy="307777"/>
          </a:xfrm>
          <a:prstGeom prst="rect">
            <a:avLst/>
          </a:prstGeom>
          <a:noFill/>
        </p:spPr>
        <p:txBody>
          <a:bodyPr wrap="square" lIns="0" tIns="0" rIns="0" bIns="0" anchor="t">
            <a:spAutoFit/>
          </a:bodyPr>
          <a:lstStyle/>
          <a:p>
            <a:pPr algn="r" rtl="1"/>
            <a:r>
              <a:rPr lang="ar-EG" sz="2000" b="1" i="0" u="none" noProof="1">
                <a:solidFill>
                  <a:srgbClr val="0F172A"/>
                </a:solidFill>
                <a:latin typeface="Tajawal"/>
              </a:rPr>
              <a:t>بناء مبادرات نوعية</a:t>
            </a:r>
          </a:p>
        </p:txBody>
      </p:sp>
      <p:sp>
        <p:nvSpPr>
          <p:cNvPr id="29" name="TextBox 28"/>
          <p:cNvSpPr txBox="1"/>
          <p:nvPr/>
        </p:nvSpPr>
        <p:spPr>
          <a:xfrm>
            <a:off x="6510337" y="4533900"/>
            <a:ext cx="4148137" cy="450701"/>
          </a:xfrm>
          <a:prstGeom prst="rect">
            <a:avLst/>
          </a:prstGeom>
          <a:noFill/>
        </p:spPr>
        <p:txBody>
          <a:bodyPr wrap="square" lIns="0" tIns="0" rIns="0" bIns="0" anchor="t">
            <a:spAutoFit/>
          </a:bodyPr>
          <a:lstStyle/>
          <a:p>
            <a:pPr algn="just" rtl="1">
              <a:lnSpc>
                <a:spcPts val="1687"/>
              </a:lnSpc>
            </a:pPr>
            <a:r>
              <a:rPr lang="ar-EG" b="1" i="0" u="none" noProof="1">
                <a:solidFill>
                  <a:srgbClr val="475569"/>
                </a:solidFill>
                <a:latin typeface="Tajawal"/>
              </a:rPr>
              <a:t>تصميم خطط تحسين عملية قابلة للتطبيق والقياس والمتابعة وفق منهجيات التخطيط  التنفيذي.</a:t>
            </a:r>
          </a:p>
        </p:txBody>
      </p:sp>
      <p:pic>
        <p:nvPicPr>
          <p:cNvPr id="30" name="Picture 29" descr="image.png"/>
          <p:cNvPicPr>
            <a:picLocks noChangeAspect="1"/>
          </p:cNvPicPr>
          <p:nvPr/>
        </p:nvPicPr>
        <p:blipFill>
          <a:blip r:embed="rId13"/>
          <a:stretch>
            <a:fillRect/>
          </a:stretch>
        </p:blipFill>
        <p:spPr>
          <a:xfrm>
            <a:off x="5257800" y="4391025"/>
            <a:ext cx="276225" cy="247650"/>
          </a:xfrm>
          <a:prstGeom prst="rect">
            <a:avLst/>
          </a:prstGeom>
        </p:spPr>
      </p:pic>
      <p:sp>
        <p:nvSpPr>
          <p:cNvPr id="31" name="TextBox 30"/>
          <p:cNvSpPr txBox="1"/>
          <p:nvPr/>
        </p:nvSpPr>
        <p:spPr>
          <a:xfrm>
            <a:off x="771525" y="4018061"/>
            <a:ext cx="4355544" cy="307777"/>
          </a:xfrm>
          <a:prstGeom prst="rect">
            <a:avLst/>
          </a:prstGeom>
          <a:noFill/>
        </p:spPr>
        <p:txBody>
          <a:bodyPr wrap="square" lIns="0" tIns="0" rIns="0" bIns="0" anchor="t">
            <a:spAutoFit/>
          </a:bodyPr>
          <a:lstStyle/>
          <a:p>
            <a:pPr algn="r" rtl="1"/>
            <a:r>
              <a:rPr lang="ar-EG" sz="2000" b="1" i="0" u="none" noProof="1">
                <a:solidFill>
                  <a:srgbClr val="0F172A"/>
                </a:solidFill>
                <a:latin typeface="Tajawal"/>
              </a:rPr>
              <a:t>تحقيق التميز المستدام</a:t>
            </a:r>
          </a:p>
        </p:txBody>
      </p:sp>
      <p:sp>
        <p:nvSpPr>
          <p:cNvPr id="32" name="TextBox 31"/>
          <p:cNvSpPr txBox="1"/>
          <p:nvPr/>
        </p:nvSpPr>
        <p:spPr>
          <a:xfrm>
            <a:off x="771525" y="4533900"/>
            <a:ext cx="4148137" cy="443070"/>
          </a:xfrm>
          <a:prstGeom prst="rect">
            <a:avLst/>
          </a:prstGeom>
          <a:noFill/>
        </p:spPr>
        <p:txBody>
          <a:bodyPr wrap="square" lIns="0" tIns="0" rIns="0" bIns="0" anchor="t">
            <a:spAutoFit/>
          </a:bodyPr>
          <a:lstStyle/>
          <a:p>
            <a:pPr algn="just" rtl="1">
              <a:lnSpc>
                <a:spcPts val="1687"/>
              </a:lnSpc>
            </a:pPr>
            <a:r>
              <a:rPr lang="ar-EG" sz="1600" b="1" i="0" u="none" noProof="1">
                <a:solidFill>
                  <a:srgbClr val="475569"/>
                </a:solidFill>
                <a:latin typeface="Tajawal"/>
              </a:rPr>
              <a:t>تمكين القيادة المدرسية من قياس الأثر وتحويل الممارسات اليومية إلى نموذج جودة مستدام.</a:t>
            </a:r>
          </a:p>
        </p:txBody>
      </p:sp>
    </p:spTree>
    <p:extLst>
      <p:ext uri="{BB962C8B-B14F-4D97-AF65-F5344CB8AC3E}">
        <p14:creationId xmlns:p14="http://schemas.microsoft.com/office/powerpoint/2010/main" val="966633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in)">
                                      <p:cBhvr>
                                        <p:cTn id="10" dur="2000"/>
                                        <p:tgtEl>
                                          <p:spTgt spid="6"/>
                                        </p:tgtEl>
                                      </p:cBhvr>
                                    </p:animEffect>
                                  </p:childTnLst>
                                </p:cTn>
                              </p:par>
                              <p:par>
                                <p:cTn id="11" presetID="6" presetClass="entr" presetSubtype="16"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000"/>
                                        <p:tgtEl>
                                          <p:spTgt spid="7"/>
                                        </p:tgtEl>
                                      </p:cBhvr>
                                    </p:animEffect>
                                  </p:childTnLst>
                                </p:cTn>
                              </p:par>
                              <p:par>
                                <p:cTn id="14" presetID="6" presetClass="entr" presetSubtype="16"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ircle(in)">
                                      <p:cBhvr>
                                        <p:cTn id="19" dur="2000"/>
                                        <p:tgtEl>
                                          <p:spTgt spid="16"/>
                                        </p:tgtEl>
                                      </p:cBhvr>
                                    </p:animEffect>
                                  </p:childTnLst>
                                </p:cTn>
                              </p:par>
                              <p:par>
                                <p:cTn id="20" presetID="6" presetClass="entr" presetSubtype="16"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circle(in)">
                                      <p:cBhvr>
                                        <p:cTn id="22" dur="2000"/>
                                        <p:tgtEl>
                                          <p:spTgt spid="17"/>
                                        </p:tgtEl>
                                      </p:cBhvr>
                                    </p:animEffect>
                                  </p:childTnLst>
                                </p:cTn>
                              </p:par>
                              <p:par>
                                <p:cTn id="23" presetID="6" presetClass="entr" presetSubtype="16"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circle(in)">
                                      <p:cBhvr>
                                        <p:cTn id="25" dur="2000"/>
                                        <p:tgtEl>
                                          <p:spTgt spid="18"/>
                                        </p:tgtEl>
                                      </p:cBhvr>
                                    </p:animEffect>
                                  </p:childTnLst>
                                </p:cTn>
                              </p:par>
                              <p:par>
                                <p:cTn id="26" presetID="6" presetClass="entr" presetSubtype="16"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circle(in)">
                                      <p:cBhvr>
                                        <p:cTn id="28" dur="2000"/>
                                        <p:tgtEl>
                                          <p:spTgt spid="19"/>
                                        </p:tgtEl>
                                      </p:cBhvr>
                                    </p:animEffect>
                                  </p:childTnLst>
                                </p:cTn>
                              </p:par>
                              <p:par>
                                <p:cTn id="29" presetID="6" presetClass="entr" presetSubtype="16"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circle(in)">
                                      <p:cBhvr>
                                        <p:cTn id="31" dur="2000"/>
                                        <p:tgtEl>
                                          <p:spTgt spid="20"/>
                                        </p:tgtEl>
                                      </p:cBhvr>
                                    </p:animEffect>
                                  </p:childTnLst>
                                </p:cTn>
                              </p:par>
                              <p:par>
                                <p:cTn id="32" presetID="6" presetClass="entr" presetSubtype="16"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circle(in)">
                                      <p:cBhvr>
                                        <p:cTn id="34" dur="2000"/>
                                        <p:tgtEl>
                                          <p:spTgt spid="21"/>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circle(in)">
                                      <p:cBhvr>
                                        <p:cTn id="37" dur="2000"/>
                                        <p:tgtEl>
                                          <p:spTgt spid="22"/>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circle(in)">
                                      <p:cBhvr>
                                        <p:cTn id="40" dur="2000"/>
                                        <p:tgtEl>
                                          <p:spTgt spid="23"/>
                                        </p:tgtEl>
                                      </p:cBhvr>
                                    </p:animEffect>
                                  </p:childTnLst>
                                </p:cTn>
                              </p:par>
                              <p:par>
                                <p:cTn id="41" presetID="6" presetClass="entr" presetSubtype="16"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circle(in)">
                                      <p:cBhvr>
                                        <p:cTn id="43" dur="2000"/>
                                        <p:tgtEl>
                                          <p:spTgt spid="24"/>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circle(in)">
                                      <p:cBhvr>
                                        <p:cTn id="46" dur="2000"/>
                                        <p:tgtEl>
                                          <p:spTgt spid="25"/>
                                        </p:tgtEl>
                                      </p:cBhvr>
                                    </p:animEffect>
                                  </p:childTnLst>
                                </p:cTn>
                              </p:par>
                              <p:par>
                                <p:cTn id="47" presetID="6" presetClass="entr" presetSubtype="16"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circle(in)">
                                      <p:cBhvr>
                                        <p:cTn id="49" dur="2000"/>
                                        <p:tgtEl>
                                          <p:spTgt spid="26"/>
                                        </p:tgtEl>
                                      </p:cBhvr>
                                    </p:animEffect>
                                  </p:childTnLst>
                                </p:cTn>
                              </p:par>
                              <p:par>
                                <p:cTn id="50" presetID="6" presetClass="entr" presetSubtype="16"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circle(in)">
                                      <p:cBhvr>
                                        <p:cTn id="52" dur="2000"/>
                                        <p:tgtEl>
                                          <p:spTgt spid="27"/>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circle(in)">
                                      <p:cBhvr>
                                        <p:cTn id="55" dur="2000"/>
                                        <p:tgtEl>
                                          <p:spTgt spid="28"/>
                                        </p:tgtEl>
                                      </p:cBhvr>
                                    </p:animEffect>
                                  </p:childTnLst>
                                </p:cTn>
                              </p:par>
                              <p:par>
                                <p:cTn id="56" presetID="6" presetClass="entr" presetSubtype="16"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circle(in)">
                                      <p:cBhvr>
                                        <p:cTn id="58" dur="2000"/>
                                        <p:tgtEl>
                                          <p:spTgt spid="29"/>
                                        </p:tgtEl>
                                      </p:cBhvr>
                                    </p:animEffect>
                                  </p:childTnLst>
                                </p:cTn>
                              </p:par>
                              <p:par>
                                <p:cTn id="59" presetID="6" presetClass="entr" presetSubtype="16"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circle(in)">
                                      <p:cBhvr>
                                        <p:cTn id="61" dur="2000"/>
                                        <p:tgtEl>
                                          <p:spTgt spid="30"/>
                                        </p:tgtEl>
                                      </p:cBhvr>
                                    </p:animEffect>
                                  </p:childTnLst>
                                </p:cTn>
                              </p:par>
                              <p:par>
                                <p:cTn id="62" presetID="6" presetClass="entr" presetSubtype="16"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circle(in)">
                                      <p:cBhvr>
                                        <p:cTn id="64" dur="2000"/>
                                        <p:tgtEl>
                                          <p:spTgt spid="31"/>
                                        </p:tgtEl>
                                      </p:cBhvr>
                                    </p:animEffect>
                                  </p:childTnLst>
                                </p:cTn>
                              </p:par>
                              <p:par>
                                <p:cTn id="65" presetID="6" presetClass="entr" presetSubtype="16"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circle(in)">
                                      <p:cBhvr>
                                        <p:cTn id="67"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P spid="23" grpId="0"/>
      <p:bldP spid="25" grpId="0"/>
      <p:bldP spid="26" grpId="0"/>
      <p:bldP spid="28" grpId="0"/>
      <p:bldP spid="29" grpId="0"/>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D548-E013-5B35-0CA5-BC2C17AA4CF2}"/>
            </a:ext>
          </a:extLst>
        </p:cNvPr>
        <p:cNvGrpSpPr/>
        <p:nvPr/>
      </p:nvGrpSpPr>
      <p:grpSpPr>
        <a:xfrm>
          <a:off x="0" y="0"/>
          <a:ext cx="0" cy="0"/>
          <a:chOff x="0" y="0"/>
          <a:chExt cx="0" cy="0"/>
        </a:xfrm>
      </p:grpSpPr>
      <p:pic>
        <p:nvPicPr>
          <p:cNvPr id="5" name="Picture 4" descr="image.png">
            <a:extLst>
              <a:ext uri="{FF2B5EF4-FFF2-40B4-BE49-F238E27FC236}">
                <a16:creationId xmlns:a16="http://schemas.microsoft.com/office/drawing/2014/main" id="{6BDCF81F-5540-7776-426F-737110765626}"/>
              </a:ext>
            </a:extLst>
          </p:cNvPr>
          <p:cNvPicPr>
            <a:picLocks noChangeAspect="1"/>
          </p:cNvPicPr>
          <p:nvPr/>
        </p:nvPicPr>
        <p:blipFill>
          <a:blip r:embed="rId2"/>
          <a:stretch>
            <a:fillRect/>
          </a:stretch>
        </p:blipFill>
        <p:spPr>
          <a:xfrm>
            <a:off x="666750" y="614362"/>
            <a:ext cx="1017980" cy="1017980"/>
          </a:xfrm>
          <a:prstGeom prst="rect">
            <a:avLst/>
          </a:prstGeom>
        </p:spPr>
      </p:pic>
      <p:sp>
        <p:nvSpPr>
          <p:cNvPr id="6" name="TextBox 5">
            <a:extLst>
              <a:ext uri="{FF2B5EF4-FFF2-40B4-BE49-F238E27FC236}">
                <a16:creationId xmlns:a16="http://schemas.microsoft.com/office/drawing/2014/main" id="{2340DF86-35A3-2B0F-E7E0-AB5EF9EED9A8}"/>
              </a:ext>
            </a:extLst>
          </p:cNvPr>
          <p:cNvSpPr txBox="1"/>
          <p:nvPr/>
        </p:nvSpPr>
        <p:spPr>
          <a:xfrm>
            <a:off x="5788500" y="500938"/>
            <a:ext cx="5853655" cy="622414"/>
          </a:xfrm>
          <a:prstGeom prst="rect">
            <a:avLst/>
          </a:prstGeom>
          <a:noFill/>
        </p:spPr>
        <p:txBody>
          <a:bodyPr wrap="square" lIns="0" tIns="0" rIns="0" bIns="0" anchor="t">
            <a:spAutoFit/>
          </a:bodyPr>
          <a:lstStyle/>
          <a:p>
            <a:pPr algn="r">
              <a:lnSpc>
                <a:spcPts val="5520"/>
              </a:lnSpc>
              <a:defRPr/>
            </a:pPr>
            <a:r>
              <a:rPr lang="ar-EG" sz="3200" b="0" i="0" u="none" noProof="1">
                <a:solidFill>
                  <a:srgbClr val="FFFFFF"/>
                </a:solidFill>
                <a:latin typeface="Cairo Black"/>
              </a:rPr>
              <a:t>خطة التحسين المدرسي</a:t>
            </a:r>
          </a:p>
        </p:txBody>
      </p:sp>
      <p:sp>
        <p:nvSpPr>
          <p:cNvPr id="7" name="TextBox 6">
            <a:extLst>
              <a:ext uri="{FF2B5EF4-FFF2-40B4-BE49-F238E27FC236}">
                <a16:creationId xmlns:a16="http://schemas.microsoft.com/office/drawing/2014/main" id="{D060D883-5F98-052C-8F45-9DECCA59EAE5}"/>
              </a:ext>
            </a:extLst>
          </p:cNvPr>
          <p:cNvSpPr txBox="1"/>
          <p:nvPr/>
        </p:nvSpPr>
        <p:spPr>
          <a:xfrm>
            <a:off x="-1756345" y="2055721"/>
            <a:ext cx="10858500" cy="830997"/>
          </a:xfrm>
          <a:prstGeom prst="rect">
            <a:avLst/>
          </a:prstGeom>
          <a:noFill/>
        </p:spPr>
        <p:txBody>
          <a:bodyPr wrap="square" lIns="0" tIns="0" rIns="0" bIns="0" anchor="ctr">
            <a:spAutoFit/>
          </a:bodyPr>
          <a:lstStyle/>
          <a:p>
            <a:pPr algn="r"/>
            <a:r>
              <a:rPr lang="ar-EG" sz="5400" b="0" i="0" u="none" noProof="1">
                <a:solidFill>
                  <a:srgbClr val="99F6E4"/>
                </a:solidFill>
                <a:latin typeface="Cairo SemiBold"/>
              </a:rPr>
              <a:t>المفهوم والركائز الأساسية</a:t>
            </a:r>
          </a:p>
        </p:txBody>
      </p:sp>
      <p:sp>
        <p:nvSpPr>
          <p:cNvPr id="3" name="AutoShape 2" descr="ما هي أبرز معوقات التنمية الاقتصادية وكيفية حلها والحد منها">
            <a:extLst>
              <a:ext uri="{FF2B5EF4-FFF2-40B4-BE49-F238E27FC236}">
                <a16:creationId xmlns:a16="http://schemas.microsoft.com/office/drawing/2014/main" id="{AE90929C-EF74-DA51-9E8F-94A67B8B66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7E836612-B892-9D07-D0A2-3FD6E5FA7705}"/>
              </a:ext>
            </a:extLst>
          </p:cNvPr>
          <p:cNvPicPr>
            <a:picLocks noChangeAspect="1"/>
          </p:cNvPicPr>
          <p:nvPr/>
        </p:nvPicPr>
        <p:blipFill>
          <a:blip r:embed="rId3"/>
          <a:stretch>
            <a:fillRect/>
          </a:stretch>
        </p:blipFill>
        <p:spPr>
          <a:xfrm>
            <a:off x="338380" y="4048760"/>
            <a:ext cx="4241800" cy="2522220"/>
          </a:xfrm>
          <a:prstGeom prst="rect">
            <a:avLst/>
          </a:prstGeom>
        </p:spPr>
      </p:pic>
    </p:spTree>
    <p:extLst>
      <p:ext uri="{BB962C8B-B14F-4D97-AF65-F5344CB8AC3E}">
        <p14:creationId xmlns:p14="http://schemas.microsoft.com/office/powerpoint/2010/main" val="14263603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750" fill="hold"/>
                                        <p:tgtEl>
                                          <p:spTgt spid="6"/>
                                        </p:tgtEl>
                                        <p:attrNameLst>
                                          <p:attrName>ppt_w</p:attrName>
                                        </p:attrNameLst>
                                      </p:cBhvr>
                                      <p:tavLst>
                                        <p:tav tm="0">
                                          <p:val>
                                            <p:fltVal val="0"/>
                                          </p:val>
                                        </p:tav>
                                        <p:tav tm="100000">
                                          <p:val>
                                            <p:strVal val="#ppt_w"/>
                                          </p:val>
                                        </p:tav>
                                      </p:tavLst>
                                    </p:anim>
                                    <p:anim calcmode="lin" valueType="num">
                                      <p:cBhvr>
                                        <p:cTn id="8" dur="1750" fill="hold"/>
                                        <p:tgtEl>
                                          <p:spTgt spid="6"/>
                                        </p:tgtEl>
                                        <p:attrNameLst>
                                          <p:attrName>ppt_h</p:attrName>
                                        </p:attrNameLst>
                                      </p:cBhvr>
                                      <p:tavLst>
                                        <p:tav tm="0">
                                          <p:val>
                                            <p:fltVal val="0"/>
                                          </p:val>
                                        </p:tav>
                                        <p:tav tm="100000">
                                          <p:val>
                                            <p:strVal val="#ppt_h"/>
                                          </p:val>
                                        </p:tav>
                                      </p:tavLst>
                                    </p:anim>
                                    <p:anim calcmode="lin" valueType="num">
                                      <p:cBhvr>
                                        <p:cTn id="9" dur="1750" fill="hold"/>
                                        <p:tgtEl>
                                          <p:spTgt spid="6"/>
                                        </p:tgtEl>
                                        <p:attrNameLst>
                                          <p:attrName>style.rotation</p:attrName>
                                        </p:attrNameLst>
                                      </p:cBhvr>
                                      <p:tavLst>
                                        <p:tav tm="0">
                                          <p:val>
                                            <p:fltVal val="90"/>
                                          </p:val>
                                        </p:tav>
                                        <p:tav tm="100000">
                                          <p:val>
                                            <p:fltVal val="0"/>
                                          </p:val>
                                        </p:tav>
                                      </p:tavLst>
                                    </p:anim>
                                    <p:animEffect transition="in" filter="fade">
                                      <p:cBhvr>
                                        <p:cTn id="10" dur="1750"/>
                                        <p:tgtEl>
                                          <p:spTgt spid="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1750" fill="hold"/>
                                        <p:tgtEl>
                                          <p:spTgt spid="7"/>
                                        </p:tgtEl>
                                        <p:attrNameLst>
                                          <p:attrName>ppt_w</p:attrName>
                                        </p:attrNameLst>
                                      </p:cBhvr>
                                      <p:tavLst>
                                        <p:tav tm="0">
                                          <p:val>
                                            <p:fltVal val="0"/>
                                          </p:val>
                                        </p:tav>
                                        <p:tav tm="100000">
                                          <p:val>
                                            <p:strVal val="#ppt_w"/>
                                          </p:val>
                                        </p:tav>
                                      </p:tavLst>
                                    </p:anim>
                                    <p:anim calcmode="lin" valueType="num">
                                      <p:cBhvr>
                                        <p:cTn id="14" dur="1750" fill="hold"/>
                                        <p:tgtEl>
                                          <p:spTgt spid="7"/>
                                        </p:tgtEl>
                                        <p:attrNameLst>
                                          <p:attrName>ppt_h</p:attrName>
                                        </p:attrNameLst>
                                      </p:cBhvr>
                                      <p:tavLst>
                                        <p:tav tm="0">
                                          <p:val>
                                            <p:fltVal val="0"/>
                                          </p:val>
                                        </p:tav>
                                        <p:tav tm="100000">
                                          <p:val>
                                            <p:strVal val="#ppt_h"/>
                                          </p:val>
                                        </p:tav>
                                      </p:tavLst>
                                    </p:anim>
                                    <p:anim calcmode="lin" valueType="num">
                                      <p:cBhvr>
                                        <p:cTn id="15" dur="1750" fill="hold"/>
                                        <p:tgtEl>
                                          <p:spTgt spid="7"/>
                                        </p:tgtEl>
                                        <p:attrNameLst>
                                          <p:attrName>style.rotation</p:attrName>
                                        </p:attrNameLst>
                                      </p:cBhvr>
                                      <p:tavLst>
                                        <p:tav tm="0">
                                          <p:val>
                                            <p:fltVal val="90"/>
                                          </p:val>
                                        </p:tav>
                                        <p:tav tm="100000">
                                          <p:val>
                                            <p:fltVal val="0"/>
                                          </p:val>
                                        </p:tav>
                                      </p:tavLst>
                                    </p:anim>
                                    <p:animEffect transition="in" filter="fade">
                                      <p:cBhvr>
                                        <p:cTn id="16" dur="1750"/>
                                        <p:tgtEl>
                                          <p:spTgt spid="7"/>
                                        </p:tgtEl>
                                      </p:cBhvr>
                                    </p:animEffect>
                                  </p:childTnLst>
                                </p:cTn>
                              </p:par>
                              <p:par>
                                <p:cTn id="17" presetID="3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750" fill="hold"/>
                                        <p:tgtEl>
                                          <p:spTgt spid="5"/>
                                        </p:tgtEl>
                                        <p:attrNameLst>
                                          <p:attrName>ppt_w</p:attrName>
                                        </p:attrNameLst>
                                      </p:cBhvr>
                                      <p:tavLst>
                                        <p:tav tm="0">
                                          <p:val>
                                            <p:fltVal val="0"/>
                                          </p:val>
                                        </p:tav>
                                        <p:tav tm="100000">
                                          <p:val>
                                            <p:strVal val="#ppt_w"/>
                                          </p:val>
                                        </p:tav>
                                      </p:tavLst>
                                    </p:anim>
                                    <p:anim calcmode="lin" valueType="num">
                                      <p:cBhvr>
                                        <p:cTn id="20" dur="1750" fill="hold"/>
                                        <p:tgtEl>
                                          <p:spTgt spid="5"/>
                                        </p:tgtEl>
                                        <p:attrNameLst>
                                          <p:attrName>ppt_h</p:attrName>
                                        </p:attrNameLst>
                                      </p:cBhvr>
                                      <p:tavLst>
                                        <p:tav tm="0">
                                          <p:val>
                                            <p:fltVal val="0"/>
                                          </p:val>
                                        </p:tav>
                                        <p:tav tm="100000">
                                          <p:val>
                                            <p:strVal val="#ppt_h"/>
                                          </p:val>
                                        </p:tav>
                                      </p:tavLst>
                                    </p:anim>
                                    <p:anim calcmode="lin" valueType="num">
                                      <p:cBhvr>
                                        <p:cTn id="21" dur="1750" fill="hold"/>
                                        <p:tgtEl>
                                          <p:spTgt spid="5"/>
                                        </p:tgtEl>
                                        <p:attrNameLst>
                                          <p:attrName>style.rotation</p:attrName>
                                        </p:attrNameLst>
                                      </p:cBhvr>
                                      <p:tavLst>
                                        <p:tav tm="0">
                                          <p:val>
                                            <p:fltVal val="90"/>
                                          </p:val>
                                        </p:tav>
                                        <p:tav tm="100000">
                                          <p:val>
                                            <p:fltVal val="0"/>
                                          </p:val>
                                        </p:tav>
                                      </p:tavLst>
                                    </p:anim>
                                    <p:animEffect transition="in" filter="fade">
                                      <p:cBhvr>
                                        <p:cTn id="22" dur="1750"/>
                                        <p:tgtEl>
                                          <p:spTgt spid="5"/>
                                        </p:tgtEl>
                                      </p:cBhvr>
                                    </p:animEffect>
                                  </p:childTnLst>
                                </p:cTn>
                              </p:par>
                              <p:par>
                                <p:cTn id="23" presetID="31" presetClass="entr" presetSubtype="0" fill="hold" grpId="0" nodeType="withEffect" nodePh="1">
                                  <p:stCondLst>
                                    <p:cond delay="0"/>
                                  </p:stCondLst>
                                  <p:endCondLst>
                                    <p:cond evt="begin" delay="0">
                                      <p:tn val="23"/>
                                    </p:cond>
                                  </p:endCondLst>
                                  <p:childTnLst>
                                    <p:set>
                                      <p:cBhvr>
                                        <p:cTn id="24" dur="1" fill="hold">
                                          <p:stCondLst>
                                            <p:cond delay="0"/>
                                          </p:stCondLst>
                                        </p:cTn>
                                        <p:tgtEl>
                                          <p:spTgt spid="3"/>
                                        </p:tgtEl>
                                        <p:attrNameLst>
                                          <p:attrName>style.visibility</p:attrName>
                                        </p:attrNameLst>
                                      </p:cBhvr>
                                      <p:to>
                                        <p:strVal val="visible"/>
                                      </p:to>
                                    </p:set>
                                    <p:anim calcmode="lin" valueType="num">
                                      <p:cBhvr>
                                        <p:cTn id="25" dur="1750" fill="hold"/>
                                        <p:tgtEl>
                                          <p:spTgt spid="3"/>
                                        </p:tgtEl>
                                        <p:attrNameLst>
                                          <p:attrName>ppt_w</p:attrName>
                                        </p:attrNameLst>
                                      </p:cBhvr>
                                      <p:tavLst>
                                        <p:tav tm="0">
                                          <p:val>
                                            <p:fltVal val="0"/>
                                          </p:val>
                                        </p:tav>
                                        <p:tav tm="100000">
                                          <p:val>
                                            <p:strVal val="#ppt_w"/>
                                          </p:val>
                                        </p:tav>
                                      </p:tavLst>
                                    </p:anim>
                                    <p:anim calcmode="lin" valueType="num">
                                      <p:cBhvr>
                                        <p:cTn id="26" dur="1750" fill="hold"/>
                                        <p:tgtEl>
                                          <p:spTgt spid="3"/>
                                        </p:tgtEl>
                                        <p:attrNameLst>
                                          <p:attrName>ppt_h</p:attrName>
                                        </p:attrNameLst>
                                      </p:cBhvr>
                                      <p:tavLst>
                                        <p:tav tm="0">
                                          <p:val>
                                            <p:fltVal val="0"/>
                                          </p:val>
                                        </p:tav>
                                        <p:tav tm="100000">
                                          <p:val>
                                            <p:strVal val="#ppt_h"/>
                                          </p:val>
                                        </p:tav>
                                      </p:tavLst>
                                    </p:anim>
                                    <p:anim calcmode="lin" valueType="num">
                                      <p:cBhvr>
                                        <p:cTn id="27" dur="1750" fill="hold"/>
                                        <p:tgtEl>
                                          <p:spTgt spid="3"/>
                                        </p:tgtEl>
                                        <p:attrNameLst>
                                          <p:attrName>style.rotation</p:attrName>
                                        </p:attrNameLst>
                                      </p:cBhvr>
                                      <p:tavLst>
                                        <p:tav tm="0">
                                          <p:val>
                                            <p:fltVal val="90"/>
                                          </p:val>
                                        </p:tav>
                                        <p:tav tm="100000">
                                          <p:val>
                                            <p:fltVal val="0"/>
                                          </p:val>
                                        </p:tav>
                                      </p:tavLst>
                                    </p:anim>
                                    <p:animEffect transition="in" filter="fade">
                                      <p:cBhvr>
                                        <p:cTn id="28" dur="1750"/>
                                        <p:tgtEl>
                                          <p:spTgt spid="3"/>
                                        </p:tgtEl>
                                      </p:cBhvr>
                                    </p:animEffect>
                                  </p:childTnLst>
                                </p:cTn>
                              </p:par>
                              <p:par>
                                <p:cTn id="29" presetID="3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1750" fill="hold"/>
                                        <p:tgtEl>
                                          <p:spTgt spid="4"/>
                                        </p:tgtEl>
                                        <p:attrNameLst>
                                          <p:attrName>ppt_w</p:attrName>
                                        </p:attrNameLst>
                                      </p:cBhvr>
                                      <p:tavLst>
                                        <p:tav tm="0">
                                          <p:val>
                                            <p:fltVal val="0"/>
                                          </p:val>
                                        </p:tav>
                                        <p:tav tm="100000">
                                          <p:val>
                                            <p:strVal val="#ppt_w"/>
                                          </p:val>
                                        </p:tav>
                                      </p:tavLst>
                                    </p:anim>
                                    <p:anim calcmode="lin" valueType="num">
                                      <p:cBhvr>
                                        <p:cTn id="32" dur="1750" fill="hold"/>
                                        <p:tgtEl>
                                          <p:spTgt spid="4"/>
                                        </p:tgtEl>
                                        <p:attrNameLst>
                                          <p:attrName>ppt_h</p:attrName>
                                        </p:attrNameLst>
                                      </p:cBhvr>
                                      <p:tavLst>
                                        <p:tav tm="0">
                                          <p:val>
                                            <p:fltVal val="0"/>
                                          </p:val>
                                        </p:tav>
                                        <p:tav tm="100000">
                                          <p:val>
                                            <p:strVal val="#ppt_h"/>
                                          </p:val>
                                        </p:tav>
                                      </p:tavLst>
                                    </p:anim>
                                    <p:anim calcmode="lin" valueType="num">
                                      <p:cBhvr>
                                        <p:cTn id="33" dur="1750" fill="hold"/>
                                        <p:tgtEl>
                                          <p:spTgt spid="4"/>
                                        </p:tgtEl>
                                        <p:attrNameLst>
                                          <p:attrName>style.rotation</p:attrName>
                                        </p:attrNameLst>
                                      </p:cBhvr>
                                      <p:tavLst>
                                        <p:tav tm="0">
                                          <p:val>
                                            <p:fltVal val="90"/>
                                          </p:val>
                                        </p:tav>
                                        <p:tav tm="100000">
                                          <p:val>
                                            <p:fltVal val="0"/>
                                          </p:val>
                                        </p:tav>
                                      </p:tavLst>
                                    </p:anim>
                                    <p:animEffect transition="in" filter="fade">
                                      <p:cBhvr>
                                        <p:cTn id="34" dur="1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8602265" y="-2573387"/>
            <a:ext cx="3810000" cy="3810000"/>
          </a:xfrm>
          <a:prstGeom prst="rect">
            <a:avLst/>
          </a:prstGeom>
        </p:spPr>
      </p:pic>
      <p:pic>
        <p:nvPicPr>
          <p:cNvPr id="5" name="Picture 4" descr="image.png"/>
          <p:cNvPicPr>
            <a:picLocks noChangeAspect="1"/>
          </p:cNvPicPr>
          <p:nvPr/>
        </p:nvPicPr>
        <p:blipFill>
          <a:blip r:embed="rId4"/>
          <a:stretch>
            <a:fillRect/>
          </a:stretch>
        </p:blipFill>
        <p:spPr>
          <a:xfrm>
            <a:off x="571500" y="1737993"/>
            <a:ext cx="11120437" cy="2243732"/>
          </a:xfrm>
          <a:prstGeom prst="rect">
            <a:avLst/>
          </a:prstGeom>
        </p:spPr>
      </p:pic>
      <p:pic>
        <p:nvPicPr>
          <p:cNvPr id="6" name="Picture 5" descr="image.png"/>
          <p:cNvPicPr>
            <a:picLocks noChangeAspect="1"/>
          </p:cNvPicPr>
          <p:nvPr/>
        </p:nvPicPr>
        <p:blipFill>
          <a:blip r:embed="rId5"/>
          <a:stretch>
            <a:fillRect/>
          </a:stretch>
        </p:blipFill>
        <p:spPr>
          <a:xfrm>
            <a:off x="8745140" y="4230737"/>
            <a:ext cx="2875359" cy="704850"/>
          </a:xfrm>
          <a:prstGeom prst="rect">
            <a:avLst/>
          </a:prstGeom>
        </p:spPr>
      </p:pic>
      <p:pic>
        <p:nvPicPr>
          <p:cNvPr id="7" name="Picture 6" descr="image.png"/>
          <p:cNvPicPr>
            <a:picLocks noChangeAspect="1"/>
          </p:cNvPicPr>
          <p:nvPr/>
        </p:nvPicPr>
        <p:blipFill>
          <a:blip r:embed="rId6"/>
          <a:stretch>
            <a:fillRect/>
          </a:stretch>
        </p:blipFill>
        <p:spPr>
          <a:xfrm>
            <a:off x="5726906" y="4230737"/>
            <a:ext cx="2875359" cy="704850"/>
          </a:xfrm>
          <a:prstGeom prst="rect">
            <a:avLst/>
          </a:prstGeom>
        </p:spPr>
      </p:pic>
      <p:pic>
        <p:nvPicPr>
          <p:cNvPr id="8" name="Picture 7" descr="image.png"/>
          <p:cNvPicPr>
            <a:picLocks noChangeAspect="1"/>
          </p:cNvPicPr>
          <p:nvPr/>
        </p:nvPicPr>
        <p:blipFill>
          <a:blip r:embed="rId7"/>
          <a:stretch>
            <a:fillRect/>
          </a:stretch>
        </p:blipFill>
        <p:spPr>
          <a:xfrm>
            <a:off x="8745140" y="5078462"/>
            <a:ext cx="2875359" cy="704850"/>
          </a:xfrm>
          <a:prstGeom prst="rect">
            <a:avLst/>
          </a:prstGeom>
        </p:spPr>
      </p:pic>
      <p:pic>
        <p:nvPicPr>
          <p:cNvPr id="9" name="Picture 8" descr="image.png"/>
          <p:cNvPicPr>
            <a:picLocks noChangeAspect="1"/>
          </p:cNvPicPr>
          <p:nvPr/>
        </p:nvPicPr>
        <p:blipFill>
          <a:blip r:embed="rId8"/>
          <a:stretch>
            <a:fillRect/>
          </a:stretch>
        </p:blipFill>
        <p:spPr>
          <a:xfrm>
            <a:off x="5726906" y="5078462"/>
            <a:ext cx="2875359" cy="704850"/>
          </a:xfrm>
          <a:prstGeom prst="rect">
            <a:avLst/>
          </a:prstGeom>
        </p:spPr>
      </p:pic>
      <p:sp>
        <p:nvSpPr>
          <p:cNvPr id="11" name="TextBox 10"/>
          <p:cNvSpPr txBox="1"/>
          <p:nvPr/>
        </p:nvSpPr>
        <p:spPr>
          <a:xfrm>
            <a:off x="6519863" y="928836"/>
            <a:ext cx="5007768" cy="615553"/>
          </a:xfrm>
          <a:prstGeom prst="rect">
            <a:avLst/>
          </a:prstGeom>
          <a:noFill/>
        </p:spPr>
        <p:txBody>
          <a:bodyPr wrap="square" lIns="0" tIns="0" rIns="0" bIns="0" anchor="ctr">
            <a:spAutoFit/>
          </a:bodyPr>
          <a:lstStyle/>
          <a:p>
            <a:pPr algn="r"/>
            <a:r>
              <a:rPr lang="ar-EG" sz="4000" b="1" i="0" u="none" noProof="1">
                <a:solidFill>
                  <a:schemeClr val="bg1"/>
                </a:solidFill>
                <a:latin typeface="Cairo"/>
              </a:rPr>
              <a:t>ما هي خطة التحسين؟</a:t>
            </a:r>
          </a:p>
        </p:txBody>
      </p:sp>
      <p:sp>
        <p:nvSpPr>
          <p:cNvPr id="12" name="TextBox 11"/>
          <p:cNvSpPr txBox="1"/>
          <p:nvPr/>
        </p:nvSpPr>
        <p:spPr>
          <a:xfrm>
            <a:off x="631373" y="2256426"/>
            <a:ext cx="10706099" cy="1602362"/>
          </a:xfrm>
          <a:prstGeom prst="rect">
            <a:avLst/>
          </a:prstGeom>
          <a:noFill/>
        </p:spPr>
        <p:txBody>
          <a:bodyPr wrap="square" lIns="0" tIns="0" rIns="0" bIns="0" anchor="t">
            <a:spAutoFit/>
          </a:bodyPr>
          <a:lstStyle/>
          <a:p>
            <a:pPr algn="just" rtl="1">
              <a:lnSpc>
                <a:spcPct val="150000"/>
              </a:lnSpc>
            </a:pPr>
            <a:r>
              <a:rPr lang="ar-EG" sz="2400" b="1" i="0" u="none" noProof="1">
                <a:solidFill>
                  <a:srgbClr val="0F172A"/>
                </a:solidFill>
                <a:latin typeface="Cairo SemiBold"/>
                <a:cs typeface="+mj-cs"/>
              </a:rPr>
              <a:t>هي وثيقة تخطيطية منظمة تعتمد على نتائج التقويم الذاتي والأدلة والبيانات، وتهدف إلى معالجة أولويات التحسين من خلال تنفيذ إجراءات محددة ضمن إطار زمني ومسؤوليات واضحة؛ بما يسهم في رفع جودة الأداء وتحسين نواتج التعلم.</a:t>
            </a:r>
          </a:p>
        </p:txBody>
      </p:sp>
      <p:pic>
        <p:nvPicPr>
          <p:cNvPr id="13" name="Picture 12" descr="image.png"/>
          <p:cNvPicPr>
            <a:picLocks noChangeAspect="1"/>
          </p:cNvPicPr>
          <p:nvPr/>
        </p:nvPicPr>
        <p:blipFill>
          <a:blip r:embed="rId9"/>
          <a:stretch>
            <a:fillRect/>
          </a:stretch>
        </p:blipFill>
        <p:spPr>
          <a:xfrm>
            <a:off x="11115675" y="2129879"/>
            <a:ext cx="161925" cy="209550"/>
          </a:xfrm>
          <a:prstGeom prst="rect">
            <a:avLst/>
          </a:prstGeom>
        </p:spPr>
      </p:pic>
      <p:pic>
        <p:nvPicPr>
          <p:cNvPr id="14" name="Picture 13" descr="image.png"/>
          <p:cNvPicPr>
            <a:picLocks noChangeAspect="1"/>
          </p:cNvPicPr>
          <p:nvPr/>
        </p:nvPicPr>
        <p:blipFill>
          <a:blip r:embed="rId10"/>
          <a:stretch>
            <a:fillRect/>
          </a:stretch>
        </p:blipFill>
        <p:spPr>
          <a:xfrm>
            <a:off x="11039475" y="4392662"/>
            <a:ext cx="381000" cy="381000"/>
          </a:xfrm>
          <a:prstGeom prst="rect">
            <a:avLst/>
          </a:prstGeom>
        </p:spPr>
      </p:pic>
      <p:sp>
        <p:nvSpPr>
          <p:cNvPr id="15" name="TextBox 14"/>
          <p:cNvSpPr txBox="1"/>
          <p:nvPr/>
        </p:nvSpPr>
        <p:spPr>
          <a:xfrm>
            <a:off x="9144000" y="4430762"/>
            <a:ext cx="1781175" cy="246221"/>
          </a:xfrm>
          <a:prstGeom prst="rect">
            <a:avLst/>
          </a:prstGeom>
          <a:noFill/>
        </p:spPr>
        <p:txBody>
          <a:bodyPr wrap="square" lIns="0" tIns="0" rIns="0" bIns="0" anchor="t">
            <a:spAutoFit/>
          </a:bodyPr>
          <a:lstStyle/>
          <a:p>
            <a:pPr algn="l"/>
            <a:r>
              <a:rPr lang="ar-EG" sz="1600" b="1" i="0" u="none" noProof="1">
                <a:solidFill>
                  <a:srgbClr val="0F2C59"/>
                </a:solidFill>
                <a:latin typeface="Cairo"/>
              </a:rPr>
              <a:t>مبنية على البيانات والأدلة</a:t>
            </a:r>
          </a:p>
        </p:txBody>
      </p:sp>
      <p:pic>
        <p:nvPicPr>
          <p:cNvPr id="16" name="Picture 15" descr="image.png"/>
          <p:cNvPicPr>
            <a:picLocks noChangeAspect="1"/>
          </p:cNvPicPr>
          <p:nvPr/>
        </p:nvPicPr>
        <p:blipFill>
          <a:blip r:embed="rId11"/>
          <a:stretch>
            <a:fillRect/>
          </a:stretch>
        </p:blipFill>
        <p:spPr>
          <a:xfrm>
            <a:off x="8021240" y="4392662"/>
            <a:ext cx="381000" cy="381000"/>
          </a:xfrm>
          <a:prstGeom prst="rect">
            <a:avLst/>
          </a:prstGeom>
        </p:spPr>
      </p:pic>
      <p:sp>
        <p:nvSpPr>
          <p:cNvPr id="17" name="TextBox 16"/>
          <p:cNvSpPr txBox="1"/>
          <p:nvPr/>
        </p:nvSpPr>
        <p:spPr>
          <a:xfrm>
            <a:off x="6278165" y="4430762"/>
            <a:ext cx="1628775" cy="246221"/>
          </a:xfrm>
          <a:prstGeom prst="rect">
            <a:avLst/>
          </a:prstGeom>
          <a:noFill/>
        </p:spPr>
        <p:txBody>
          <a:bodyPr wrap="square" lIns="0" tIns="0" rIns="0" bIns="0" anchor="t">
            <a:spAutoFit/>
          </a:bodyPr>
          <a:lstStyle/>
          <a:p>
            <a:pPr algn="l"/>
            <a:r>
              <a:rPr lang="ar-EG" sz="1600" b="1" i="0" u="none" noProof="1">
                <a:solidFill>
                  <a:srgbClr val="0F2C59"/>
                </a:solidFill>
                <a:latin typeface="Cairo"/>
              </a:rPr>
              <a:t>ترتبط بأولويات المدرسة</a:t>
            </a:r>
          </a:p>
        </p:txBody>
      </p:sp>
      <p:pic>
        <p:nvPicPr>
          <p:cNvPr id="18" name="Picture 17" descr="image.png"/>
          <p:cNvPicPr>
            <a:picLocks noChangeAspect="1"/>
          </p:cNvPicPr>
          <p:nvPr/>
        </p:nvPicPr>
        <p:blipFill>
          <a:blip r:embed="rId12"/>
          <a:stretch>
            <a:fillRect/>
          </a:stretch>
        </p:blipFill>
        <p:spPr>
          <a:xfrm>
            <a:off x="11039475" y="5240387"/>
            <a:ext cx="381000" cy="381000"/>
          </a:xfrm>
          <a:prstGeom prst="rect">
            <a:avLst/>
          </a:prstGeom>
        </p:spPr>
      </p:pic>
      <p:sp>
        <p:nvSpPr>
          <p:cNvPr id="19" name="TextBox 18"/>
          <p:cNvSpPr txBox="1"/>
          <p:nvPr/>
        </p:nvSpPr>
        <p:spPr>
          <a:xfrm>
            <a:off x="9248775" y="5278487"/>
            <a:ext cx="1676400" cy="246221"/>
          </a:xfrm>
          <a:prstGeom prst="rect">
            <a:avLst/>
          </a:prstGeom>
          <a:noFill/>
        </p:spPr>
        <p:txBody>
          <a:bodyPr wrap="square" lIns="0" tIns="0" rIns="0" bIns="0" anchor="t">
            <a:spAutoFit/>
          </a:bodyPr>
          <a:lstStyle/>
          <a:p>
            <a:pPr algn="l"/>
            <a:r>
              <a:rPr lang="ar-EG" sz="1600" b="1" i="0" u="none" noProof="1">
                <a:solidFill>
                  <a:srgbClr val="0F2C59"/>
                </a:solidFill>
                <a:latin typeface="Cairo"/>
              </a:rPr>
              <a:t>قابلة للقياس والمتابعة</a:t>
            </a:r>
          </a:p>
        </p:txBody>
      </p:sp>
      <p:pic>
        <p:nvPicPr>
          <p:cNvPr id="20" name="Picture 19" descr="image.png"/>
          <p:cNvPicPr>
            <a:picLocks noChangeAspect="1"/>
          </p:cNvPicPr>
          <p:nvPr/>
        </p:nvPicPr>
        <p:blipFill>
          <a:blip r:embed="rId11"/>
          <a:stretch>
            <a:fillRect/>
          </a:stretch>
        </p:blipFill>
        <p:spPr>
          <a:xfrm>
            <a:off x="8021240" y="5240387"/>
            <a:ext cx="381000" cy="381000"/>
          </a:xfrm>
          <a:prstGeom prst="rect">
            <a:avLst/>
          </a:prstGeom>
        </p:spPr>
      </p:pic>
      <p:sp>
        <p:nvSpPr>
          <p:cNvPr id="21" name="TextBox 20"/>
          <p:cNvSpPr txBox="1"/>
          <p:nvPr/>
        </p:nvSpPr>
        <p:spPr>
          <a:xfrm>
            <a:off x="6040040" y="5278487"/>
            <a:ext cx="1866900" cy="246221"/>
          </a:xfrm>
          <a:prstGeom prst="rect">
            <a:avLst/>
          </a:prstGeom>
          <a:noFill/>
        </p:spPr>
        <p:txBody>
          <a:bodyPr wrap="square" lIns="0" tIns="0" rIns="0" bIns="0" anchor="t">
            <a:spAutoFit/>
          </a:bodyPr>
          <a:lstStyle/>
          <a:p>
            <a:pPr algn="l"/>
            <a:r>
              <a:rPr lang="ar-EG" sz="1600" b="1" i="0" u="none" noProof="1">
                <a:solidFill>
                  <a:srgbClr val="0F2C59"/>
                </a:solidFill>
                <a:latin typeface="Cairo"/>
              </a:rPr>
              <a:t>تركز على التحسين المستمر</a:t>
            </a:r>
          </a:p>
        </p:txBody>
      </p:sp>
      <p:pic>
        <p:nvPicPr>
          <p:cNvPr id="22" name="Picture 21" descr="image.png"/>
          <p:cNvPicPr>
            <a:picLocks noChangeAspect="1"/>
          </p:cNvPicPr>
          <p:nvPr/>
        </p:nvPicPr>
        <p:blipFill>
          <a:blip r:embed="rId13"/>
          <a:stretch>
            <a:fillRect/>
          </a:stretch>
        </p:blipFill>
        <p:spPr>
          <a:xfrm>
            <a:off x="11153775" y="4497437"/>
            <a:ext cx="152400" cy="171450"/>
          </a:xfrm>
          <a:prstGeom prst="rect">
            <a:avLst/>
          </a:prstGeom>
        </p:spPr>
      </p:pic>
      <p:pic>
        <p:nvPicPr>
          <p:cNvPr id="23" name="Picture 22" descr="image.png"/>
          <p:cNvPicPr>
            <a:picLocks noChangeAspect="1"/>
          </p:cNvPicPr>
          <p:nvPr/>
        </p:nvPicPr>
        <p:blipFill>
          <a:blip r:embed="rId14"/>
          <a:stretch>
            <a:fillRect/>
          </a:stretch>
        </p:blipFill>
        <p:spPr>
          <a:xfrm>
            <a:off x="8126015" y="4497437"/>
            <a:ext cx="171450" cy="171450"/>
          </a:xfrm>
          <a:prstGeom prst="rect">
            <a:avLst/>
          </a:prstGeom>
        </p:spPr>
      </p:pic>
      <p:pic>
        <p:nvPicPr>
          <p:cNvPr id="24" name="Picture 23" descr="image.png"/>
          <p:cNvPicPr>
            <a:picLocks noChangeAspect="1"/>
          </p:cNvPicPr>
          <p:nvPr/>
        </p:nvPicPr>
        <p:blipFill>
          <a:blip r:embed="rId15"/>
          <a:stretch>
            <a:fillRect/>
          </a:stretch>
        </p:blipFill>
        <p:spPr>
          <a:xfrm>
            <a:off x="11144250" y="5345162"/>
            <a:ext cx="171450" cy="171450"/>
          </a:xfrm>
          <a:prstGeom prst="rect">
            <a:avLst/>
          </a:prstGeom>
        </p:spPr>
      </p:pic>
      <p:pic>
        <p:nvPicPr>
          <p:cNvPr id="25" name="Picture 24" descr="image.png"/>
          <p:cNvPicPr>
            <a:picLocks noChangeAspect="1"/>
          </p:cNvPicPr>
          <p:nvPr/>
        </p:nvPicPr>
        <p:blipFill>
          <a:blip r:embed="rId16"/>
          <a:stretch>
            <a:fillRect/>
          </a:stretch>
        </p:blipFill>
        <p:spPr>
          <a:xfrm>
            <a:off x="8126015" y="5345162"/>
            <a:ext cx="171450" cy="171450"/>
          </a:xfrm>
          <a:prstGeom prst="rect">
            <a:avLst/>
          </a:prstGeom>
        </p:spPr>
      </p:pic>
      <p:sp>
        <p:nvSpPr>
          <p:cNvPr id="26" name="TextBox 25"/>
          <p:cNvSpPr txBox="1"/>
          <p:nvPr/>
        </p:nvSpPr>
        <p:spPr>
          <a:xfrm>
            <a:off x="-73819" y="425308"/>
            <a:ext cx="11601450" cy="372603"/>
          </a:xfrm>
          <a:prstGeom prst="rect">
            <a:avLst/>
          </a:prstGeom>
          <a:noFill/>
        </p:spPr>
        <p:txBody>
          <a:bodyPr wrap="square" lIns="0" tIns="0" rIns="0" bIns="0" anchor="ctr">
            <a:spAutoFit/>
          </a:bodyPr>
          <a:lstStyle/>
          <a:p>
            <a:pPr algn="r">
              <a:lnSpc>
                <a:spcPts val="3060"/>
              </a:lnSpc>
            </a:pPr>
            <a:r>
              <a:rPr lang="ar-EG" sz="2550" b="1" i="0" u="none" noProof="1">
                <a:solidFill>
                  <a:schemeClr val="bg1"/>
                </a:solidFill>
                <a:latin typeface="Cairo ExtraBold"/>
              </a:rPr>
              <a:t> خطة التحسين المدرسيش</a:t>
            </a:r>
          </a:p>
        </p:txBody>
      </p:sp>
      <p:sp>
        <p:nvSpPr>
          <p:cNvPr id="27" name="Rounded Rectangle 26"/>
          <p:cNvSpPr/>
          <p:nvPr/>
        </p:nvSpPr>
        <p:spPr>
          <a:xfrm>
            <a:off x="571500" y="864840"/>
            <a:ext cx="76200" cy="3238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par>
                                <p:cTn id="8" presetID="2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edge">
                                      <p:cBhvr>
                                        <p:cTn id="10" dur="2000"/>
                                        <p:tgtEl>
                                          <p:spTgt spid="5"/>
                                        </p:tgtEl>
                                      </p:cBhvr>
                                    </p:animEffect>
                                  </p:childTnLst>
                                </p:cTn>
                              </p:par>
                              <p:par>
                                <p:cTn id="11" presetID="2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edge">
                                      <p:cBhvr>
                                        <p:cTn id="13" dur="2000"/>
                                        <p:tgtEl>
                                          <p:spTgt spid="6"/>
                                        </p:tgtEl>
                                      </p:cBhvr>
                                    </p:animEffect>
                                  </p:childTnLst>
                                </p:cTn>
                              </p:par>
                              <p:par>
                                <p:cTn id="14" presetID="2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edge">
                                      <p:cBhvr>
                                        <p:cTn id="16" dur="2000"/>
                                        <p:tgtEl>
                                          <p:spTgt spid="7"/>
                                        </p:tgtEl>
                                      </p:cBhvr>
                                    </p:animEffect>
                                  </p:childTnLst>
                                </p:cTn>
                              </p:par>
                              <p:par>
                                <p:cTn id="17" presetID="2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edge">
                                      <p:cBhvr>
                                        <p:cTn id="19" dur="2000"/>
                                        <p:tgtEl>
                                          <p:spTgt spid="8"/>
                                        </p:tgtEl>
                                      </p:cBhvr>
                                    </p:animEffect>
                                  </p:childTnLst>
                                </p:cTn>
                              </p:par>
                              <p:par>
                                <p:cTn id="20" presetID="2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edge">
                                      <p:cBhvr>
                                        <p:cTn id="22" dur="2000"/>
                                        <p:tgtEl>
                                          <p:spTgt spid="9"/>
                                        </p:tgtEl>
                                      </p:cBhvr>
                                    </p:animEffect>
                                  </p:childTnLst>
                                </p:cTn>
                              </p:par>
                              <p:par>
                                <p:cTn id="23" presetID="2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edge">
                                      <p:cBhvr>
                                        <p:cTn id="25" dur="2000"/>
                                        <p:tgtEl>
                                          <p:spTgt spid="11"/>
                                        </p:tgtEl>
                                      </p:cBhvr>
                                    </p:animEffect>
                                  </p:childTnLst>
                                </p:cTn>
                              </p:par>
                              <p:par>
                                <p:cTn id="26" presetID="2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edge">
                                      <p:cBhvr>
                                        <p:cTn id="28" dur="2000"/>
                                        <p:tgtEl>
                                          <p:spTgt spid="12"/>
                                        </p:tgtEl>
                                      </p:cBhvr>
                                    </p:animEffect>
                                  </p:childTnLst>
                                </p:cTn>
                              </p:par>
                              <p:par>
                                <p:cTn id="29" presetID="2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edge">
                                      <p:cBhvr>
                                        <p:cTn id="31" dur="2000"/>
                                        <p:tgtEl>
                                          <p:spTgt spid="13"/>
                                        </p:tgtEl>
                                      </p:cBhvr>
                                    </p:animEffect>
                                  </p:childTnLst>
                                </p:cTn>
                              </p:par>
                              <p:par>
                                <p:cTn id="32" presetID="2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edge">
                                      <p:cBhvr>
                                        <p:cTn id="34" dur="2000"/>
                                        <p:tgtEl>
                                          <p:spTgt spid="14"/>
                                        </p:tgtEl>
                                      </p:cBhvr>
                                    </p:animEffect>
                                  </p:childTnLst>
                                </p:cTn>
                              </p:par>
                              <p:par>
                                <p:cTn id="35" presetID="2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edge">
                                      <p:cBhvr>
                                        <p:cTn id="37" dur="2000"/>
                                        <p:tgtEl>
                                          <p:spTgt spid="15"/>
                                        </p:tgtEl>
                                      </p:cBhvr>
                                    </p:animEffect>
                                  </p:childTnLst>
                                </p:cTn>
                              </p:par>
                              <p:par>
                                <p:cTn id="38" presetID="2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edge">
                                      <p:cBhvr>
                                        <p:cTn id="40" dur="2000"/>
                                        <p:tgtEl>
                                          <p:spTgt spid="16"/>
                                        </p:tgtEl>
                                      </p:cBhvr>
                                    </p:animEffect>
                                  </p:childTnLst>
                                </p:cTn>
                              </p:par>
                              <p:par>
                                <p:cTn id="41" presetID="2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edge">
                                      <p:cBhvr>
                                        <p:cTn id="43" dur="2000"/>
                                        <p:tgtEl>
                                          <p:spTgt spid="17"/>
                                        </p:tgtEl>
                                      </p:cBhvr>
                                    </p:animEffect>
                                  </p:childTnLst>
                                </p:cTn>
                              </p:par>
                              <p:par>
                                <p:cTn id="44" presetID="2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edge">
                                      <p:cBhvr>
                                        <p:cTn id="46" dur="2000"/>
                                        <p:tgtEl>
                                          <p:spTgt spid="18"/>
                                        </p:tgtEl>
                                      </p:cBhvr>
                                    </p:animEffect>
                                  </p:childTnLst>
                                </p:cTn>
                              </p:par>
                              <p:par>
                                <p:cTn id="47" presetID="2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edge">
                                      <p:cBhvr>
                                        <p:cTn id="49" dur="2000"/>
                                        <p:tgtEl>
                                          <p:spTgt spid="19"/>
                                        </p:tgtEl>
                                      </p:cBhvr>
                                    </p:animEffect>
                                  </p:childTnLst>
                                </p:cTn>
                              </p:par>
                              <p:par>
                                <p:cTn id="50" presetID="20"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edge">
                                      <p:cBhvr>
                                        <p:cTn id="52" dur="2000"/>
                                        <p:tgtEl>
                                          <p:spTgt spid="20"/>
                                        </p:tgtEl>
                                      </p:cBhvr>
                                    </p:animEffect>
                                  </p:childTnLst>
                                </p:cTn>
                              </p:par>
                              <p:par>
                                <p:cTn id="53" presetID="2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edge">
                                      <p:cBhvr>
                                        <p:cTn id="55" dur="2000"/>
                                        <p:tgtEl>
                                          <p:spTgt spid="21"/>
                                        </p:tgtEl>
                                      </p:cBhvr>
                                    </p:animEffect>
                                  </p:childTnLst>
                                </p:cTn>
                              </p:par>
                              <p:par>
                                <p:cTn id="56" presetID="20" presetClass="entr" presetSubtype="0"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edge">
                                      <p:cBhvr>
                                        <p:cTn id="58" dur="2000"/>
                                        <p:tgtEl>
                                          <p:spTgt spid="22"/>
                                        </p:tgtEl>
                                      </p:cBhvr>
                                    </p:animEffect>
                                  </p:childTnLst>
                                </p:cTn>
                              </p:par>
                              <p:par>
                                <p:cTn id="59" presetID="20"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wedge">
                                      <p:cBhvr>
                                        <p:cTn id="61" dur="2000"/>
                                        <p:tgtEl>
                                          <p:spTgt spid="23"/>
                                        </p:tgtEl>
                                      </p:cBhvr>
                                    </p:animEffect>
                                  </p:childTnLst>
                                </p:cTn>
                              </p:par>
                              <p:par>
                                <p:cTn id="62" presetID="20" presetClass="entr" presetSubtype="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edge">
                                      <p:cBhvr>
                                        <p:cTn id="64" dur="2000"/>
                                        <p:tgtEl>
                                          <p:spTgt spid="24"/>
                                        </p:tgtEl>
                                      </p:cBhvr>
                                    </p:animEffect>
                                  </p:childTnLst>
                                </p:cTn>
                              </p:par>
                              <p:par>
                                <p:cTn id="65" presetID="2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edge">
                                      <p:cBhvr>
                                        <p:cTn id="67" dur="2000"/>
                                        <p:tgtEl>
                                          <p:spTgt spid="25"/>
                                        </p:tgtEl>
                                      </p:cBhvr>
                                    </p:animEffect>
                                  </p:childTnLst>
                                </p:cTn>
                              </p:par>
                              <p:par>
                                <p:cTn id="68" presetID="2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edge">
                                      <p:cBhvr>
                                        <p:cTn id="70" dur="2000"/>
                                        <p:tgtEl>
                                          <p:spTgt spid="26"/>
                                        </p:tgtEl>
                                      </p:cBhvr>
                                    </p:animEffect>
                                  </p:childTnLst>
                                </p:cTn>
                              </p:par>
                              <p:par>
                                <p:cTn id="71" presetID="20" presetClass="entr" presetSubtype="0" fill="hold" grpId="0" nodeType="withEffect" nodePh="1">
                                  <p:stCondLst>
                                    <p:cond delay="0"/>
                                  </p:stCondLst>
                                  <p:endCondLst>
                                    <p:cond evt="begin" delay="0">
                                      <p:tn val="71"/>
                                    </p:cond>
                                  </p:endCondLst>
                                  <p:childTnLst>
                                    <p:set>
                                      <p:cBhvr>
                                        <p:cTn id="72" dur="1" fill="hold">
                                          <p:stCondLst>
                                            <p:cond delay="0"/>
                                          </p:stCondLst>
                                        </p:cTn>
                                        <p:tgtEl>
                                          <p:spTgt spid="27"/>
                                        </p:tgtEl>
                                        <p:attrNameLst>
                                          <p:attrName>style.visibility</p:attrName>
                                        </p:attrNameLst>
                                      </p:cBhvr>
                                      <p:to>
                                        <p:strVal val="visible"/>
                                      </p:to>
                                    </p:set>
                                    <p:animEffect transition="in" filter="wedge">
                                      <p:cBhvr>
                                        <p:cTn id="73"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P spid="17" grpId="0"/>
      <p:bldP spid="19" grpId="0"/>
      <p:bldP spid="21"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6762" y="-640110"/>
            <a:ext cx="3333750" cy="3333750"/>
          </a:xfrm>
          <a:prstGeom prst="rect">
            <a:avLst/>
          </a:prstGeom>
        </p:spPr>
      </p:pic>
      <p:pic>
        <p:nvPicPr>
          <p:cNvPr id="3" name="Picture 2" descr="image.png"/>
          <p:cNvPicPr>
            <a:picLocks noChangeAspect="1"/>
          </p:cNvPicPr>
          <p:nvPr/>
        </p:nvPicPr>
        <p:blipFill>
          <a:blip r:embed="rId3"/>
          <a:stretch>
            <a:fillRect/>
          </a:stretch>
        </p:blipFill>
        <p:spPr>
          <a:xfrm>
            <a:off x="8077200" y="1480095"/>
            <a:ext cx="3543300" cy="2181225"/>
          </a:xfrm>
          <a:prstGeom prst="rect">
            <a:avLst/>
          </a:prstGeom>
        </p:spPr>
      </p:pic>
      <p:pic>
        <p:nvPicPr>
          <p:cNvPr id="4" name="Picture 3" descr="image.png"/>
          <p:cNvPicPr>
            <a:picLocks noChangeAspect="1"/>
          </p:cNvPicPr>
          <p:nvPr/>
        </p:nvPicPr>
        <p:blipFill>
          <a:blip r:embed="rId4"/>
          <a:stretch>
            <a:fillRect/>
          </a:stretch>
        </p:blipFill>
        <p:spPr>
          <a:xfrm>
            <a:off x="4324350" y="1480095"/>
            <a:ext cx="3543300" cy="2181225"/>
          </a:xfrm>
          <a:prstGeom prst="rect">
            <a:avLst/>
          </a:prstGeom>
        </p:spPr>
      </p:pic>
      <p:pic>
        <p:nvPicPr>
          <p:cNvPr id="5" name="Picture 4" descr="image.png"/>
          <p:cNvPicPr>
            <a:picLocks noChangeAspect="1"/>
          </p:cNvPicPr>
          <p:nvPr/>
        </p:nvPicPr>
        <p:blipFill>
          <a:blip r:embed="rId5"/>
          <a:stretch>
            <a:fillRect/>
          </a:stretch>
        </p:blipFill>
        <p:spPr>
          <a:xfrm>
            <a:off x="571500" y="1480095"/>
            <a:ext cx="3543300" cy="2181225"/>
          </a:xfrm>
          <a:prstGeom prst="rect">
            <a:avLst/>
          </a:prstGeom>
        </p:spPr>
      </p:pic>
      <p:pic>
        <p:nvPicPr>
          <p:cNvPr id="6" name="Picture 5" descr="image.png"/>
          <p:cNvPicPr>
            <a:picLocks noChangeAspect="1"/>
          </p:cNvPicPr>
          <p:nvPr/>
        </p:nvPicPr>
        <p:blipFill>
          <a:blip r:embed="rId6"/>
          <a:stretch>
            <a:fillRect/>
          </a:stretch>
        </p:blipFill>
        <p:spPr>
          <a:xfrm>
            <a:off x="8077200" y="3870870"/>
            <a:ext cx="3543300" cy="2181225"/>
          </a:xfrm>
          <a:prstGeom prst="rect">
            <a:avLst/>
          </a:prstGeom>
        </p:spPr>
      </p:pic>
      <p:pic>
        <p:nvPicPr>
          <p:cNvPr id="7" name="Picture 6" descr="image.png"/>
          <p:cNvPicPr>
            <a:picLocks noChangeAspect="1"/>
          </p:cNvPicPr>
          <p:nvPr/>
        </p:nvPicPr>
        <p:blipFill>
          <a:blip r:embed="rId7"/>
          <a:stretch>
            <a:fillRect/>
          </a:stretch>
        </p:blipFill>
        <p:spPr>
          <a:xfrm>
            <a:off x="4324350" y="3870870"/>
            <a:ext cx="3543300" cy="2181225"/>
          </a:xfrm>
          <a:prstGeom prst="rect">
            <a:avLst/>
          </a:prstGeom>
        </p:spPr>
      </p:pic>
      <p:pic>
        <p:nvPicPr>
          <p:cNvPr id="8" name="Picture 7" descr="image.png"/>
          <p:cNvPicPr>
            <a:picLocks noChangeAspect="1"/>
          </p:cNvPicPr>
          <p:nvPr/>
        </p:nvPicPr>
        <p:blipFill>
          <a:blip r:embed="rId8"/>
          <a:stretch>
            <a:fillRect/>
          </a:stretch>
        </p:blipFill>
        <p:spPr>
          <a:xfrm>
            <a:off x="571500" y="3870870"/>
            <a:ext cx="3543300" cy="2181225"/>
          </a:xfrm>
          <a:prstGeom prst="rect">
            <a:avLst/>
          </a:prstGeom>
        </p:spPr>
      </p:pic>
      <p:sp>
        <p:nvSpPr>
          <p:cNvPr id="9" name="Rectangle 8"/>
          <p:cNvSpPr/>
          <p:nvPr/>
        </p:nvSpPr>
        <p:spPr>
          <a:xfrm>
            <a:off x="8086725" y="2551658"/>
            <a:ext cx="3524250" cy="38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8315325" y="2289720"/>
            <a:ext cx="3067050" cy="873637"/>
          </a:xfrm>
          <a:prstGeom prst="rect">
            <a:avLst/>
          </a:prstGeom>
          <a:noFill/>
        </p:spPr>
        <p:txBody>
          <a:bodyPr wrap="square" lIns="0" tIns="0" rIns="0" bIns="0" anchor="t">
            <a:spAutoFit/>
          </a:bodyPr>
          <a:lstStyle/>
          <a:p>
            <a:pPr algn="just" rtl="1">
              <a:lnSpc>
                <a:spcPct val="150000"/>
              </a:lnSpc>
            </a:pPr>
            <a:r>
              <a:rPr lang="ar-EG" sz="2000" b="1" i="0" u="none" noProof="1">
                <a:solidFill>
                  <a:srgbClr val="475569"/>
                </a:solidFill>
                <a:latin typeface="Cairo SemiBold"/>
              </a:rPr>
              <a:t>تشخيص ودراسة التحديات المدرسية لوضع معالجات جذرية وفعالة.</a:t>
            </a:r>
          </a:p>
        </p:txBody>
      </p:sp>
      <p:sp>
        <p:nvSpPr>
          <p:cNvPr id="11" name="Rectangle 10"/>
          <p:cNvSpPr/>
          <p:nvPr/>
        </p:nvSpPr>
        <p:spPr>
          <a:xfrm>
            <a:off x="4333875" y="2551658"/>
            <a:ext cx="3524250" cy="38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4562475" y="2289720"/>
            <a:ext cx="3067050" cy="873637"/>
          </a:xfrm>
          <a:prstGeom prst="rect">
            <a:avLst/>
          </a:prstGeom>
          <a:noFill/>
        </p:spPr>
        <p:txBody>
          <a:bodyPr wrap="square" lIns="0" tIns="0" rIns="0" bIns="0" anchor="t">
            <a:spAutoFit/>
          </a:bodyPr>
          <a:lstStyle/>
          <a:p>
            <a:pPr algn="r">
              <a:lnSpc>
                <a:spcPct val="150000"/>
              </a:lnSpc>
            </a:pPr>
            <a:r>
              <a:rPr lang="ar-EG" sz="2000" b="1" i="0" u="none" noProof="1">
                <a:solidFill>
                  <a:srgbClr val="475569"/>
                </a:solidFill>
                <a:latin typeface="Cairo SemiBold"/>
              </a:rPr>
              <a:t>استثمار وتمكين الممارسات المتميزة وتطويرها للاستفادة القابلة للاستدامة.</a:t>
            </a:r>
          </a:p>
        </p:txBody>
      </p:sp>
      <p:sp>
        <p:nvSpPr>
          <p:cNvPr id="13" name="Rectangle 12"/>
          <p:cNvSpPr/>
          <p:nvPr/>
        </p:nvSpPr>
        <p:spPr>
          <a:xfrm>
            <a:off x="581025" y="2551658"/>
            <a:ext cx="3524250" cy="38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809625" y="2289720"/>
            <a:ext cx="3067050" cy="873637"/>
          </a:xfrm>
          <a:prstGeom prst="rect">
            <a:avLst/>
          </a:prstGeom>
          <a:noFill/>
        </p:spPr>
        <p:txBody>
          <a:bodyPr wrap="square" lIns="0" tIns="0" rIns="0" bIns="0" anchor="t">
            <a:spAutoFit/>
          </a:bodyPr>
          <a:lstStyle/>
          <a:p>
            <a:pPr algn="r">
              <a:lnSpc>
                <a:spcPct val="150000"/>
              </a:lnSpc>
            </a:pPr>
            <a:r>
              <a:rPr lang="ar-EG" sz="2000" b="1" i="0" u="none" noProof="1">
                <a:solidFill>
                  <a:srgbClr val="475569"/>
                </a:solidFill>
                <a:latin typeface="Cairo SemiBold"/>
              </a:rPr>
              <a:t>التركيز المباشر على الأداء الأكاديمي والمهاري والقياسي للطلاب.</a:t>
            </a:r>
          </a:p>
        </p:txBody>
      </p:sp>
      <p:sp>
        <p:nvSpPr>
          <p:cNvPr id="15" name="Rectangle 14"/>
          <p:cNvSpPr/>
          <p:nvPr/>
        </p:nvSpPr>
        <p:spPr>
          <a:xfrm>
            <a:off x="8086725" y="4942433"/>
            <a:ext cx="3524250" cy="38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6" name="TextBox 15"/>
          <p:cNvSpPr txBox="1"/>
          <p:nvPr/>
        </p:nvSpPr>
        <p:spPr>
          <a:xfrm>
            <a:off x="8315325" y="4680495"/>
            <a:ext cx="3067050" cy="873637"/>
          </a:xfrm>
          <a:prstGeom prst="rect">
            <a:avLst/>
          </a:prstGeom>
          <a:noFill/>
        </p:spPr>
        <p:txBody>
          <a:bodyPr wrap="square" lIns="0" tIns="0" rIns="0" bIns="0" anchor="t">
            <a:spAutoFit/>
          </a:bodyPr>
          <a:lstStyle/>
          <a:p>
            <a:pPr algn="r" rtl="1">
              <a:lnSpc>
                <a:spcPct val="150000"/>
              </a:lnSpc>
            </a:pPr>
            <a:r>
              <a:rPr lang="ar-EG" sz="2000" b="1" i="0" u="none" noProof="1">
                <a:solidFill>
                  <a:srgbClr val="475569"/>
                </a:solidFill>
                <a:latin typeface="Cairo SemiBold"/>
              </a:rPr>
              <a:t>تطوير أساليب التدريس والتفاعل الصفّي والإدارة المدرسية الحديثة.</a:t>
            </a:r>
          </a:p>
        </p:txBody>
      </p:sp>
      <p:sp>
        <p:nvSpPr>
          <p:cNvPr id="17" name="Rectangle 16"/>
          <p:cNvSpPr/>
          <p:nvPr/>
        </p:nvSpPr>
        <p:spPr>
          <a:xfrm>
            <a:off x="4333875" y="4942433"/>
            <a:ext cx="3524250" cy="38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8" name="TextBox 17"/>
          <p:cNvSpPr txBox="1"/>
          <p:nvPr/>
        </p:nvSpPr>
        <p:spPr>
          <a:xfrm>
            <a:off x="4562475" y="4680495"/>
            <a:ext cx="3067050" cy="873637"/>
          </a:xfrm>
          <a:prstGeom prst="rect">
            <a:avLst/>
          </a:prstGeom>
          <a:noFill/>
        </p:spPr>
        <p:txBody>
          <a:bodyPr wrap="square" lIns="0" tIns="0" rIns="0" bIns="0" anchor="t">
            <a:spAutoFit/>
          </a:bodyPr>
          <a:lstStyle/>
          <a:p>
            <a:pPr algn="just" rtl="1">
              <a:lnSpc>
                <a:spcPct val="150000"/>
              </a:lnSpc>
            </a:pPr>
            <a:r>
              <a:rPr lang="ar-EG" sz="2000" b="1" i="0" u="none" noProof="1">
                <a:solidFill>
                  <a:srgbClr val="475569"/>
                </a:solidFill>
                <a:latin typeface="Cairo SemiBold"/>
              </a:rPr>
              <a:t>الاعتماد على شواهد وأدلة دقيقة بدلاً من التخمين والاجتهاد الفردي.</a:t>
            </a:r>
          </a:p>
        </p:txBody>
      </p:sp>
      <p:sp>
        <p:nvSpPr>
          <p:cNvPr id="19" name="Rectangle 18"/>
          <p:cNvSpPr/>
          <p:nvPr/>
        </p:nvSpPr>
        <p:spPr>
          <a:xfrm>
            <a:off x="581025" y="4942433"/>
            <a:ext cx="3524250" cy="38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0" name="TextBox 19"/>
          <p:cNvSpPr txBox="1"/>
          <p:nvPr/>
        </p:nvSpPr>
        <p:spPr>
          <a:xfrm>
            <a:off x="809625" y="4680495"/>
            <a:ext cx="3067050" cy="698846"/>
          </a:xfrm>
          <a:prstGeom prst="rect">
            <a:avLst/>
          </a:prstGeom>
          <a:noFill/>
        </p:spPr>
        <p:txBody>
          <a:bodyPr wrap="square" lIns="0" tIns="0" rIns="0" bIns="0" anchor="t">
            <a:spAutoFit/>
          </a:bodyPr>
          <a:lstStyle/>
          <a:p>
            <a:pPr algn="just" rtl="1">
              <a:lnSpc>
                <a:spcPct val="150000"/>
              </a:lnSpc>
            </a:pPr>
            <a:r>
              <a:rPr lang="ar-EG" sz="1600" b="1" i="0" u="none" noProof="1">
                <a:solidFill>
                  <a:srgbClr val="475569"/>
                </a:solidFill>
                <a:latin typeface="Cairo SemiBold"/>
              </a:rPr>
              <a:t>مواءمة الأداء مع المعايير الوطنية وهيئة تقويم التعليم والتدريب.</a:t>
            </a:r>
          </a:p>
        </p:txBody>
      </p:sp>
      <p:pic>
        <p:nvPicPr>
          <p:cNvPr id="21" name="Picture 20" descr="image.png"/>
          <p:cNvPicPr>
            <a:picLocks noChangeAspect="1"/>
          </p:cNvPicPr>
          <p:nvPr/>
        </p:nvPicPr>
        <p:blipFill>
          <a:blip r:embed="rId9"/>
          <a:stretch>
            <a:fillRect/>
          </a:stretch>
        </p:blipFill>
        <p:spPr>
          <a:xfrm>
            <a:off x="10925175" y="1718220"/>
            <a:ext cx="457200" cy="457200"/>
          </a:xfrm>
          <a:prstGeom prst="rect">
            <a:avLst/>
          </a:prstGeom>
        </p:spPr>
      </p:pic>
      <p:sp>
        <p:nvSpPr>
          <p:cNvPr id="22" name="TextBox 21"/>
          <p:cNvSpPr txBox="1"/>
          <p:nvPr/>
        </p:nvSpPr>
        <p:spPr>
          <a:xfrm>
            <a:off x="8889207" y="1770608"/>
            <a:ext cx="1900237" cy="307777"/>
          </a:xfrm>
          <a:prstGeom prst="rect">
            <a:avLst/>
          </a:prstGeom>
          <a:noFill/>
        </p:spPr>
        <p:txBody>
          <a:bodyPr wrap="square" lIns="0" tIns="0" rIns="0" bIns="0" anchor="t">
            <a:spAutoFit/>
          </a:bodyPr>
          <a:lstStyle/>
          <a:p>
            <a:r>
              <a:rPr lang="ar-EG" sz="2000" b="1" noProof="1">
                <a:solidFill>
                  <a:srgbClr val="0F2C59"/>
                </a:solidFill>
                <a:latin typeface="Cairo"/>
              </a:rPr>
              <a:t>معالجة جوانب الضعف</a:t>
            </a:r>
          </a:p>
        </p:txBody>
      </p:sp>
      <p:pic>
        <p:nvPicPr>
          <p:cNvPr id="23" name="Picture 22" descr="image.png"/>
          <p:cNvPicPr>
            <a:picLocks noChangeAspect="1"/>
          </p:cNvPicPr>
          <p:nvPr/>
        </p:nvPicPr>
        <p:blipFill>
          <a:blip r:embed="rId10"/>
          <a:stretch>
            <a:fillRect/>
          </a:stretch>
        </p:blipFill>
        <p:spPr>
          <a:xfrm>
            <a:off x="7172325" y="1718220"/>
            <a:ext cx="457200" cy="457200"/>
          </a:xfrm>
          <a:prstGeom prst="rect">
            <a:avLst/>
          </a:prstGeom>
        </p:spPr>
      </p:pic>
      <p:sp>
        <p:nvSpPr>
          <p:cNvPr id="24" name="TextBox 23"/>
          <p:cNvSpPr txBox="1"/>
          <p:nvPr/>
        </p:nvSpPr>
        <p:spPr>
          <a:xfrm>
            <a:off x="5686425" y="1770608"/>
            <a:ext cx="1420177" cy="307777"/>
          </a:xfrm>
          <a:prstGeom prst="rect">
            <a:avLst/>
          </a:prstGeom>
          <a:noFill/>
        </p:spPr>
        <p:txBody>
          <a:bodyPr wrap="square" lIns="0" tIns="0" rIns="0" bIns="0" anchor="t">
            <a:spAutoFit/>
          </a:bodyPr>
          <a:lstStyle/>
          <a:p>
            <a:pPr algn="l"/>
            <a:r>
              <a:rPr lang="ar-EG" sz="2000" b="1" i="0" u="none" noProof="1">
                <a:solidFill>
                  <a:srgbClr val="0F2C59"/>
                </a:solidFill>
                <a:latin typeface="Cairo"/>
              </a:rPr>
              <a:t>تعزيز نقاط القوة</a:t>
            </a:r>
          </a:p>
        </p:txBody>
      </p:sp>
      <p:pic>
        <p:nvPicPr>
          <p:cNvPr id="25" name="Picture 24" descr="image.png"/>
          <p:cNvPicPr>
            <a:picLocks noChangeAspect="1"/>
          </p:cNvPicPr>
          <p:nvPr/>
        </p:nvPicPr>
        <p:blipFill>
          <a:blip r:embed="rId10"/>
          <a:stretch>
            <a:fillRect/>
          </a:stretch>
        </p:blipFill>
        <p:spPr>
          <a:xfrm>
            <a:off x="3419475" y="1718220"/>
            <a:ext cx="457200" cy="457200"/>
          </a:xfrm>
          <a:prstGeom prst="rect">
            <a:avLst/>
          </a:prstGeom>
        </p:spPr>
      </p:pic>
      <p:sp>
        <p:nvSpPr>
          <p:cNvPr id="26" name="TextBox 25"/>
          <p:cNvSpPr txBox="1"/>
          <p:nvPr/>
        </p:nvSpPr>
        <p:spPr>
          <a:xfrm>
            <a:off x="1971675" y="1770608"/>
            <a:ext cx="1380172" cy="307777"/>
          </a:xfrm>
          <a:prstGeom prst="rect">
            <a:avLst/>
          </a:prstGeom>
          <a:noFill/>
        </p:spPr>
        <p:txBody>
          <a:bodyPr wrap="square" lIns="0" tIns="0" rIns="0" bIns="0" anchor="t">
            <a:spAutoFit/>
          </a:bodyPr>
          <a:lstStyle/>
          <a:p>
            <a:pPr algn="l"/>
            <a:r>
              <a:rPr lang="ar-EG" sz="2000" b="1" i="0" u="none" noProof="1">
                <a:solidFill>
                  <a:srgbClr val="0F2C59"/>
                </a:solidFill>
                <a:latin typeface="Cairo"/>
              </a:rPr>
              <a:t>رفع نواتج التعلم</a:t>
            </a:r>
          </a:p>
        </p:txBody>
      </p:sp>
      <p:pic>
        <p:nvPicPr>
          <p:cNvPr id="27" name="Picture 26" descr="image.png"/>
          <p:cNvPicPr>
            <a:picLocks noChangeAspect="1"/>
          </p:cNvPicPr>
          <p:nvPr/>
        </p:nvPicPr>
        <p:blipFill>
          <a:blip r:embed="rId9"/>
          <a:stretch>
            <a:fillRect/>
          </a:stretch>
        </p:blipFill>
        <p:spPr>
          <a:xfrm>
            <a:off x="10925175" y="4108995"/>
            <a:ext cx="457200" cy="457200"/>
          </a:xfrm>
          <a:prstGeom prst="rect">
            <a:avLst/>
          </a:prstGeom>
        </p:spPr>
      </p:pic>
      <p:sp>
        <p:nvSpPr>
          <p:cNvPr id="28" name="TextBox 27"/>
          <p:cNvSpPr txBox="1"/>
          <p:nvPr/>
        </p:nvSpPr>
        <p:spPr>
          <a:xfrm>
            <a:off x="9277350" y="4161383"/>
            <a:ext cx="1590198" cy="307777"/>
          </a:xfrm>
          <a:prstGeom prst="rect">
            <a:avLst/>
          </a:prstGeom>
          <a:noFill/>
        </p:spPr>
        <p:txBody>
          <a:bodyPr wrap="square" lIns="0" tIns="0" rIns="0" bIns="0" anchor="t">
            <a:spAutoFit/>
          </a:bodyPr>
          <a:lstStyle/>
          <a:p>
            <a:pPr algn="l"/>
            <a:r>
              <a:rPr lang="ar-EG" sz="2000" b="1" i="0" u="none" noProof="1">
                <a:solidFill>
                  <a:srgbClr val="0F2C59"/>
                </a:solidFill>
                <a:latin typeface="Cairo"/>
              </a:rPr>
              <a:t>تحسين الممارسات</a:t>
            </a:r>
          </a:p>
        </p:txBody>
      </p:sp>
      <p:pic>
        <p:nvPicPr>
          <p:cNvPr id="29" name="Picture 28" descr="image.png"/>
          <p:cNvPicPr>
            <a:picLocks noChangeAspect="1"/>
          </p:cNvPicPr>
          <p:nvPr/>
        </p:nvPicPr>
        <p:blipFill>
          <a:blip r:embed="rId10"/>
          <a:stretch>
            <a:fillRect/>
          </a:stretch>
        </p:blipFill>
        <p:spPr>
          <a:xfrm>
            <a:off x="7172325" y="4108995"/>
            <a:ext cx="457200" cy="457200"/>
          </a:xfrm>
          <a:prstGeom prst="rect">
            <a:avLst/>
          </a:prstGeom>
        </p:spPr>
      </p:pic>
      <p:sp>
        <p:nvSpPr>
          <p:cNvPr id="30" name="TextBox 29"/>
          <p:cNvSpPr txBox="1"/>
          <p:nvPr/>
        </p:nvSpPr>
        <p:spPr>
          <a:xfrm>
            <a:off x="5305425" y="4161383"/>
            <a:ext cx="1820227" cy="307777"/>
          </a:xfrm>
          <a:prstGeom prst="rect">
            <a:avLst/>
          </a:prstGeom>
          <a:noFill/>
        </p:spPr>
        <p:txBody>
          <a:bodyPr wrap="square" lIns="0" tIns="0" rIns="0" bIns="0" anchor="t">
            <a:spAutoFit/>
          </a:bodyPr>
          <a:lstStyle/>
          <a:p>
            <a:pPr algn="l"/>
            <a:r>
              <a:rPr lang="ar-EG" sz="2000" b="1" i="0" u="none" noProof="1">
                <a:solidFill>
                  <a:srgbClr val="0F2C59"/>
                </a:solidFill>
                <a:latin typeface="Cairo"/>
              </a:rPr>
              <a:t>دعم القرارات بالبيانات</a:t>
            </a:r>
          </a:p>
        </p:txBody>
      </p:sp>
      <p:pic>
        <p:nvPicPr>
          <p:cNvPr id="31" name="Picture 30" descr="image.png"/>
          <p:cNvPicPr>
            <a:picLocks noChangeAspect="1"/>
          </p:cNvPicPr>
          <p:nvPr/>
        </p:nvPicPr>
        <p:blipFill>
          <a:blip r:embed="rId10"/>
          <a:stretch>
            <a:fillRect/>
          </a:stretch>
        </p:blipFill>
        <p:spPr>
          <a:xfrm>
            <a:off x="3419475" y="4108995"/>
            <a:ext cx="457200" cy="457200"/>
          </a:xfrm>
          <a:prstGeom prst="rect">
            <a:avLst/>
          </a:prstGeom>
        </p:spPr>
      </p:pic>
      <p:sp>
        <p:nvSpPr>
          <p:cNvPr id="32" name="TextBox 31"/>
          <p:cNvSpPr txBox="1"/>
          <p:nvPr/>
        </p:nvSpPr>
        <p:spPr>
          <a:xfrm>
            <a:off x="1600200" y="4161383"/>
            <a:ext cx="1770221" cy="307777"/>
          </a:xfrm>
          <a:prstGeom prst="rect">
            <a:avLst/>
          </a:prstGeom>
          <a:noFill/>
        </p:spPr>
        <p:txBody>
          <a:bodyPr wrap="square" lIns="0" tIns="0" rIns="0" bIns="0" anchor="t">
            <a:spAutoFit/>
          </a:bodyPr>
          <a:lstStyle/>
          <a:p>
            <a:pPr algn="l"/>
            <a:r>
              <a:rPr lang="ar-EG" sz="2000" b="1" i="0" u="none" noProof="1">
                <a:solidFill>
                  <a:srgbClr val="0F2C59"/>
                </a:solidFill>
                <a:latin typeface="Cairo"/>
              </a:rPr>
              <a:t>مستهدفات الاعتماد</a:t>
            </a:r>
          </a:p>
        </p:txBody>
      </p:sp>
      <p:pic>
        <p:nvPicPr>
          <p:cNvPr id="33" name="Picture 32" descr="image.png"/>
          <p:cNvPicPr>
            <a:picLocks noChangeAspect="1"/>
          </p:cNvPicPr>
          <p:nvPr/>
        </p:nvPicPr>
        <p:blipFill>
          <a:blip r:embed="rId11"/>
          <a:stretch>
            <a:fillRect/>
          </a:stretch>
        </p:blipFill>
        <p:spPr>
          <a:xfrm>
            <a:off x="11049000" y="1842045"/>
            <a:ext cx="209550" cy="209550"/>
          </a:xfrm>
          <a:prstGeom prst="rect">
            <a:avLst/>
          </a:prstGeom>
        </p:spPr>
      </p:pic>
      <p:pic>
        <p:nvPicPr>
          <p:cNvPr id="34" name="Picture 33" descr="image.png"/>
          <p:cNvPicPr>
            <a:picLocks noChangeAspect="1"/>
          </p:cNvPicPr>
          <p:nvPr/>
        </p:nvPicPr>
        <p:blipFill>
          <a:blip r:embed="rId12"/>
          <a:stretch>
            <a:fillRect/>
          </a:stretch>
        </p:blipFill>
        <p:spPr>
          <a:xfrm>
            <a:off x="7319962" y="1842045"/>
            <a:ext cx="161925" cy="209550"/>
          </a:xfrm>
          <a:prstGeom prst="rect">
            <a:avLst/>
          </a:prstGeom>
        </p:spPr>
      </p:pic>
      <p:pic>
        <p:nvPicPr>
          <p:cNvPr id="35" name="Picture 34" descr="image.png"/>
          <p:cNvPicPr>
            <a:picLocks noChangeAspect="1"/>
          </p:cNvPicPr>
          <p:nvPr/>
        </p:nvPicPr>
        <p:blipFill>
          <a:blip r:embed="rId13"/>
          <a:stretch>
            <a:fillRect/>
          </a:stretch>
        </p:blipFill>
        <p:spPr>
          <a:xfrm>
            <a:off x="11020425" y="4232820"/>
            <a:ext cx="266700" cy="209550"/>
          </a:xfrm>
          <a:prstGeom prst="rect">
            <a:avLst/>
          </a:prstGeom>
        </p:spPr>
      </p:pic>
      <p:pic>
        <p:nvPicPr>
          <p:cNvPr id="36" name="Picture 35" descr="image.png"/>
          <p:cNvPicPr>
            <a:picLocks noChangeAspect="1"/>
          </p:cNvPicPr>
          <p:nvPr/>
        </p:nvPicPr>
        <p:blipFill>
          <a:blip r:embed="rId14"/>
          <a:stretch>
            <a:fillRect/>
          </a:stretch>
        </p:blipFill>
        <p:spPr>
          <a:xfrm>
            <a:off x="7296150" y="4232820"/>
            <a:ext cx="209550" cy="209550"/>
          </a:xfrm>
          <a:prstGeom prst="rect">
            <a:avLst/>
          </a:prstGeom>
        </p:spPr>
      </p:pic>
      <p:pic>
        <p:nvPicPr>
          <p:cNvPr id="37" name="Picture 36" descr="image.png"/>
          <p:cNvPicPr>
            <a:picLocks noChangeAspect="1"/>
          </p:cNvPicPr>
          <p:nvPr/>
        </p:nvPicPr>
        <p:blipFill>
          <a:blip r:embed="rId15"/>
          <a:stretch>
            <a:fillRect/>
          </a:stretch>
        </p:blipFill>
        <p:spPr>
          <a:xfrm>
            <a:off x="3543300" y="4232820"/>
            <a:ext cx="209550" cy="209550"/>
          </a:xfrm>
          <a:prstGeom prst="rect">
            <a:avLst/>
          </a:prstGeom>
        </p:spPr>
      </p:pic>
      <p:sp>
        <p:nvSpPr>
          <p:cNvPr id="38" name="TextBox 37"/>
          <p:cNvSpPr txBox="1"/>
          <p:nvPr/>
        </p:nvSpPr>
        <p:spPr>
          <a:xfrm>
            <a:off x="571500" y="462314"/>
            <a:ext cx="11601450" cy="416461"/>
          </a:xfrm>
          <a:prstGeom prst="rect">
            <a:avLst/>
          </a:prstGeom>
          <a:noFill/>
        </p:spPr>
        <p:txBody>
          <a:bodyPr wrap="square" lIns="0" tIns="0" rIns="0" bIns="0" anchor="ctr">
            <a:spAutoFit/>
          </a:bodyPr>
          <a:lstStyle/>
          <a:p>
            <a:pPr algn="ctr">
              <a:lnSpc>
                <a:spcPts val="3060"/>
              </a:lnSpc>
            </a:pPr>
            <a:r>
              <a:rPr lang="ar-EG" sz="3600" b="1" i="0" u="none" noProof="1">
                <a:solidFill>
                  <a:schemeClr val="bg1"/>
                </a:solidFill>
                <a:latin typeface="Cairo ExtraBold"/>
              </a:rPr>
              <a:t>لماذا نحتاج إلى خطة التحسين المدرسي؟</a:t>
            </a:r>
          </a:p>
        </p:txBody>
      </p:sp>
      <p:sp>
        <p:nvSpPr>
          <p:cNvPr id="39" name="Rounded Rectangle 38"/>
          <p:cNvSpPr/>
          <p:nvPr/>
        </p:nvSpPr>
        <p:spPr>
          <a:xfrm>
            <a:off x="571500" y="864840"/>
            <a:ext cx="76200" cy="3238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1" name="TextBox 40">
            <a:extLst>
              <a:ext uri="{FF2B5EF4-FFF2-40B4-BE49-F238E27FC236}">
                <a16:creationId xmlns:a16="http://schemas.microsoft.com/office/drawing/2014/main" id="{56673928-381F-3F16-A33F-870DF2C7D46A}"/>
              </a:ext>
            </a:extLst>
          </p:cNvPr>
          <p:cNvSpPr txBox="1"/>
          <p:nvPr/>
        </p:nvSpPr>
        <p:spPr>
          <a:xfrm>
            <a:off x="3370421" y="1715987"/>
            <a:ext cx="6476034" cy="461665"/>
          </a:xfrm>
          <a:prstGeom prst="rect">
            <a:avLst/>
          </a:prstGeom>
          <a:noFill/>
        </p:spPr>
        <p:txBody>
          <a:bodyPr wrap="square">
            <a:spAutoFit/>
          </a:bodyPr>
          <a:lstStyle/>
          <a:p>
            <a:r>
              <a:rPr lang="ar-EG" sz="2400" noProof="1"/>
              <a:t>📈</a:t>
            </a:r>
            <a:endParaRPr 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0-#ppt_w/2"/>
                                          </p:val>
                                        </p:tav>
                                        <p:tav tm="100000">
                                          <p:val>
                                            <p:strVal val="#ppt_x"/>
                                          </p:val>
                                        </p:tav>
                                      </p:tavLst>
                                    </p:anim>
                                    <p:anim calcmode="lin" valueType="num">
                                      <p:cBhvr additive="base">
                                        <p:cTn id="8" dur="1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0-#ppt_w/2"/>
                                          </p:val>
                                        </p:tav>
                                        <p:tav tm="100000">
                                          <p:val>
                                            <p:strVal val="#ppt_x"/>
                                          </p:val>
                                        </p:tav>
                                      </p:tavLst>
                                    </p:anim>
                                    <p:anim calcmode="lin" valueType="num">
                                      <p:cBhvr additive="base">
                                        <p:cTn id="12" dur="175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0-#ppt_w/2"/>
                                          </p:val>
                                        </p:tav>
                                        <p:tav tm="100000">
                                          <p:val>
                                            <p:strVal val="#ppt_x"/>
                                          </p:val>
                                        </p:tav>
                                      </p:tavLst>
                                    </p:anim>
                                    <p:anim calcmode="lin" valueType="num">
                                      <p:cBhvr additive="base">
                                        <p:cTn id="16" dur="1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0-#ppt_w/2"/>
                                          </p:val>
                                        </p:tav>
                                        <p:tav tm="100000">
                                          <p:val>
                                            <p:strVal val="#ppt_x"/>
                                          </p:val>
                                        </p:tav>
                                      </p:tavLst>
                                    </p:anim>
                                    <p:anim calcmode="lin" valueType="num">
                                      <p:cBhvr additive="base">
                                        <p:cTn id="20" dur="175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0-#ppt_w/2"/>
                                          </p:val>
                                        </p:tav>
                                        <p:tav tm="100000">
                                          <p:val>
                                            <p:strVal val="#ppt_x"/>
                                          </p:val>
                                        </p:tav>
                                      </p:tavLst>
                                    </p:anim>
                                    <p:anim calcmode="lin" valueType="num">
                                      <p:cBhvr additive="base">
                                        <p:cTn id="24" dur="175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0-#ppt_w/2"/>
                                          </p:val>
                                        </p:tav>
                                        <p:tav tm="100000">
                                          <p:val>
                                            <p:strVal val="#ppt_x"/>
                                          </p:val>
                                        </p:tav>
                                      </p:tavLst>
                                    </p:anim>
                                    <p:anim calcmode="lin" valueType="num">
                                      <p:cBhvr additive="base">
                                        <p:cTn id="28" dur="175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750" fill="hold"/>
                                        <p:tgtEl>
                                          <p:spTgt spid="8"/>
                                        </p:tgtEl>
                                        <p:attrNameLst>
                                          <p:attrName>ppt_x</p:attrName>
                                        </p:attrNameLst>
                                      </p:cBhvr>
                                      <p:tavLst>
                                        <p:tav tm="0">
                                          <p:val>
                                            <p:strVal val="0-#ppt_w/2"/>
                                          </p:val>
                                        </p:tav>
                                        <p:tav tm="100000">
                                          <p:val>
                                            <p:strVal val="#ppt_x"/>
                                          </p:val>
                                        </p:tav>
                                      </p:tavLst>
                                    </p:anim>
                                    <p:anim calcmode="lin" valueType="num">
                                      <p:cBhvr additive="base">
                                        <p:cTn id="32" dur="1750" fill="hold"/>
                                        <p:tgtEl>
                                          <p:spTgt spid="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nodePh="1">
                                  <p:stCondLst>
                                    <p:cond delay="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750" fill="hold"/>
                                        <p:tgtEl>
                                          <p:spTgt spid="9"/>
                                        </p:tgtEl>
                                        <p:attrNameLst>
                                          <p:attrName>ppt_x</p:attrName>
                                        </p:attrNameLst>
                                      </p:cBhvr>
                                      <p:tavLst>
                                        <p:tav tm="0">
                                          <p:val>
                                            <p:strVal val="0-#ppt_w/2"/>
                                          </p:val>
                                        </p:tav>
                                        <p:tav tm="100000">
                                          <p:val>
                                            <p:strVal val="#ppt_x"/>
                                          </p:val>
                                        </p:tav>
                                      </p:tavLst>
                                    </p:anim>
                                    <p:anim calcmode="lin" valueType="num">
                                      <p:cBhvr additive="base">
                                        <p:cTn id="36" dur="17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750" fill="hold"/>
                                        <p:tgtEl>
                                          <p:spTgt spid="10"/>
                                        </p:tgtEl>
                                        <p:attrNameLst>
                                          <p:attrName>ppt_x</p:attrName>
                                        </p:attrNameLst>
                                      </p:cBhvr>
                                      <p:tavLst>
                                        <p:tav tm="0">
                                          <p:val>
                                            <p:strVal val="0-#ppt_w/2"/>
                                          </p:val>
                                        </p:tav>
                                        <p:tav tm="100000">
                                          <p:val>
                                            <p:strVal val="#ppt_x"/>
                                          </p:val>
                                        </p:tav>
                                      </p:tavLst>
                                    </p:anim>
                                    <p:anim calcmode="lin" valueType="num">
                                      <p:cBhvr additive="base">
                                        <p:cTn id="40" dur="1750" fill="hold"/>
                                        <p:tgtEl>
                                          <p:spTgt spid="1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nodePh="1">
                                  <p:stCondLst>
                                    <p:cond delay="0"/>
                                  </p:stCondLst>
                                  <p:endCondLst>
                                    <p:cond evt="begin" delay="0">
                                      <p:tn val="41"/>
                                    </p:cond>
                                  </p:end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750" fill="hold"/>
                                        <p:tgtEl>
                                          <p:spTgt spid="11"/>
                                        </p:tgtEl>
                                        <p:attrNameLst>
                                          <p:attrName>ppt_x</p:attrName>
                                        </p:attrNameLst>
                                      </p:cBhvr>
                                      <p:tavLst>
                                        <p:tav tm="0">
                                          <p:val>
                                            <p:strVal val="0-#ppt_w/2"/>
                                          </p:val>
                                        </p:tav>
                                        <p:tav tm="100000">
                                          <p:val>
                                            <p:strVal val="#ppt_x"/>
                                          </p:val>
                                        </p:tav>
                                      </p:tavLst>
                                    </p:anim>
                                    <p:anim calcmode="lin" valueType="num">
                                      <p:cBhvr additive="base">
                                        <p:cTn id="44" dur="1750" fill="hold"/>
                                        <p:tgtEl>
                                          <p:spTgt spid="11"/>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1750" fill="hold"/>
                                        <p:tgtEl>
                                          <p:spTgt spid="12"/>
                                        </p:tgtEl>
                                        <p:attrNameLst>
                                          <p:attrName>ppt_x</p:attrName>
                                        </p:attrNameLst>
                                      </p:cBhvr>
                                      <p:tavLst>
                                        <p:tav tm="0">
                                          <p:val>
                                            <p:strVal val="0-#ppt_w/2"/>
                                          </p:val>
                                        </p:tav>
                                        <p:tav tm="100000">
                                          <p:val>
                                            <p:strVal val="#ppt_x"/>
                                          </p:val>
                                        </p:tav>
                                      </p:tavLst>
                                    </p:anim>
                                    <p:anim calcmode="lin" valueType="num">
                                      <p:cBhvr additive="base">
                                        <p:cTn id="48" dur="1750" fill="hold"/>
                                        <p:tgtEl>
                                          <p:spTgt spid="12"/>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nodePh="1">
                                  <p:stCondLst>
                                    <p:cond delay="0"/>
                                  </p:stCondLst>
                                  <p:endCondLst>
                                    <p:cond evt="begin" delay="0">
                                      <p:tn val="49"/>
                                    </p:cond>
                                  </p:end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1750" fill="hold"/>
                                        <p:tgtEl>
                                          <p:spTgt spid="13"/>
                                        </p:tgtEl>
                                        <p:attrNameLst>
                                          <p:attrName>ppt_x</p:attrName>
                                        </p:attrNameLst>
                                      </p:cBhvr>
                                      <p:tavLst>
                                        <p:tav tm="0">
                                          <p:val>
                                            <p:strVal val="0-#ppt_w/2"/>
                                          </p:val>
                                        </p:tav>
                                        <p:tav tm="100000">
                                          <p:val>
                                            <p:strVal val="#ppt_x"/>
                                          </p:val>
                                        </p:tav>
                                      </p:tavLst>
                                    </p:anim>
                                    <p:anim calcmode="lin" valueType="num">
                                      <p:cBhvr additive="base">
                                        <p:cTn id="52" dur="1750" fill="hold"/>
                                        <p:tgtEl>
                                          <p:spTgt spid="1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1750" fill="hold"/>
                                        <p:tgtEl>
                                          <p:spTgt spid="14"/>
                                        </p:tgtEl>
                                        <p:attrNameLst>
                                          <p:attrName>ppt_x</p:attrName>
                                        </p:attrNameLst>
                                      </p:cBhvr>
                                      <p:tavLst>
                                        <p:tav tm="0">
                                          <p:val>
                                            <p:strVal val="0-#ppt_w/2"/>
                                          </p:val>
                                        </p:tav>
                                        <p:tav tm="100000">
                                          <p:val>
                                            <p:strVal val="#ppt_x"/>
                                          </p:val>
                                        </p:tav>
                                      </p:tavLst>
                                    </p:anim>
                                    <p:anim calcmode="lin" valueType="num">
                                      <p:cBhvr additive="base">
                                        <p:cTn id="56" dur="1750" fill="hold"/>
                                        <p:tgtEl>
                                          <p:spTgt spid="1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nodePh="1">
                                  <p:stCondLst>
                                    <p:cond delay="0"/>
                                  </p:stCondLst>
                                  <p:endCondLst>
                                    <p:cond evt="begin" delay="0">
                                      <p:tn val="57"/>
                                    </p:cond>
                                  </p:end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1750" fill="hold"/>
                                        <p:tgtEl>
                                          <p:spTgt spid="15"/>
                                        </p:tgtEl>
                                        <p:attrNameLst>
                                          <p:attrName>ppt_x</p:attrName>
                                        </p:attrNameLst>
                                      </p:cBhvr>
                                      <p:tavLst>
                                        <p:tav tm="0">
                                          <p:val>
                                            <p:strVal val="0-#ppt_w/2"/>
                                          </p:val>
                                        </p:tav>
                                        <p:tav tm="100000">
                                          <p:val>
                                            <p:strVal val="#ppt_x"/>
                                          </p:val>
                                        </p:tav>
                                      </p:tavLst>
                                    </p:anim>
                                    <p:anim calcmode="lin" valueType="num">
                                      <p:cBhvr additive="base">
                                        <p:cTn id="60" dur="1750" fill="hold"/>
                                        <p:tgtEl>
                                          <p:spTgt spid="15"/>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1750" fill="hold"/>
                                        <p:tgtEl>
                                          <p:spTgt spid="16"/>
                                        </p:tgtEl>
                                        <p:attrNameLst>
                                          <p:attrName>ppt_x</p:attrName>
                                        </p:attrNameLst>
                                      </p:cBhvr>
                                      <p:tavLst>
                                        <p:tav tm="0">
                                          <p:val>
                                            <p:strVal val="0-#ppt_w/2"/>
                                          </p:val>
                                        </p:tav>
                                        <p:tav tm="100000">
                                          <p:val>
                                            <p:strVal val="#ppt_x"/>
                                          </p:val>
                                        </p:tav>
                                      </p:tavLst>
                                    </p:anim>
                                    <p:anim calcmode="lin" valueType="num">
                                      <p:cBhvr additive="base">
                                        <p:cTn id="64" dur="1750" fill="hold"/>
                                        <p:tgtEl>
                                          <p:spTgt spid="16"/>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nodePh="1">
                                  <p:stCondLst>
                                    <p:cond delay="0"/>
                                  </p:stCondLst>
                                  <p:endCondLst>
                                    <p:cond evt="begin" delay="0">
                                      <p:tn val="65"/>
                                    </p:cond>
                                  </p:end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1750" fill="hold"/>
                                        <p:tgtEl>
                                          <p:spTgt spid="17"/>
                                        </p:tgtEl>
                                        <p:attrNameLst>
                                          <p:attrName>ppt_x</p:attrName>
                                        </p:attrNameLst>
                                      </p:cBhvr>
                                      <p:tavLst>
                                        <p:tav tm="0">
                                          <p:val>
                                            <p:strVal val="0-#ppt_w/2"/>
                                          </p:val>
                                        </p:tav>
                                        <p:tav tm="100000">
                                          <p:val>
                                            <p:strVal val="#ppt_x"/>
                                          </p:val>
                                        </p:tav>
                                      </p:tavLst>
                                    </p:anim>
                                    <p:anim calcmode="lin" valueType="num">
                                      <p:cBhvr additive="base">
                                        <p:cTn id="68" dur="1750" fill="hold"/>
                                        <p:tgtEl>
                                          <p:spTgt spid="17"/>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1750" fill="hold"/>
                                        <p:tgtEl>
                                          <p:spTgt spid="18"/>
                                        </p:tgtEl>
                                        <p:attrNameLst>
                                          <p:attrName>ppt_x</p:attrName>
                                        </p:attrNameLst>
                                      </p:cBhvr>
                                      <p:tavLst>
                                        <p:tav tm="0">
                                          <p:val>
                                            <p:strVal val="0-#ppt_w/2"/>
                                          </p:val>
                                        </p:tav>
                                        <p:tav tm="100000">
                                          <p:val>
                                            <p:strVal val="#ppt_x"/>
                                          </p:val>
                                        </p:tav>
                                      </p:tavLst>
                                    </p:anim>
                                    <p:anim calcmode="lin" valueType="num">
                                      <p:cBhvr additive="base">
                                        <p:cTn id="72" dur="1750" fill="hold"/>
                                        <p:tgtEl>
                                          <p:spTgt spid="18"/>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nodePh="1">
                                  <p:stCondLst>
                                    <p:cond delay="0"/>
                                  </p:stCondLst>
                                  <p:endCondLst>
                                    <p:cond evt="begin" delay="0">
                                      <p:tn val="73"/>
                                    </p:cond>
                                  </p:end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1750" fill="hold"/>
                                        <p:tgtEl>
                                          <p:spTgt spid="19"/>
                                        </p:tgtEl>
                                        <p:attrNameLst>
                                          <p:attrName>ppt_x</p:attrName>
                                        </p:attrNameLst>
                                      </p:cBhvr>
                                      <p:tavLst>
                                        <p:tav tm="0">
                                          <p:val>
                                            <p:strVal val="0-#ppt_w/2"/>
                                          </p:val>
                                        </p:tav>
                                        <p:tav tm="100000">
                                          <p:val>
                                            <p:strVal val="#ppt_x"/>
                                          </p:val>
                                        </p:tav>
                                      </p:tavLst>
                                    </p:anim>
                                    <p:anim calcmode="lin" valueType="num">
                                      <p:cBhvr additive="base">
                                        <p:cTn id="76" dur="1750" fill="hold"/>
                                        <p:tgtEl>
                                          <p:spTgt spid="19"/>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1750" fill="hold"/>
                                        <p:tgtEl>
                                          <p:spTgt spid="20"/>
                                        </p:tgtEl>
                                        <p:attrNameLst>
                                          <p:attrName>ppt_x</p:attrName>
                                        </p:attrNameLst>
                                      </p:cBhvr>
                                      <p:tavLst>
                                        <p:tav tm="0">
                                          <p:val>
                                            <p:strVal val="0-#ppt_w/2"/>
                                          </p:val>
                                        </p:tav>
                                        <p:tav tm="100000">
                                          <p:val>
                                            <p:strVal val="#ppt_x"/>
                                          </p:val>
                                        </p:tav>
                                      </p:tavLst>
                                    </p:anim>
                                    <p:anim calcmode="lin" valueType="num">
                                      <p:cBhvr additive="base">
                                        <p:cTn id="80" dur="1750" fill="hold"/>
                                        <p:tgtEl>
                                          <p:spTgt spid="20"/>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1750" fill="hold"/>
                                        <p:tgtEl>
                                          <p:spTgt spid="21"/>
                                        </p:tgtEl>
                                        <p:attrNameLst>
                                          <p:attrName>ppt_x</p:attrName>
                                        </p:attrNameLst>
                                      </p:cBhvr>
                                      <p:tavLst>
                                        <p:tav tm="0">
                                          <p:val>
                                            <p:strVal val="0-#ppt_w/2"/>
                                          </p:val>
                                        </p:tav>
                                        <p:tav tm="100000">
                                          <p:val>
                                            <p:strVal val="#ppt_x"/>
                                          </p:val>
                                        </p:tav>
                                      </p:tavLst>
                                    </p:anim>
                                    <p:anim calcmode="lin" valueType="num">
                                      <p:cBhvr additive="base">
                                        <p:cTn id="84" dur="1750" fill="hold"/>
                                        <p:tgtEl>
                                          <p:spTgt spid="21"/>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additive="base">
                                        <p:cTn id="87" dur="1750" fill="hold"/>
                                        <p:tgtEl>
                                          <p:spTgt spid="22"/>
                                        </p:tgtEl>
                                        <p:attrNameLst>
                                          <p:attrName>ppt_x</p:attrName>
                                        </p:attrNameLst>
                                      </p:cBhvr>
                                      <p:tavLst>
                                        <p:tav tm="0">
                                          <p:val>
                                            <p:strVal val="0-#ppt_w/2"/>
                                          </p:val>
                                        </p:tav>
                                        <p:tav tm="100000">
                                          <p:val>
                                            <p:strVal val="#ppt_x"/>
                                          </p:val>
                                        </p:tav>
                                      </p:tavLst>
                                    </p:anim>
                                    <p:anim calcmode="lin" valueType="num">
                                      <p:cBhvr additive="base">
                                        <p:cTn id="88" dur="1750" fill="hold"/>
                                        <p:tgtEl>
                                          <p:spTgt spid="22"/>
                                        </p:tgtEl>
                                        <p:attrNameLst>
                                          <p:attrName>ppt_y</p:attrName>
                                        </p:attrNameLst>
                                      </p:cBhvr>
                                      <p:tavLst>
                                        <p:tav tm="0">
                                          <p:val>
                                            <p:strVal val="#ppt_y"/>
                                          </p:val>
                                        </p:tav>
                                        <p:tav tm="100000">
                                          <p:val>
                                            <p:strVal val="#ppt_y"/>
                                          </p:val>
                                        </p:tav>
                                      </p:tavLst>
                                    </p:anim>
                                  </p:childTnLst>
                                </p:cTn>
                              </p:par>
                              <p:par>
                                <p:cTn id="89" presetID="2" presetClass="entr" presetSubtype="8" fill="hold" nodeType="withEffect">
                                  <p:stCondLst>
                                    <p:cond delay="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1750" fill="hold"/>
                                        <p:tgtEl>
                                          <p:spTgt spid="23"/>
                                        </p:tgtEl>
                                        <p:attrNameLst>
                                          <p:attrName>ppt_x</p:attrName>
                                        </p:attrNameLst>
                                      </p:cBhvr>
                                      <p:tavLst>
                                        <p:tav tm="0">
                                          <p:val>
                                            <p:strVal val="0-#ppt_w/2"/>
                                          </p:val>
                                        </p:tav>
                                        <p:tav tm="100000">
                                          <p:val>
                                            <p:strVal val="#ppt_x"/>
                                          </p:val>
                                        </p:tav>
                                      </p:tavLst>
                                    </p:anim>
                                    <p:anim calcmode="lin" valueType="num">
                                      <p:cBhvr additive="base">
                                        <p:cTn id="92" dur="1750" fill="hold"/>
                                        <p:tgtEl>
                                          <p:spTgt spid="23"/>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1750" fill="hold"/>
                                        <p:tgtEl>
                                          <p:spTgt spid="24"/>
                                        </p:tgtEl>
                                        <p:attrNameLst>
                                          <p:attrName>ppt_x</p:attrName>
                                        </p:attrNameLst>
                                      </p:cBhvr>
                                      <p:tavLst>
                                        <p:tav tm="0">
                                          <p:val>
                                            <p:strVal val="0-#ppt_w/2"/>
                                          </p:val>
                                        </p:tav>
                                        <p:tav tm="100000">
                                          <p:val>
                                            <p:strVal val="#ppt_x"/>
                                          </p:val>
                                        </p:tav>
                                      </p:tavLst>
                                    </p:anim>
                                    <p:anim calcmode="lin" valueType="num">
                                      <p:cBhvr additive="base">
                                        <p:cTn id="96" dur="1750" fill="hold"/>
                                        <p:tgtEl>
                                          <p:spTgt spid="24"/>
                                        </p:tgtEl>
                                        <p:attrNameLst>
                                          <p:attrName>ppt_y</p:attrName>
                                        </p:attrNameLst>
                                      </p:cBhvr>
                                      <p:tavLst>
                                        <p:tav tm="0">
                                          <p:val>
                                            <p:strVal val="#ppt_y"/>
                                          </p:val>
                                        </p:tav>
                                        <p:tav tm="100000">
                                          <p:val>
                                            <p:strVal val="#ppt_y"/>
                                          </p:val>
                                        </p:tav>
                                      </p:tavLst>
                                    </p:anim>
                                  </p:childTnLst>
                                </p:cTn>
                              </p:par>
                              <p:par>
                                <p:cTn id="97" presetID="2" presetClass="entr" presetSubtype="8" fill="hold" nodeType="withEffect">
                                  <p:stCondLst>
                                    <p:cond delay="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1750" fill="hold"/>
                                        <p:tgtEl>
                                          <p:spTgt spid="25"/>
                                        </p:tgtEl>
                                        <p:attrNameLst>
                                          <p:attrName>ppt_x</p:attrName>
                                        </p:attrNameLst>
                                      </p:cBhvr>
                                      <p:tavLst>
                                        <p:tav tm="0">
                                          <p:val>
                                            <p:strVal val="0-#ppt_w/2"/>
                                          </p:val>
                                        </p:tav>
                                        <p:tav tm="100000">
                                          <p:val>
                                            <p:strVal val="#ppt_x"/>
                                          </p:val>
                                        </p:tav>
                                      </p:tavLst>
                                    </p:anim>
                                    <p:anim calcmode="lin" valueType="num">
                                      <p:cBhvr additive="base">
                                        <p:cTn id="100" dur="1750" fill="hold"/>
                                        <p:tgtEl>
                                          <p:spTgt spid="25"/>
                                        </p:tgtEl>
                                        <p:attrNameLst>
                                          <p:attrName>ppt_y</p:attrName>
                                        </p:attrNameLst>
                                      </p:cBhvr>
                                      <p:tavLst>
                                        <p:tav tm="0">
                                          <p:val>
                                            <p:strVal val="#ppt_y"/>
                                          </p:val>
                                        </p:tav>
                                        <p:tav tm="100000">
                                          <p:val>
                                            <p:strVal val="#ppt_y"/>
                                          </p:val>
                                        </p:tav>
                                      </p:tavLst>
                                    </p:anim>
                                  </p:childTnLst>
                                </p:cTn>
                              </p:par>
                              <p:par>
                                <p:cTn id="101" presetID="2" presetClass="entr" presetSubtype="8"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1750" fill="hold"/>
                                        <p:tgtEl>
                                          <p:spTgt spid="26"/>
                                        </p:tgtEl>
                                        <p:attrNameLst>
                                          <p:attrName>ppt_x</p:attrName>
                                        </p:attrNameLst>
                                      </p:cBhvr>
                                      <p:tavLst>
                                        <p:tav tm="0">
                                          <p:val>
                                            <p:strVal val="0-#ppt_w/2"/>
                                          </p:val>
                                        </p:tav>
                                        <p:tav tm="100000">
                                          <p:val>
                                            <p:strVal val="#ppt_x"/>
                                          </p:val>
                                        </p:tav>
                                      </p:tavLst>
                                    </p:anim>
                                    <p:anim calcmode="lin" valueType="num">
                                      <p:cBhvr additive="base">
                                        <p:cTn id="104" dur="1750" fill="hold"/>
                                        <p:tgtEl>
                                          <p:spTgt spid="26"/>
                                        </p:tgtEl>
                                        <p:attrNameLst>
                                          <p:attrName>ppt_y</p:attrName>
                                        </p:attrNameLst>
                                      </p:cBhvr>
                                      <p:tavLst>
                                        <p:tav tm="0">
                                          <p:val>
                                            <p:strVal val="#ppt_y"/>
                                          </p:val>
                                        </p:tav>
                                        <p:tav tm="100000">
                                          <p:val>
                                            <p:strVal val="#ppt_y"/>
                                          </p:val>
                                        </p:tav>
                                      </p:tavLst>
                                    </p:anim>
                                  </p:childTnLst>
                                </p:cTn>
                              </p:par>
                              <p:par>
                                <p:cTn id="105" presetID="2" presetClass="entr" presetSubtype="8"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1750" fill="hold"/>
                                        <p:tgtEl>
                                          <p:spTgt spid="27"/>
                                        </p:tgtEl>
                                        <p:attrNameLst>
                                          <p:attrName>ppt_x</p:attrName>
                                        </p:attrNameLst>
                                      </p:cBhvr>
                                      <p:tavLst>
                                        <p:tav tm="0">
                                          <p:val>
                                            <p:strVal val="0-#ppt_w/2"/>
                                          </p:val>
                                        </p:tav>
                                        <p:tav tm="100000">
                                          <p:val>
                                            <p:strVal val="#ppt_x"/>
                                          </p:val>
                                        </p:tav>
                                      </p:tavLst>
                                    </p:anim>
                                    <p:anim calcmode="lin" valueType="num">
                                      <p:cBhvr additive="base">
                                        <p:cTn id="108" dur="1750" fill="hold"/>
                                        <p:tgtEl>
                                          <p:spTgt spid="27"/>
                                        </p:tgtEl>
                                        <p:attrNameLst>
                                          <p:attrName>ppt_y</p:attrName>
                                        </p:attrNameLst>
                                      </p:cBhvr>
                                      <p:tavLst>
                                        <p:tav tm="0">
                                          <p:val>
                                            <p:strVal val="#ppt_y"/>
                                          </p:val>
                                        </p:tav>
                                        <p:tav tm="100000">
                                          <p:val>
                                            <p:strVal val="#ppt_y"/>
                                          </p:val>
                                        </p:tav>
                                      </p:tavLst>
                                    </p:anim>
                                  </p:childTnLst>
                                </p:cTn>
                              </p:par>
                              <p:par>
                                <p:cTn id="109" presetID="2" presetClass="entr" presetSubtype="8" fill="hold" grpId="0" nodeType="withEffect">
                                  <p:stCondLst>
                                    <p:cond delay="0"/>
                                  </p:stCondLst>
                                  <p:childTnLst>
                                    <p:set>
                                      <p:cBhvr>
                                        <p:cTn id="110" dur="1" fill="hold">
                                          <p:stCondLst>
                                            <p:cond delay="0"/>
                                          </p:stCondLst>
                                        </p:cTn>
                                        <p:tgtEl>
                                          <p:spTgt spid="28"/>
                                        </p:tgtEl>
                                        <p:attrNameLst>
                                          <p:attrName>style.visibility</p:attrName>
                                        </p:attrNameLst>
                                      </p:cBhvr>
                                      <p:to>
                                        <p:strVal val="visible"/>
                                      </p:to>
                                    </p:set>
                                    <p:anim calcmode="lin" valueType="num">
                                      <p:cBhvr additive="base">
                                        <p:cTn id="111" dur="1750" fill="hold"/>
                                        <p:tgtEl>
                                          <p:spTgt spid="28"/>
                                        </p:tgtEl>
                                        <p:attrNameLst>
                                          <p:attrName>ppt_x</p:attrName>
                                        </p:attrNameLst>
                                      </p:cBhvr>
                                      <p:tavLst>
                                        <p:tav tm="0">
                                          <p:val>
                                            <p:strVal val="0-#ppt_w/2"/>
                                          </p:val>
                                        </p:tav>
                                        <p:tav tm="100000">
                                          <p:val>
                                            <p:strVal val="#ppt_x"/>
                                          </p:val>
                                        </p:tav>
                                      </p:tavLst>
                                    </p:anim>
                                    <p:anim calcmode="lin" valueType="num">
                                      <p:cBhvr additive="base">
                                        <p:cTn id="112" dur="1750" fill="hold"/>
                                        <p:tgtEl>
                                          <p:spTgt spid="28"/>
                                        </p:tgtEl>
                                        <p:attrNameLst>
                                          <p:attrName>ppt_y</p:attrName>
                                        </p:attrNameLst>
                                      </p:cBhvr>
                                      <p:tavLst>
                                        <p:tav tm="0">
                                          <p:val>
                                            <p:strVal val="#ppt_y"/>
                                          </p:val>
                                        </p:tav>
                                        <p:tav tm="100000">
                                          <p:val>
                                            <p:strVal val="#ppt_y"/>
                                          </p:val>
                                        </p:tav>
                                      </p:tavLst>
                                    </p:anim>
                                  </p:childTnLst>
                                </p:cTn>
                              </p:par>
                              <p:par>
                                <p:cTn id="113" presetID="2" presetClass="entr" presetSubtype="8" fill="hold" nodeType="with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additive="base">
                                        <p:cTn id="115" dur="1750" fill="hold"/>
                                        <p:tgtEl>
                                          <p:spTgt spid="29"/>
                                        </p:tgtEl>
                                        <p:attrNameLst>
                                          <p:attrName>ppt_x</p:attrName>
                                        </p:attrNameLst>
                                      </p:cBhvr>
                                      <p:tavLst>
                                        <p:tav tm="0">
                                          <p:val>
                                            <p:strVal val="0-#ppt_w/2"/>
                                          </p:val>
                                        </p:tav>
                                        <p:tav tm="100000">
                                          <p:val>
                                            <p:strVal val="#ppt_x"/>
                                          </p:val>
                                        </p:tav>
                                      </p:tavLst>
                                    </p:anim>
                                    <p:anim calcmode="lin" valueType="num">
                                      <p:cBhvr additive="base">
                                        <p:cTn id="116" dur="1750" fill="hold"/>
                                        <p:tgtEl>
                                          <p:spTgt spid="29"/>
                                        </p:tgtEl>
                                        <p:attrNameLst>
                                          <p:attrName>ppt_y</p:attrName>
                                        </p:attrNameLst>
                                      </p:cBhvr>
                                      <p:tavLst>
                                        <p:tav tm="0">
                                          <p:val>
                                            <p:strVal val="#ppt_y"/>
                                          </p:val>
                                        </p:tav>
                                        <p:tav tm="100000">
                                          <p:val>
                                            <p:strVal val="#ppt_y"/>
                                          </p:val>
                                        </p:tav>
                                      </p:tavLst>
                                    </p:anim>
                                  </p:childTnLst>
                                </p:cTn>
                              </p:par>
                              <p:par>
                                <p:cTn id="117" presetID="2" presetClass="entr" presetSubtype="8" fill="hold" grpId="0" nodeType="withEffect">
                                  <p:stCondLst>
                                    <p:cond delay="0"/>
                                  </p:stCondLst>
                                  <p:childTnLst>
                                    <p:set>
                                      <p:cBhvr>
                                        <p:cTn id="118" dur="1" fill="hold">
                                          <p:stCondLst>
                                            <p:cond delay="0"/>
                                          </p:stCondLst>
                                        </p:cTn>
                                        <p:tgtEl>
                                          <p:spTgt spid="30"/>
                                        </p:tgtEl>
                                        <p:attrNameLst>
                                          <p:attrName>style.visibility</p:attrName>
                                        </p:attrNameLst>
                                      </p:cBhvr>
                                      <p:to>
                                        <p:strVal val="visible"/>
                                      </p:to>
                                    </p:set>
                                    <p:anim calcmode="lin" valueType="num">
                                      <p:cBhvr additive="base">
                                        <p:cTn id="119" dur="1750" fill="hold"/>
                                        <p:tgtEl>
                                          <p:spTgt spid="30"/>
                                        </p:tgtEl>
                                        <p:attrNameLst>
                                          <p:attrName>ppt_x</p:attrName>
                                        </p:attrNameLst>
                                      </p:cBhvr>
                                      <p:tavLst>
                                        <p:tav tm="0">
                                          <p:val>
                                            <p:strVal val="0-#ppt_w/2"/>
                                          </p:val>
                                        </p:tav>
                                        <p:tav tm="100000">
                                          <p:val>
                                            <p:strVal val="#ppt_x"/>
                                          </p:val>
                                        </p:tav>
                                      </p:tavLst>
                                    </p:anim>
                                    <p:anim calcmode="lin" valueType="num">
                                      <p:cBhvr additive="base">
                                        <p:cTn id="120" dur="1750" fill="hold"/>
                                        <p:tgtEl>
                                          <p:spTgt spid="30"/>
                                        </p:tgtEl>
                                        <p:attrNameLst>
                                          <p:attrName>ppt_y</p:attrName>
                                        </p:attrNameLst>
                                      </p:cBhvr>
                                      <p:tavLst>
                                        <p:tav tm="0">
                                          <p:val>
                                            <p:strVal val="#ppt_y"/>
                                          </p:val>
                                        </p:tav>
                                        <p:tav tm="100000">
                                          <p:val>
                                            <p:strVal val="#ppt_y"/>
                                          </p:val>
                                        </p:tav>
                                      </p:tavLst>
                                    </p:anim>
                                  </p:childTnLst>
                                </p:cTn>
                              </p:par>
                              <p:par>
                                <p:cTn id="121" presetID="2" presetClass="entr" presetSubtype="8" fill="hold" nodeType="withEffect">
                                  <p:stCondLst>
                                    <p:cond delay="0"/>
                                  </p:stCondLst>
                                  <p:childTnLst>
                                    <p:set>
                                      <p:cBhvr>
                                        <p:cTn id="122" dur="1" fill="hold">
                                          <p:stCondLst>
                                            <p:cond delay="0"/>
                                          </p:stCondLst>
                                        </p:cTn>
                                        <p:tgtEl>
                                          <p:spTgt spid="31"/>
                                        </p:tgtEl>
                                        <p:attrNameLst>
                                          <p:attrName>style.visibility</p:attrName>
                                        </p:attrNameLst>
                                      </p:cBhvr>
                                      <p:to>
                                        <p:strVal val="visible"/>
                                      </p:to>
                                    </p:set>
                                    <p:anim calcmode="lin" valueType="num">
                                      <p:cBhvr additive="base">
                                        <p:cTn id="123" dur="1750" fill="hold"/>
                                        <p:tgtEl>
                                          <p:spTgt spid="31"/>
                                        </p:tgtEl>
                                        <p:attrNameLst>
                                          <p:attrName>ppt_x</p:attrName>
                                        </p:attrNameLst>
                                      </p:cBhvr>
                                      <p:tavLst>
                                        <p:tav tm="0">
                                          <p:val>
                                            <p:strVal val="0-#ppt_w/2"/>
                                          </p:val>
                                        </p:tav>
                                        <p:tav tm="100000">
                                          <p:val>
                                            <p:strVal val="#ppt_x"/>
                                          </p:val>
                                        </p:tav>
                                      </p:tavLst>
                                    </p:anim>
                                    <p:anim calcmode="lin" valueType="num">
                                      <p:cBhvr additive="base">
                                        <p:cTn id="124" dur="1750" fill="hold"/>
                                        <p:tgtEl>
                                          <p:spTgt spid="31"/>
                                        </p:tgtEl>
                                        <p:attrNameLst>
                                          <p:attrName>ppt_y</p:attrName>
                                        </p:attrNameLst>
                                      </p:cBhvr>
                                      <p:tavLst>
                                        <p:tav tm="0">
                                          <p:val>
                                            <p:strVal val="#ppt_y"/>
                                          </p:val>
                                        </p:tav>
                                        <p:tav tm="100000">
                                          <p:val>
                                            <p:strVal val="#ppt_y"/>
                                          </p:val>
                                        </p:tav>
                                      </p:tavLst>
                                    </p:anim>
                                  </p:childTnLst>
                                </p:cTn>
                              </p:par>
                              <p:par>
                                <p:cTn id="125" presetID="2" presetClass="entr" presetSubtype="8" fill="hold" grpId="0" nodeType="withEffect">
                                  <p:stCondLst>
                                    <p:cond delay="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1750" fill="hold"/>
                                        <p:tgtEl>
                                          <p:spTgt spid="32"/>
                                        </p:tgtEl>
                                        <p:attrNameLst>
                                          <p:attrName>ppt_x</p:attrName>
                                        </p:attrNameLst>
                                      </p:cBhvr>
                                      <p:tavLst>
                                        <p:tav tm="0">
                                          <p:val>
                                            <p:strVal val="0-#ppt_w/2"/>
                                          </p:val>
                                        </p:tav>
                                        <p:tav tm="100000">
                                          <p:val>
                                            <p:strVal val="#ppt_x"/>
                                          </p:val>
                                        </p:tav>
                                      </p:tavLst>
                                    </p:anim>
                                    <p:anim calcmode="lin" valueType="num">
                                      <p:cBhvr additive="base">
                                        <p:cTn id="128" dur="1750" fill="hold"/>
                                        <p:tgtEl>
                                          <p:spTgt spid="32"/>
                                        </p:tgtEl>
                                        <p:attrNameLst>
                                          <p:attrName>ppt_y</p:attrName>
                                        </p:attrNameLst>
                                      </p:cBhvr>
                                      <p:tavLst>
                                        <p:tav tm="0">
                                          <p:val>
                                            <p:strVal val="#ppt_y"/>
                                          </p:val>
                                        </p:tav>
                                        <p:tav tm="100000">
                                          <p:val>
                                            <p:strVal val="#ppt_y"/>
                                          </p:val>
                                        </p:tav>
                                      </p:tavLst>
                                    </p:anim>
                                  </p:childTnLst>
                                </p:cTn>
                              </p:par>
                              <p:par>
                                <p:cTn id="129" presetID="2" presetClass="entr" presetSubtype="8" fill="hold" nodeType="withEffect">
                                  <p:stCondLst>
                                    <p:cond delay="0"/>
                                  </p:stCondLst>
                                  <p:childTnLst>
                                    <p:set>
                                      <p:cBhvr>
                                        <p:cTn id="130" dur="1" fill="hold">
                                          <p:stCondLst>
                                            <p:cond delay="0"/>
                                          </p:stCondLst>
                                        </p:cTn>
                                        <p:tgtEl>
                                          <p:spTgt spid="33"/>
                                        </p:tgtEl>
                                        <p:attrNameLst>
                                          <p:attrName>style.visibility</p:attrName>
                                        </p:attrNameLst>
                                      </p:cBhvr>
                                      <p:to>
                                        <p:strVal val="visible"/>
                                      </p:to>
                                    </p:set>
                                    <p:anim calcmode="lin" valueType="num">
                                      <p:cBhvr additive="base">
                                        <p:cTn id="131" dur="1750" fill="hold"/>
                                        <p:tgtEl>
                                          <p:spTgt spid="33"/>
                                        </p:tgtEl>
                                        <p:attrNameLst>
                                          <p:attrName>ppt_x</p:attrName>
                                        </p:attrNameLst>
                                      </p:cBhvr>
                                      <p:tavLst>
                                        <p:tav tm="0">
                                          <p:val>
                                            <p:strVal val="0-#ppt_w/2"/>
                                          </p:val>
                                        </p:tav>
                                        <p:tav tm="100000">
                                          <p:val>
                                            <p:strVal val="#ppt_x"/>
                                          </p:val>
                                        </p:tav>
                                      </p:tavLst>
                                    </p:anim>
                                    <p:anim calcmode="lin" valueType="num">
                                      <p:cBhvr additive="base">
                                        <p:cTn id="132" dur="1750" fill="hold"/>
                                        <p:tgtEl>
                                          <p:spTgt spid="33"/>
                                        </p:tgtEl>
                                        <p:attrNameLst>
                                          <p:attrName>ppt_y</p:attrName>
                                        </p:attrNameLst>
                                      </p:cBhvr>
                                      <p:tavLst>
                                        <p:tav tm="0">
                                          <p:val>
                                            <p:strVal val="#ppt_y"/>
                                          </p:val>
                                        </p:tav>
                                        <p:tav tm="100000">
                                          <p:val>
                                            <p:strVal val="#ppt_y"/>
                                          </p:val>
                                        </p:tav>
                                      </p:tavLst>
                                    </p:anim>
                                  </p:childTnLst>
                                </p:cTn>
                              </p:par>
                              <p:par>
                                <p:cTn id="133" presetID="2" presetClass="entr" presetSubtype="8" fill="hold" nodeType="withEffect">
                                  <p:stCondLst>
                                    <p:cond delay="0"/>
                                  </p:stCondLst>
                                  <p:childTnLst>
                                    <p:set>
                                      <p:cBhvr>
                                        <p:cTn id="134" dur="1" fill="hold">
                                          <p:stCondLst>
                                            <p:cond delay="0"/>
                                          </p:stCondLst>
                                        </p:cTn>
                                        <p:tgtEl>
                                          <p:spTgt spid="34"/>
                                        </p:tgtEl>
                                        <p:attrNameLst>
                                          <p:attrName>style.visibility</p:attrName>
                                        </p:attrNameLst>
                                      </p:cBhvr>
                                      <p:to>
                                        <p:strVal val="visible"/>
                                      </p:to>
                                    </p:set>
                                    <p:anim calcmode="lin" valueType="num">
                                      <p:cBhvr additive="base">
                                        <p:cTn id="135" dur="1750" fill="hold"/>
                                        <p:tgtEl>
                                          <p:spTgt spid="34"/>
                                        </p:tgtEl>
                                        <p:attrNameLst>
                                          <p:attrName>ppt_x</p:attrName>
                                        </p:attrNameLst>
                                      </p:cBhvr>
                                      <p:tavLst>
                                        <p:tav tm="0">
                                          <p:val>
                                            <p:strVal val="0-#ppt_w/2"/>
                                          </p:val>
                                        </p:tav>
                                        <p:tav tm="100000">
                                          <p:val>
                                            <p:strVal val="#ppt_x"/>
                                          </p:val>
                                        </p:tav>
                                      </p:tavLst>
                                    </p:anim>
                                    <p:anim calcmode="lin" valueType="num">
                                      <p:cBhvr additive="base">
                                        <p:cTn id="136" dur="1750" fill="hold"/>
                                        <p:tgtEl>
                                          <p:spTgt spid="34"/>
                                        </p:tgtEl>
                                        <p:attrNameLst>
                                          <p:attrName>ppt_y</p:attrName>
                                        </p:attrNameLst>
                                      </p:cBhvr>
                                      <p:tavLst>
                                        <p:tav tm="0">
                                          <p:val>
                                            <p:strVal val="#ppt_y"/>
                                          </p:val>
                                        </p:tav>
                                        <p:tav tm="100000">
                                          <p:val>
                                            <p:strVal val="#ppt_y"/>
                                          </p:val>
                                        </p:tav>
                                      </p:tavLst>
                                    </p:anim>
                                  </p:childTnLst>
                                </p:cTn>
                              </p:par>
                              <p:par>
                                <p:cTn id="137" presetID="2" presetClass="entr" presetSubtype="8" fill="hold" nodeType="withEffect">
                                  <p:stCondLst>
                                    <p:cond delay="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1750" fill="hold"/>
                                        <p:tgtEl>
                                          <p:spTgt spid="35"/>
                                        </p:tgtEl>
                                        <p:attrNameLst>
                                          <p:attrName>ppt_x</p:attrName>
                                        </p:attrNameLst>
                                      </p:cBhvr>
                                      <p:tavLst>
                                        <p:tav tm="0">
                                          <p:val>
                                            <p:strVal val="0-#ppt_w/2"/>
                                          </p:val>
                                        </p:tav>
                                        <p:tav tm="100000">
                                          <p:val>
                                            <p:strVal val="#ppt_x"/>
                                          </p:val>
                                        </p:tav>
                                      </p:tavLst>
                                    </p:anim>
                                    <p:anim calcmode="lin" valueType="num">
                                      <p:cBhvr additive="base">
                                        <p:cTn id="140" dur="1750" fill="hold"/>
                                        <p:tgtEl>
                                          <p:spTgt spid="35"/>
                                        </p:tgtEl>
                                        <p:attrNameLst>
                                          <p:attrName>ppt_y</p:attrName>
                                        </p:attrNameLst>
                                      </p:cBhvr>
                                      <p:tavLst>
                                        <p:tav tm="0">
                                          <p:val>
                                            <p:strVal val="#ppt_y"/>
                                          </p:val>
                                        </p:tav>
                                        <p:tav tm="100000">
                                          <p:val>
                                            <p:strVal val="#ppt_y"/>
                                          </p:val>
                                        </p:tav>
                                      </p:tavLst>
                                    </p:anim>
                                  </p:childTnLst>
                                </p:cTn>
                              </p:par>
                              <p:par>
                                <p:cTn id="141" presetID="2" presetClass="entr" presetSubtype="8" fill="hold" nodeType="withEffect">
                                  <p:stCondLst>
                                    <p:cond delay="0"/>
                                  </p:stCondLst>
                                  <p:childTnLst>
                                    <p:set>
                                      <p:cBhvr>
                                        <p:cTn id="142" dur="1" fill="hold">
                                          <p:stCondLst>
                                            <p:cond delay="0"/>
                                          </p:stCondLst>
                                        </p:cTn>
                                        <p:tgtEl>
                                          <p:spTgt spid="36"/>
                                        </p:tgtEl>
                                        <p:attrNameLst>
                                          <p:attrName>style.visibility</p:attrName>
                                        </p:attrNameLst>
                                      </p:cBhvr>
                                      <p:to>
                                        <p:strVal val="visible"/>
                                      </p:to>
                                    </p:set>
                                    <p:anim calcmode="lin" valueType="num">
                                      <p:cBhvr additive="base">
                                        <p:cTn id="143" dur="1750" fill="hold"/>
                                        <p:tgtEl>
                                          <p:spTgt spid="36"/>
                                        </p:tgtEl>
                                        <p:attrNameLst>
                                          <p:attrName>ppt_x</p:attrName>
                                        </p:attrNameLst>
                                      </p:cBhvr>
                                      <p:tavLst>
                                        <p:tav tm="0">
                                          <p:val>
                                            <p:strVal val="0-#ppt_w/2"/>
                                          </p:val>
                                        </p:tav>
                                        <p:tav tm="100000">
                                          <p:val>
                                            <p:strVal val="#ppt_x"/>
                                          </p:val>
                                        </p:tav>
                                      </p:tavLst>
                                    </p:anim>
                                    <p:anim calcmode="lin" valueType="num">
                                      <p:cBhvr additive="base">
                                        <p:cTn id="144" dur="1750" fill="hold"/>
                                        <p:tgtEl>
                                          <p:spTgt spid="36"/>
                                        </p:tgtEl>
                                        <p:attrNameLst>
                                          <p:attrName>ppt_y</p:attrName>
                                        </p:attrNameLst>
                                      </p:cBhvr>
                                      <p:tavLst>
                                        <p:tav tm="0">
                                          <p:val>
                                            <p:strVal val="#ppt_y"/>
                                          </p:val>
                                        </p:tav>
                                        <p:tav tm="100000">
                                          <p:val>
                                            <p:strVal val="#ppt_y"/>
                                          </p:val>
                                        </p:tav>
                                      </p:tavLst>
                                    </p:anim>
                                  </p:childTnLst>
                                </p:cTn>
                              </p:par>
                              <p:par>
                                <p:cTn id="145" presetID="2" presetClass="entr" presetSubtype="8" fill="hold" nodeType="withEffect">
                                  <p:stCondLst>
                                    <p:cond delay="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1750" fill="hold"/>
                                        <p:tgtEl>
                                          <p:spTgt spid="37"/>
                                        </p:tgtEl>
                                        <p:attrNameLst>
                                          <p:attrName>ppt_x</p:attrName>
                                        </p:attrNameLst>
                                      </p:cBhvr>
                                      <p:tavLst>
                                        <p:tav tm="0">
                                          <p:val>
                                            <p:strVal val="0-#ppt_w/2"/>
                                          </p:val>
                                        </p:tav>
                                        <p:tav tm="100000">
                                          <p:val>
                                            <p:strVal val="#ppt_x"/>
                                          </p:val>
                                        </p:tav>
                                      </p:tavLst>
                                    </p:anim>
                                    <p:anim calcmode="lin" valueType="num">
                                      <p:cBhvr additive="base">
                                        <p:cTn id="148" dur="1750" fill="hold"/>
                                        <p:tgtEl>
                                          <p:spTgt spid="37"/>
                                        </p:tgtEl>
                                        <p:attrNameLst>
                                          <p:attrName>ppt_y</p:attrName>
                                        </p:attrNameLst>
                                      </p:cBhvr>
                                      <p:tavLst>
                                        <p:tav tm="0">
                                          <p:val>
                                            <p:strVal val="#ppt_y"/>
                                          </p:val>
                                        </p:tav>
                                        <p:tav tm="100000">
                                          <p:val>
                                            <p:strVal val="#ppt_y"/>
                                          </p:val>
                                        </p:tav>
                                      </p:tavLst>
                                    </p:anim>
                                  </p:childTnLst>
                                </p:cTn>
                              </p:par>
                              <p:par>
                                <p:cTn id="149" presetID="2" presetClass="entr" presetSubtype="8" fill="hold" grpId="0" nodeType="withEffect">
                                  <p:stCondLst>
                                    <p:cond delay="0"/>
                                  </p:stCondLst>
                                  <p:childTnLst>
                                    <p:set>
                                      <p:cBhvr>
                                        <p:cTn id="150" dur="1" fill="hold">
                                          <p:stCondLst>
                                            <p:cond delay="0"/>
                                          </p:stCondLst>
                                        </p:cTn>
                                        <p:tgtEl>
                                          <p:spTgt spid="38"/>
                                        </p:tgtEl>
                                        <p:attrNameLst>
                                          <p:attrName>style.visibility</p:attrName>
                                        </p:attrNameLst>
                                      </p:cBhvr>
                                      <p:to>
                                        <p:strVal val="visible"/>
                                      </p:to>
                                    </p:set>
                                    <p:anim calcmode="lin" valueType="num">
                                      <p:cBhvr additive="base">
                                        <p:cTn id="151" dur="1750" fill="hold"/>
                                        <p:tgtEl>
                                          <p:spTgt spid="38"/>
                                        </p:tgtEl>
                                        <p:attrNameLst>
                                          <p:attrName>ppt_x</p:attrName>
                                        </p:attrNameLst>
                                      </p:cBhvr>
                                      <p:tavLst>
                                        <p:tav tm="0">
                                          <p:val>
                                            <p:strVal val="0-#ppt_w/2"/>
                                          </p:val>
                                        </p:tav>
                                        <p:tav tm="100000">
                                          <p:val>
                                            <p:strVal val="#ppt_x"/>
                                          </p:val>
                                        </p:tav>
                                      </p:tavLst>
                                    </p:anim>
                                    <p:anim calcmode="lin" valueType="num">
                                      <p:cBhvr additive="base">
                                        <p:cTn id="152" dur="1750" fill="hold"/>
                                        <p:tgtEl>
                                          <p:spTgt spid="38"/>
                                        </p:tgtEl>
                                        <p:attrNameLst>
                                          <p:attrName>ppt_y</p:attrName>
                                        </p:attrNameLst>
                                      </p:cBhvr>
                                      <p:tavLst>
                                        <p:tav tm="0">
                                          <p:val>
                                            <p:strVal val="#ppt_y"/>
                                          </p:val>
                                        </p:tav>
                                        <p:tav tm="100000">
                                          <p:val>
                                            <p:strVal val="#ppt_y"/>
                                          </p:val>
                                        </p:tav>
                                      </p:tavLst>
                                    </p:anim>
                                  </p:childTnLst>
                                </p:cTn>
                              </p:par>
                              <p:par>
                                <p:cTn id="153" presetID="2" presetClass="entr" presetSubtype="8" fill="hold" grpId="0" nodeType="withEffect" nodePh="1">
                                  <p:stCondLst>
                                    <p:cond delay="0"/>
                                  </p:stCondLst>
                                  <p:endCondLst>
                                    <p:cond evt="begin" delay="0">
                                      <p:tn val="153"/>
                                    </p:cond>
                                  </p:endCondLst>
                                  <p:childTnLst>
                                    <p:set>
                                      <p:cBhvr>
                                        <p:cTn id="154" dur="1" fill="hold">
                                          <p:stCondLst>
                                            <p:cond delay="0"/>
                                          </p:stCondLst>
                                        </p:cTn>
                                        <p:tgtEl>
                                          <p:spTgt spid="39"/>
                                        </p:tgtEl>
                                        <p:attrNameLst>
                                          <p:attrName>style.visibility</p:attrName>
                                        </p:attrNameLst>
                                      </p:cBhvr>
                                      <p:to>
                                        <p:strVal val="visible"/>
                                      </p:to>
                                    </p:set>
                                    <p:anim calcmode="lin" valueType="num">
                                      <p:cBhvr additive="base">
                                        <p:cTn id="155" dur="1750" fill="hold"/>
                                        <p:tgtEl>
                                          <p:spTgt spid="39"/>
                                        </p:tgtEl>
                                        <p:attrNameLst>
                                          <p:attrName>ppt_x</p:attrName>
                                        </p:attrNameLst>
                                      </p:cBhvr>
                                      <p:tavLst>
                                        <p:tav tm="0">
                                          <p:val>
                                            <p:strVal val="0-#ppt_w/2"/>
                                          </p:val>
                                        </p:tav>
                                        <p:tav tm="100000">
                                          <p:val>
                                            <p:strVal val="#ppt_x"/>
                                          </p:val>
                                        </p:tav>
                                      </p:tavLst>
                                    </p:anim>
                                    <p:anim calcmode="lin" valueType="num">
                                      <p:cBhvr additive="base">
                                        <p:cTn id="156" dur="1750" fill="hold"/>
                                        <p:tgtEl>
                                          <p:spTgt spid="39"/>
                                        </p:tgtEl>
                                        <p:attrNameLst>
                                          <p:attrName>ppt_y</p:attrName>
                                        </p:attrNameLst>
                                      </p:cBhvr>
                                      <p:tavLst>
                                        <p:tav tm="0">
                                          <p:val>
                                            <p:strVal val="#ppt_y"/>
                                          </p:val>
                                        </p:tav>
                                        <p:tav tm="100000">
                                          <p:val>
                                            <p:strVal val="#ppt_y"/>
                                          </p:val>
                                        </p:tav>
                                      </p:tavLst>
                                    </p:anim>
                                  </p:childTnLst>
                                </p:cTn>
                              </p:par>
                              <p:par>
                                <p:cTn id="157" presetID="2" presetClass="entr" presetSubtype="8" fill="hold" grpId="0" nodeType="withEffect">
                                  <p:stCondLst>
                                    <p:cond delay="0"/>
                                  </p:stCondLst>
                                  <p:childTnLst>
                                    <p:set>
                                      <p:cBhvr>
                                        <p:cTn id="158" dur="1" fill="hold">
                                          <p:stCondLst>
                                            <p:cond delay="0"/>
                                          </p:stCondLst>
                                        </p:cTn>
                                        <p:tgtEl>
                                          <p:spTgt spid="41"/>
                                        </p:tgtEl>
                                        <p:attrNameLst>
                                          <p:attrName>style.visibility</p:attrName>
                                        </p:attrNameLst>
                                      </p:cBhvr>
                                      <p:to>
                                        <p:strVal val="visible"/>
                                      </p:to>
                                    </p:set>
                                    <p:anim calcmode="lin" valueType="num">
                                      <p:cBhvr additive="base">
                                        <p:cTn id="159" dur="1750" fill="hold"/>
                                        <p:tgtEl>
                                          <p:spTgt spid="41"/>
                                        </p:tgtEl>
                                        <p:attrNameLst>
                                          <p:attrName>ppt_x</p:attrName>
                                        </p:attrNameLst>
                                      </p:cBhvr>
                                      <p:tavLst>
                                        <p:tav tm="0">
                                          <p:val>
                                            <p:strVal val="0-#ppt_w/2"/>
                                          </p:val>
                                        </p:tav>
                                        <p:tav tm="100000">
                                          <p:val>
                                            <p:strVal val="#ppt_x"/>
                                          </p:val>
                                        </p:tav>
                                      </p:tavLst>
                                    </p:anim>
                                    <p:anim calcmode="lin" valueType="num">
                                      <p:cBhvr additive="base">
                                        <p:cTn id="160" dur="175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P spid="16" grpId="0"/>
      <p:bldP spid="17" grpId="0"/>
      <p:bldP spid="18" grpId="0"/>
      <p:bldP spid="19" grpId="0"/>
      <p:bldP spid="20" grpId="0"/>
      <p:bldP spid="22" grpId="0"/>
      <p:bldP spid="24" grpId="0"/>
      <p:bldP spid="26" grpId="0"/>
      <p:bldP spid="28" grpId="0"/>
      <p:bldP spid="30" grpId="0"/>
      <p:bldP spid="32" grpId="0"/>
      <p:bldP spid="38" grpId="0"/>
      <p:bldP spid="39" grpId="0"/>
      <p:bldP spid="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313256" y="-2539455"/>
            <a:ext cx="3810000" cy="3810000"/>
          </a:xfrm>
          <a:prstGeom prst="rect">
            <a:avLst/>
          </a:prstGeom>
        </p:spPr>
      </p:pic>
      <p:pic>
        <p:nvPicPr>
          <p:cNvPr id="3" name="Picture 2" descr="image.png"/>
          <p:cNvPicPr>
            <a:picLocks noChangeAspect="1"/>
          </p:cNvPicPr>
          <p:nvPr/>
        </p:nvPicPr>
        <p:blipFill>
          <a:blip r:embed="rId3"/>
          <a:stretch>
            <a:fillRect/>
          </a:stretch>
        </p:blipFill>
        <p:spPr>
          <a:xfrm>
            <a:off x="9547919" y="1527720"/>
            <a:ext cx="2072580" cy="4476750"/>
          </a:xfrm>
          <a:prstGeom prst="rect">
            <a:avLst/>
          </a:prstGeom>
        </p:spPr>
      </p:pic>
      <p:pic>
        <p:nvPicPr>
          <p:cNvPr id="4" name="Picture 3" descr="image.png"/>
          <p:cNvPicPr>
            <a:picLocks noChangeAspect="1"/>
          </p:cNvPicPr>
          <p:nvPr/>
        </p:nvPicPr>
        <p:blipFill>
          <a:blip r:embed="rId4"/>
          <a:stretch>
            <a:fillRect/>
          </a:stretch>
        </p:blipFill>
        <p:spPr>
          <a:xfrm>
            <a:off x="7303889" y="1527720"/>
            <a:ext cx="2072580" cy="4476750"/>
          </a:xfrm>
          <a:prstGeom prst="rect">
            <a:avLst/>
          </a:prstGeom>
        </p:spPr>
      </p:pic>
      <p:pic>
        <p:nvPicPr>
          <p:cNvPr id="5" name="Picture 4" descr="image.png"/>
          <p:cNvPicPr>
            <a:picLocks noChangeAspect="1"/>
          </p:cNvPicPr>
          <p:nvPr/>
        </p:nvPicPr>
        <p:blipFill>
          <a:blip r:embed="rId5"/>
          <a:stretch>
            <a:fillRect/>
          </a:stretch>
        </p:blipFill>
        <p:spPr>
          <a:xfrm>
            <a:off x="5059858" y="1527720"/>
            <a:ext cx="2072580" cy="4476750"/>
          </a:xfrm>
          <a:prstGeom prst="rect">
            <a:avLst/>
          </a:prstGeom>
        </p:spPr>
      </p:pic>
      <p:pic>
        <p:nvPicPr>
          <p:cNvPr id="6" name="Picture 5" descr="image.png"/>
          <p:cNvPicPr>
            <a:picLocks noChangeAspect="1"/>
          </p:cNvPicPr>
          <p:nvPr/>
        </p:nvPicPr>
        <p:blipFill>
          <a:blip r:embed="rId6"/>
          <a:stretch>
            <a:fillRect/>
          </a:stretch>
        </p:blipFill>
        <p:spPr>
          <a:xfrm>
            <a:off x="2815828" y="1527720"/>
            <a:ext cx="2072580" cy="4476750"/>
          </a:xfrm>
          <a:prstGeom prst="rect">
            <a:avLst/>
          </a:prstGeom>
        </p:spPr>
      </p:pic>
      <p:pic>
        <p:nvPicPr>
          <p:cNvPr id="7" name="Picture 6" descr="image.png"/>
          <p:cNvPicPr>
            <a:picLocks noChangeAspect="1"/>
          </p:cNvPicPr>
          <p:nvPr/>
        </p:nvPicPr>
        <p:blipFill>
          <a:blip r:embed="rId7"/>
          <a:stretch>
            <a:fillRect/>
          </a:stretch>
        </p:blipFill>
        <p:spPr>
          <a:xfrm>
            <a:off x="571797" y="1527720"/>
            <a:ext cx="2072580" cy="4476750"/>
          </a:xfrm>
          <a:prstGeom prst="rect">
            <a:avLst/>
          </a:prstGeom>
        </p:spPr>
      </p:pic>
      <p:pic>
        <p:nvPicPr>
          <p:cNvPr id="8" name="Picture 7" descr="image.png"/>
          <p:cNvPicPr>
            <a:picLocks noChangeAspect="1"/>
          </p:cNvPicPr>
          <p:nvPr/>
        </p:nvPicPr>
        <p:blipFill>
          <a:blip r:embed="rId8"/>
          <a:stretch>
            <a:fillRect/>
          </a:stretch>
        </p:blipFill>
        <p:spPr>
          <a:xfrm>
            <a:off x="10374659" y="1803945"/>
            <a:ext cx="419100" cy="419100"/>
          </a:xfrm>
          <a:prstGeom prst="rect">
            <a:avLst/>
          </a:prstGeom>
        </p:spPr>
      </p:pic>
      <p:pic>
        <p:nvPicPr>
          <p:cNvPr id="9" name="Picture 8" descr="image.png"/>
          <p:cNvPicPr>
            <a:picLocks noChangeAspect="1"/>
          </p:cNvPicPr>
          <p:nvPr/>
        </p:nvPicPr>
        <p:blipFill>
          <a:blip r:embed="rId9"/>
          <a:stretch>
            <a:fillRect/>
          </a:stretch>
        </p:blipFill>
        <p:spPr>
          <a:xfrm>
            <a:off x="10250834" y="2413545"/>
            <a:ext cx="666750" cy="666750"/>
          </a:xfrm>
          <a:prstGeom prst="rect">
            <a:avLst/>
          </a:prstGeom>
        </p:spPr>
      </p:pic>
      <p:sp>
        <p:nvSpPr>
          <p:cNvPr id="10" name="TextBox 9"/>
          <p:cNvSpPr txBox="1"/>
          <p:nvPr/>
        </p:nvSpPr>
        <p:spPr>
          <a:xfrm>
            <a:off x="9914126" y="3270795"/>
            <a:ext cx="1340167" cy="258084"/>
          </a:xfrm>
          <a:prstGeom prst="rect">
            <a:avLst/>
          </a:prstGeom>
          <a:noFill/>
        </p:spPr>
        <p:txBody>
          <a:bodyPr wrap="square" lIns="0" tIns="0" rIns="0" bIns="0" anchor="t">
            <a:spAutoFit/>
          </a:bodyPr>
          <a:lstStyle/>
          <a:p>
            <a:pPr algn="ctr">
              <a:lnSpc>
                <a:spcPts val="1950"/>
              </a:lnSpc>
            </a:pPr>
            <a:r>
              <a:rPr lang="ar-EG" sz="2000" b="1" i="0" u="none" noProof="1">
                <a:solidFill>
                  <a:srgbClr val="0F2C59"/>
                </a:solidFill>
                <a:latin typeface="Cairo ExtraBold"/>
              </a:rPr>
              <a:t>التقويم الذاتي</a:t>
            </a:r>
          </a:p>
        </p:txBody>
      </p:sp>
      <p:sp>
        <p:nvSpPr>
          <p:cNvPr id="11" name="TextBox 10"/>
          <p:cNvSpPr txBox="1"/>
          <p:nvPr/>
        </p:nvSpPr>
        <p:spPr>
          <a:xfrm>
            <a:off x="9759106" y="3880548"/>
            <a:ext cx="1672530" cy="1538883"/>
          </a:xfrm>
          <a:prstGeom prst="rect">
            <a:avLst/>
          </a:prstGeom>
          <a:noFill/>
        </p:spPr>
        <p:txBody>
          <a:bodyPr wrap="square" lIns="0" tIns="0" rIns="0" bIns="0" anchor="t">
            <a:spAutoFit/>
          </a:bodyPr>
          <a:lstStyle/>
          <a:p>
            <a:pPr algn="ctr"/>
            <a:r>
              <a:rPr lang="ar-EG" sz="2000" b="1" i="0" u="none" noProof="1">
                <a:solidFill>
                  <a:srgbClr val="475569"/>
                </a:solidFill>
                <a:latin typeface="Cairo SemiBold"/>
              </a:rPr>
              <a:t>تشخيص دقيق وشامل لجميع مجالات العمل المدرسي بالاعتماد على معايير الجودة</a:t>
            </a:r>
            <a:r>
              <a:rPr lang="ar-EG" sz="2000" b="0" i="0" u="none" noProof="1">
                <a:solidFill>
                  <a:srgbClr val="475569"/>
                </a:solidFill>
                <a:latin typeface="Cairo SemiBold"/>
              </a:rPr>
              <a:t>.</a:t>
            </a:r>
          </a:p>
        </p:txBody>
      </p:sp>
      <p:pic>
        <p:nvPicPr>
          <p:cNvPr id="12" name="Picture 11" descr="image.png"/>
          <p:cNvPicPr>
            <a:picLocks noChangeAspect="1"/>
          </p:cNvPicPr>
          <p:nvPr/>
        </p:nvPicPr>
        <p:blipFill>
          <a:blip r:embed="rId10"/>
          <a:stretch>
            <a:fillRect/>
          </a:stretch>
        </p:blipFill>
        <p:spPr>
          <a:xfrm>
            <a:off x="8130629" y="1803945"/>
            <a:ext cx="419100" cy="419100"/>
          </a:xfrm>
          <a:prstGeom prst="rect">
            <a:avLst/>
          </a:prstGeom>
        </p:spPr>
      </p:pic>
      <p:pic>
        <p:nvPicPr>
          <p:cNvPr id="13" name="Picture 12" descr="image.png"/>
          <p:cNvPicPr>
            <a:picLocks noChangeAspect="1"/>
          </p:cNvPicPr>
          <p:nvPr/>
        </p:nvPicPr>
        <p:blipFill>
          <a:blip r:embed="rId11"/>
          <a:stretch>
            <a:fillRect/>
          </a:stretch>
        </p:blipFill>
        <p:spPr>
          <a:xfrm>
            <a:off x="8006804" y="2413545"/>
            <a:ext cx="666750" cy="666750"/>
          </a:xfrm>
          <a:prstGeom prst="rect">
            <a:avLst/>
          </a:prstGeom>
        </p:spPr>
      </p:pic>
      <p:sp>
        <p:nvSpPr>
          <p:cNvPr id="14" name="TextBox 13"/>
          <p:cNvSpPr txBox="1"/>
          <p:nvPr/>
        </p:nvSpPr>
        <p:spPr>
          <a:xfrm>
            <a:off x="7462100" y="3270795"/>
            <a:ext cx="1756156" cy="258084"/>
          </a:xfrm>
          <a:prstGeom prst="rect">
            <a:avLst/>
          </a:prstGeom>
          <a:noFill/>
        </p:spPr>
        <p:txBody>
          <a:bodyPr wrap="square" lIns="0" tIns="0" rIns="0" bIns="0" anchor="t">
            <a:spAutoFit/>
          </a:bodyPr>
          <a:lstStyle/>
          <a:p>
            <a:pPr algn="ctr">
              <a:lnSpc>
                <a:spcPts val="1950"/>
              </a:lnSpc>
            </a:pPr>
            <a:r>
              <a:rPr lang="ar-EG" sz="2000" b="1" i="0" u="none" noProof="1">
                <a:solidFill>
                  <a:srgbClr val="0F2C59"/>
                </a:solidFill>
                <a:latin typeface="Cairo ExtraBold"/>
              </a:rPr>
              <a:t>تحليل البيانات والأدلة</a:t>
            </a:r>
          </a:p>
        </p:txBody>
      </p:sp>
      <p:sp>
        <p:nvSpPr>
          <p:cNvPr id="15" name="TextBox 14"/>
          <p:cNvSpPr txBox="1"/>
          <p:nvPr/>
        </p:nvSpPr>
        <p:spPr>
          <a:xfrm>
            <a:off x="7503914" y="3818248"/>
            <a:ext cx="1672530" cy="1538883"/>
          </a:xfrm>
          <a:prstGeom prst="rect">
            <a:avLst/>
          </a:prstGeom>
          <a:noFill/>
        </p:spPr>
        <p:txBody>
          <a:bodyPr wrap="square" lIns="0" tIns="0" rIns="0" bIns="0" anchor="t">
            <a:spAutoFit/>
          </a:bodyPr>
          <a:lstStyle/>
          <a:p>
            <a:pPr algn="ctr"/>
            <a:r>
              <a:rPr lang="ar-EG" sz="2000" b="1" i="0" u="none" noProof="1">
                <a:solidFill>
                  <a:srgbClr val="475569"/>
                </a:solidFill>
                <a:latin typeface="Cairo SemiBold"/>
              </a:rPr>
              <a:t>قراءة نتائج الاختبارات والاستبانات وتحويل الرقم إلى معلومات موجهة للتحسين</a:t>
            </a:r>
            <a:r>
              <a:rPr lang="ar-EG" sz="2000" b="0" i="0" u="none" noProof="1">
                <a:solidFill>
                  <a:srgbClr val="475569"/>
                </a:solidFill>
                <a:latin typeface="Cairo SemiBold"/>
              </a:rPr>
              <a:t>.</a:t>
            </a:r>
          </a:p>
        </p:txBody>
      </p:sp>
      <p:pic>
        <p:nvPicPr>
          <p:cNvPr id="16" name="Picture 15" descr="image.png"/>
          <p:cNvPicPr>
            <a:picLocks noChangeAspect="1"/>
          </p:cNvPicPr>
          <p:nvPr/>
        </p:nvPicPr>
        <p:blipFill>
          <a:blip r:embed="rId12"/>
          <a:stretch>
            <a:fillRect/>
          </a:stretch>
        </p:blipFill>
        <p:spPr>
          <a:xfrm>
            <a:off x="5886598" y="1803945"/>
            <a:ext cx="419100" cy="419100"/>
          </a:xfrm>
          <a:prstGeom prst="rect">
            <a:avLst/>
          </a:prstGeom>
        </p:spPr>
      </p:pic>
      <p:pic>
        <p:nvPicPr>
          <p:cNvPr id="17" name="Picture 16" descr="image.png"/>
          <p:cNvPicPr>
            <a:picLocks noChangeAspect="1"/>
          </p:cNvPicPr>
          <p:nvPr/>
        </p:nvPicPr>
        <p:blipFill>
          <a:blip r:embed="rId13"/>
          <a:stretch>
            <a:fillRect/>
          </a:stretch>
        </p:blipFill>
        <p:spPr>
          <a:xfrm>
            <a:off x="5762773" y="2413545"/>
            <a:ext cx="666750" cy="666750"/>
          </a:xfrm>
          <a:prstGeom prst="rect">
            <a:avLst/>
          </a:prstGeom>
        </p:spPr>
      </p:pic>
      <p:sp>
        <p:nvSpPr>
          <p:cNvPr id="18" name="TextBox 17"/>
          <p:cNvSpPr txBox="1"/>
          <p:nvPr/>
        </p:nvSpPr>
        <p:spPr>
          <a:xfrm>
            <a:off x="5396061" y="3270795"/>
            <a:ext cx="1400175" cy="258084"/>
          </a:xfrm>
          <a:prstGeom prst="rect">
            <a:avLst/>
          </a:prstGeom>
          <a:noFill/>
        </p:spPr>
        <p:txBody>
          <a:bodyPr wrap="square" lIns="0" tIns="0" rIns="0" bIns="0" anchor="t">
            <a:spAutoFit/>
          </a:bodyPr>
          <a:lstStyle/>
          <a:p>
            <a:pPr algn="ctr">
              <a:lnSpc>
                <a:spcPts val="1950"/>
              </a:lnSpc>
            </a:pPr>
            <a:r>
              <a:rPr lang="ar-EG" sz="2000" b="1" i="0" u="none" noProof="1">
                <a:solidFill>
                  <a:srgbClr val="0F2C59"/>
                </a:solidFill>
                <a:latin typeface="Cairo ExtraBold"/>
              </a:rPr>
              <a:t>تحديد الأولويات</a:t>
            </a:r>
          </a:p>
        </p:txBody>
      </p:sp>
      <p:sp>
        <p:nvSpPr>
          <p:cNvPr id="19" name="TextBox 18"/>
          <p:cNvSpPr txBox="1"/>
          <p:nvPr/>
        </p:nvSpPr>
        <p:spPr>
          <a:xfrm>
            <a:off x="5271045" y="3880548"/>
            <a:ext cx="1672530" cy="1231106"/>
          </a:xfrm>
          <a:prstGeom prst="rect">
            <a:avLst/>
          </a:prstGeom>
          <a:noFill/>
        </p:spPr>
        <p:txBody>
          <a:bodyPr wrap="square" lIns="0" tIns="0" rIns="0" bIns="0" anchor="t">
            <a:spAutoFit/>
          </a:bodyPr>
          <a:lstStyle/>
          <a:p>
            <a:pPr algn="ctr"/>
            <a:r>
              <a:rPr lang="ar-EG" sz="2000" b="1" i="0" u="none" noProof="1">
                <a:solidFill>
                  <a:srgbClr val="475569"/>
                </a:solidFill>
                <a:latin typeface="Cairo SemiBold"/>
              </a:rPr>
              <a:t>ترتيب الاحتياجات حسب الأهمية والأثر المباشر على جودة التعلم والأداء</a:t>
            </a:r>
            <a:r>
              <a:rPr lang="ar-EG" sz="2000" b="0" i="0" u="none" noProof="1">
                <a:solidFill>
                  <a:srgbClr val="475569"/>
                </a:solidFill>
                <a:latin typeface="Cairo SemiBold"/>
              </a:rPr>
              <a:t>.</a:t>
            </a:r>
          </a:p>
        </p:txBody>
      </p:sp>
      <p:pic>
        <p:nvPicPr>
          <p:cNvPr id="20" name="Picture 19" descr="image.png"/>
          <p:cNvPicPr>
            <a:picLocks noChangeAspect="1"/>
          </p:cNvPicPr>
          <p:nvPr/>
        </p:nvPicPr>
        <p:blipFill>
          <a:blip r:embed="rId14"/>
          <a:stretch>
            <a:fillRect/>
          </a:stretch>
        </p:blipFill>
        <p:spPr>
          <a:xfrm>
            <a:off x="3642568" y="1803945"/>
            <a:ext cx="419100" cy="419100"/>
          </a:xfrm>
          <a:prstGeom prst="rect">
            <a:avLst/>
          </a:prstGeom>
        </p:spPr>
      </p:pic>
      <p:pic>
        <p:nvPicPr>
          <p:cNvPr id="21" name="Picture 20" descr="image.png"/>
          <p:cNvPicPr>
            <a:picLocks noChangeAspect="1"/>
          </p:cNvPicPr>
          <p:nvPr/>
        </p:nvPicPr>
        <p:blipFill>
          <a:blip r:embed="rId15"/>
          <a:stretch>
            <a:fillRect/>
          </a:stretch>
        </p:blipFill>
        <p:spPr>
          <a:xfrm>
            <a:off x="3518743" y="2413545"/>
            <a:ext cx="666750" cy="666750"/>
          </a:xfrm>
          <a:prstGeom prst="rect">
            <a:avLst/>
          </a:prstGeom>
        </p:spPr>
      </p:pic>
      <p:sp>
        <p:nvSpPr>
          <p:cNvPr id="22" name="TextBox 21"/>
          <p:cNvSpPr txBox="1"/>
          <p:nvPr/>
        </p:nvSpPr>
        <p:spPr>
          <a:xfrm>
            <a:off x="3172033" y="3270795"/>
            <a:ext cx="1360170" cy="258084"/>
          </a:xfrm>
          <a:prstGeom prst="rect">
            <a:avLst/>
          </a:prstGeom>
          <a:noFill/>
        </p:spPr>
        <p:txBody>
          <a:bodyPr wrap="square" lIns="0" tIns="0" rIns="0" bIns="0" anchor="t">
            <a:spAutoFit/>
          </a:bodyPr>
          <a:lstStyle/>
          <a:p>
            <a:pPr algn="ctr">
              <a:lnSpc>
                <a:spcPts val="1950"/>
              </a:lnSpc>
            </a:pPr>
            <a:r>
              <a:rPr lang="ar-EG" sz="2000" b="1" i="0" u="none" noProof="1">
                <a:solidFill>
                  <a:srgbClr val="0F2C59"/>
                </a:solidFill>
                <a:latin typeface="Cairo ExtraBold"/>
              </a:rPr>
              <a:t>تنفيذ الإجراءات</a:t>
            </a:r>
          </a:p>
        </p:txBody>
      </p:sp>
      <p:sp>
        <p:nvSpPr>
          <p:cNvPr id="23" name="TextBox 22"/>
          <p:cNvSpPr txBox="1"/>
          <p:nvPr/>
        </p:nvSpPr>
        <p:spPr>
          <a:xfrm>
            <a:off x="3027015" y="3880548"/>
            <a:ext cx="1672530" cy="1231106"/>
          </a:xfrm>
          <a:prstGeom prst="rect">
            <a:avLst/>
          </a:prstGeom>
          <a:noFill/>
        </p:spPr>
        <p:txBody>
          <a:bodyPr wrap="square" lIns="0" tIns="0" rIns="0" bIns="0" anchor="t">
            <a:spAutoFit/>
          </a:bodyPr>
          <a:lstStyle/>
          <a:p>
            <a:pPr algn="ctr"/>
            <a:r>
              <a:rPr lang="ar-EG" sz="2000" b="1" i="0" u="none" noProof="1">
                <a:solidFill>
                  <a:srgbClr val="475569"/>
                </a:solidFill>
                <a:latin typeface="Cairo SemiBold"/>
              </a:rPr>
              <a:t>ترجمة الأهداف إلى برامج ومسؤوليات زمنية محددة وقابلة للتطبيق العملي</a:t>
            </a:r>
            <a:r>
              <a:rPr lang="ar-EG" sz="2000" b="0" i="0" u="none" noProof="1">
                <a:solidFill>
                  <a:srgbClr val="475569"/>
                </a:solidFill>
                <a:latin typeface="Cairo SemiBold"/>
              </a:rPr>
              <a:t>.</a:t>
            </a:r>
          </a:p>
        </p:txBody>
      </p:sp>
      <p:pic>
        <p:nvPicPr>
          <p:cNvPr id="24" name="Picture 23" descr="image.png"/>
          <p:cNvPicPr>
            <a:picLocks noChangeAspect="1"/>
          </p:cNvPicPr>
          <p:nvPr/>
        </p:nvPicPr>
        <p:blipFill>
          <a:blip r:embed="rId16"/>
          <a:stretch>
            <a:fillRect/>
          </a:stretch>
        </p:blipFill>
        <p:spPr>
          <a:xfrm>
            <a:off x="1398537" y="1803945"/>
            <a:ext cx="419100" cy="419100"/>
          </a:xfrm>
          <a:prstGeom prst="rect">
            <a:avLst/>
          </a:prstGeom>
        </p:spPr>
      </p:pic>
      <p:pic>
        <p:nvPicPr>
          <p:cNvPr id="25" name="Picture 24" descr="image.png"/>
          <p:cNvPicPr>
            <a:picLocks noChangeAspect="1"/>
          </p:cNvPicPr>
          <p:nvPr/>
        </p:nvPicPr>
        <p:blipFill>
          <a:blip r:embed="rId9"/>
          <a:stretch>
            <a:fillRect/>
          </a:stretch>
        </p:blipFill>
        <p:spPr>
          <a:xfrm>
            <a:off x="1274712" y="2413545"/>
            <a:ext cx="666750" cy="666750"/>
          </a:xfrm>
          <a:prstGeom prst="rect">
            <a:avLst/>
          </a:prstGeom>
        </p:spPr>
      </p:pic>
      <p:sp>
        <p:nvSpPr>
          <p:cNvPr id="26" name="TextBox 25"/>
          <p:cNvSpPr txBox="1"/>
          <p:nvPr/>
        </p:nvSpPr>
        <p:spPr>
          <a:xfrm>
            <a:off x="782984" y="3270795"/>
            <a:ext cx="1650206" cy="258084"/>
          </a:xfrm>
          <a:prstGeom prst="rect">
            <a:avLst/>
          </a:prstGeom>
          <a:noFill/>
        </p:spPr>
        <p:txBody>
          <a:bodyPr wrap="square" lIns="0" tIns="0" rIns="0" bIns="0" anchor="t">
            <a:spAutoFit/>
          </a:bodyPr>
          <a:lstStyle/>
          <a:p>
            <a:pPr algn="ctr">
              <a:lnSpc>
                <a:spcPts val="1950"/>
              </a:lnSpc>
            </a:pPr>
            <a:r>
              <a:rPr lang="ar-EG" sz="2000" b="1" i="0" u="none" noProof="1">
                <a:solidFill>
                  <a:srgbClr val="0F2C59"/>
                </a:solidFill>
                <a:latin typeface="Cairo ExtraBold"/>
              </a:rPr>
              <a:t>المتابعة والتقويم</a:t>
            </a:r>
          </a:p>
        </p:txBody>
      </p:sp>
      <p:sp>
        <p:nvSpPr>
          <p:cNvPr id="27" name="TextBox 26"/>
          <p:cNvSpPr txBox="1"/>
          <p:nvPr/>
        </p:nvSpPr>
        <p:spPr>
          <a:xfrm>
            <a:off x="782984" y="3880548"/>
            <a:ext cx="1672530" cy="1538883"/>
          </a:xfrm>
          <a:prstGeom prst="rect">
            <a:avLst/>
          </a:prstGeom>
          <a:noFill/>
        </p:spPr>
        <p:txBody>
          <a:bodyPr wrap="square" lIns="0" tIns="0" rIns="0" bIns="0" anchor="t">
            <a:spAutoFit/>
          </a:bodyPr>
          <a:lstStyle/>
          <a:p>
            <a:pPr algn="ctr"/>
            <a:r>
              <a:rPr lang="ar-EG" sz="2000" b="1" i="0" u="none" noProof="1">
                <a:solidFill>
                  <a:srgbClr val="475569"/>
                </a:solidFill>
                <a:latin typeface="Cairo SemiBold"/>
              </a:rPr>
              <a:t>قياس الأثر بشكل دوري وتعديل المسار لضمان الاستمرارية والجودة</a:t>
            </a:r>
            <a:r>
              <a:rPr lang="ar-EG" sz="2000" b="0" i="0" u="none" noProof="1">
                <a:solidFill>
                  <a:srgbClr val="475569"/>
                </a:solidFill>
                <a:latin typeface="Cairo SemiBold"/>
              </a:rPr>
              <a:t>.</a:t>
            </a:r>
          </a:p>
        </p:txBody>
      </p:sp>
      <p:pic>
        <p:nvPicPr>
          <p:cNvPr id="28" name="Picture 27" descr="image.png"/>
          <p:cNvPicPr>
            <a:picLocks noChangeAspect="1"/>
          </p:cNvPicPr>
          <p:nvPr/>
        </p:nvPicPr>
        <p:blipFill>
          <a:blip r:embed="rId17"/>
          <a:stretch>
            <a:fillRect/>
          </a:stretch>
        </p:blipFill>
        <p:spPr>
          <a:xfrm>
            <a:off x="10474672" y="2604045"/>
            <a:ext cx="219075" cy="285750"/>
          </a:xfrm>
          <a:prstGeom prst="rect">
            <a:avLst/>
          </a:prstGeom>
        </p:spPr>
      </p:pic>
      <p:pic>
        <p:nvPicPr>
          <p:cNvPr id="29" name="Picture 28" descr="image.png"/>
          <p:cNvPicPr>
            <a:picLocks noChangeAspect="1"/>
          </p:cNvPicPr>
          <p:nvPr/>
        </p:nvPicPr>
        <p:blipFill>
          <a:blip r:embed="rId18"/>
          <a:stretch>
            <a:fillRect/>
          </a:stretch>
        </p:blipFill>
        <p:spPr>
          <a:xfrm>
            <a:off x="8178254" y="2604045"/>
            <a:ext cx="323850" cy="285750"/>
          </a:xfrm>
          <a:prstGeom prst="rect">
            <a:avLst/>
          </a:prstGeom>
        </p:spPr>
      </p:pic>
      <p:pic>
        <p:nvPicPr>
          <p:cNvPr id="30" name="Picture 29" descr="image.png"/>
          <p:cNvPicPr>
            <a:picLocks noChangeAspect="1"/>
          </p:cNvPicPr>
          <p:nvPr/>
        </p:nvPicPr>
        <p:blipFill>
          <a:blip r:embed="rId19"/>
          <a:stretch>
            <a:fillRect/>
          </a:stretch>
        </p:blipFill>
        <p:spPr>
          <a:xfrm>
            <a:off x="5953273" y="2604045"/>
            <a:ext cx="285750" cy="285750"/>
          </a:xfrm>
          <a:prstGeom prst="rect">
            <a:avLst/>
          </a:prstGeom>
        </p:spPr>
      </p:pic>
      <p:pic>
        <p:nvPicPr>
          <p:cNvPr id="31" name="Picture 30" descr="image.png"/>
          <p:cNvPicPr>
            <a:picLocks noChangeAspect="1"/>
          </p:cNvPicPr>
          <p:nvPr/>
        </p:nvPicPr>
        <p:blipFill>
          <a:blip r:embed="rId20"/>
          <a:stretch>
            <a:fillRect/>
          </a:stretch>
        </p:blipFill>
        <p:spPr>
          <a:xfrm>
            <a:off x="3671143" y="2604045"/>
            <a:ext cx="361950" cy="285750"/>
          </a:xfrm>
          <a:prstGeom prst="rect">
            <a:avLst/>
          </a:prstGeom>
        </p:spPr>
      </p:pic>
      <p:pic>
        <p:nvPicPr>
          <p:cNvPr id="32" name="Picture 31" descr="image.png"/>
          <p:cNvPicPr>
            <a:picLocks noChangeAspect="1"/>
          </p:cNvPicPr>
          <p:nvPr/>
        </p:nvPicPr>
        <p:blipFill>
          <a:blip r:embed="rId21"/>
          <a:stretch>
            <a:fillRect/>
          </a:stretch>
        </p:blipFill>
        <p:spPr>
          <a:xfrm>
            <a:off x="1484262" y="2604045"/>
            <a:ext cx="247650" cy="285750"/>
          </a:xfrm>
          <a:prstGeom prst="rect">
            <a:avLst/>
          </a:prstGeom>
        </p:spPr>
      </p:pic>
      <p:sp>
        <p:nvSpPr>
          <p:cNvPr id="33" name="TextBox 32"/>
          <p:cNvSpPr txBox="1"/>
          <p:nvPr/>
        </p:nvSpPr>
        <p:spPr>
          <a:xfrm>
            <a:off x="590550" y="534533"/>
            <a:ext cx="11601450" cy="416461"/>
          </a:xfrm>
          <a:prstGeom prst="rect">
            <a:avLst/>
          </a:prstGeom>
          <a:noFill/>
        </p:spPr>
        <p:txBody>
          <a:bodyPr wrap="square" lIns="0" tIns="0" rIns="0" bIns="0" anchor="ctr">
            <a:spAutoFit/>
          </a:bodyPr>
          <a:lstStyle/>
          <a:p>
            <a:pPr algn="ctr">
              <a:lnSpc>
                <a:spcPts val="3060"/>
              </a:lnSpc>
            </a:pPr>
            <a:r>
              <a:rPr lang="ar-EG" sz="3200" b="1" i="0" u="none" noProof="1">
                <a:solidFill>
                  <a:schemeClr val="bg1"/>
                </a:solidFill>
                <a:latin typeface="Cairo ExtraBold"/>
              </a:rPr>
              <a:t>ركائز خطة التحسين المدرسي</a:t>
            </a:r>
          </a:p>
        </p:txBody>
      </p:sp>
      <p:sp>
        <p:nvSpPr>
          <p:cNvPr id="34" name="Rounded Rectangle 33"/>
          <p:cNvSpPr/>
          <p:nvPr/>
        </p:nvSpPr>
        <p:spPr>
          <a:xfrm>
            <a:off x="571500" y="864840"/>
            <a:ext cx="76200" cy="3238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750" fill="hold"/>
                                        <p:tgtEl>
                                          <p:spTgt spid="3"/>
                                        </p:tgtEl>
                                        <p:attrNameLst>
                                          <p:attrName>ppt_w</p:attrName>
                                        </p:attrNameLst>
                                      </p:cBhvr>
                                      <p:tavLst>
                                        <p:tav tm="0">
                                          <p:val>
                                            <p:fltVal val="0"/>
                                          </p:val>
                                        </p:tav>
                                        <p:tav tm="100000">
                                          <p:val>
                                            <p:strVal val="#ppt_w"/>
                                          </p:val>
                                        </p:tav>
                                      </p:tavLst>
                                    </p:anim>
                                    <p:anim calcmode="lin" valueType="num">
                                      <p:cBhvr>
                                        <p:cTn id="12" dur="1750" fill="hold"/>
                                        <p:tgtEl>
                                          <p:spTgt spid="3"/>
                                        </p:tgtEl>
                                        <p:attrNameLst>
                                          <p:attrName>ppt_h</p:attrName>
                                        </p:attrNameLst>
                                      </p:cBhvr>
                                      <p:tavLst>
                                        <p:tav tm="0">
                                          <p:val>
                                            <p:strVal val="#ppt_h"/>
                                          </p:val>
                                        </p:tav>
                                        <p:tav tm="100000">
                                          <p:val>
                                            <p:strVal val="#ppt_h"/>
                                          </p:val>
                                        </p:tav>
                                      </p:tavLst>
                                    </p:anim>
                                  </p:childTnLst>
                                </p:cTn>
                              </p:par>
                              <p:par>
                                <p:cTn id="13" presetID="17"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750" fill="hold"/>
                                        <p:tgtEl>
                                          <p:spTgt spid="4"/>
                                        </p:tgtEl>
                                        <p:attrNameLst>
                                          <p:attrName>ppt_w</p:attrName>
                                        </p:attrNameLst>
                                      </p:cBhvr>
                                      <p:tavLst>
                                        <p:tav tm="0">
                                          <p:val>
                                            <p:fltVal val="0"/>
                                          </p:val>
                                        </p:tav>
                                        <p:tav tm="100000">
                                          <p:val>
                                            <p:strVal val="#ppt_w"/>
                                          </p:val>
                                        </p:tav>
                                      </p:tavLst>
                                    </p:anim>
                                    <p:anim calcmode="lin" valueType="num">
                                      <p:cBhvr>
                                        <p:cTn id="16" dur="1750" fill="hold"/>
                                        <p:tgtEl>
                                          <p:spTgt spid="4"/>
                                        </p:tgtEl>
                                        <p:attrNameLst>
                                          <p:attrName>ppt_h</p:attrName>
                                        </p:attrNameLst>
                                      </p:cBhvr>
                                      <p:tavLst>
                                        <p:tav tm="0">
                                          <p:val>
                                            <p:strVal val="#ppt_h"/>
                                          </p:val>
                                        </p:tav>
                                        <p:tav tm="100000">
                                          <p:val>
                                            <p:strVal val="#ppt_h"/>
                                          </p:val>
                                        </p:tav>
                                      </p:tavLst>
                                    </p:anim>
                                  </p:childTnLst>
                                </p:cTn>
                              </p:par>
                              <p:par>
                                <p:cTn id="17" presetID="17" presetClass="entr" presetSubtype="1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750" fill="hold"/>
                                        <p:tgtEl>
                                          <p:spTgt spid="5"/>
                                        </p:tgtEl>
                                        <p:attrNameLst>
                                          <p:attrName>ppt_w</p:attrName>
                                        </p:attrNameLst>
                                      </p:cBhvr>
                                      <p:tavLst>
                                        <p:tav tm="0">
                                          <p:val>
                                            <p:fltVal val="0"/>
                                          </p:val>
                                        </p:tav>
                                        <p:tav tm="100000">
                                          <p:val>
                                            <p:strVal val="#ppt_w"/>
                                          </p:val>
                                        </p:tav>
                                      </p:tavLst>
                                    </p:anim>
                                    <p:anim calcmode="lin" valueType="num">
                                      <p:cBhvr>
                                        <p:cTn id="20" dur="1750" fill="hold"/>
                                        <p:tgtEl>
                                          <p:spTgt spid="5"/>
                                        </p:tgtEl>
                                        <p:attrNameLst>
                                          <p:attrName>ppt_h</p:attrName>
                                        </p:attrNameLst>
                                      </p:cBhvr>
                                      <p:tavLst>
                                        <p:tav tm="0">
                                          <p:val>
                                            <p:strVal val="#ppt_h"/>
                                          </p:val>
                                        </p:tav>
                                        <p:tav tm="100000">
                                          <p:val>
                                            <p:strVal val="#ppt_h"/>
                                          </p:val>
                                        </p:tav>
                                      </p:tavLst>
                                    </p:anim>
                                  </p:childTnLst>
                                </p:cTn>
                              </p:par>
                              <p:par>
                                <p:cTn id="21" presetID="17" presetClass="entr" presetSubtype="1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750" fill="hold"/>
                                        <p:tgtEl>
                                          <p:spTgt spid="6"/>
                                        </p:tgtEl>
                                        <p:attrNameLst>
                                          <p:attrName>ppt_w</p:attrName>
                                        </p:attrNameLst>
                                      </p:cBhvr>
                                      <p:tavLst>
                                        <p:tav tm="0">
                                          <p:val>
                                            <p:fltVal val="0"/>
                                          </p:val>
                                        </p:tav>
                                        <p:tav tm="100000">
                                          <p:val>
                                            <p:strVal val="#ppt_w"/>
                                          </p:val>
                                        </p:tav>
                                      </p:tavLst>
                                    </p:anim>
                                    <p:anim calcmode="lin" valueType="num">
                                      <p:cBhvr>
                                        <p:cTn id="24" dur="1750" fill="hold"/>
                                        <p:tgtEl>
                                          <p:spTgt spid="6"/>
                                        </p:tgtEl>
                                        <p:attrNameLst>
                                          <p:attrName>ppt_h</p:attrName>
                                        </p:attrNameLst>
                                      </p:cBhvr>
                                      <p:tavLst>
                                        <p:tav tm="0">
                                          <p:val>
                                            <p:strVal val="#ppt_h"/>
                                          </p:val>
                                        </p:tav>
                                        <p:tav tm="100000">
                                          <p:val>
                                            <p:strVal val="#ppt_h"/>
                                          </p:val>
                                        </p:tav>
                                      </p:tavLst>
                                    </p:anim>
                                  </p:childTnLst>
                                </p:cTn>
                              </p:par>
                              <p:par>
                                <p:cTn id="25" presetID="17" presetClass="entr" presetSubtype="1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750" fill="hold"/>
                                        <p:tgtEl>
                                          <p:spTgt spid="7"/>
                                        </p:tgtEl>
                                        <p:attrNameLst>
                                          <p:attrName>ppt_w</p:attrName>
                                        </p:attrNameLst>
                                      </p:cBhvr>
                                      <p:tavLst>
                                        <p:tav tm="0">
                                          <p:val>
                                            <p:fltVal val="0"/>
                                          </p:val>
                                        </p:tav>
                                        <p:tav tm="100000">
                                          <p:val>
                                            <p:strVal val="#ppt_w"/>
                                          </p:val>
                                        </p:tav>
                                      </p:tavLst>
                                    </p:anim>
                                    <p:anim calcmode="lin" valueType="num">
                                      <p:cBhvr>
                                        <p:cTn id="28" dur="1750" fill="hold"/>
                                        <p:tgtEl>
                                          <p:spTgt spid="7"/>
                                        </p:tgtEl>
                                        <p:attrNameLst>
                                          <p:attrName>ppt_h</p:attrName>
                                        </p:attrNameLst>
                                      </p:cBhvr>
                                      <p:tavLst>
                                        <p:tav tm="0">
                                          <p:val>
                                            <p:strVal val="#ppt_h"/>
                                          </p:val>
                                        </p:tav>
                                        <p:tav tm="100000">
                                          <p:val>
                                            <p:strVal val="#ppt_h"/>
                                          </p:val>
                                        </p:tav>
                                      </p:tavLst>
                                    </p:anim>
                                  </p:childTnLst>
                                </p:cTn>
                              </p:par>
                              <p:par>
                                <p:cTn id="29" presetID="17" presetClass="entr" presetSubtype="1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1750" fill="hold"/>
                                        <p:tgtEl>
                                          <p:spTgt spid="8"/>
                                        </p:tgtEl>
                                        <p:attrNameLst>
                                          <p:attrName>ppt_w</p:attrName>
                                        </p:attrNameLst>
                                      </p:cBhvr>
                                      <p:tavLst>
                                        <p:tav tm="0">
                                          <p:val>
                                            <p:fltVal val="0"/>
                                          </p:val>
                                        </p:tav>
                                        <p:tav tm="100000">
                                          <p:val>
                                            <p:strVal val="#ppt_w"/>
                                          </p:val>
                                        </p:tav>
                                      </p:tavLst>
                                    </p:anim>
                                    <p:anim calcmode="lin" valueType="num">
                                      <p:cBhvr>
                                        <p:cTn id="32" dur="1750" fill="hold"/>
                                        <p:tgtEl>
                                          <p:spTgt spid="8"/>
                                        </p:tgtEl>
                                        <p:attrNameLst>
                                          <p:attrName>ppt_h</p:attrName>
                                        </p:attrNameLst>
                                      </p:cBhvr>
                                      <p:tavLst>
                                        <p:tav tm="0">
                                          <p:val>
                                            <p:strVal val="#ppt_h"/>
                                          </p:val>
                                        </p:tav>
                                        <p:tav tm="100000">
                                          <p:val>
                                            <p:strVal val="#ppt_h"/>
                                          </p:val>
                                        </p:tav>
                                      </p:tavLst>
                                    </p:anim>
                                  </p:childTnLst>
                                </p:cTn>
                              </p:par>
                              <p:par>
                                <p:cTn id="33" presetID="17" presetClass="entr" presetSubtype="1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1750" fill="hold"/>
                                        <p:tgtEl>
                                          <p:spTgt spid="9"/>
                                        </p:tgtEl>
                                        <p:attrNameLst>
                                          <p:attrName>ppt_w</p:attrName>
                                        </p:attrNameLst>
                                      </p:cBhvr>
                                      <p:tavLst>
                                        <p:tav tm="0">
                                          <p:val>
                                            <p:fltVal val="0"/>
                                          </p:val>
                                        </p:tav>
                                        <p:tav tm="100000">
                                          <p:val>
                                            <p:strVal val="#ppt_w"/>
                                          </p:val>
                                        </p:tav>
                                      </p:tavLst>
                                    </p:anim>
                                    <p:anim calcmode="lin" valueType="num">
                                      <p:cBhvr>
                                        <p:cTn id="36" dur="1750" fill="hold"/>
                                        <p:tgtEl>
                                          <p:spTgt spid="9"/>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1750" fill="hold"/>
                                        <p:tgtEl>
                                          <p:spTgt spid="10"/>
                                        </p:tgtEl>
                                        <p:attrNameLst>
                                          <p:attrName>ppt_w</p:attrName>
                                        </p:attrNameLst>
                                      </p:cBhvr>
                                      <p:tavLst>
                                        <p:tav tm="0">
                                          <p:val>
                                            <p:fltVal val="0"/>
                                          </p:val>
                                        </p:tav>
                                        <p:tav tm="100000">
                                          <p:val>
                                            <p:strVal val="#ppt_w"/>
                                          </p:val>
                                        </p:tav>
                                      </p:tavLst>
                                    </p:anim>
                                    <p:anim calcmode="lin" valueType="num">
                                      <p:cBhvr>
                                        <p:cTn id="40" dur="1750" fill="hold"/>
                                        <p:tgtEl>
                                          <p:spTgt spid="10"/>
                                        </p:tgtEl>
                                        <p:attrNameLst>
                                          <p:attrName>ppt_h</p:attrName>
                                        </p:attrNameLst>
                                      </p:cBhvr>
                                      <p:tavLst>
                                        <p:tav tm="0">
                                          <p:val>
                                            <p:strVal val="#ppt_h"/>
                                          </p:val>
                                        </p:tav>
                                        <p:tav tm="100000">
                                          <p:val>
                                            <p:strVal val="#ppt_h"/>
                                          </p:val>
                                        </p:tav>
                                      </p:tavLst>
                                    </p:anim>
                                  </p:childTnLst>
                                </p:cTn>
                              </p:par>
                              <p:par>
                                <p:cTn id="41" presetID="17" presetClass="entr" presetSubtype="1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1750" fill="hold"/>
                                        <p:tgtEl>
                                          <p:spTgt spid="11"/>
                                        </p:tgtEl>
                                        <p:attrNameLst>
                                          <p:attrName>ppt_w</p:attrName>
                                        </p:attrNameLst>
                                      </p:cBhvr>
                                      <p:tavLst>
                                        <p:tav tm="0">
                                          <p:val>
                                            <p:fltVal val="0"/>
                                          </p:val>
                                        </p:tav>
                                        <p:tav tm="100000">
                                          <p:val>
                                            <p:strVal val="#ppt_w"/>
                                          </p:val>
                                        </p:tav>
                                      </p:tavLst>
                                    </p:anim>
                                    <p:anim calcmode="lin" valueType="num">
                                      <p:cBhvr>
                                        <p:cTn id="44" dur="1750" fill="hold"/>
                                        <p:tgtEl>
                                          <p:spTgt spid="11"/>
                                        </p:tgtEl>
                                        <p:attrNameLst>
                                          <p:attrName>ppt_h</p:attrName>
                                        </p:attrNameLst>
                                      </p:cBhvr>
                                      <p:tavLst>
                                        <p:tav tm="0">
                                          <p:val>
                                            <p:strVal val="#ppt_h"/>
                                          </p:val>
                                        </p:tav>
                                        <p:tav tm="100000">
                                          <p:val>
                                            <p:strVal val="#ppt_h"/>
                                          </p:val>
                                        </p:tav>
                                      </p:tavLst>
                                    </p:anim>
                                  </p:childTnLst>
                                </p:cTn>
                              </p:par>
                              <p:par>
                                <p:cTn id="45" presetID="17" presetClass="entr" presetSubtype="1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p:cTn id="47" dur="1750" fill="hold"/>
                                        <p:tgtEl>
                                          <p:spTgt spid="12"/>
                                        </p:tgtEl>
                                        <p:attrNameLst>
                                          <p:attrName>ppt_w</p:attrName>
                                        </p:attrNameLst>
                                      </p:cBhvr>
                                      <p:tavLst>
                                        <p:tav tm="0">
                                          <p:val>
                                            <p:fltVal val="0"/>
                                          </p:val>
                                        </p:tav>
                                        <p:tav tm="100000">
                                          <p:val>
                                            <p:strVal val="#ppt_w"/>
                                          </p:val>
                                        </p:tav>
                                      </p:tavLst>
                                    </p:anim>
                                    <p:anim calcmode="lin" valueType="num">
                                      <p:cBhvr>
                                        <p:cTn id="48" dur="1750" fill="hold"/>
                                        <p:tgtEl>
                                          <p:spTgt spid="12"/>
                                        </p:tgtEl>
                                        <p:attrNameLst>
                                          <p:attrName>ppt_h</p:attrName>
                                        </p:attrNameLst>
                                      </p:cBhvr>
                                      <p:tavLst>
                                        <p:tav tm="0">
                                          <p:val>
                                            <p:strVal val="#ppt_h"/>
                                          </p:val>
                                        </p:tav>
                                        <p:tav tm="100000">
                                          <p:val>
                                            <p:strVal val="#ppt_h"/>
                                          </p:val>
                                        </p:tav>
                                      </p:tavLst>
                                    </p:anim>
                                  </p:childTnLst>
                                </p:cTn>
                              </p:par>
                              <p:par>
                                <p:cTn id="49" presetID="17" presetClass="entr" presetSubtype="1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1750" fill="hold"/>
                                        <p:tgtEl>
                                          <p:spTgt spid="13"/>
                                        </p:tgtEl>
                                        <p:attrNameLst>
                                          <p:attrName>ppt_w</p:attrName>
                                        </p:attrNameLst>
                                      </p:cBhvr>
                                      <p:tavLst>
                                        <p:tav tm="0">
                                          <p:val>
                                            <p:fltVal val="0"/>
                                          </p:val>
                                        </p:tav>
                                        <p:tav tm="100000">
                                          <p:val>
                                            <p:strVal val="#ppt_w"/>
                                          </p:val>
                                        </p:tav>
                                      </p:tavLst>
                                    </p:anim>
                                    <p:anim calcmode="lin" valueType="num">
                                      <p:cBhvr>
                                        <p:cTn id="52" dur="1750" fill="hold"/>
                                        <p:tgtEl>
                                          <p:spTgt spid="13"/>
                                        </p:tgtEl>
                                        <p:attrNameLst>
                                          <p:attrName>ppt_h</p:attrName>
                                        </p:attrNameLst>
                                      </p:cBhvr>
                                      <p:tavLst>
                                        <p:tav tm="0">
                                          <p:val>
                                            <p:strVal val="#ppt_h"/>
                                          </p:val>
                                        </p:tav>
                                        <p:tav tm="100000">
                                          <p:val>
                                            <p:strVal val="#ppt_h"/>
                                          </p:val>
                                        </p:tav>
                                      </p:tavLst>
                                    </p:anim>
                                  </p:childTnLst>
                                </p:cTn>
                              </p:par>
                              <p:par>
                                <p:cTn id="53" presetID="17" presetClass="entr" presetSubtype="1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1750" fill="hold"/>
                                        <p:tgtEl>
                                          <p:spTgt spid="14"/>
                                        </p:tgtEl>
                                        <p:attrNameLst>
                                          <p:attrName>ppt_w</p:attrName>
                                        </p:attrNameLst>
                                      </p:cBhvr>
                                      <p:tavLst>
                                        <p:tav tm="0">
                                          <p:val>
                                            <p:fltVal val="0"/>
                                          </p:val>
                                        </p:tav>
                                        <p:tav tm="100000">
                                          <p:val>
                                            <p:strVal val="#ppt_w"/>
                                          </p:val>
                                        </p:tav>
                                      </p:tavLst>
                                    </p:anim>
                                    <p:anim calcmode="lin" valueType="num">
                                      <p:cBhvr>
                                        <p:cTn id="56" dur="1750" fill="hold"/>
                                        <p:tgtEl>
                                          <p:spTgt spid="14"/>
                                        </p:tgtEl>
                                        <p:attrNameLst>
                                          <p:attrName>ppt_h</p:attrName>
                                        </p:attrNameLst>
                                      </p:cBhvr>
                                      <p:tavLst>
                                        <p:tav tm="0">
                                          <p:val>
                                            <p:strVal val="#ppt_h"/>
                                          </p:val>
                                        </p:tav>
                                        <p:tav tm="100000">
                                          <p:val>
                                            <p:strVal val="#ppt_h"/>
                                          </p:val>
                                        </p:tav>
                                      </p:tavLst>
                                    </p:anim>
                                  </p:childTnLst>
                                </p:cTn>
                              </p:par>
                              <p:par>
                                <p:cTn id="57" presetID="17" presetClass="entr" presetSubtype="1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p:cTn id="59" dur="1750" fill="hold"/>
                                        <p:tgtEl>
                                          <p:spTgt spid="15"/>
                                        </p:tgtEl>
                                        <p:attrNameLst>
                                          <p:attrName>ppt_w</p:attrName>
                                        </p:attrNameLst>
                                      </p:cBhvr>
                                      <p:tavLst>
                                        <p:tav tm="0">
                                          <p:val>
                                            <p:fltVal val="0"/>
                                          </p:val>
                                        </p:tav>
                                        <p:tav tm="100000">
                                          <p:val>
                                            <p:strVal val="#ppt_w"/>
                                          </p:val>
                                        </p:tav>
                                      </p:tavLst>
                                    </p:anim>
                                    <p:anim calcmode="lin" valueType="num">
                                      <p:cBhvr>
                                        <p:cTn id="60" dur="1750" fill="hold"/>
                                        <p:tgtEl>
                                          <p:spTgt spid="15"/>
                                        </p:tgtEl>
                                        <p:attrNameLst>
                                          <p:attrName>ppt_h</p:attrName>
                                        </p:attrNameLst>
                                      </p:cBhvr>
                                      <p:tavLst>
                                        <p:tav tm="0">
                                          <p:val>
                                            <p:strVal val="#ppt_h"/>
                                          </p:val>
                                        </p:tav>
                                        <p:tav tm="100000">
                                          <p:val>
                                            <p:strVal val="#ppt_h"/>
                                          </p:val>
                                        </p:tav>
                                      </p:tavLst>
                                    </p:anim>
                                  </p:childTnLst>
                                </p:cTn>
                              </p:par>
                              <p:par>
                                <p:cTn id="61" presetID="17" presetClass="entr" presetSubtype="10"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1750" fill="hold"/>
                                        <p:tgtEl>
                                          <p:spTgt spid="16"/>
                                        </p:tgtEl>
                                        <p:attrNameLst>
                                          <p:attrName>ppt_w</p:attrName>
                                        </p:attrNameLst>
                                      </p:cBhvr>
                                      <p:tavLst>
                                        <p:tav tm="0">
                                          <p:val>
                                            <p:fltVal val="0"/>
                                          </p:val>
                                        </p:tav>
                                        <p:tav tm="100000">
                                          <p:val>
                                            <p:strVal val="#ppt_w"/>
                                          </p:val>
                                        </p:tav>
                                      </p:tavLst>
                                    </p:anim>
                                    <p:anim calcmode="lin" valueType="num">
                                      <p:cBhvr>
                                        <p:cTn id="64" dur="1750" fill="hold"/>
                                        <p:tgtEl>
                                          <p:spTgt spid="16"/>
                                        </p:tgtEl>
                                        <p:attrNameLst>
                                          <p:attrName>ppt_h</p:attrName>
                                        </p:attrNameLst>
                                      </p:cBhvr>
                                      <p:tavLst>
                                        <p:tav tm="0">
                                          <p:val>
                                            <p:strVal val="#ppt_h"/>
                                          </p:val>
                                        </p:tav>
                                        <p:tav tm="100000">
                                          <p:val>
                                            <p:strVal val="#ppt_h"/>
                                          </p:val>
                                        </p:tav>
                                      </p:tavLst>
                                    </p:anim>
                                  </p:childTnLst>
                                </p:cTn>
                              </p:par>
                              <p:par>
                                <p:cTn id="65" presetID="17" presetClass="entr" presetSubtype="1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1750" fill="hold"/>
                                        <p:tgtEl>
                                          <p:spTgt spid="17"/>
                                        </p:tgtEl>
                                        <p:attrNameLst>
                                          <p:attrName>ppt_w</p:attrName>
                                        </p:attrNameLst>
                                      </p:cBhvr>
                                      <p:tavLst>
                                        <p:tav tm="0">
                                          <p:val>
                                            <p:fltVal val="0"/>
                                          </p:val>
                                        </p:tav>
                                        <p:tav tm="100000">
                                          <p:val>
                                            <p:strVal val="#ppt_w"/>
                                          </p:val>
                                        </p:tav>
                                      </p:tavLst>
                                    </p:anim>
                                    <p:anim calcmode="lin" valueType="num">
                                      <p:cBhvr>
                                        <p:cTn id="68" dur="1750" fill="hold"/>
                                        <p:tgtEl>
                                          <p:spTgt spid="17"/>
                                        </p:tgtEl>
                                        <p:attrNameLst>
                                          <p:attrName>ppt_h</p:attrName>
                                        </p:attrNameLst>
                                      </p:cBhvr>
                                      <p:tavLst>
                                        <p:tav tm="0">
                                          <p:val>
                                            <p:strVal val="#ppt_h"/>
                                          </p:val>
                                        </p:tav>
                                        <p:tav tm="100000">
                                          <p:val>
                                            <p:strVal val="#ppt_h"/>
                                          </p:val>
                                        </p:tav>
                                      </p:tavLst>
                                    </p:anim>
                                  </p:childTnLst>
                                </p:cTn>
                              </p:par>
                              <p:par>
                                <p:cTn id="69" presetID="17" presetClass="entr" presetSubtype="1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p:cTn id="71" dur="1750" fill="hold"/>
                                        <p:tgtEl>
                                          <p:spTgt spid="18"/>
                                        </p:tgtEl>
                                        <p:attrNameLst>
                                          <p:attrName>ppt_w</p:attrName>
                                        </p:attrNameLst>
                                      </p:cBhvr>
                                      <p:tavLst>
                                        <p:tav tm="0">
                                          <p:val>
                                            <p:fltVal val="0"/>
                                          </p:val>
                                        </p:tav>
                                        <p:tav tm="100000">
                                          <p:val>
                                            <p:strVal val="#ppt_w"/>
                                          </p:val>
                                        </p:tav>
                                      </p:tavLst>
                                    </p:anim>
                                    <p:anim calcmode="lin" valueType="num">
                                      <p:cBhvr>
                                        <p:cTn id="72" dur="1750" fill="hold"/>
                                        <p:tgtEl>
                                          <p:spTgt spid="18"/>
                                        </p:tgtEl>
                                        <p:attrNameLst>
                                          <p:attrName>ppt_h</p:attrName>
                                        </p:attrNameLst>
                                      </p:cBhvr>
                                      <p:tavLst>
                                        <p:tav tm="0">
                                          <p:val>
                                            <p:strVal val="#ppt_h"/>
                                          </p:val>
                                        </p:tav>
                                        <p:tav tm="100000">
                                          <p:val>
                                            <p:strVal val="#ppt_h"/>
                                          </p:val>
                                        </p:tav>
                                      </p:tavLst>
                                    </p:anim>
                                  </p:childTnLst>
                                </p:cTn>
                              </p:par>
                              <p:par>
                                <p:cTn id="73" presetID="17" presetClass="entr" presetSubtype="1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p:cTn id="75" dur="1750" fill="hold"/>
                                        <p:tgtEl>
                                          <p:spTgt spid="19"/>
                                        </p:tgtEl>
                                        <p:attrNameLst>
                                          <p:attrName>ppt_w</p:attrName>
                                        </p:attrNameLst>
                                      </p:cBhvr>
                                      <p:tavLst>
                                        <p:tav tm="0">
                                          <p:val>
                                            <p:fltVal val="0"/>
                                          </p:val>
                                        </p:tav>
                                        <p:tav tm="100000">
                                          <p:val>
                                            <p:strVal val="#ppt_w"/>
                                          </p:val>
                                        </p:tav>
                                      </p:tavLst>
                                    </p:anim>
                                    <p:anim calcmode="lin" valueType="num">
                                      <p:cBhvr>
                                        <p:cTn id="76" dur="1750" fill="hold"/>
                                        <p:tgtEl>
                                          <p:spTgt spid="19"/>
                                        </p:tgtEl>
                                        <p:attrNameLst>
                                          <p:attrName>ppt_h</p:attrName>
                                        </p:attrNameLst>
                                      </p:cBhvr>
                                      <p:tavLst>
                                        <p:tav tm="0">
                                          <p:val>
                                            <p:strVal val="#ppt_h"/>
                                          </p:val>
                                        </p:tav>
                                        <p:tav tm="100000">
                                          <p:val>
                                            <p:strVal val="#ppt_h"/>
                                          </p:val>
                                        </p:tav>
                                      </p:tavLst>
                                    </p:anim>
                                  </p:childTnLst>
                                </p:cTn>
                              </p:par>
                              <p:par>
                                <p:cTn id="77" presetID="17" presetClass="entr" presetSubtype="10"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p:cTn id="79" dur="1750" fill="hold"/>
                                        <p:tgtEl>
                                          <p:spTgt spid="20"/>
                                        </p:tgtEl>
                                        <p:attrNameLst>
                                          <p:attrName>ppt_w</p:attrName>
                                        </p:attrNameLst>
                                      </p:cBhvr>
                                      <p:tavLst>
                                        <p:tav tm="0">
                                          <p:val>
                                            <p:fltVal val="0"/>
                                          </p:val>
                                        </p:tav>
                                        <p:tav tm="100000">
                                          <p:val>
                                            <p:strVal val="#ppt_w"/>
                                          </p:val>
                                        </p:tav>
                                      </p:tavLst>
                                    </p:anim>
                                    <p:anim calcmode="lin" valueType="num">
                                      <p:cBhvr>
                                        <p:cTn id="80" dur="1750" fill="hold"/>
                                        <p:tgtEl>
                                          <p:spTgt spid="20"/>
                                        </p:tgtEl>
                                        <p:attrNameLst>
                                          <p:attrName>ppt_h</p:attrName>
                                        </p:attrNameLst>
                                      </p:cBhvr>
                                      <p:tavLst>
                                        <p:tav tm="0">
                                          <p:val>
                                            <p:strVal val="#ppt_h"/>
                                          </p:val>
                                        </p:tav>
                                        <p:tav tm="100000">
                                          <p:val>
                                            <p:strVal val="#ppt_h"/>
                                          </p:val>
                                        </p:tav>
                                      </p:tavLst>
                                    </p:anim>
                                  </p:childTnLst>
                                </p:cTn>
                              </p:par>
                              <p:par>
                                <p:cTn id="81" presetID="17" presetClass="entr" presetSubtype="10" fill="hold" nodeType="with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p:cTn id="83" dur="1750" fill="hold"/>
                                        <p:tgtEl>
                                          <p:spTgt spid="21"/>
                                        </p:tgtEl>
                                        <p:attrNameLst>
                                          <p:attrName>ppt_w</p:attrName>
                                        </p:attrNameLst>
                                      </p:cBhvr>
                                      <p:tavLst>
                                        <p:tav tm="0">
                                          <p:val>
                                            <p:fltVal val="0"/>
                                          </p:val>
                                        </p:tav>
                                        <p:tav tm="100000">
                                          <p:val>
                                            <p:strVal val="#ppt_w"/>
                                          </p:val>
                                        </p:tav>
                                      </p:tavLst>
                                    </p:anim>
                                    <p:anim calcmode="lin" valueType="num">
                                      <p:cBhvr>
                                        <p:cTn id="84" dur="1750" fill="hold"/>
                                        <p:tgtEl>
                                          <p:spTgt spid="21"/>
                                        </p:tgtEl>
                                        <p:attrNameLst>
                                          <p:attrName>ppt_h</p:attrName>
                                        </p:attrNameLst>
                                      </p:cBhvr>
                                      <p:tavLst>
                                        <p:tav tm="0">
                                          <p:val>
                                            <p:strVal val="#ppt_h"/>
                                          </p:val>
                                        </p:tav>
                                        <p:tav tm="100000">
                                          <p:val>
                                            <p:strVal val="#ppt_h"/>
                                          </p:val>
                                        </p:tav>
                                      </p:tavLst>
                                    </p:anim>
                                  </p:childTnLst>
                                </p:cTn>
                              </p:par>
                              <p:par>
                                <p:cTn id="85" presetID="17" presetClass="entr" presetSubtype="1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p:cTn id="87" dur="1750" fill="hold"/>
                                        <p:tgtEl>
                                          <p:spTgt spid="22"/>
                                        </p:tgtEl>
                                        <p:attrNameLst>
                                          <p:attrName>ppt_w</p:attrName>
                                        </p:attrNameLst>
                                      </p:cBhvr>
                                      <p:tavLst>
                                        <p:tav tm="0">
                                          <p:val>
                                            <p:fltVal val="0"/>
                                          </p:val>
                                        </p:tav>
                                        <p:tav tm="100000">
                                          <p:val>
                                            <p:strVal val="#ppt_w"/>
                                          </p:val>
                                        </p:tav>
                                      </p:tavLst>
                                    </p:anim>
                                    <p:anim calcmode="lin" valueType="num">
                                      <p:cBhvr>
                                        <p:cTn id="88" dur="1750" fill="hold"/>
                                        <p:tgtEl>
                                          <p:spTgt spid="22"/>
                                        </p:tgtEl>
                                        <p:attrNameLst>
                                          <p:attrName>ppt_h</p:attrName>
                                        </p:attrNameLst>
                                      </p:cBhvr>
                                      <p:tavLst>
                                        <p:tav tm="0">
                                          <p:val>
                                            <p:strVal val="#ppt_h"/>
                                          </p:val>
                                        </p:tav>
                                        <p:tav tm="100000">
                                          <p:val>
                                            <p:strVal val="#ppt_h"/>
                                          </p:val>
                                        </p:tav>
                                      </p:tavLst>
                                    </p:anim>
                                  </p:childTnLst>
                                </p:cTn>
                              </p:par>
                              <p:par>
                                <p:cTn id="89" presetID="17" presetClass="entr" presetSubtype="10" fill="hold" grpId="0" nodeType="withEffect">
                                  <p:stCondLst>
                                    <p:cond delay="0"/>
                                  </p:stCondLst>
                                  <p:childTnLst>
                                    <p:set>
                                      <p:cBhvr>
                                        <p:cTn id="90" dur="1" fill="hold">
                                          <p:stCondLst>
                                            <p:cond delay="0"/>
                                          </p:stCondLst>
                                        </p:cTn>
                                        <p:tgtEl>
                                          <p:spTgt spid="23"/>
                                        </p:tgtEl>
                                        <p:attrNameLst>
                                          <p:attrName>style.visibility</p:attrName>
                                        </p:attrNameLst>
                                      </p:cBhvr>
                                      <p:to>
                                        <p:strVal val="visible"/>
                                      </p:to>
                                    </p:set>
                                    <p:anim calcmode="lin" valueType="num">
                                      <p:cBhvr>
                                        <p:cTn id="91" dur="1750" fill="hold"/>
                                        <p:tgtEl>
                                          <p:spTgt spid="23"/>
                                        </p:tgtEl>
                                        <p:attrNameLst>
                                          <p:attrName>ppt_w</p:attrName>
                                        </p:attrNameLst>
                                      </p:cBhvr>
                                      <p:tavLst>
                                        <p:tav tm="0">
                                          <p:val>
                                            <p:fltVal val="0"/>
                                          </p:val>
                                        </p:tav>
                                        <p:tav tm="100000">
                                          <p:val>
                                            <p:strVal val="#ppt_w"/>
                                          </p:val>
                                        </p:tav>
                                      </p:tavLst>
                                    </p:anim>
                                    <p:anim calcmode="lin" valueType="num">
                                      <p:cBhvr>
                                        <p:cTn id="92" dur="1750" fill="hold"/>
                                        <p:tgtEl>
                                          <p:spTgt spid="23"/>
                                        </p:tgtEl>
                                        <p:attrNameLst>
                                          <p:attrName>ppt_h</p:attrName>
                                        </p:attrNameLst>
                                      </p:cBhvr>
                                      <p:tavLst>
                                        <p:tav tm="0">
                                          <p:val>
                                            <p:strVal val="#ppt_h"/>
                                          </p:val>
                                        </p:tav>
                                        <p:tav tm="100000">
                                          <p:val>
                                            <p:strVal val="#ppt_h"/>
                                          </p:val>
                                        </p:tav>
                                      </p:tavLst>
                                    </p:anim>
                                  </p:childTnLst>
                                </p:cTn>
                              </p:par>
                              <p:par>
                                <p:cTn id="93" presetID="17" presetClass="entr" presetSubtype="10" fill="hold"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p:cTn id="95" dur="1750" fill="hold"/>
                                        <p:tgtEl>
                                          <p:spTgt spid="24"/>
                                        </p:tgtEl>
                                        <p:attrNameLst>
                                          <p:attrName>ppt_w</p:attrName>
                                        </p:attrNameLst>
                                      </p:cBhvr>
                                      <p:tavLst>
                                        <p:tav tm="0">
                                          <p:val>
                                            <p:fltVal val="0"/>
                                          </p:val>
                                        </p:tav>
                                        <p:tav tm="100000">
                                          <p:val>
                                            <p:strVal val="#ppt_w"/>
                                          </p:val>
                                        </p:tav>
                                      </p:tavLst>
                                    </p:anim>
                                    <p:anim calcmode="lin" valueType="num">
                                      <p:cBhvr>
                                        <p:cTn id="96" dur="1750" fill="hold"/>
                                        <p:tgtEl>
                                          <p:spTgt spid="24"/>
                                        </p:tgtEl>
                                        <p:attrNameLst>
                                          <p:attrName>ppt_h</p:attrName>
                                        </p:attrNameLst>
                                      </p:cBhvr>
                                      <p:tavLst>
                                        <p:tav tm="0">
                                          <p:val>
                                            <p:strVal val="#ppt_h"/>
                                          </p:val>
                                        </p:tav>
                                        <p:tav tm="100000">
                                          <p:val>
                                            <p:strVal val="#ppt_h"/>
                                          </p:val>
                                        </p:tav>
                                      </p:tavLst>
                                    </p:anim>
                                  </p:childTnLst>
                                </p:cTn>
                              </p:par>
                              <p:par>
                                <p:cTn id="97" presetID="17" presetClass="entr" presetSubtype="10" fill="hold" nodeType="withEffect">
                                  <p:stCondLst>
                                    <p:cond delay="0"/>
                                  </p:stCondLst>
                                  <p:childTnLst>
                                    <p:set>
                                      <p:cBhvr>
                                        <p:cTn id="98" dur="1" fill="hold">
                                          <p:stCondLst>
                                            <p:cond delay="0"/>
                                          </p:stCondLst>
                                        </p:cTn>
                                        <p:tgtEl>
                                          <p:spTgt spid="25"/>
                                        </p:tgtEl>
                                        <p:attrNameLst>
                                          <p:attrName>style.visibility</p:attrName>
                                        </p:attrNameLst>
                                      </p:cBhvr>
                                      <p:to>
                                        <p:strVal val="visible"/>
                                      </p:to>
                                    </p:set>
                                    <p:anim calcmode="lin" valueType="num">
                                      <p:cBhvr>
                                        <p:cTn id="99" dur="1750" fill="hold"/>
                                        <p:tgtEl>
                                          <p:spTgt spid="25"/>
                                        </p:tgtEl>
                                        <p:attrNameLst>
                                          <p:attrName>ppt_w</p:attrName>
                                        </p:attrNameLst>
                                      </p:cBhvr>
                                      <p:tavLst>
                                        <p:tav tm="0">
                                          <p:val>
                                            <p:fltVal val="0"/>
                                          </p:val>
                                        </p:tav>
                                        <p:tav tm="100000">
                                          <p:val>
                                            <p:strVal val="#ppt_w"/>
                                          </p:val>
                                        </p:tav>
                                      </p:tavLst>
                                    </p:anim>
                                    <p:anim calcmode="lin" valueType="num">
                                      <p:cBhvr>
                                        <p:cTn id="100" dur="1750" fill="hold"/>
                                        <p:tgtEl>
                                          <p:spTgt spid="25"/>
                                        </p:tgtEl>
                                        <p:attrNameLst>
                                          <p:attrName>ppt_h</p:attrName>
                                        </p:attrNameLst>
                                      </p:cBhvr>
                                      <p:tavLst>
                                        <p:tav tm="0">
                                          <p:val>
                                            <p:strVal val="#ppt_h"/>
                                          </p:val>
                                        </p:tav>
                                        <p:tav tm="100000">
                                          <p:val>
                                            <p:strVal val="#ppt_h"/>
                                          </p:val>
                                        </p:tav>
                                      </p:tavLst>
                                    </p:anim>
                                  </p:childTnLst>
                                </p:cTn>
                              </p:par>
                              <p:par>
                                <p:cTn id="101" presetID="17" presetClass="entr" presetSubtype="1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anim calcmode="lin" valueType="num">
                                      <p:cBhvr>
                                        <p:cTn id="103" dur="1750" fill="hold"/>
                                        <p:tgtEl>
                                          <p:spTgt spid="26"/>
                                        </p:tgtEl>
                                        <p:attrNameLst>
                                          <p:attrName>ppt_w</p:attrName>
                                        </p:attrNameLst>
                                      </p:cBhvr>
                                      <p:tavLst>
                                        <p:tav tm="0">
                                          <p:val>
                                            <p:fltVal val="0"/>
                                          </p:val>
                                        </p:tav>
                                        <p:tav tm="100000">
                                          <p:val>
                                            <p:strVal val="#ppt_w"/>
                                          </p:val>
                                        </p:tav>
                                      </p:tavLst>
                                    </p:anim>
                                    <p:anim calcmode="lin" valueType="num">
                                      <p:cBhvr>
                                        <p:cTn id="104" dur="1750" fill="hold"/>
                                        <p:tgtEl>
                                          <p:spTgt spid="26"/>
                                        </p:tgtEl>
                                        <p:attrNameLst>
                                          <p:attrName>ppt_h</p:attrName>
                                        </p:attrNameLst>
                                      </p:cBhvr>
                                      <p:tavLst>
                                        <p:tav tm="0">
                                          <p:val>
                                            <p:strVal val="#ppt_h"/>
                                          </p:val>
                                        </p:tav>
                                        <p:tav tm="100000">
                                          <p:val>
                                            <p:strVal val="#ppt_h"/>
                                          </p:val>
                                        </p:tav>
                                      </p:tavLst>
                                    </p:anim>
                                  </p:childTnLst>
                                </p:cTn>
                              </p:par>
                              <p:par>
                                <p:cTn id="105" presetID="17" presetClass="entr" presetSubtype="10" fill="hold" grpId="0" nodeType="withEffect">
                                  <p:stCondLst>
                                    <p:cond delay="0"/>
                                  </p:stCondLst>
                                  <p:childTnLst>
                                    <p:set>
                                      <p:cBhvr>
                                        <p:cTn id="106" dur="1" fill="hold">
                                          <p:stCondLst>
                                            <p:cond delay="0"/>
                                          </p:stCondLst>
                                        </p:cTn>
                                        <p:tgtEl>
                                          <p:spTgt spid="27"/>
                                        </p:tgtEl>
                                        <p:attrNameLst>
                                          <p:attrName>style.visibility</p:attrName>
                                        </p:attrNameLst>
                                      </p:cBhvr>
                                      <p:to>
                                        <p:strVal val="visible"/>
                                      </p:to>
                                    </p:set>
                                    <p:anim calcmode="lin" valueType="num">
                                      <p:cBhvr>
                                        <p:cTn id="107" dur="1750" fill="hold"/>
                                        <p:tgtEl>
                                          <p:spTgt spid="27"/>
                                        </p:tgtEl>
                                        <p:attrNameLst>
                                          <p:attrName>ppt_w</p:attrName>
                                        </p:attrNameLst>
                                      </p:cBhvr>
                                      <p:tavLst>
                                        <p:tav tm="0">
                                          <p:val>
                                            <p:fltVal val="0"/>
                                          </p:val>
                                        </p:tav>
                                        <p:tav tm="100000">
                                          <p:val>
                                            <p:strVal val="#ppt_w"/>
                                          </p:val>
                                        </p:tav>
                                      </p:tavLst>
                                    </p:anim>
                                    <p:anim calcmode="lin" valueType="num">
                                      <p:cBhvr>
                                        <p:cTn id="108" dur="1750" fill="hold"/>
                                        <p:tgtEl>
                                          <p:spTgt spid="27"/>
                                        </p:tgtEl>
                                        <p:attrNameLst>
                                          <p:attrName>ppt_h</p:attrName>
                                        </p:attrNameLst>
                                      </p:cBhvr>
                                      <p:tavLst>
                                        <p:tav tm="0">
                                          <p:val>
                                            <p:strVal val="#ppt_h"/>
                                          </p:val>
                                        </p:tav>
                                        <p:tav tm="100000">
                                          <p:val>
                                            <p:strVal val="#ppt_h"/>
                                          </p:val>
                                        </p:tav>
                                      </p:tavLst>
                                    </p:anim>
                                  </p:childTnLst>
                                </p:cTn>
                              </p:par>
                              <p:par>
                                <p:cTn id="109" presetID="17" presetClass="entr" presetSubtype="10" fill="hold" nodeType="withEffect">
                                  <p:stCondLst>
                                    <p:cond delay="0"/>
                                  </p:stCondLst>
                                  <p:childTnLst>
                                    <p:set>
                                      <p:cBhvr>
                                        <p:cTn id="110" dur="1" fill="hold">
                                          <p:stCondLst>
                                            <p:cond delay="0"/>
                                          </p:stCondLst>
                                        </p:cTn>
                                        <p:tgtEl>
                                          <p:spTgt spid="28"/>
                                        </p:tgtEl>
                                        <p:attrNameLst>
                                          <p:attrName>style.visibility</p:attrName>
                                        </p:attrNameLst>
                                      </p:cBhvr>
                                      <p:to>
                                        <p:strVal val="visible"/>
                                      </p:to>
                                    </p:set>
                                    <p:anim calcmode="lin" valueType="num">
                                      <p:cBhvr>
                                        <p:cTn id="111" dur="1750" fill="hold"/>
                                        <p:tgtEl>
                                          <p:spTgt spid="28"/>
                                        </p:tgtEl>
                                        <p:attrNameLst>
                                          <p:attrName>ppt_w</p:attrName>
                                        </p:attrNameLst>
                                      </p:cBhvr>
                                      <p:tavLst>
                                        <p:tav tm="0">
                                          <p:val>
                                            <p:fltVal val="0"/>
                                          </p:val>
                                        </p:tav>
                                        <p:tav tm="100000">
                                          <p:val>
                                            <p:strVal val="#ppt_w"/>
                                          </p:val>
                                        </p:tav>
                                      </p:tavLst>
                                    </p:anim>
                                    <p:anim calcmode="lin" valueType="num">
                                      <p:cBhvr>
                                        <p:cTn id="112" dur="1750" fill="hold"/>
                                        <p:tgtEl>
                                          <p:spTgt spid="28"/>
                                        </p:tgtEl>
                                        <p:attrNameLst>
                                          <p:attrName>ppt_h</p:attrName>
                                        </p:attrNameLst>
                                      </p:cBhvr>
                                      <p:tavLst>
                                        <p:tav tm="0">
                                          <p:val>
                                            <p:strVal val="#ppt_h"/>
                                          </p:val>
                                        </p:tav>
                                        <p:tav tm="100000">
                                          <p:val>
                                            <p:strVal val="#ppt_h"/>
                                          </p:val>
                                        </p:tav>
                                      </p:tavLst>
                                    </p:anim>
                                  </p:childTnLst>
                                </p:cTn>
                              </p:par>
                              <p:par>
                                <p:cTn id="113" presetID="17" presetClass="entr" presetSubtype="10" fill="hold" nodeType="with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p:cTn id="115" dur="1750" fill="hold"/>
                                        <p:tgtEl>
                                          <p:spTgt spid="29"/>
                                        </p:tgtEl>
                                        <p:attrNameLst>
                                          <p:attrName>ppt_w</p:attrName>
                                        </p:attrNameLst>
                                      </p:cBhvr>
                                      <p:tavLst>
                                        <p:tav tm="0">
                                          <p:val>
                                            <p:fltVal val="0"/>
                                          </p:val>
                                        </p:tav>
                                        <p:tav tm="100000">
                                          <p:val>
                                            <p:strVal val="#ppt_w"/>
                                          </p:val>
                                        </p:tav>
                                      </p:tavLst>
                                    </p:anim>
                                    <p:anim calcmode="lin" valueType="num">
                                      <p:cBhvr>
                                        <p:cTn id="116" dur="1750" fill="hold"/>
                                        <p:tgtEl>
                                          <p:spTgt spid="29"/>
                                        </p:tgtEl>
                                        <p:attrNameLst>
                                          <p:attrName>ppt_h</p:attrName>
                                        </p:attrNameLst>
                                      </p:cBhvr>
                                      <p:tavLst>
                                        <p:tav tm="0">
                                          <p:val>
                                            <p:strVal val="#ppt_h"/>
                                          </p:val>
                                        </p:tav>
                                        <p:tav tm="100000">
                                          <p:val>
                                            <p:strVal val="#ppt_h"/>
                                          </p:val>
                                        </p:tav>
                                      </p:tavLst>
                                    </p:anim>
                                  </p:childTnLst>
                                </p:cTn>
                              </p:par>
                              <p:par>
                                <p:cTn id="117" presetID="17" presetClass="entr" presetSubtype="10" fill="hold" nodeType="withEffect">
                                  <p:stCondLst>
                                    <p:cond delay="0"/>
                                  </p:stCondLst>
                                  <p:childTnLst>
                                    <p:set>
                                      <p:cBhvr>
                                        <p:cTn id="118" dur="1" fill="hold">
                                          <p:stCondLst>
                                            <p:cond delay="0"/>
                                          </p:stCondLst>
                                        </p:cTn>
                                        <p:tgtEl>
                                          <p:spTgt spid="30"/>
                                        </p:tgtEl>
                                        <p:attrNameLst>
                                          <p:attrName>style.visibility</p:attrName>
                                        </p:attrNameLst>
                                      </p:cBhvr>
                                      <p:to>
                                        <p:strVal val="visible"/>
                                      </p:to>
                                    </p:set>
                                    <p:anim calcmode="lin" valueType="num">
                                      <p:cBhvr>
                                        <p:cTn id="119" dur="1750" fill="hold"/>
                                        <p:tgtEl>
                                          <p:spTgt spid="30"/>
                                        </p:tgtEl>
                                        <p:attrNameLst>
                                          <p:attrName>ppt_w</p:attrName>
                                        </p:attrNameLst>
                                      </p:cBhvr>
                                      <p:tavLst>
                                        <p:tav tm="0">
                                          <p:val>
                                            <p:fltVal val="0"/>
                                          </p:val>
                                        </p:tav>
                                        <p:tav tm="100000">
                                          <p:val>
                                            <p:strVal val="#ppt_w"/>
                                          </p:val>
                                        </p:tav>
                                      </p:tavLst>
                                    </p:anim>
                                    <p:anim calcmode="lin" valueType="num">
                                      <p:cBhvr>
                                        <p:cTn id="120" dur="1750" fill="hold"/>
                                        <p:tgtEl>
                                          <p:spTgt spid="30"/>
                                        </p:tgtEl>
                                        <p:attrNameLst>
                                          <p:attrName>ppt_h</p:attrName>
                                        </p:attrNameLst>
                                      </p:cBhvr>
                                      <p:tavLst>
                                        <p:tav tm="0">
                                          <p:val>
                                            <p:strVal val="#ppt_h"/>
                                          </p:val>
                                        </p:tav>
                                        <p:tav tm="100000">
                                          <p:val>
                                            <p:strVal val="#ppt_h"/>
                                          </p:val>
                                        </p:tav>
                                      </p:tavLst>
                                    </p:anim>
                                  </p:childTnLst>
                                </p:cTn>
                              </p:par>
                              <p:par>
                                <p:cTn id="121" presetID="17" presetClass="entr" presetSubtype="10" fill="hold" nodeType="withEffect">
                                  <p:stCondLst>
                                    <p:cond delay="0"/>
                                  </p:stCondLst>
                                  <p:childTnLst>
                                    <p:set>
                                      <p:cBhvr>
                                        <p:cTn id="122" dur="1" fill="hold">
                                          <p:stCondLst>
                                            <p:cond delay="0"/>
                                          </p:stCondLst>
                                        </p:cTn>
                                        <p:tgtEl>
                                          <p:spTgt spid="31"/>
                                        </p:tgtEl>
                                        <p:attrNameLst>
                                          <p:attrName>style.visibility</p:attrName>
                                        </p:attrNameLst>
                                      </p:cBhvr>
                                      <p:to>
                                        <p:strVal val="visible"/>
                                      </p:to>
                                    </p:set>
                                    <p:anim calcmode="lin" valueType="num">
                                      <p:cBhvr>
                                        <p:cTn id="123" dur="1750" fill="hold"/>
                                        <p:tgtEl>
                                          <p:spTgt spid="31"/>
                                        </p:tgtEl>
                                        <p:attrNameLst>
                                          <p:attrName>ppt_w</p:attrName>
                                        </p:attrNameLst>
                                      </p:cBhvr>
                                      <p:tavLst>
                                        <p:tav tm="0">
                                          <p:val>
                                            <p:fltVal val="0"/>
                                          </p:val>
                                        </p:tav>
                                        <p:tav tm="100000">
                                          <p:val>
                                            <p:strVal val="#ppt_w"/>
                                          </p:val>
                                        </p:tav>
                                      </p:tavLst>
                                    </p:anim>
                                    <p:anim calcmode="lin" valueType="num">
                                      <p:cBhvr>
                                        <p:cTn id="124" dur="1750" fill="hold"/>
                                        <p:tgtEl>
                                          <p:spTgt spid="31"/>
                                        </p:tgtEl>
                                        <p:attrNameLst>
                                          <p:attrName>ppt_h</p:attrName>
                                        </p:attrNameLst>
                                      </p:cBhvr>
                                      <p:tavLst>
                                        <p:tav tm="0">
                                          <p:val>
                                            <p:strVal val="#ppt_h"/>
                                          </p:val>
                                        </p:tav>
                                        <p:tav tm="100000">
                                          <p:val>
                                            <p:strVal val="#ppt_h"/>
                                          </p:val>
                                        </p:tav>
                                      </p:tavLst>
                                    </p:anim>
                                  </p:childTnLst>
                                </p:cTn>
                              </p:par>
                              <p:par>
                                <p:cTn id="125" presetID="17" presetClass="entr" presetSubtype="10" fill="hold" nodeType="withEffect">
                                  <p:stCondLst>
                                    <p:cond delay="0"/>
                                  </p:stCondLst>
                                  <p:childTnLst>
                                    <p:set>
                                      <p:cBhvr>
                                        <p:cTn id="126" dur="1" fill="hold">
                                          <p:stCondLst>
                                            <p:cond delay="0"/>
                                          </p:stCondLst>
                                        </p:cTn>
                                        <p:tgtEl>
                                          <p:spTgt spid="32"/>
                                        </p:tgtEl>
                                        <p:attrNameLst>
                                          <p:attrName>style.visibility</p:attrName>
                                        </p:attrNameLst>
                                      </p:cBhvr>
                                      <p:to>
                                        <p:strVal val="visible"/>
                                      </p:to>
                                    </p:set>
                                    <p:anim calcmode="lin" valueType="num">
                                      <p:cBhvr>
                                        <p:cTn id="127" dur="1750" fill="hold"/>
                                        <p:tgtEl>
                                          <p:spTgt spid="32"/>
                                        </p:tgtEl>
                                        <p:attrNameLst>
                                          <p:attrName>ppt_w</p:attrName>
                                        </p:attrNameLst>
                                      </p:cBhvr>
                                      <p:tavLst>
                                        <p:tav tm="0">
                                          <p:val>
                                            <p:fltVal val="0"/>
                                          </p:val>
                                        </p:tav>
                                        <p:tav tm="100000">
                                          <p:val>
                                            <p:strVal val="#ppt_w"/>
                                          </p:val>
                                        </p:tav>
                                      </p:tavLst>
                                    </p:anim>
                                    <p:anim calcmode="lin" valueType="num">
                                      <p:cBhvr>
                                        <p:cTn id="128" dur="1750" fill="hold"/>
                                        <p:tgtEl>
                                          <p:spTgt spid="32"/>
                                        </p:tgtEl>
                                        <p:attrNameLst>
                                          <p:attrName>ppt_h</p:attrName>
                                        </p:attrNameLst>
                                      </p:cBhvr>
                                      <p:tavLst>
                                        <p:tav tm="0">
                                          <p:val>
                                            <p:strVal val="#ppt_h"/>
                                          </p:val>
                                        </p:tav>
                                        <p:tav tm="100000">
                                          <p:val>
                                            <p:strVal val="#ppt_h"/>
                                          </p:val>
                                        </p:tav>
                                      </p:tavLst>
                                    </p:anim>
                                  </p:childTnLst>
                                </p:cTn>
                              </p:par>
                              <p:par>
                                <p:cTn id="129" presetID="17" presetClass="entr" presetSubtype="10" fill="hold" grpId="0" nodeType="withEffect">
                                  <p:stCondLst>
                                    <p:cond delay="0"/>
                                  </p:stCondLst>
                                  <p:childTnLst>
                                    <p:set>
                                      <p:cBhvr>
                                        <p:cTn id="130" dur="1" fill="hold">
                                          <p:stCondLst>
                                            <p:cond delay="0"/>
                                          </p:stCondLst>
                                        </p:cTn>
                                        <p:tgtEl>
                                          <p:spTgt spid="33"/>
                                        </p:tgtEl>
                                        <p:attrNameLst>
                                          <p:attrName>style.visibility</p:attrName>
                                        </p:attrNameLst>
                                      </p:cBhvr>
                                      <p:to>
                                        <p:strVal val="visible"/>
                                      </p:to>
                                    </p:set>
                                    <p:anim calcmode="lin" valueType="num">
                                      <p:cBhvr>
                                        <p:cTn id="131" dur="1750" fill="hold"/>
                                        <p:tgtEl>
                                          <p:spTgt spid="33"/>
                                        </p:tgtEl>
                                        <p:attrNameLst>
                                          <p:attrName>ppt_w</p:attrName>
                                        </p:attrNameLst>
                                      </p:cBhvr>
                                      <p:tavLst>
                                        <p:tav tm="0">
                                          <p:val>
                                            <p:fltVal val="0"/>
                                          </p:val>
                                        </p:tav>
                                        <p:tav tm="100000">
                                          <p:val>
                                            <p:strVal val="#ppt_w"/>
                                          </p:val>
                                        </p:tav>
                                      </p:tavLst>
                                    </p:anim>
                                    <p:anim calcmode="lin" valueType="num">
                                      <p:cBhvr>
                                        <p:cTn id="132" dur="1750" fill="hold"/>
                                        <p:tgtEl>
                                          <p:spTgt spid="33"/>
                                        </p:tgtEl>
                                        <p:attrNameLst>
                                          <p:attrName>ppt_h</p:attrName>
                                        </p:attrNameLst>
                                      </p:cBhvr>
                                      <p:tavLst>
                                        <p:tav tm="0">
                                          <p:val>
                                            <p:strVal val="#ppt_h"/>
                                          </p:val>
                                        </p:tav>
                                        <p:tav tm="100000">
                                          <p:val>
                                            <p:strVal val="#ppt_h"/>
                                          </p:val>
                                        </p:tav>
                                      </p:tavLst>
                                    </p:anim>
                                  </p:childTnLst>
                                </p:cTn>
                              </p:par>
                              <p:par>
                                <p:cTn id="133" presetID="17" presetClass="entr" presetSubtype="10" fill="hold" grpId="0" nodeType="withEffect" nodePh="1">
                                  <p:stCondLst>
                                    <p:cond delay="0"/>
                                  </p:stCondLst>
                                  <p:endCondLst>
                                    <p:cond evt="begin" delay="0">
                                      <p:tn val="133"/>
                                    </p:cond>
                                  </p:endCondLst>
                                  <p:childTnLst>
                                    <p:set>
                                      <p:cBhvr>
                                        <p:cTn id="134" dur="1" fill="hold">
                                          <p:stCondLst>
                                            <p:cond delay="0"/>
                                          </p:stCondLst>
                                        </p:cTn>
                                        <p:tgtEl>
                                          <p:spTgt spid="34"/>
                                        </p:tgtEl>
                                        <p:attrNameLst>
                                          <p:attrName>style.visibility</p:attrName>
                                        </p:attrNameLst>
                                      </p:cBhvr>
                                      <p:to>
                                        <p:strVal val="visible"/>
                                      </p:to>
                                    </p:set>
                                    <p:anim calcmode="lin" valueType="num">
                                      <p:cBhvr>
                                        <p:cTn id="135" dur="1750" fill="hold"/>
                                        <p:tgtEl>
                                          <p:spTgt spid="34"/>
                                        </p:tgtEl>
                                        <p:attrNameLst>
                                          <p:attrName>ppt_w</p:attrName>
                                        </p:attrNameLst>
                                      </p:cBhvr>
                                      <p:tavLst>
                                        <p:tav tm="0">
                                          <p:val>
                                            <p:fltVal val="0"/>
                                          </p:val>
                                        </p:tav>
                                        <p:tav tm="100000">
                                          <p:val>
                                            <p:strVal val="#ppt_w"/>
                                          </p:val>
                                        </p:tav>
                                      </p:tavLst>
                                    </p:anim>
                                    <p:anim calcmode="lin" valueType="num">
                                      <p:cBhvr>
                                        <p:cTn id="136" dur="175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P spid="15" grpId="0"/>
      <p:bldP spid="18" grpId="0"/>
      <p:bldP spid="19" grpId="0"/>
      <p:bldP spid="22" grpId="0"/>
      <p:bldP spid="23" grpId="0"/>
      <p:bldP spid="26" grpId="0"/>
      <p:bldP spid="27" grpId="0"/>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81000" y="-476250"/>
            <a:ext cx="3333750" cy="3333750"/>
          </a:xfrm>
          <a:prstGeom prst="rect">
            <a:avLst/>
          </a:prstGeom>
        </p:spPr>
      </p:pic>
      <p:pic>
        <p:nvPicPr>
          <p:cNvPr id="3" name="Picture 2" descr="image.png"/>
          <p:cNvPicPr>
            <a:picLocks noChangeAspect="1"/>
          </p:cNvPicPr>
          <p:nvPr/>
        </p:nvPicPr>
        <p:blipFill>
          <a:blip r:embed="rId3"/>
          <a:stretch>
            <a:fillRect/>
          </a:stretch>
        </p:blipFill>
        <p:spPr>
          <a:xfrm>
            <a:off x="13607" y="1066800"/>
            <a:ext cx="12167602" cy="5513882"/>
          </a:xfrm>
          <a:prstGeom prst="rect">
            <a:avLst/>
          </a:prstGeom>
        </p:spPr>
      </p:pic>
      <p:pic>
        <p:nvPicPr>
          <p:cNvPr id="4" name="Picture 3" descr="image.png"/>
          <p:cNvPicPr>
            <a:picLocks noChangeAspect="1"/>
          </p:cNvPicPr>
          <p:nvPr/>
        </p:nvPicPr>
        <p:blipFill>
          <a:blip r:embed="rId4"/>
          <a:stretch>
            <a:fillRect/>
          </a:stretch>
        </p:blipFill>
        <p:spPr>
          <a:xfrm>
            <a:off x="571500" y="2389733"/>
            <a:ext cx="4305300" cy="1304925"/>
          </a:xfrm>
          <a:prstGeom prst="rect">
            <a:avLst/>
          </a:prstGeom>
        </p:spPr>
      </p:pic>
      <p:pic>
        <p:nvPicPr>
          <p:cNvPr id="5" name="Picture 4" descr="image.png"/>
          <p:cNvPicPr>
            <a:picLocks noChangeAspect="1"/>
          </p:cNvPicPr>
          <p:nvPr/>
        </p:nvPicPr>
        <p:blipFill>
          <a:blip r:embed="rId5"/>
          <a:stretch>
            <a:fillRect/>
          </a:stretch>
        </p:blipFill>
        <p:spPr>
          <a:xfrm>
            <a:off x="571500" y="3837533"/>
            <a:ext cx="4305300" cy="1304925"/>
          </a:xfrm>
          <a:prstGeom prst="rect">
            <a:avLst/>
          </a:prstGeom>
        </p:spPr>
      </p:pic>
      <p:sp>
        <p:nvSpPr>
          <p:cNvPr id="6" name="TextBox 5"/>
          <p:cNvSpPr txBox="1"/>
          <p:nvPr/>
        </p:nvSpPr>
        <p:spPr>
          <a:xfrm>
            <a:off x="792136" y="2621607"/>
            <a:ext cx="3571875" cy="307777"/>
          </a:xfrm>
          <a:prstGeom prst="rect">
            <a:avLst/>
          </a:prstGeom>
          <a:noFill/>
        </p:spPr>
        <p:txBody>
          <a:bodyPr wrap="square" lIns="0" tIns="0" rIns="0" bIns="0" anchor="ctr">
            <a:spAutoFit/>
          </a:bodyPr>
          <a:lstStyle/>
          <a:p>
            <a:pPr algn="r"/>
            <a:r>
              <a:rPr lang="ar-EG" sz="2000" b="1" i="0" u="none" noProof="1">
                <a:solidFill>
                  <a:srgbClr val="0F2C59"/>
                </a:solidFill>
                <a:latin typeface="Cairo ExtraBold"/>
              </a:rPr>
              <a:t>دورية وديناميكية العمل</a:t>
            </a:r>
          </a:p>
        </p:txBody>
      </p:sp>
      <p:sp>
        <p:nvSpPr>
          <p:cNvPr id="7" name="TextBox 6"/>
          <p:cNvSpPr txBox="1"/>
          <p:nvPr/>
        </p:nvSpPr>
        <p:spPr>
          <a:xfrm>
            <a:off x="781050" y="2946922"/>
            <a:ext cx="3838575" cy="698846"/>
          </a:xfrm>
          <a:prstGeom prst="rect">
            <a:avLst/>
          </a:prstGeom>
          <a:noFill/>
        </p:spPr>
        <p:txBody>
          <a:bodyPr wrap="square" lIns="0" tIns="0" rIns="0" bIns="0" anchor="t">
            <a:spAutoFit/>
          </a:bodyPr>
          <a:lstStyle/>
          <a:p>
            <a:pPr algn="r">
              <a:lnSpc>
                <a:spcPct val="150000"/>
              </a:lnSpc>
            </a:pPr>
            <a:r>
              <a:rPr lang="ar-EG" sz="1600" b="1" i="0" u="none" noProof="1">
                <a:solidFill>
                  <a:srgbClr val="475569"/>
                </a:solidFill>
                <a:latin typeface="Cairo SemiBold"/>
              </a:rPr>
              <a:t>خطة التحسين ليست عملية ممتدة لمرة واحدة، بل هي سلسلة متصلة تُعيد التغذية الراجعة بعد كل مرحلة قياس</a:t>
            </a:r>
            <a:r>
              <a:rPr lang="ar-EG" sz="1600" b="0" i="0" u="none" noProof="1">
                <a:solidFill>
                  <a:srgbClr val="475569"/>
                </a:solidFill>
                <a:latin typeface="Cairo SemiBold"/>
              </a:rPr>
              <a:t>.</a:t>
            </a:r>
          </a:p>
        </p:txBody>
      </p:sp>
      <p:sp>
        <p:nvSpPr>
          <p:cNvPr id="8" name="TextBox 7"/>
          <p:cNvSpPr txBox="1"/>
          <p:nvPr/>
        </p:nvSpPr>
        <p:spPr>
          <a:xfrm>
            <a:off x="820711" y="4049068"/>
            <a:ext cx="3543300" cy="307777"/>
          </a:xfrm>
          <a:prstGeom prst="rect">
            <a:avLst/>
          </a:prstGeom>
          <a:noFill/>
        </p:spPr>
        <p:txBody>
          <a:bodyPr wrap="square" lIns="0" tIns="0" rIns="0" bIns="0" anchor="ctr">
            <a:spAutoFit/>
          </a:bodyPr>
          <a:lstStyle/>
          <a:p>
            <a:pPr algn="r"/>
            <a:r>
              <a:rPr lang="ar-EG" sz="2000" b="1" i="0" u="none" noProof="1">
                <a:solidFill>
                  <a:srgbClr val="0F2C59"/>
                </a:solidFill>
                <a:latin typeface="Cairo ExtraBold"/>
              </a:rPr>
              <a:t>النتيجة والمُخرج النهائي</a:t>
            </a:r>
          </a:p>
        </p:txBody>
      </p:sp>
      <p:sp>
        <p:nvSpPr>
          <p:cNvPr id="9" name="TextBox 8"/>
          <p:cNvSpPr txBox="1"/>
          <p:nvPr/>
        </p:nvSpPr>
        <p:spPr>
          <a:xfrm>
            <a:off x="781050" y="4394722"/>
            <a:ext cx="3838575" cy="698846"/>
          </a:xfrm>
          <a:prstGeom prst="rect">
            <a:avLst/>
          </a:prstGeom>
          <a:noFill/>
        </p:spPr>
        <p:txBody>
          <a:bodyPr wrap="square" lIns="0" tIns="0" rIns="0" bIns="0" anchor="t">
            <a:spAutoFit/>
          </a:bodyPr>
          <a:lstStyle/>
          <a:p>
            <a:pPr algn="r">
              <a:lnSpc>
                <a:spcPct val="150000"/>
              </a:lnSpc>
            </a:pPr>
            <a:r>
              <a:rPr lang="ar-EG" sz="1600" b="1" i="0" u="none" noProof="1">
                <a:solidFill>
                  <a:srgbClr val="475569"/>
                </a:solidFill>
                <a:latin typeface="Cairo SemiBold"/>
              </a:rPr>
              <a:t>تؤدي ممارسة الدورة بشكل مستمر إلى تحسين الأداء المجمعي المستدام ورفع كفاءة ومخرجات تعلم الطلاب.</a:t>
            </a:r>
          </a:p>
        </p:txBody>
      </p:sp>
      <p:sp>
        <p:nvSpPr>
          <p:cNvPr id="12" name="TextBox 11"/>
          <p:cNvSpPr txBox="1"/>
          <p:nvPr/>
        </p:nvSpPr>
        <p:spPr>
          <a:xfrm>
            <a:off x="571500" y="455743"/>
            <a:ext cx="11601450" cy="429605"/>
          </a:xfrm>
          <a:prstGeom prst="rect">
            <a:avLst/>
          </a:prstGeom>
          <a:noFill/>
        </p:spPr>
        <p:txBody>
          <a:bodyPr wrap="square" lIns="0" tIns="0" rIns="0" bIns="0" anchor="ctr">
            <a:spAutoFit/>
          </a:bodyPr>
          <a:lstStyle/>
          <a:p>
            <a:pPr algn="ctr">
              <a:lnSpc>
                <a:spcPts val="3060"/>
              </a:lnSpc>
            </a:pPr>
            <a:r>
              <a:rPr lang="ar-EG" sz="4000" b="1" i="0" u="none" noProof="1">
                <a:solidFill>
                  <a:schemeClr val="bg1"/>
                </a:solidFill>
                <a:latin typeface="Cairo ExtraBold"/>
              </a:rPr>
              <a:t>الركائز في دورة التحسين المستمر</a:t>
            </a:r>
          </a:p>
        </p:txBody>
      </p:sp>
      <p:sp>
        <p:nvSpPr>
          <p:cNvPr id="13" name="Rounded Rectangle 12"/>
          <p:cNvSpPr/>
          <p:nvPr/>
        </p:nvSpPr>
        <p:spPr>
          <a:xfrm>
            <a:off x="571500" y="864840"/>
            <a:ext cx="76200" cy="323850"/>
          </a:xfrm>
          <a:prstGeom prst="roundRect">
            <a:avLst>
              <a:gd name="adj" fmla="val 5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ircle(in)">
                                      <p:cBhvr>
                                        <p:cTn id="20" dur="2000"/>
                                        <p:tgtEl>
                                          <p:spTgt spid="6"/>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circle(in)">
                                      <p:cBhvr>
                                        <p:cTn id="23" dur="2000"/>
                                        <p:tgtEl>
                                          <p:spTgt spid="7"/>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circle(in)">
                                      <p:cBhvr>
                                        <p:cTn id="26" dur="2000"/>
                                        <p:tgtEl>
                                          <p:spTgt spid="8"/>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circle(in)">
                                      <p:cBhvr>
                                        <p:cTn id="2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81000" y="-476250"/>
            <a:ext cx="3333750" cy="3333750"/>
          </a:xfrm>
          <a:prstGeom prst="rect">
            <a:avLst/>
          </a:prstGeom>
        </p:spPr>
      </p:pic>
      <p:pic>
        <p:nvPicPr>
          <p:cNvPr id="3" name="Picture 2" descr="image.png"/>
          <p:cNvPicPr>
            <a:picLocks noChangeAspect="1"/>
          </p:cNvPicPr>
          <p:nvPr/>
        </p:nvPicPr>
        <p:blipFill>
          <a:blip r:embed="rId3"/>
          <a:stretch>
            <a:fillRect/>
          </a:stretch>
        </p:blipFill>
        <p:spPr>
          <a:xfrm>
            <a:off x="8572500" y="-2571750"/>
            <a:ext cx="3810000" cy="3810000"/>
          </a:xfrm>
          <a:prstGeom prst="rect">
            <a:avLst/>
          </a:prstGeom>
        </p:spPr>
      </p:pic>
      <p:pic>
        <p:nvPicPr>
          <p:cNvPr id="4" name="Picture 3" descr="image.png"/>
          <p:cNvPicPr>
            <a:picLocks noChangeAspect="1"/>
          </p:cNvPicPr>
          <p:nvPr/>
        </p:nvPicPr>
        <p:blipFill>
          <a:blip r:embed="rId4"/>
          <a:stretch>
            <a:fillRect/>
          </a:stretch>
        </p:blipFill>
        <p:spPr>
          <a:xfrm>
            <a:off x="1333500" y="1598265"/>
            <a:ext cx="9525000" cy="2927895"/>
          </a:xfrm>
          <a:prstGeom prst="rect">
            <a:avLst/>
          </a:prstGeom>
        </p:spPr>
      </p:pic>
      <p:pic>
        <p:nvPicPr>
          <p:cNvPr id="6" name="Picture 5" descr="image.png"/>
          <p:cNvPicPr>
            <a:picLocks noChangeAspect="1"/>
          </p:cNvPicPr>
          <p:nvPr/>
        </p:nvPicPr>
        <p:blipFill>
          <a:blip r:embed="rId5"/>
          <a:stretch>
            <a:fillRect/>
          </a:stretch>
        </p:blipFill>
        <p:spPr>
          <a:xfrm>
            <a:off x="9705975" y="1322040"/>
            <a:ext cx="571500" cy="571500"/>
          </a:xfrm>
          <a:prstGeom prst="rect">
            <a:avLst/>
          </a:prstGeom>
        </p:spPr>
      </p:pic>
      <p:sp>
        <p:nvSpPr>
          <p:cNvPr id="7" name="TextBox 6"/>
          <p:cNvSpPr txBox="1"/>
          <p:nvPr/>
        </p:nvSpPr>
        <p:spPr>
          <a:xfrm>
            <a:off x="1914525" y="2084040"/>
            <a:ext cx="8362950" cy="1322157"/>
          </a:xfrm>
          <a:prstGeom prst="rect">
            <a:avLst/>
          </a:prstGeom>
          <a:noFill/>
        </p:spPr>
        <p:txBody>
          <a:bodyPr wrap="square" lIns="0" tIns="0" rIns="0" bIns="0" anchor="t">
            <a:spAutoFit/>
          </a:bodyPr>
          <a:lstStyle/>
          <a:p>
            <a:pPr algn="ctr">
              <a:lnSpc>
                <a:spcPts val="3359"/>
              </a:lnSpc>
            </a:pPr>
            <a:r>
              <a:rPr lang="ar-EG" sz="3200" b="1" i="0" u="none" noProof="1">
                <a:solidFill>
                  <a:srgbClr val="0F2C59"/>
                </a:solidFill>
                <a:latin typeface="Cairo"/>
              </a:rPr>
              <a:t>"خطة التحسين ليست وثيقة تحفظ في الملفات، بل ممارسة مستمرة تقود المدرسة نحو جودة الأداء وتحسين تعلم الطلاب، اعتمادًا على الأدلة والبيانات والعمل التشاركي."</a:t>
            </a:r>
          </a:p>
        </p:txBody>
      </p:sp>
      <p:pic>
        <p:nvPicPr>
          <p:cNvPr id="9" name="Picture 8" descr="image.png"/>
          <p:cNvPicPr>
            <a:picLocks noChangeAspect="1"/>
          </p:cNvPicPr>
          <p:nvPr/>
        </p:nvPicPr>
        <p:blipFill>
          <a:blip r:embed="rId6"/>
          <a:stretch>
            <a:fillRect/>
          </a:stretch>
        </p:blipFill>
        <p:spPr>
          <a:xfrm>
            <a:off x="9877425" y="1483965"/>
            <a:ext cx="228600" cy="247650"/>
          </a:xfrm>
          <a:prstGeom prst="rect">
            <a:avLst/>
          </a:prstGeom>
        </p:spPr>
      </p:pic>
      <p:pic>
        <p:nvPicPr>
          <p:cNvPr id="10" name="Picture 9" descr="image.png"/>
          <p:cNvPicPr>
            <a:picLocks noChangeAspect="1"/>
          </p:cNvPicPr>
          <p:nvPr/>
        </p:nvPicPr>
        <p:blipFill>
          <a:blip r:embed="rId7"/>
          <a:stretch>
            <a:fillRect/>
          </a:stretch>
        </p:blipFill>
        <p:spPr>
          <a:xfrm>
            <a:off x="7029450" y="3602235"/>
            <a:ext cx="1952625" cy="438150"/>
          </a:xfrm>
          <a:prstGeom prst="rect">
            <a:avLst/>
          </a:prstGeom>
        </p:spPr>
      </p:pic>
      <p:pic>
        <p:nvPicPr>
          <p:cNvPr id="11" name="Picture 10" descr="image.png"/>
          <p:cNvPicPr>
            <a:picLocks noChangeAspect="1"/>
          </p:cNvPicPr>
          <p:nvPr/>
        </p:nvPicPr>
        <p:blipFill>
          <a:blip r:embed="rId8"/>
          <a:stretch>
            <a:fillRect/>
          </a:stretch>
        </p:blipFill>
        <p:spPr>
          <a:xfrm>
            <a:off x="5000625" y="3602235"/>
            <a:ext cx="1838325" cy="438150"/>
          </a:xfrm>
          <a:prstGeom prst="rect">
            <a:avLst/>
          </a:prstGeom>
        </p:spPr>
      </p:pic>
      <p:pic>
        <p:nvPicPr>
          <p:cNvPr id="12" name="Picture 11" descr="image.png"/>
          <p:cNvPicPr>
            <a:picLocks noChangeAspect="1"/>
          </p:cNvPicPr>
          <p:nvPr/>
        </p:nvPicPr>
        <p:blipFill>
          <a:blip r:embed="rId9"/>
          <a:stretch>
            <a:fillRect/>
          </a:stretch>
        </p:blipFill>
        <p:spPr>
          <a:xfrm>
            <a:off x="3209925" y="3602235"/>
            <a:ext cx="1600200" cy="438150"/>
          </a:xfrm>
          <a:prstGeom prst="rect">
            <a:avLst/>
          </a:prstGeom>
        </p:spPr>
      </p:pic>
      <p:pic>
        <p:nvPicPr>
          <p:cNvPr id="13" name="Picture 12" descr="image.png"/>
          <p:cNvPicPr>
            <a:picLocks noChangeAspect="1"/>
          </p:cNvPicPr>
          <p:nvPr/>
        </p:nvPicPr>
        <p:blipFill>
          <a:blip r:embed="rId10"/>
          <a:stretch>
            <a:fillRect/>
          </a:stretch>
        </p:blipFill>
        <p:spPr>
          <a:xfrm>
            <a:off x="8756051" y="3724125"/>
            <a:ext cx="171450" cy="152400"/>
          </a:xfrm>
          <a:prstGeom prst="rect">
            <a:avLst/>
          </a:prstGeom>
        </p:spPr>
      </p:pic>
      <p:pic>
        <p:nvPicPr>
          <p:cNvPr id="14" name="Picture 13" descr="image.png"/>
          <p:cNvPicPr>
            <a:picLocks noChangeAspect="1"/>
          </p:cNvPicPr>
          <p:nvPr/>
        </p:nvPicPr>
        <p:blipFill>
          <a:blip r:embed="rId11"/>
          <a:stretch>
            <a:fillRect/>
          </a:stretch>
        </p:blipFill>
        <p:spPr>
          <a:xfrm>
            <a:off x="6648450" y="3716535"/>
            <a:ext cx="190500" cy="152400"/>
          </a:xfrm>
          <a:prstGeom prst="rect">
            <a:avLst/>
          </a:prstGeom>
        </p:spPr>
      </p:pic>
      <p:pic>
        <p:nvPicPr>
          <p:cNvPr id="15" name="Picture 14" descr="image.png"/>
          <p:cNvPicPr>
            <a:picLocks noChangeAspect="1"/>
          </p:cNvPicPr>
          <p:nvPr/>
        </p:nvPicPr>
        <p:blipFill>
          <a:blip r:embed="rId12"/>
          <a:stretch>
            <a:fillRect/>
          </a:stretch>
        </p:blipFill>
        <p:spPr>
          <a:xfrm>
            <a:off x="4586951" y="3716535"/>
            <a:ext cx="171450" cy="1524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728655" cy="830997"/>
          </a:xfrm>
          <a:prstGeom prst="rect">
            <a:avLst/>
          </a:prstGeom>
          <a:noFill/>
        </p:spPr>
        <p:txBody>
          <a:bodyPr wrap="square">
            <a:spAutoFit/>
          </a:bodyPr>
          <a:lstStyle/>
          <a:p>
            <a:pPr algn="ctr">
              <a:defRPr sz="3200" b="1">
                <a:solidFill>
                  <a:srgbClr val="1E3A8A"/>
                </a:solidFill>
                <a:latin typeface="Arial"/>
              </a:defRPr>
            </a:pPr>
            <a:r>
              <a:rPr lang="ar-EG" noProof="1">
                <a:solidFill>
                  <a:schemeClr val="bg1"/>
                </a:solidFill>
              </a:rPr>
              <a:t>أسس إعداد خطة التحسين</a:t>
            </a:r>
          </a:p>
          <a:p>
            <a:pPr algn="ctr">
              <a:defRPr sz="1600">
                <a:solidFill>
                  <a:srgbClr val="64748B"/>
                </a:solidFill>
                <a:latin typeface="Arial"/>
              </a:defRPr>
            </a:pPr>
            <a:r>
              <a:rPr lang="ar-EG" noProof="1">
                <a:solidFill>
                  <a:schemeClr val="bg1"/>
                </a:solidFill>
              </a:rPr>
              <a:t>إطار عمل متكامل لبناء خطط تحسين مؤسسية وقابلة للتطبيق</a:t>
            </a:r>
          </a:p>
        </p:txBody>
      </p:sp>
      <p:sp>
        <p:nvSpPr>
          <p:cNvPr id="3" name="Rounded Rectangle 2"/>
          <p:cNvSpPr/>
          <p:nvPr/>
        </p:nvSpPr>
        <p:spPr>
          <a:xfrm>
            <a:off x="731520" y="1645920"/>
            <a:ext cx="3328416" cy="2011680"/>
          </a:xfrm>
          <a:prstGeom prst="roundRect">
            <a:avLst/>
          </a:prstGeom>
          <a:solidFill>
            <a:srgbClr val="F8FAFC"/>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r">
              <a:defRPr sz="1800" b="1">
                <a:solidFill>
                  <a:srgbClr val="1E3A8A"/>
                </a:solidFill>
                <a:latin typeface="Arial"/>
              </a:defRPr>
            </a:pPr>
            <a:r>
              <a:rPr lang="ar-EG" sz="2400" noProof="1">
                <a:solidFill>
                  <a:schemeClr val="tx2">
                    <a:lumMod val="75000"/>
                  </a:schemeClr>
                </a:solidFill>
              </a:rPr>
              <a:t>📋 نتائج التقويم</a:t>
            </a:r>
          </a:p>
          <a:p>
            <a:pPr>
              <a:defRPr sz="600"/>
            </a:pPr>
            <a:endParaRPr lang="ar-EG" noProof="1"/>
          </a:p>
          <a:p>
            <a:pPr algn="r">
              <a:defRPr sz="1300">
                <a:solidFill>
                  <a:srgbClr val="1E293B"/>
                </a:solidFill>
                <a:latin typeface="Arial"/>
              </a:defRPr>
            </a:pPr>
            <a:r>
              <a:rPr lang="ar-EG" sz="1600" noProof="1">
                <a:solidFill>
                  <a:schemeClr val="tx1"/>
                </a:solidFill>
              </a:rPr>
              <a:t>• الاستناد المباشر لنتائج التقويم الذاتي.</a:t>
            </a:r>
          </a:p>
          <a:p>
            <a:pPr algn="r">
              <a:defRPr sz="1300">
                <a:solidFill>
                  <a:srgbClr val="1E293B"/>
                </a:solidFill>
                <a:latin typeface="Arial"/>
              </a:defRPr>
            </a:pPr>
            <a:r>
              <a:rPr lang="ar-EG" sz="1600" noProof="1">
                <a:solidFill>
                  <a:schemeClr val="tx1"/>
                </a:solidFill>
              </a:rPr>
              <a:t>• الاعتماد على تقارير الزيارات الخارجية.</a:t>
            </a:r>
          </a:p>
        </p:txBody>
      </p:sp>
      <p:sp>
        <p:nvSpPr>
          <p:cNvPr id="4" name="Rounded Rectangle 3"/>
          <p:cNvSpPr/>
          <p:nvPr/>
        </p:nvSpPr>
        <p:spPr>
          <a:xfrm>
            <a:off x="4425696" y="1656080"/>
            <a:ext cx="3328416" cy="2011680"/>
          </a:xfrm>
          <a:prstGeom prst="roundRect">
            <a:avLst/>
          </a:prstGeom>
          <a:solidFill>
            <a:srgbClr val="F8FAFC"/>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rtl="1">
              <a:defRPr sz="1800" b="1">
                <a:solidFill>
                  <a:srgbClr val="06B6D4"/>
                </a:solidFill>
                <a:latin typeface="Arial"/>
              </a:defRPr>
            </a:pPr>
            <a:r>
              <a:rPr lang="ar-EG" sz="2400" noProof="1">
                <a:solidFill>
                  <a:schemeClr val="tx2">
                    <a:lumMod val="60000"/>
                    <a:lumOff val="40000"/>
                  </a:schemeClr>
                </a:solidFill>
              </a:rPr>
              <a:t>📊 البيانات والمؤشرات</a:t>
            </a:r>
          </a:p>
          <a:p>
            <a:pPr algn="ctr" rtl="1">
              <a:defRPr sz="600"/>
            </a:pPr>
            <a:endParaRPr lang="ar-EG" noProof="1"/>
          </a:p>
          <a:p>
            <a:pPr algn="ctr" rtl="1">
              <a:defRPr sz="1300">
                <a:solidFill>
                  <a:srgbClr val="1E293B"/>
                </a:solidFill>
                <a:latin typeface="Arial"/>
              </a:defRPr>
            </a:pPr>
            <a:r>
              <a:rPr lang="ar-EG" sz="1600" noProof="1">
                <a:solidFill>
                  <a:schemeClr val="tx1"/>
                </a:solidFill>
              </a:rPr>
              <a:t>• التأسيس على بيانات دقيقة وموثوقة.</a:t>
            </a:r>
          </a:p>
          <a:p>
            <a:pPr algn="ctr" rtl="1">
              <a:defRPr sz="1300">
                <a:solidFill>
                  <a:srgbClr val="1E293B"/>
                </a:solidFill>
                <a:latin typeface="Arial"/>
              </a:defRPr>
            </a:pPr>
            <a:r>
              <a:rPr lang="ar-EG" sz="1600" noProof="1">
                <a:solidFill>
                  <a:schemeClr val="tx1"/>
                </a:solidFill>
              </a:rPr>
              <a:t>• الاعتماد على مؤشرات أداء واضحة.</a:t>
            </a:r>
          </a:p>
        </p:txBody>
      </p:sp>
      <p:sp>
        <p:nvSpPr>
          <p:cNvPr id="5" name="Rounded Rectangle 4"/>
          <p:cNvSpPr/>
          <p:nvPr/>
        </p:nvSpPr>
        <p:spPr>
          <a:xfrm>
            <a:off x="8131759" y="1645920"/>
            <a:ext cx="3328416" cy="2011680"/>
          </a:xfrm>
          <a:prstGeom prst="roundRect">
            <a:avLst/>
          </a:prstGeom>
          <a:solidFill>
            <a:srgbClr val="F8FAFC"/>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r">
              <a:defRPr sz="1800" b="1">
                <a:solidFill>
                  <a:srgbClr val="F97316"/>
                </a:solidFill>
                <a:latin typeface="Arial"/>
              </a:defRPr>
            </a:pPr>
            <a:r>
              <a:rPr lang="ar-EG" sz="2400" noProof="1">
                <a:solidFill>
                  <a:srgbClr val="FFC000"/>
                </a:solidFill>
              </a:rPr>
              <a:t>🎯 التركيز على الأولويات</a:t>
            </a:r>
          </a:p>
          <a:p>
            <a:pPr>
              <a:defRPr sz="600"/>
            </a:pPr>
            <a:endParaRPr lang="ar-EG" noProof="1"/>
          </a:p>
          <a:p>
            <a:pPr algn="r">
              <a:defRPr sz="1300">
                <a:solidFill>
                  <a:srgbClr val="1E293B"/>
                </a:solidFill>
                <a:latin typeface="Arial"/>
              </a:defRPr>
            </a:pPr>
            <a:r>
              <a:rPr lang="ar-EG" sz="1600" noProof="1">
                <a:solidFill>
                  <a:schemeClr val="tx1"/>
                </a:solidFill>
              </a:rPr>
              <a:t>• التركيز على المجالات ذات الأثر الأعلى.</a:t>
            </a:r>
          </a:p>
          <a:p>
            <a:pPr algn="r">
              <a:defRPr sz="1300">
                <a:solidFill>
                  <a:srgbClr val="1E293B"/>
                </a:solidFill>
                <a:latin typeface="Arial"/>
              </a:defRPr>
            </a:pPr>
            <a:r>
              <a:rPr lang="ar-EG" sz="1600" noProof="1">
                <a:solidFill>
                  <a:schemeClr val="tx1"/>
                </a:solidFill>
              </a:rPr>
              <a:t>• معالجة الفجوات الحرجة والأكثر أهمية.</a:t>
            </a:r>
          </a:p>
        </p:txBody>
      </p:sp>
      <p:sp>
        <p:nvSpPr>
          <p:cNvPr id="6" name="Rounded Rectangle 5"/>
          <p:cNvSpPr/>
          <p:nvPr/>
        </p:nvSpPr>
        <p:spPr>
          <a:xfrm>
            <a:off x="731520" y="4023360"/>
            <a:ext cx="3328416" cy="2011680"/>
          </a:xfrm>
          <a:prstGeom prst="round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r">
              <a:defRPr sz="1800" b="1">
                <a:solidFill>
                  <a:srgbClr val="10B981"/>
                </a:solidFill>
                <a:latin typeface="Arial"/>
              </a:defRPr>
            </a:pPr>
            <a:r>
              <a:rPr lang="ar-EG" sz="2400" noProof="1">
                <a:solidFill>
                  <a:srgbClr val="00B050"/>
                </a:solidFill>
              </a:rPr>
              <a:t>✔️ الواقعية والتنفيذ</a:t>
            </a:r>
          </a:p>
          <a:p>
            <a:pPr>
              <a:defRPr sz="600"/>
            </a:pPr>
            <a:endParaRPr lang="ar-EG" noProof="1"/>
          </a:p>
          <a:p>
            <a:pPr algn="r">
              <a:defRPr sz="1300">
                <a:solidFill>
                  <a:srgbClr val="1E293B"/>
                </a:solidFill>
                <a:latin typeface="Arial"/>
              </a:defRPr>
            </a:pPr>
            <a:r>
              <a:rPr lang="ar-EG" sz="1600" noProof="1">
                <a:solidFill>
                  <a:schemeClr val="tx1"/>
                </a:solidFill>
              </a:rPr>
              <a:t>• صياغة أهداف قابلة للتحقيق.</a:t>
            </a:r>
          </a:p>
          <a:p>
            <a:pPr algn="r">
              <a:defRPr sz="1300">
                <a:solidFill>
                  <a:srgbClr val="1E293B"/>
                </a:solidFill>
                <a:latin typeface="Arial"/>
              </a:defRPr>
            </a:pPr>
            <a:r>
              <a:rPr lang="ar-EG" sz="1600" noProof="1">
                <a:solidFill>
                  <a:schemeClr val="tx1"/>
                </a:solidFill>
              </a:rPr>
              <a:t>• توفير الموارد وضبط الإطار الزمني.</a:t>
            </a:r>
          </a:p>
        </p:txBody>
      </p:sp>
      <p:sp>
        <p:nvSpPr>
          <p:cNvPr id="7" name="Rounded Rectangle 6"/>
          <p:cNvSpPr/>
          <p:nvPr/>
        </p:nvSpPr>
        <p:spPr>
          <a:xfrm>
            <a:off x="4425696" y="4023360"/>
            <a:ext cx="3328416" cy="2011680"/>
          </a:xfrm>
          <a:prstGeom prst="roundRect">
            <a:avLst/>
          </a:prstGeom>
          <a:solidFill>
            <a:srgbClr val="F8FAFC"/>
          </a:solidFill>
          <a:ln w="25400">
            <a:solidFill>
              <a:srgbClr val="33415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r">
              <a:defRPr sz="1800" b="1">
                <a:solidFill>
                  <a:srgbClr val="334155"/>
                </a:solidFill>
                <a:latin typeface="Arial"/>
              </a:defRPr>
            </a:pPr>
            <a:r>
              <a:rPr lang="ar-EG" sz="2400" noProof="1">
                <a:solidFill>
                  <a:schemeClr val="tx2">
                    <a:lumMod val="50000"/>
                  </a:schemeClr>
                </a:solidFill>
              </a:rPr>
              <a:t>🗓️ وضوح المسؤوليات</a:t>
            </a:r>
          </a:p>
          <a:p>
            <a:pPr>
              <a:defRPr sz="600"/>
            </a:pPr>
            <a:endParaRPr lang="ar-EG" noProof="1"/>
          </a:p>
          <a:p>
            <a:pPr algn="r">
              <a:defRPr sz="1300">
                <a:solidFill>
                  <a:srgbClr val="1E293B"/>
                </a:solidFill>
                <a:latin typeface="Arial"/>
              </a:defRPr>
            </a:pPr>
            <a:r>
              <a:rPr lang="ar-EG" sz="1600" noProof="1">
                <a:solidFill>
                  <a:schemeClr val="tx1"/>
                </a:solidFill>
              </a:rPr>
              <a:t>• تحديد الفرق والمسؤولين عن كل مهمة.</a:t>
            </a:r>
          </a:p>
          <a:p>
            <a:pPr algn="r">
              <a:defRPr sz="1300">
                <a:solidFill>
                  <a:srgbClr val="1E293B"/>
                </a:solidFill>
                <a:latin typeface="Arial"/>
              </a:defRPr>
            </a:pPr>
            <a:r>
              <a:rPr lang="ar-EG" sz="1600" noProof="1">
                <a:solidFill>
                  <a:schemeClr val="tx1"/>
                </a:solidFill>
              </a:rPr>
              <a:t>• ضبط الجدول الزمني ومؤشرات الإنجاز.</a:t>
            </a:r>
          </a:p>
        </p:txBody>
      </p:sp>
      <p:sp>
        <p:nvSpPr>
          <p:cNvPr id="8" name="Rounded Rectangle 7"/>
          <p:cNvSpPr/>
          <p:nvPr/>
        </p:nvSpPr>
        <p:spPr>
          <a:xfrm>
            <a:off x="8119872" y="4023360"/>
            <a:ext cx="3328416" cy="2011680"/>
          </a:xfrm>
          <a:prstGeom prst="roundRect">
            <a:avLst/>
          </a:prstGeom>
          <a:solidFill>
            <a:srgbClr val="F8FAFC"/>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r">
              <a:defRPr sz="1800" b="1">
                <a:solidFill>
                  <a:srgbClr val="8B5CF6"/>
                </a:solidFill>
                <a:latin typeface="Arial"/>
              </a:defRPr>
            </a:pPr>
            <a:r>
              <a:rPr lang="ar-EG" sz="2400" noProof="1">
                <a:solidFill>
                  <a:schemeClr val="accent4">
                    <a:lumMod val="60000"/>
                    <a:lumOff val="40000"/>
                  </a:schemeClr>
                </a:solidFill>
              </a:rPr>
              <a:t>📈 المتابعة والتقويم</a:t>
            </a:r>
          </a:p>
          <a:p>
            <a:pPr>
              <a:defRPr sz="600"/>
            </a:pPr>
            <a:endParaRPr lang="ar-EG" noProof="1"/>
          </a:p>
          <a:p>
            <a:pPr algn="r">
              <a:defRPr sz="1300">
                <a:solidFill>
                  <a:srgbClr val="1E293B"/>
                </a:solidFill>
                <a:latin typeface="Arial"/>
              </a:defRPr>
            </a:pPr>
            <a:r>
              <a:rPr lang="ar-EG" sz="1600" noProof="1">
                <a:solidFill>
                  <a:schemeClr val="tx1"/>
                </a:solidFill>
              </a:rPr>
              <a:t>• وضع آليات عملية لمتابعة التنفيذ.</a:t>
            </a:r>
          </a:p>
          <a:p>
            <a:pPr algn="r">
              <a:defRPr sz="1300">
                <a:solidFill>
                  <a:srgbClr val="1E293B"/>
                </a:solidFill>
                <a:latin typeface="Arial"/>
              </a:defRPr>
            </a:pPr>
            <a:r>
              <a:rPr lang="ar-EG" sz="1600" noProof="1">
                <a:solidFill>
                  <a:schemeClr val="tx1"/>
                </a:solidFill>
              </a:rPr>
              <a:t>• قياس التقدم وضمان التحسين المستمر.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750"/>
                                        <p:tgtEl>
                                          <p:spTgt spid="2">
                                            <p:txEl>
                                              <p:pRg st="0" end="0"/>
                                            </p:txEl>
                                          </p:spTgt>
                                        </p:tgtEl>
                                      </p:cBhvr>
                                    </p:animEffect>
                                    <p:anim calcmode="lin" valueType="num">
                                      <p:cBhvr>
                                        <p:cTn id="8" dur="175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75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wipe(down)">
                                      <p:cBhvr>
                                        <p:cTn id="14" dur="1250"/>
                                        <p:tgtEl>
                                          <p:spTgt spid="2">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1250"/>
                                        <p:tgtEl>
                                          <p:spTgt spid="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1250"/>
                                        <p:tgtEl>
                                          <p:spTgt spid="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1250"/>
                                        <p:tgtEl>
                                          <p:spTgt spid="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1250"/>
                                        <p:tgtEl>
                                          <p:spTgt spid="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1250"/>
                                        <p:tgtEl>
                                          <p:spTgt spid="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00A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TextBox 2"/>
          <p:cNvSpPr txBox="1"/>
          <p:nvPr/>
        </p:nvSpPr>
        <p:spPr>
          <a:xfrm>
            <a:off x="914400" y="2174965"/>
            <a:ext cx="10362895" cy="1986249"/>
          </a:xfrm>
          <a:prstGeom prst="rect">
            <a:avLst/>
          </a:prstGeom>
          <a:noFill/>
        </p:spPr>
        <p:txBody>
          <a:bodyPr wrap="square">
            <a:spAutoFit/>
          </a:bodyPr>
          <a:lstStyle/>
          <a:p>
            <a:pPr algn="ctr">
              <a:lnSpc>
                <a:spcPct val="150000"/>
              </a:lnSpc>
              <a:defRPr sz="4000" b="1">
                <a:solidFill>
                  <a:srgbClr val="0A2540"/>
                </a:solidFill>
                <a:latin typeface="Arial"/>
              </a:defRPr>
            </a:pPr>
            <a:r>
              <a:rPr lang="ar-EG" sz="5400" noProof="1">
                <a:solidFill>
                  <a:schemeClr val="bg1"/>
                </a:solidFill>
              </a:rPr>
              <a:t>معايير خطة التحسين</a:t>
            </a:r>
          </a:p>
          <a:p>
            <a:pPr algn="ctr">
              <a:lnSpc>
                <a:spcPct val="150000"/>
              </a:lnSpc>
              <a:defRPr sz="2000">
                <a:solidFill>
                  <a:srgbClr val="005B96"/>
                </a:solidFill>
                <a:latin typeface="Arial"/>
              </a:defRPr>
            </a:pPr>
            <a:r>
              <a:rPr lang="ar-EG" sz="3200" b="1" noProof="1">
                <a:solidFill>
                  <a:schemeClr val="bg1"/>
                </a:solidFill>
              </a:rPr>
              <a:t>أسس بناء خطة تحسين فعّالة تحقق التحسين المستمر والتميز المؤسسي</a:t>
            </a:r>
          </a:p>
        </p:txBody>
      </p:sp>
      <p:sp>
        <p:nvSpPr>
          <p:cNvPr id="4" name="Rectangle 3"/>
          <p:cNvSpPr/>
          <p:nvPr/>
        </p:nvSpPr>
        <p:spPr>
          <a:xfrm>
            <a:off x="0" y="6675120"/>
            <a:ext cx="12191695" cy="18288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492443"/>
          </a:xfrm>
          <a:prstGeom prst="rect">
            <a:avLst/>
          </a:prstGeom>
          <a:noFill/>
        </p:spPr>
        <p:txBody>
          <a:bodyPr wrap="square">
            <a:spAutoFit/>
          </a:bodyPr>
          <a:lstStyle/>
          <a:p>
            <a:pPr algn="r">
              <a:defRPr sz="2600" b="1">
                <a:solidFill>
                  <a:srgbClr val="0A2540"/>
                </a:solidFill>
                <a:latin typeface="Arial"/>
              </a:defRPr>
            </a:pPr>
            <a:r>
              <a:rPr lang="ar-EG" noProof="1">
                <a:solidFill>
                  <a:schemeClr val="bg1"/>
                </a:solidFill>
              </a:rPr>
              <a:t>ما المقصود بمعايير خطة التحسين؟</a:t>
            </a:r>
          </a:p>
        </p:txBody>
      </p:sp>
      <p:sp>
        <p:nvSpPr>
          <p:cNvPr id="3" name="Rounded Rectangle 2"/>
          <p:cNvSpPr/>
          <p:nvPr/>
        </p:nvSpPr>
        <p:spPr>
          <a:xfrm>
            <a:off x="1371600" y="1645920"/>
            <a:ext cx="9448495" cy="1645920"/>
          </a:xfrm>
          <a:prstGeom prst="roundRect">
            <a:avLst/>
          </a:prstGeom>
          <a:solidFill>
            <a:srgbClr val="F4F6F8"/>
          </a:solidFill>
          <a:ln w="25400">
            <a:solidFill>
              <a:srgbClr val="00A676"/>
            </a:solidFill>
          </a:ln>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a:defRPr sz="1800">
                <a:solidFill>
                  <a:srgbClr val="1E293B"/>
                </a:solidFill>
                <a:latin typeface="Arial"/>
              </a:defRPr>
            </a:pPr>
            <a:r>
              <a:rPr lang="ar-EG" sz="2800" noProof="1">
                <a:solidFill>
                  <a:schemeClr val="tx1"/>
                </a:solidFill>
              </a:rPr>
              <a:t>معايير خطة التحسين هي مجموعة من المتطلبات الأساسية التي تضمن أن تكون الخطة واقعية، قابلة للتنفيذ، قابلة للقياس، وقادرة على تحقيق التحسين المستدام في أداء المدرسة.</a:t>
            </a:r>
          </a:p>
        </p:txBody>
      </p:sp>
      <p:sp>
        <p:nvSpPr>
          <p:cNvPr id="4" name="Rounded Rectangle 3"/>
          <p:cNvSpPr/>
          <p:nvPr/>
        </p:nvSpPr>
        <p:spPr>
          <a:xfrm>
            <a:off x="9559950" y="4114800"/>
            <a:ext cx="1828800" cy="109728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FFFFFF"/>
                </a:solidFill>
                <a:latin typeface="Arial"/>
              </a:defRPr>
            </a:pPr>
            <a:r>
              <a:rPr lang="ar-EG" sz="2000" noProof="1"/>
              <a:t>1- تشخيص</a:t>
            </a:r>
          </a:p>
        </p:txBody>
      </p:sp>
      <p:sp>
        <p:nvSpPr>
          <p:cNvPr id="5" name="Rounded Rectangle 4"/>
          <p:cNvSpPr/>
          <p:nvPr/>
        </p:nvSpPr>
        <p:spPr>
          <a:xfrm>
            <a:off x="7440980" y="4114800"/>
            <a:ext cx="1828800" cy="109728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FFFFFF"/>
                </a:solidFill>
                <a:latin typeface="Arial"/>
              </a:defRPr>
            </a:pPr>
            <a:r>
              <a:rPr lang="ar-EG" sz="2000" noProof="1"/>
              <a:t>2- تخطيط</a:t>
            </a:r>
          </a:p>
        </p:txBody>
      </p:sp>
      <p:sp>
        <p:nvSpPr>
          <p:cNvPr id="6" name="Rounded Rectangle 5"/>
          <p:cNvSpPr/>
          <p:nvPr/>
        </p:nvSpPr>
        <p:spPr>
          <a:xfrm>
            <a:off x="5292140" y="4114800"/>
            <a:ext cx="1828800" cy="109728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FFFFFF"/>
                </a:solidFill>
                <a:latin typeface="Arial"/>
              </a:defRPr>
            </a:pPr>
            <a:r>
              <a:rPr lang="ar-EG" sz="2000" noProof="1"/>
              <a:t>3- تنفيذ</a:t>
            </a:r>
          </a:p>
        </p:txBody>
      </p:sp>
      <p:sp>
        <p:nvSpPr>
          <p:cNvPr id="7" name="Rounded Rectangle 6"/>
          <p:cNvSpPr/>
          <p:nvPr/>
        </p:nvSpPr>
        <p:spPr>
          <a:xfrm>
            <a:off x="3220110" y="4079557"/>
            <a:ext cx="1828800" cy="109728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FFFFFF"/>
                </a:solidFill>
                <a:latin typeface="Arial"/>
              </a:defRPr>
            </a:pPr>
            <a:r>
              <a:rPr lang="ar-EG" sz="2000" noProof="1"/>
              <a:t>4- متابعة</a:t>
            </a:r>
          </a:p>
        </p:txBody>
      </p:sp>
      <p:sp>
        <p:nvSpPr>
          <p:cNvPr id="8" name="Rounded Rectangle 7"/>
          <p:cNvSpPr/>
          <p:nvPr/>
        </p:nvSpPr>
        <p:spPr>
          <a:xfrm>
            <a:off x="1071270" y="4079557"/>
            <a:ext cx="1828800" cy="1097280"/>
          </a:xfrm>
          <a:prstGeom prst="roundRect">
            <a:avLst/>
          </a:prstGeom>
          <a:solidFill>
            <a:srgbClr val="00A67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FFFFFF"/>
                </a:solidFill>
                <a:latin typeface="Arial"/>
              </a:defRPr>
            </a:pPr>
            <a:r>
              <a:rPr lang="ar-EG" sz="2000" noProof="1"/>
              <a:t>5- تحسين مستمر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750" fill="hold"/>
                                        <p:tgtEl>
                                          <p:spTgt spid="2"/>
                                        </p:tgtEl>
                                        <p:attrNameLst>
                                          <p:attrName>ppt_x</p:attrName>
                                        </p:attrNameLst>
                                      </p:cBhvr>
                                      <p:tavLst>
                                        <p:tav tm="0">
                                          <p:val>
                                            <p:strVal val="1+#ppt_w/2"/>
                                          </p:val>
                                        </p:tav>
                                        <p:tav tm="100000">
                                          <p:val>
                                            <p:strVal val="#ppt_x"/>
                                          </p:val>
                                        </p:tav>
                                      </p:tavLst>
                                    </p:anim>
                                    <p:anim calcmode="lin" valueType="num">
                                      <p:cBhvr additive="base">
                                        <p:cTn id="8" dur="275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2750" fill="hold"/>
                                        <p:tgtEl>
                                          <p:spTgt spid="3"/>
                                        </p:tgtEl>
                                        <p:attrNameLst>
                                          <p:attrName>ppt_x</p:attrName>
                                        </p:attrNameLst>
                                      </p:cBhvr>
                                      <p:tavLst>
                                        <p:tav tm="0">
                                          <p:val>
                                            <p:strVal val="1+#ppt_w/2"/>
                                          </p:val>
                                        </p:tav>
                                        <p:tav tm="100000">
                                          <p:val>
                                            <p:strVal val="#ppt_x"/>
                                          </p:val>
                                        </p:tav>
                                      </p:tavLst>
                                    </p:anim>
                                    <p:anim calcmode="lin" valueType="num">
                                      <p:cBhvr additive="base">
                                        <p:cTn id="12" dur="275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2750" fill="hold"/>
                                        <p:tgtEl>
                                          <p:spTgt spid="4"/>
                                        </p:tgtEl>
                                        <p:attrNameLst>
                                          <p:attrName>ppt_x</p:attrName>
                                        </p:attrNameLst>
                                      </p:cBhvr>
                                      <p:tavLst>
                                        <p:tav tm="0">
                                          <p:val>
                                            <p:strVal val="1+#ppt_w/2"/>
                                          </p:val>
                                        </p:tav>
                                        <p:tav tm="100000">
                                          <p:val>
                                            <p:strVal val="#ppt_x"/>
                                          </p:val>
                                        </p:tav>
                                      </p:tavLst>
                                    </p:anim>
                                    <p:anim calcmode="lin" valueType="num">
                                      <p:cBhvr additive="base">
                                        <p:cTn id="16" dur="275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2750" fill="hold"/>
                                        <p:tgtEl>
                                          <p:spTgt spid="5"/>
                                        </p:tgtEl>
                                        <p:attrNameLst>
                                          <p:attrName>ppt_x</p:attrName>
                                        </p:attrNameLst>
                                      </p:cBhvr>
                                      <p:tavLst>
                                        <p:tav tm="0">
                                          <p:val>
                                            <p:strVal val="1+#ppt_w/2"/>
                                          </p:val>
                                        </p:tav>
                                        <p:tav tm="100000">
                                          <p:val>
                                            <p:strVal val="#ppt_x"/>
                                          </p:val>
                                        </p:tav>
                                      </p:tavLst>
                                    </p:anim>
                                    <p:anim calcmode="lin" valueType="num">
                                      <p:cBhvr additive="base">
                                        <p:cTn id="20" dur="275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6"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2750" fill="hold"/>
                                        <p:tgtEl>
                                          <p:spTgt spid="6"/>
                                        </p:tgtEl>
                                        <p:attrNameLst>
                                          <p:attrName>ppt_x</p:attrName>
                                        </p:attrNameLst>
                                      </p:cBhvr>
                                      <p:tavLst>
                                        <p:tav tm="0">
                                          <p:val>
                                            <p:strVal val="1+#ppt_w/2"/>
                                          </p:val>
                                        </p:tav>
                                        <p:tav tm="100000">
                                          <p:val>
                                            <p:strVal val="#ppt_x"/>
                                          </p:val>
                                        </p:tav>
                                      </p:tavLst>
                                    </p:anim>
                                    <p:anim calcmode="lin" valueType="num">
                                      <p:cBhvr additive="base">
                                        <p:cTn id="24" dur="275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2750" fill="hold"/>
                                        <p:tgtEl>
                                          <p:spTgt spid="7"/>
                                        </p:tgtEl>
                                        <p:attrNameLst>
                                          <p:attrName>ppt_x</p:attrName>
                                        </p:attrNameLst>
                                      </p:cBhvr>
                                      <p:tavLst>
                                        <p:tav tm="0">
                                          <p:val>
                                            <p:strVal val="1+#ppt_w/2"/>
                                          </p:val>
                                        </p:tav>
                                        <p:tav tm="100000">
                                          <p:val>
                                            <p:strVal val="#ppt_x"/>
                                          </p:val>
                                        </p:tav>
                                      </p:tavLst>
                                    </p:anim>
                                    <p:anim calcmode="lin" valueType="num">
                                      <p:cBhvr additive="base">
                                        <p:cTn id="28" dur="275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2750" fill="hold"/>
                                        <p:tgtEl>
                                          <p:spTgt spid="8"/>
                                        </p:tgtEl>
                                        <p:attrNameLst>
                                          <p:attrName>ppt_x</p:attrName>
                                        </p:attrNameLst>
                                      </p:cBhvr>
                                      <p:tavLst>
                                        <p:tav tm="0">
                                          <p:val>
                                            <p:strVal val="1+#ppt_w/2"/>
                                          </p:val>
                                        </p:tav>
                                        <p:tav tm="100000">
                                          <p:val>
                                            <p:strVal val="#ppt_x"/>
                                          </p:val>
                                        </p:tav>
                                      </p:tavLst>
                                    </p:anim>
                                    <p:anim calcmode="lin" valueType="num">
                                      <p:cBhvr additive="base">
                                        <p:cTn id="32" dur="27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3549" y="964474"/>
            <a:ext cx="10728655" cy="492443"/>
          </a:xfrm>
          <a:prstGeom prst="rect">
            <a:avLst/>
          </a:prstGeom>
          <a:noFill/>
        </p:spPr>
        <p:txBody>
          <a:bodyPr wrap="square">
            <a:spAutoFit/>
          </a:bodyPr>
          <a:lstStyle/>
          <a:p>
            <a:pPr algn="r">
              <a:defRPr sz="2600" b="1">
                <a:solidFill>
                  <a:srgbClr val="0A2540"/>
                </a:solidFill>
                <a:latin typeface="Arial"/>
              </a:defRPr>
            </a:pPr>
            <a:r>
              <a:rPr lang="ar-EG" noProof="1">
                <a:solidFill>
                  <a:schemeClr val="bg1"/>
                </a:solidFill>
              </a:rPr>
              <a:t>المحاور الرئيسية لمعايير خطة التحسين</a:t>
            </a:r>
          </a:p>
        </p:txBody>
      </p:sp>
      <p:sp>
        <p:nvSpPr>
          <p:cNvPr id="3" name="Rounded Rectangle 2"/>
          <p:cNvSpPr/>
          <p:nvPr/>
        </p:nvSpPr>
        <p:spPr>
          <a:xfrm>
            <a:off x="8192284" y="1828800"/>
            <a:ext cx="3200400" cy="4114800"/>
          </a:xfrm>
          <a:prstGeom prst="roundRect">
            <a:avLst/>
          </a:prstGeom>
          <a:solidFill>
            <a:srgbClr val="F4F6F8"/>
          </a:solidFill>
          <a:ln w="38100">
            <a:solidFill>
              <a:srgbClr val="D9534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r">
              <a:defRPr sz="2400" b="1">
                <a:solidFill>
                  <a:srgbClr val="D9534F"/>
                </a:solidFill>
                <a:latin typeface="Arial"/>
              </a:defRPr>
            </a:pPr>
            <a:r>
              <a:rPr lang="ar-EG" noProof="1"/>
              <a:t>🟥 </a:t>
            </a:r>
            <a:r>
              <a:rPr lang="ar-EG" noProof="1">
                <a:solidFill>
                  <a:srgbClr val="C00000"/>
                </a:solidFill>
              </a:rPr>
              <a:t>التخطيط</a:t>
            </a:r>
          </a:p>
          <a:p>
            <a:endParaRPr lang="ar-EG" noProof="1"/>
          </a:p>
          <a:p>
            <a:pPr algn="r">
              <a:defRPr sz="1600">
                <a:solidFill>
                  <a:srgbClr val="1E293B"/>
                </a:solidFill>
                <a:latin typeface="Arial"/>
              </a:defRPr>
            </a:pPr>
            <a:r>
              <a:rPr lang="ar-EG" sz="2000" noProof="1">
                <a:solidFill>
                  <a:schemeClr val="tx1"/>
                </a:solidFill>
              </a:rPr>
              <a:t>يضمن التأسيس الصحيح عبر التشخيص الدقيق وصياغة الأهداف الواقعية والمرتبطة بمؤشرات الأداء.</a:t>
            </a:r>
          </a:p>
        </p:txBody>
      </p:sp>
      <p:sp>
        <p:nvSpPr>
          <p:cNvPr id="4" name="Rounded Rectangle 3"/>
          <p:cNvSpPr/>
          <p:nvPr/>
        </p:nvSpPr>
        <p:spPr>
          <a:xfrm>
            <a:off x="4480560" y="1828800"/>
            <a:ext cx="3200400" cy="4114800"/>
          </a:xfrm>
          <a:prstGeom prst="roundRect">
            <a:avLst/>
          </a:prstGeom>
          <a:solidFill>
            <a:srgbClr val="F4F6F8"/>
          </a:solidFill>
          <a:ln w="38100">
            <a:solidFill>
              <a:srgbClr val="00A676"/>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r">
              <a:defRPr sz="2400" b="1">
                <a:solidFill>
                  <a:srgbClr val="00A676"/>
                </a:solidFill>
                <a:latin typeface="Arial"/>
              </a:defRPr>
            </a:pPr>
            <a:r>
              <a:rPr lang="ar-EG" noProof="1"/>
              <a:t>🟩 </a:t>
            </a:r>
            <a:r>
              <a:rPr lang="ar-EG" noProof="1">
                <a:solidFill>
                  <a:srgbClr val="92D050"/>
                </a:solidFill>
              </a:rPr>
              <a:t>التنفيذ</a:t>
            </a:r>
          </a:p>
          <a:p>
            <a:endParaRPr lang="ar-EG" noProof="1"/>
          </a:p>
          <a:p>
            <a:pPr algn="r">
              <a:defRPr sz="1600">
                <a:solidFill>
                  <a:srgbClr val="1E293B"/>
                </a:solidFill>
                <a:latin typeface="Arial"/>
              </a:defRPr>
            </a:pPr>
            <a:r>
              <a:rPr lang="ar-EG" sz="2000" noProof="1">
                <a:solidFill>
                  <a:schemeClr val="tx1"/>
                </a:solidFill>
              </a:rPr>
              <a:t>يتضمن تحديد الإجراءات العملية وتوفير الموارد وتوزيع المسؤوليات والجداول الزمنية.</a:t>
            </a:r>
          </a:p>
        </p:txBody>
      </p:sp>
      <p:sp>
        <p:nvSpPr>
          <p:cNvPr id="5" name="Rounded Rectangle 4"/>
          <p:cNvSpPr/>
          <p:nvPr/>
        </p:nvSpPr>
        <p:spPr>
          <a:xfrm>
            <a:off x="799316" y="1828800"/>
            <a:ext cx="3200400" cy="4114800"/>
          </a:xfrm>
          <a:prstGeom prst="roundRect">
            <a:avLst/>
          </a:prstGeom>
          <a:solidFill>
            <a:srgbClr val="F4F6F8"/>
          </a:solidFill>
          <a:ln w="38100">
            <a:solidFill>
              <a:srgbClr val="005B96"/>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r">
              <a:defRPr sz="2400" b="1">
                <a:solidFill>
                  <a:srgbClr val="005B96"/>
                </a:solidFill>
                <a:latin typeface="Arial"/>
              </a:defRPr>
            </a:pPr>
            <a:r>
              <a:rPr lang="ar-EG" noProof="1"/>
              <a:t>🟦 </a:t>
            </a:r>
            <a:r>
              <a:rPr lang="ar-EG" noProof="1">
                <a:solidFill>
                  <a:schemeClr val="accent1">
                    <a:lumMod val="75000"/>
                  </a:schemeClr>
                </a:solidFill>
              </a:rPr>
              <a:t>المتابعة</a:t>
            </a:r>
          </a:p>
          <a:p>
            <a:endParaRPr lang="ar-EG" noProof="1"/>
          </a:p>
          <a:p>
            <a:pPr algn="r">
              <a:defRPr sz="1600">
                <a:solidFill>
                  <a:srgbClr val="1E293B"/>
                </a:solidFill>
                <a:latin typeface="Arial"/>
              </a:defRPr>
            </a:pPr>
            <a:r>
              <a:rPr lang="ar-EG" sz="2000" noProof="1">
                <a:solidFill>
                  <a:schemeClr val="tx1"/>
                </a:solidFill>
              </a:rPr>
              <a:t>يضمن الاستمرارية من خلال قياس الأثر، تقويم الأداء، وإدارة المخاطر لمعالجة التحديات.</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ircle(in)">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1345" y="956174"/>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أولاً: وضوح المشكلة أو فرصة التحسين</a:t>
            </a:r>
          </a:p>
        </p:txBody>
      </p:sp>
      <p:sp>
        <p:nvSpPr>
          <p:cNvPr id="3" name="Rounded Rectangle 2"/>
          <p:cNvSpPr/>
          <p:nvPr/>
        </p:nvSpPr>
        <p:spPr>
          <a:xfrm>
            <a:off x="731520" y="1828800"/>
            <a:ext cx="5029200" cy="4114800"/>
          </a:xfrm>
          <a:prstGeom prst="roundRect">
            <a:avLst/>
          </a:prstGeom>
          <a:solidFill>
            <a:srgbClr val="F4F6F8"/>
          </a:solidFill>
          <a:ln w="19050">
            <a:solidFill>
              <a:srgbClr val="005B96"/>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a:lnSpc>
                <a:spcPct val="150000"/>
              </a:lnSpc>
              <a:defRPr sz="2000" b="1">
                <a:solidFill>
                  <a:srgbClr val="0A2540"/>
                </a:solidFill>
                <a:latin typeface="Arial"/>
              </a:defRPr>
            </a:pPr>
            <a:r>
              <a:rPr lang="ar-EG" sz="2200" noProof="1">
                <a:solidFill>
                  <a:schemeClr val="tx2">
                    <a:lumMod val="50000"/>
                  </a:schemeClr>
                </a:solidFill>
              </a:rPr>
              <a:t>🔍 : أسئلة التشخيص الأساسية</a:t>
            </a:r>
          </a:p>
          <a:p>
            <a:pPr algn="r">
              <a:lnSpc>
                <a:spcPct val="150000"/>
              </a:lnSpc>
              <a:defRPr sz="1600">
                <a:solidFill>
                  <a:srgbClr val="1E293B"/>
                </a:solidFill>
                <a:latin typeface="Arial"/>
              </a:defRPr>
            </a:pPr>
            <a:r>
              <a:rPr lang="ar-EG" sz="2000" noProof="1">
                <a:solidFill>
                  <a:schemeClr val="tx1"/>
                </a:solidFill>
              </a:rPr>
              <a:t>ما المشكلة؟</a:t>
            </a:r>
          </a:p>
          <a:p>
            <a:pPr algn="r">
              <a:lnSpc>
                <a:spcPct val="150000"/>
              </a:lnSpc>
              <a:defRPr sz="1600">
                <a:solidFill>
                  <a:srgbClr val="1E293B"/>
                </a:solidFill>
                <a:latin typeface="Arial"/>
              </a:defRPr>
            </a:pPr>
            <a:r>
              <a:rPr lang="ar-EG" sz="2000" noProof="1">
                <a:solidFill>
                  <a:schemeClr val="tx1"/>
                </a:solidFill>
              </a:rPr>
              <a:t>أين تقع المشكلة بدقة؟</a:t>
            </a:r>
          </a:p>
          <a:p>
            <a:pPr algn="r">
              <a:lnSpc>
                <a:spcPct val="150000"/>
              </a:lnSpc>
              <a:defRPr sz="1600">
                <a:solidFill>
                  <a:srgbClr val="1E293B"/>
                </a:solidFill>
                <a:latin typeface="Arial"/>
              </a:defRPr>
            </a:pPr>
            <a:r>
              <a:rPr lang="ar-EG" sz="2000" noProof="1">
                <a:solidFill>
                  <a:schemeClr val="tx1"/>
                </a:solidFill>
              </a:rPr>
              <a:t>ما حجم المشكلة بالأرقام؟</a:t>
            </a:r>
          </a:p>
          <a:p>
            <a:pPr algn="r">
              <a:lnSpc>
                <a:spcPct val="150000"/>
              </a:lnSpc>
              <a:defRPr sz="1600">
                <a:solidFill>
                  <a:srgbClr val="1E293B"/>
                </a:solidFill>
                <a:latin typeface="Arial"/>
              </a:defRPr>
            </a:pPr>
            <a:r>
              <a:rPr lang="ar-EG" sz="2000" noProof="1">
                <a:solidFill>
                  <a:schemeClr val="tx1"/>
                </a:solidFill>
              </a:rPr>
              <a:t>ما أثر المشكلة على نواتج التعلم؟</a:t>
            </a:r>
          </a:p>
        </p:txBody>
      </p:sp>
      <p:sp>
        <p:nvSpPr>
          <p:cNvPr id="4" name="Rounded Rectangle 3"/>
          <p:cNvSpPr/>
          <p:nvPr/>
        </p:nvSpPr>
        <p:spPr>
          <a:xfrm>
            <a:off x="6217920" y="1828800"/>
            <a:ext cx="5212080" cy="1828800"/>
          </a:xfrm>
          <a:prstGeom prst="roundRect">
            <a:avLst/>
          </a:prstGeom>
          <a:solidFill>
            <a:srgbClr val="FEF2F2"/>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a:lnSpc>
                <a:spcPct val="150000"/>
              </a:lnSpc>
              <a:defRPr sz="1800" b="1">
                <a:solidFill>
                  <a:srgbClr val="D9534F"/>
                </a:solidFill>
                <a:latin typeface="Arial"/>
              </a:defRPr>
            </a:pPr>
            <a:r>
              <a:rPr lang="ar-EG" sz="2200" noProof="1">
                <a:solidFill>
                  <a:srgbClr val="FF0000"/>
                </a:solidFill>
              </a:rPr>
              <a:t>❌ صياغة عامة غير واضحة :</a:t>
            </a:r>
          </a:p>
          <a:p>
            <a:pPr algn="r">
              <a:lnSpc>
                <a:spcPct val="150000"/>
              </a:lnSpc>
              <a:defRPr sz="1600">
                <a:solidFill>
                  <a:srgbClr val="1E293B"/>
                </a:solidFill>
                <a:latin typeface="Arial"/>
              </a:defRPr>
            </a:pPr>
            <a:r>
              <a:rPr lang="ar-EG" sz="2000" noProof="1">
                <a:solidFill>
                  <a:schemeClr val="tx1"/>
                </a:solidFill>
              </a:rPr>
              <a:t>"انخفاض النتائج في المدرسة."</a:t>
            </a:r>
          </a:p>
        </p:txBody>
      </p:sp>
      <p:sp>
        <p:nvSpPr>
          <p:cNvPr id="5" name="Rounded Rectangle 4"/>
          <p:cNvSpPr/>
          <p:nvPr/>
        </p:nvSpPr>
        <p:spPr>
          <a:xfrm>
            <a:off x="6217920" y="4114800"/>
            <a:ext cx="5212080" cy="1828800"/>
          </a:xfrm>
          <a:prstGeom prst="roundRect">
            <a:avLst/>
          </a:prstGeom>
          <a:solidFill>
            <a:srgbClr val="ECFDF5"/>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lnSpc>
                <a:spcPct val="150000"/>
              </a:lnSpc>
              <a:defRPr sz="1800" b="1">
                <a:solidFill>
                  <a:srgbClr val="00A676"/>
                </a:solidFill>
                <a:latin typeface="Arial"/>
              </a:defRPr>
            </a:pPr>
            <a:r>
              <a:rPr lang="ar-EG" sz="2200" noProof="1">
                <a:solidFill>
                  <a:srgbClr val="00B050"/>
                </a:solidFill>
              </a:rPr>
              <a:t>✔ : صياغة دقيقة ومحددة </a:t>
            </a:r>
          </a:p>
          <a:p>
            <a:pPr algn="r" rtl="1">
              <a:lnSpc>
                <a:spcPct val="150000"/>
              </a:lnSpc>
              <a:defRPr sz="1600">
                <a:solidFill>
                  <a:srgbClr val="1E293B"/>
                </a:solidFill>
                <a:latin typeface="Arial"/>
              </a:defRPr>
            </a:pPr>
            <a:r>
              <a:rPr lang="ar-EG" sz="2000" noProof="1">
                <a:solidFill>
                  <a:schemeClr val="tx1"/>
                </a:solidFill>
              </a:rPr>
              <a:t>" انخفاض نسبة إتقان الطلبة لمهارات القراءة من ٪ 72إلى 54٪."</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fltVal val="0"/>
                                          </p:val>
                                        </p:tav>
                                        <p:tav tm="100000">
                                          <p:val>
                                            <p:strVal val="#ppt_h"/>
                                          </p:val>
                                        </p:tav>
                                      </p:tavLst>
                                    </p:anim>
                                    <p:anim calcmode="lin" valueType="num">
                                      <p:cBhvr>
                                        <p:cTn id="9" dur="1750" fill="hold"/>
                                        <p:tgtEl>
                                          <p:spTgt spid="2"/>
                                        </p:tgtEl>
                                        <p:attrNameLst>
                                          <p:attrName>style.rotation</p:attrName>
                                        </p:attrNameLst>
                                      </p:cBhvr>
                                      <p:tavLst>
                                        <p:tav tm="0">
                                          <p:val>
                                            <p:fltVal val="90"/>
                                          </p:val>
                                        </p:tav>
                                        <p:tav tm="100000">
                                          <p:val>
                                            <p:fltVal val="0"/>
                                          </p:val>
                                        </p:tav>
                                      </p:tavLst>
                                    </p:anim>
                                    <p:animEffect transition="in" filter="fade">
                                      <p:cBhvr>
                                        <p:cTn id="10" dur="1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750" fill="hold"/>
                                        <p:tgtEl>
                                          <p:spTgt spid="3"/>
                                        </p:tgtEl>
                                        <p:attrNameLst>
                                          <p:attrName>ppt_w</p:attrName>
                                        </p:attrNameLst>
                                      </p:cBhvr>
                                      <p:tavLst>
                                        <p:tav tm="0">
                                          <p:val>
                                            <p:fltVal val="0"/>
                                          </p:val>
                                        </p:tav>
                                        <p:tav tm="100000">
                                          <p:val>
                                            <p:strVal val="#ppt_w"/>
                                          </p:val>
                                        </p:tav>
                                      </p:tavLst>
                                    </p:anim>
                                    <p:anim calcmode="lin" valueType="num">
                                      <p:cBhvr>
                                        <p:cTn id="14" dur="1750" fill="hold"/>
                                        <p:tgtEl>
                                          <p:spTgt spid="3"/>
                                        </p:tgtEl>
                                        <p:attrNameLst>
                                          <p:attrName>ppt_h</p:attrName>
                                        </p:attrNameLst>
                                      </p:cBhvr>
                                      <p:tavLst>
                                        <p:tav tm="0">
                                          <p:val>
                                            <p:fltVal val="0"/>
                                          </p:val>
                                        </p:tav>
                                        <p:tav tm="100000">
                                          <p:val>
                                            <p:strVal val="#ppt_h"/>
                                          </p:val>
                                        </p:tav>
                                      </p:tavLst>
                                    </p:anim>
                                    <p:anim calcmode="lin" valueType="num">
                                      <p:cBhvr>
                                        <p:cTn id="15" dur="1750" fill="hold"/>
                                        <p:tgtEl>
                                          <p:spTgt spid="3"/>
                                        </p:tgtEl>
                                        <p:attrNameLst>
                                          <p:attrName>style.rotation</p:attrName>
                                        </p:attrNameLst>
                                      </p:cBhvr>
                                      <p:tavLst>
                                        <p:tav tm="0">
                                          <p:val>
                                            <p:fltVal val="90"/>
                                          </p:val>
                                        </p:tav>
                                        <p:tav tm="100000">
                                          <p:val>
                                            <p:fltVal val="0"/>
                                          </p:val>
                                        </p:tav>
                                      </p:tavLst>
                                    </p:anim>
                                    <p:animEffect transition="in" filter="fade">
                                      <p:cBhvr>
                                        <p:cTn id="16" dur="1750"/>
                                        <p:tgtEl>
                                          <p:spTgt spid="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750" fill="hold"/>
                                        <p:tgtEl>
                                          <p:spTgt spid="4"/>
                                        </p:tgtEl>
                                        <p:attrNameLst>
                                          <p:attrName>ppt_w</p:attrName>
                                        </p:attrNameLst>
                                      </p:cBhvr>
                                      <p:tavLst>
                                        <p:tav tm="0">
                                          <p:val>
                                            <p:fltVal val="0"/>
                                          </p:val>
                                        </p:tav>
                                        <p:tav tm="100000">
                                          <p:val>
                                            <p:strVal val="#ppt_w"/>
                                          </p:val>
                                        </p:tav>
                                      </p:tavLst>
                                    </p:anim>
                                    <p:anim calcmode="lin" valueType="num">
                                      <p:cBhvr>
                                        <p:cTn id="20" dur="1750" fill="hold"/>
                                        <p:tgtEl>
                                          <p:spTgt spid="4"/>
                                        </p:tgtEl>
                                        <p:attrNameLst>
                                          <p:attrName>ppt_h</p:attrName>
                                        </p:attrNameLst>
                                      </p:cBhvr>
                                      <p:tavLst>
                                        <p:tav tm="0">
                                          <p:val>
                                            <p:fltVal val="0"/>
                                          </p:val>
                                        </p:tav>
                                        <p:tav tm="100000">
                                          <p:val>
                                            <p:strVal val="#ppt_h"/>
                                          </p:val>
                                        </p:tav>
                                      </p:tavLst>
                                    </p:anim>
                                    <p:anim calcmode="lin" valueType="num">
                                      <p:cBhvr>
                                        <p:cTn id="21" dur="1750" fill="hold"/>
                                        <p:tgtEl>
                                          <p:spTgt spid="4"/>
                                        </p:tgtEl>
                                        <p:attrNameLst>
                                          <p:attrName>style.rotation</p:attrName>
                                        </p:attrNameLst>
                                      </p:cBhvr>
                                      <p:tavLst>
                                        <p:tav tm="0">
                                          <p:val>
                                            <p:fltVal val="90"/>
                                          </p:val>
                                        </p:tav>
                                        <p:tav tm="100000">
                                          <p:val>
                                            <p:fltVal val="0"/>
                                          </p:val>
                                        </p:tav>
                                      </p:tavLst>
                                    </p:anim>
                                    <p:animEffect transition="in" filter="fade">
                                      <p:cBhvr>
                                        <p:cTn id="22" dur="1750"/>
                                        <p:tgtEl>
                                          <p:spTgt spid="4"/>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750" fill="hold"/>
                                        <p:tgtEl>
                                          <p:spTgt spid="5"/>
                                        </p:tgtEl>
                                        <p:attrNameLst>
                                          <p:attrName>ppt_w</p:attrName>
                                        </p:attrNameLst>
                                      </p:cBhvr>
                                      <p:tavLst>
                                        <p:tav tm="0">
                                          <p:val>
                                            <p:fltVal val="0"/>
                                          </p:val>
                                        </p:tav>
                                        <p:tav tm="100000">
                                          <p:val>
                                            <p:strVal val="#ppt_w"/>
                                          </p:val>
                                        </p:tav>
                                      </p:tavLst>
                                    </p:anim>
                                    <p:anim calcmode="lin" valueType="num">
                                      <p:cBhvr>
                                        <p:cTn id="26" dur="1750" fill="hold"/>
                                        <p:tgtEl>
                                          <p:spTgt spid="5"/>
                                        </p:tgtEl>
                                        <p:attrNameLst>
                                          <p:attrName>ppt_h</p:attrName>
                                        </p:attrNameLst>
                                      </p:cBhvr>
                                      <p:tavLst>
                                        <p:tav tm="0">
                                          <p:val>
                                            <p:fltVal val="0"/>
                                          </p:val>
                                        </p:tav>
                                        <p:tav tm="100000">
                                          <p:val>
                                            <p:strVal val="#ppt_h"/>
                                          </p:val>
                                        </p:tav>
                                      </p:tavLst>
                                    </p:anim>
                                    <p:anim calcmode="lin" valueType="num">
                                      <p:cBhvr>
                                        <p:cTn id="27" dur="1750" fill="hold"/>
                                        <p:tgtEl>
                                          <p:spTgt spid="5"/>
                                        </p:tgtEl>
                                        <p:attrNameLst>
                                          <p:attrName>style.rotation</p:attrName>
                                        </p:attrNameLst>
                                      </p:cBhvr>
                                      <p:tavLst>
                                        <p:tav tm="0">
                                          <p:val>
                                            <p:fltVal val="90"/>
                                          </p:val>
                                        </p:tav>
                                        <p:tav tm="100000">
                                          <p:val>
                                            <p:fltVal val="0"/>
                                          </p:val>
                                        </p:tav>
                                      </p:tavLst>
                                    </p:anim>
                                    <p:animEffect transition="in" filter="fade">
                                      <p:cBhvr>
                                        <p:cTn id="28"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1345" y="1107757"/>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ثانياً: أهداف قابلة للقياس (SMART)</a:t>
            </a:r>
          </a:p>
        </p:txBody>
      </p:sp>
      <p:sp>
        <p:nvSpPr>
          <p:cNvPr id="3" name="Oval 2"/>
          <p:cNvSpPr/>
          <p:nvPr/>
        </p:nvSpPr>
        <p:spPr>
          <a:xfrm>
            <a:off x="731520" y="1828800"/>
            <a:ext cx="1920240" cy="1920240"/>
          </a:xfrm>
          <a:prstGeom prst="ellipse">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Arial"/>
              </a:defRPr>
            </a:pPr>
            <a:r>
              <a:rPr lang="ar-EG" sz="5400" noProof="1"/>
              <a:t>S</a:t>
            </a:r>
          </a:p>
          <a:p>
            <a:pPr algn="ctr">
              <a:defRPr sz="1200">
                <a:solidFill>
                  <a:srgbClr val="FFFFFF"/>
                </a:solidFill>
                <a:latin typeface="Arial"/>
              </a:defRPr>
            </a:pPr>
            <a:r>
              <a:rPr lang="ar-EG" sz="1600" noProof="1"/>
              <a:t>محدد</a:t>
            </a:r>
            <a:br>
              <a:rPr lang="ar-EG" sz="1600" noProof="1"/>
            </a:br>
            <a:r>
              <a:rPr lang="ar-EG" sz="1600" noProof="1"/>
              <a:t>Specific</a:t>
            </a:r>
          </a:p>
        </p:txBody>
      </p:sp>
      <p:sp>
        <p:nvSpPr>
          <p:cNvPr id="4" name="Oval 3"/>
          <p:cNvSpPr/>
          <p:nvPr/>
        </p:nvSpPr>
        <p:spPr>
          <a:xfrm>
            <a:off x="2926080" y="1828800"/>
            <a:ext cx="1920240" cy="1920240"/>
          </a:xfrm>
          <a:prstGeom prst="ellipse">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Arial"/>
              </a:defRPr>
            </a:pPr>
            <a:r>
              <a:rPr lang="ar-EG" sz="5400" noProof="1"/>
              <a:t>M</a:t>
            </a:r>
          </a:p>
          <a:p>
            <a:pPr algn="ctr">
              <a:defRPr sz="1200">
                <a:solidFill>
                  <a:srgbClr val="FFFFFF"/>
                </a:solidFill>
                <a:latin typeface="Arial"/>
              </a:defRPr>
            </a:pPr>
            <a:r>
              <a:rPr lang="ar-EG" sz="1600" noProof="1"/>
              <a:t>قابل للقياس</a:t>
            </a:r>
            <a:br>
              <a:rPr lang="ar-EG" sz="1600" noProof="1"/>
            </a:br>
            <a:r>
              <a:rPr lang="ar-EG" sz="1600" noProof="1"/>
              <a:t>Measurable</a:t>
            </a:r>
          </a:p>
        </p:txBody>
      </p:sp>
      <p:sp>
        <p:nvSpPr>
          <p:cNvPr id="5" name="Oval 4"/>
          <p:cNvSpPr/>
          <p:nvPr/>
        </p:nvSpPr>
        <p:spPr>
          <a:xfrm>
            <a:off x="5120640" y="1828800"/>
            <a:ext cx="1920240" cy="1920240"/>
          </a:xfrm>
          <a:prstGeom prst="ellipse">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Arial"/>
              </a:defRPr>
            </a:pPr>
            <a:r>
              <a:rPr lang="ar-EG" sz="5400" noProof="1"/>
              <a:t>A</a:t>
            </a:r>
          </a:p>
          <a:p>
            <a:pPr algn="ctr">
              <a:defRPr sz="1200">
                <a:solidFill>
                  <a:srgbClr val="FFFFFF"/>
                </a:solidFill>
                <a:latin typeface="Arial"/>
              </a:defRPr>
            </a:pPr>
            <a:r>
              <a:rPr lang="ar-EG" sz="1600" noProof="1"/>
              <a:t>قابل للتحقيق</a:t>
            </a:r>
            <a:br>
              <a:rPr lang="ar-EG" sz="1600" noProof="1"/>
            </a:br>
            <a:r>
              <a:rPr lang="ar-EG" sz="1600" noProof="1"/>
              <a:t>Achievable</a:t>
            </a:r>
          </a:p>
        </p:txBody>
      </p:sp>
      <p:sp>
        <p:nvSpPr>
          <p:cNvPr id="6" name="Oval 5"/>
          <p:cNvSpPr/>
          <p:nvPr/>
        </p:nvSpPr>
        <p:spPr>
          <a:xfrm>
            <a:off x="7315199" y="1828800"/>
            <a:ext cx="1920240" cy="1920240"/>
          </a:xfrm>
          <a:prstGeom prst="ellipse">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Arial"/>
              </a:defRPr>
            </a:pPr>
            <a:r>
              <a:rPr lang="ar-EG" sz="5400" noProof="1"/>
              <a:t>R</a:t>
            </a:r>
          </a:p>
          <a:p>
            <a:pPr algn="ctr">
              <a:defRPr sz="1200">
                <a:solidFill>
                  <a:srgbClr val="FFFFFF"/>
                </a:solidFill>
                <a:latin typeface="Arial"/>
              </a:defRPr>
            </a:pPr>
            <a:r>
              <a:rPr lang="ar-EG" sz="1600" noProof="1"/>
              <a:t>مرتبط بالواقع</a:t>
            </a:r>
            <a:br>
              <a:rPr lang="ar-EG" sz="1600" noProof="1"/>
            </a:br>
            <a:r>
              <a:rPr lang="ar-EG" sz="1600" noProof="1"/>
              <a:t>Relevant</a:t>
            </a:r>
          </a:p>
        </p:txBody>
      </p:sp>
      <p:sp>
        <p:nvSpPr>
          <p:cNvPr id="7" name="Oval 6"/>
          <p:cNvSpPr/>
          <p:nvPr/>
        </p:nvSpPr>
        <p:spPr>
          <a:xfrm>
            <a:off x="9509760" y="1828800"/>
            <a:ext cx="1920240" cy="1920240"/>
          </a:xfrm>
          <a:prstGeom prst="ellipse">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Arial"/>
              </a:defRPr>
            </a:pPr>
            <a:r>
              <a:rPr lang="ar-EG" sz="5400" noProof="1"/>
              <a:t>T</a:t>
            </a:r>
          </a:p>
          <a:p>
            <a:pPr algn="ctr">
              <a:defRPr sz="1200">
                <a:solidFill>
                  <a:srgbClr val="FFFFFF"/>
                </a:solidFill>
                <a:latin typeface="Arial"/>
              </a:defRPr>
            </a:pPr>
            <a:r>
              <a:rPr lang="ar-EG" sz="1600" noProof="1"/>
              <a:t>محدد بزمن</a:t>
            </a:r>
            <a:br>
              <a:rPr lang="ar-EG" sz="1600" noProof="1"/>
            </a:br>
            <a:r>
              <a:rPr lang="ar-EG" sz="1600" noProof="1"/>
              <a:t>Time-bound</a:t>
            </a:r>
          </a:p>
        </p:txBody>
      </p:sp>
      <p:sp>
        <p:nvSpPr>
          <p:cNvPr id="8" name="Rounded Rectangle 7"/>
          <p:cNvSpPr/>
          <p:nvPr/>
        </p:nvSpPr>
        <p:spPr>
          <a:xfrm>
            <a:off x="1371600" y="4206240"/>
            <a:ext cx="9448495" cy="1645920"/>
          </a:xfrm>
          <a:prstGeom prst="roundRect">
            <a:avLst/>
          </a:prstGeom>
          <a:solidFill>
            <a:srgbClr val="F4F6F8"/>
          </a:solidFill>
          <a:ln w="2540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lnSpc>
                <a:spcPct val="150000"/>
              </a:lnSpc>
              <a:defRPr sz="1800" b="1">
                <a:solidFill>
                  <a:srgbClr val="00A676"/>
                </a:solidFill>
                <a:latin typeface="Arial"/>
              </a:defRPr>
            </a:pPr>
            <a:r>
              <a:rPr lang="ar-EG" sz="2400" noProof="1">
                <a:solidFill>
                  <a:srgbClr val="00B050"/>
                </a:solidFill>
              </a:rPr>
              <a:t>🎯 مثال لتطبيق الهدف الذكي:</a:t>
            </a:r>
          </a:p>
          <a:p>
            <a:pPr algn="ctr" rtl="1">
              <a:lnSpc>
                <a:spcPct val="150000"/>
              </a:lnSpc>
              <a:defRPr sz="1600" b="1">
                <a:solidFill>
                  <a:srgbClr val="1E293B"/>
                </a:solidFill>
                <a:latin typeface="Arial"/>
              </a:defRPr>
            </a:pPr>
            <a:r>
              <a:rPr lang="ar-EG" noProof="1">
                <a:solidFill>
                  <a:schemeClr val="tx1"/>
                </a:solidFill>
              </a:rPr>
              <a:t>رفع نسبة إتقان الطلبة لمهارات القراءة من . 54% إلى . 80% ⬅️ بنهاية الفصل الدراسي الثاني.</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25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125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1250"/>
                                        <p:tgtEl>
                                          <p:spTgt spid="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1250"/>
                                        <p:tgtEl>
                                          <p:spTgt spid="5"/>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1250"/>
                                        <p:tgtEl>
                                          <p:spTgt spid="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1250"/>
                                        <p:tgtEl>
                                          <p:spTgt spid="7"/>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952" y="886506"/>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ثالثاً: ارتباط الأهداف بمؤشرات الأداء</a:t>
            </a:r>
          </a:p>
        </p:txBody>
      </p:sp>
      <p:sp>
        <p:nvSpPr>
          <p:cNvPr id="3" name="Rounded Rectangle 2"/>
          <p:cNvSpPr/>
          <p:nvPr/>
        </p:nvSpPr>
        <p:spPr>
          <a:xfrm>
            <a:off x="9021927" y="1973309"/>
            <a:ext cx="2011680" cy="13716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rPr lang="ar-EG" noProof="1"/>
              <a:t>المعيار</a:t>
            </a:r>
          </a:p>
        </p:txBody>
      </p:sp>
      <p:sp>
        <p:nvSpPr>
          <p:cNvPr id="4" name="TextBox 3"/>
          <p:cNvSpPr txBox="1"/>
          <p:nvPr/>
        </p:nvSpPr>
        <p:spPr>
          <a:xfrm>
            <a:off x="3108960" y="2377440"/>
            <a:ext cx="548640" cy="731520"/>
          </a:xfrm>
          <a:prstGeom prst="rect">
            <a:avLst/>
          </a:prstGeom>
          <a:noFill/>
        </p:spPr>
        <p:txBody>
          <a:bodyPr wrap="none">
            <a:spAutoFit/>
          </a:bodyPr>
          <a:lstStyle/>
          <a:p>
            <a:pPr algn="ctr">
              <a:defRPr sz="2000"/>
            </a:pPr>
            <a:r>
              <a:rPr lang="ar-EG" noProof="1"/>
              <a:t>⬅️</a:t>
            </a:r>
          </a:p>
        </p:txBody>
      </p:sp>
      <p:sp>
        <p:nvSpPr>
          <p:cNvPr id="5" name="Rounded Rectangle 4"/>
          <p:cNvSpPr/>
          <p:nvPr/>
        </p:nvSpPr>
        <p:spPr>
          <a:xfrm>
            <a:off x="6143922" y="1903859"/>
            <a:ext cx="2011680" cy="137160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rPr lang="ar-EG" noProof="1"/>
              <a:t>المؤشر</a:t>
            </a:r>
          </a:p>
        </p:txBody>
      </p:sp>
      <p:sp>
        <p:nvSpPr>
          <p:cNvPr id="6" name="TextBox 5"/>
          <p:cNvSpPr txBox="1"/>
          <p:nvPr/>
        </p:nvSpPr>
        <p:spPr>
          <a:xfrm>
            <a:off x="5669280" y="2377440"/>
            <a:ext cx="548640" cy="731520"/>
          </a:xfrm>
          <a:prstGeom prst="rect">
            <a:avLst/>
          </a:prstGeom>
          <a:noFill/>
        </p:spPr>
        <p:txBody>
          <a:bodyPr wrap="none">
            <a:spAutoFit/>
          </a:bodyPr>
          <a:lstStyle/>
          <a:p>
            <a:pPr algn="ctr">
              <a:defRPr sz="2000"/>
            </a:pPr>
            <a:r>
              <a:rPr lang="ar-EG" noProof="1"/>
              <a:t>⬅️</a:t>
            </a:r>
          </a:p>
        </p:txBody>
      </p:sp>
      <p:sp>
        <p:nvSpPr>
          <p:cNvPr id="7" name="Rounded Rectangle 6"/>
          <p:cNvSpPr/>
          <p:nvPr/>
        </p:nvSpPr>
        <p:spPr>
          <a:xfrm>
            <a:off x="3631287" y="1903859"/>
            <a:ext cx="2011680" cy="13716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rPr lang="ar-EG" noProof="1"/>
              <a:t>الهدف</a:t>
            </a:r>
          </a:p>
        </p:txBody>
      </p:sp>
      <p:sp>
        <p:nvSpPr>
          <p:cNvPr id="8" name="TextBox 7"/>
          <p:cNvSpPr txBox="1"/>
          <p:nvPr/>
        </p:nvSpPr>
        <p:spPr>
          <a:xfrm>
            <a:off x="8229600" y="2377440"/>
            <a:ext cx="548640" cy="731520"/>
          </a:xfrm>
          <a:prstGeom prst="rect">
            <a:avLst/>
          </a:prstGeom>
          <a:noFill/>
        </p:spPr>
        <p:txBody>
          <a:bodyPr wrap="none">
            <a:spAutoFit/>
          </a:bodyPr>
          <a:lstStyle/>
          <a:p>
            <a:pPr algn="ctr">
              <a:defRPr sz="2000"/>
            </a:pPr>
            <a:r>
              <a:rPr lang="ar-EG" noProof="1"/>
              <a:t>⬅️</a:t>
            </a:r>
          </a:p>
        </p:txBody>
      </p:sp>
      <p:sp>
        <p:nvSpPr>
          <p:cNvPr id="9" name="Rounded Rectangle 8"/>
          <p:cNvSpPr/>
          <p:nvPr/>
        </p:nvSpPr>
        <p:spPr>
          <a:xfrm>
            <a:off x="914400" y="1806810"/>
            <a:ext cx="2011680" cy="137160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rPr lang="ar-EG" noProof="1"/>
              <a:t>المبادرة</a:t>
            </a:r>
          </a:p>
        </p:txBody>
      </p:sp>
      <p:sp>
        <p:nvSpPr>
          <p:cNvPr id="10" name="Rectangle 9"/>
          <p:cNvSpPr/>
          <p:nvPr/>
        </p:nvSpPr>
        <p:spPr>
          <a:xfrm>
            <a:off x="731520" y="4389120"/>
            <a:ext cx="10728655" cy="1371600"/>
          </a:xfrm>
          <a:prstGeom prst="rect">
            <a:avLst/>
          </a:prstGeom>
          <a:solidFill>
            <a:srgbClr val="00A67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Arial"/>
              </a:defRPr>
            </a:pPr>
            <a:r>
              <a:rPr lang="ar-EG" noProof="1"/>
              <a:t>💡 القاعدة القيادية الذهبية:</a:t>
            </a:r>
            <a:br>
              <a:rPr lang="ar-EG" noProof="1"/>
            </a:br>
            <a:r>
              <a:rPr lang="ar-EG" noProof="1"/>
              <a:t>"كل هدف في خطة التحسين يجب أن يخدم مؤشراً محددًا بشكل مباشر."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0-#ppt_w/2"/>
                                          </p:val>
                                        </p:tav>
                                        <p:tav tm="100000">
                                          <p:val>
                                            <p:strVal val="#ppt_x"/>
                                          </p:val>
                                        </p:tav>
                                      </p:tavLst>
                                    </p:anim>
                                    <p:anim calcmode="lin" valueType="num">
                                      <p:cBhvr additive="base">
                                        <p:cTn id="8" dur="1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0-#ppt_w/2"/>
                                          </p:val>
                                        </p:tav>
                                        <p:tav tm="100000">
                                          <p:val>
                                            <p:strVal val="#ppt_x"/>
                                          </p:val>
                                        </p:tav>
                                      </p:tavLst>
                                    </p:anim>
                                    <p:anim calcmode="lin" valueType="num">
                                      <p:cBhvr additive="base">
                                        <p:cTn id="12" dur="175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0-#ppt_w/2"/>
                                          </p:val>
                                        </p:tav>
                                        <p:tav tm="100000">
                                          <p:val>
                                            <p:strVal val="#ppt_x"/>
                                          </p:val>
                                        </p:tav>
                                      </p:tavLst>
                                    </p:anim>
                                    <p:anim calcmode="lin" valueType="num">
                                      <p:cBhvr additive="base">
                                        <p:cTn id="16" dur="1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0-#ppt_w/2"/>
                                          </p:val>
                                        </p:tav>
                                        <p:tav tm="100000">
                                          <p:val>
                                            <p:strVal val="#ppt_x"/>
                                          </p:val>
                                        </p:tav>
                                      </p:tavLst>
                                    </p:anim>
                                    <p:anim calcmode="lin" valueType="num">
                                      <p:cBhvr additive="base">
                                        <p:cTn id="20" dur="175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0-#ppt_w/2"/>
                                          </p:val>
                                        </p:tav>
                                        <p:tav tm="100000">
                                          <p:val>
                                            <p:strVal val="#ppt_x"/>
                                          </p:val>
                                        </p:tav>
                                      </p:tavLst>
                                    </p:anim>
                                    <p:anim calcmode="lin" valueType="num">
                                      <p:cBhvr additive="base">
                                        <p:cTn id="24" dur="175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0-#ppt_w/2"/>
                                          </p:val>
                                        </p:tav>
                                        <p:tav tm="100000">
                                          <p:val>
                                            <p:strVal val="#ppt_x"/>
                                          </p:val>
                                        </p:tav>
                                      </p:tavLst>
                                    </p:anim>
                                    <p:anim calcmode="lin" valueType="num">
                                      <p:cBhvr additive="base">
                                        <p:cTn id="28" dur="175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750" fill="hold"/>
                                        <p:tgtEl>
                                          <p:spTgt spid="8"/>
                                        </p:tgtEl>
                                        <p:attrNameLst>
                                          <p:attrName>ppt_x</p:attrName>
                                        </p:attrNameLst>
                                      </p:cBhvr>
                                      <p:tavLst>
                                        <p:tav tm="0">
                                          <p:val>
                                            <p:strVal val="0-#ppt_w/2"/>
                                          </p:val>
                                        </p:tav>
                                        <p:tav tm="100000">
                                          <p:val>
                                            <p:strVal val="#ppt_x"/>
                                          </p:val>
                                        </p:tav>
                                      </p:tavLst>
                                    </p:anim>
                                    <p:anim calcmode="lin" valueType="num">
                                      <p:cBhvr additive="base">
                                        <p:cTn id="32" dur="1750" fill="hold"/>
                                        <p:tgtEl>
                                          <p:spTgt spid="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750" fill="hold"/>
                                        <p:tgtEl>
                                          <p:spTgt spid="9"/>
                                        </p:tgtEl>
                                        <p:attrNameLst>
                                          <p:attrName>ppt_x</p:attrName>
                                        </p:attrNameLst>
                                      </p:cBhvr>
                                      <p:tavLst>
                                        <p:tav tm="0">
                                          <p:val>
                                            <p:strVal val="0-#ppt_w/2"/>
                                          </p:val>
                                        </p:tav>
                                        <p:tav tm="100000">
                                          <p:val>
                                            <p:strVal val="#ppt_x"/>
                                          </p:val>
                                        </p:tav>
                                      </p:tavLst>
                                    </p:anim>
                                    <p:anim calcmode="lin" valueType="num">
                                      <p:cBhvr additive="base">
                                        <p:cTn id="36" dur="17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750" fill="hold"/>
                                        <p:tgtEl>
                                          <p:spTgt spid="10"/>
                                        </p:tgtEl>
                                        <p:attrNameLst>
                                          <p:attrName>ppt_x</p:attrName>
                                        </p:attrNameLst>
                                      </p:cBhvr>
                                      <p:tavLst>
                                        <p:tav tm="0">
                                          <p:val>
                                            <p:strVal val="0-#ppt_w/2"/>
                                          </p:val>
                                        </p:tav>
                                        <p:tav tm="100000">
                                          <p:val>
                                            <p:strVal val="#ppt_x"/>
                                          </p:val>
                                        </p:tav>
                                      </p:tavLst>
                                    </p:anim>
                                    <p:anim calcmode="lin" valueType="num">
                                      <p:cBhvr additive="base">
                                        <p:cTn id="40" dur="1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5" grpId="0" animBg="1"/>
      <p:bldP spid="6" grpId="0"/>
      <p:bldP spid="7" grpId="0" animBg="1"/>
      <p:bldP spid="8" grpId="0"/>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714103"/>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رابعاً: تحديد الإجراءات التنفيذية ⏱️</a:t>
            </a:r>
          </a:p>
        </p:txBody>
      </p:sp>
      <p:sp>
        <p:nvSpPr>
          <p:cNvPr id="3" name="Rounded Rectangle 2"/>
          <p:cNvSpPr/>
          <p:nvPr/>
        </p:nvSpPr>
        <p:spPr>
          <a:xfrm>
            <a:off x="731520" y="2011680"/>
            <a:ext cx="2377440" cy="9144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Arial"/>
              </a:defRPr>
            </a:pPr>
            <a:r>
              <a:rPr lang="ar-EG" noProof="1"/>
              <a:t>الشهر الرابع</a:t>
            </a:r>
          </a:p>
        </p:txBody>
      </p:sp>
      <p:sp>
        <p:nvSpPr>
          <p:cNvPr id="4" name="Rounded Rectangle 3"/>
          <p:cNvSpPr/>
          <p:nvPr/>
        </p:nvSpPr>
        <p:spPr>
          <a:xfrm>
            <a:off x="8961120" y="3274014"/>
            <a:ext cx="2377440" cy="201168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E293B"/>
                </a:solidFill>
                <a:latin typeface="Arial"/>
              </a:defRPr>
            </a:pPr>
            <a:r>
              <a:rPr lang="ar-EG" sz="2400" noProof="1">
                <a:solidFill>
                  <a:schemeClr val="tx1"/>
                </a:solidFill>
              </a:rPr>
              <a:t>✔ تدريب المعلمين</a:t>
            </a:r>
          </a:p>
        </p:txBody>
      </p:sp>
      <p:sp>
        <p:nvSpPr>
          <p:cNvPr id="5" name="Rounded Rectangle 4"/>
          <p:cNvSpPr/>
          <p:nvPr/>
        </p:nvSpPr>
        <p:spPr>
          <a:xfrm>
            <a:off x="3474720" y="2011680"/>
            <a:ext cx="2377440" cy="9144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Arial"/>
              </a:defRPr>
            </a:pPr>
            <a:r>
              <a:rPr lang="ar-EG" noProof="1"/>
              <a:t>الشهر الثالث</a:t>
            </a:r>
          </a:p>
        </p:txBody>
      </p:sp>
      <p:sp>
        <p:nvSpPr>
          <p:cNvPr id="6" name="Rounded Rectangle 5"/>
          <p:cNvSpPr/>
          <p:nvPr/>
        </p:nvSpPr>
        <p:spPr>
          <a:xfrm>
            <a:off x="6217920" y="3291840"/>
            <a:ext cx="2377440" cy="201168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E293B"/>
                </a:solidFill>
                <a:latin typeface="Arial"/>
              </a:defRPr>
            </a:pPr>
            <a:r>
              <a:rPr lang="ar-EG" sz="2400" noProof="1">
                <a:solidFill>
                  <a:schemeClr val="tx1"/>
                </a:solidFill>
              </a:rPr>
              <a:t>✔ زيارات صفية</a:t>
            </a:r>
          </a:p>
        </p:txBody>
      </p:sp>
      <p:sp>
        <p:nvSpPr>
          <p:cNvPr id="7" name="Rounded Rectangle 6"/>
          <p:cNvSpPr/>
          <p:nvPr/>
        </p:nvSpPr>
        <p:spPr>
          <a:xfrm>
            <a:off x="6217920" y="2011680"/>
            <a:ext cx="2377440" cy="9144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Arial"/>
              </a:defRPr>
            </a:pPr>
            <a:r>
              <a:rPr lang="ar-EG" noProof="1"/>
              <a:t>الشهر الثاني</a:t>
            </a:r>
          </a:p>
        </p:txBody>
      </p:sp>
      <p:sp>
        <p:nvSpPr>
          <p:cNvPr id="8" name="Rounded Rectangle 7"/>
          <p:cNvSpPr/>
          <p:nvPr/>
        </p:nvSpPr>
        <p:spPr>
          <a:xfrm>
            <a:off x="3474720" y="3274014"/>
            <a:ext cx="2377440" cy="201168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E293B"/>
                </a:solidFill>
                <a:latin typeface="Arial"/>
              </a:defRPr>
            </a:pPr>
            <a:r>
              <a:rPr lang="ar-EG" sz="2400" noProof="1">
                <a:solidFill>
                  <a:schemeClr val="tx1"/>
                </a:solidFill>
              </a:rPr>
              <a:t>✔ تحليل نتائج</a:t>
            </a:r>
          </a:p>
        </p:txBody>
      </p:sp>
      <p:sp>
        <p:nvSpPr>
          <p:cNvPr id="9" name="Rounded Rectangle 8"/>
          <p:cNvSpPr/>
          <p:nvPr/>
        </p:nvSpPr>
        <p:spPr>
          <a:xfrm>
            <a:off x="8961120" y="2011680"/>
            <a:ext cx="2377440" cy="91440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Arial"/>
              </a:defRPr>
            </a:pPr>
            <a:r>
              <a:rPr lang="ar-EG" noProof="1"/>
              <a:t>الشهر الأول</a:t>
            </a:r>
          </a:p>
        </p:txBody>
      </p:sp>
      <p:sp>
        <p:nvSpPr>
          <p:cNvPr id="10" name="Rounded Rectangle 9"/>
          <p:cNvSpPr/>
          <p:nvPr/>
        </p:nvSpPr>
        <p:spPr>
          <a:xfrm>
            <a:off x="731520" y="3274014"/>
            <a:ext cx="2377440" cy="201168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E293B"/>
                </a:solidFill>
                <a:latin typeface="Arial"/>
              </a:defRPr>
            </a:pPr>
            <a:r>
              <a:rPr lang="ar-EG" sz="2400" noProof="1">
                <a:solidFill>
                  <a:schemeClr val="tx1"/>
                </a:solidFill>
              </a:rPr>
              <a:t>✔ متابعة التنفيذ</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1+#ppt_w/2"/>
                                          </p:val>
                                        </p:tav>
                                        <p:tav tm="100000">
                                          <p:val>
                                            <p:strVal val="#ppt_x"/>
                                          </p:val>
                                        </p:tav>
                                      </p:tavLst>
                                    </p:anim>
                                    <p:anim calcmode="lin" valueType="num">
                                      <p:cBhvr additive="base">
                                        <p:cTn id="8" dur="1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1+#ppt_w/2"/>
                                          </p:val>
                                        </p:tav>
                                        <p:tav tm="100000">
                                          <p:val>
                                            <p:strVal val="#ppt_x"/>
                                          </p:val>
                                        </p:tav>
                                      </p:tavLst>
                                    </p:anim>
                                    <p:anim calcmode="lin" valueType="num">
                                      <p:cBhvr additive="base">
                                        <p:cTn id="12" dur="175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1+#ppt_w/2"/>
                                          </p:val>
                                        </p:tav>
                                        <p:tav tm="100000">
                                          <p:val>
                                            <p:strVal val="#ppt_x"/>
                                          </p:val>
                                        </p:tav>
                                      </p:tavLst>
                                    </p:anim>
                                    <p:anim calcmode="lin" valueType="num">
                                      <p:cBhvr additive="base">
                                        <p:cTn id="16" dur="1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1+#ppt_w/2"/>
                                          </p:val>
                                        </p:tav>
                                        <p:tav tm="100000">
                                          <p:val>
                                            <p:strVal val="#ppt_x"/>
                                          </p:val>
                                        </p:tav>
                                      </p:tavLst>
                                    </p:anim>
                                    <p:anim calcmode="lin" valueType="num">
                                      <p:cBhvr additive="base">
                                        <p:cTn id="20" dur="175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1+#ppt_w/2"/>
                                          </p:val>
                                        </p:tav>
                                        <p:tav tm="100000">
                                          <p:val>
                                            <p:strVal val="#ppt_x"/>
                                          </p:val>
                                        </p:tav>
                                      </p:tavLst>
                                    </p:anim>
                                    <p:anim calcmode="lin" valueType="num">
                                      <p:cBhvr additive="base">
                                        <p:cTn id="24" dur="175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1+#ppt_w/2"/>
                                          </p:val>
                                        </p:tav>
                                        <p:tav tm="100000">
                                          <p:val>
                                            <p:strVal val="#ppt_x"/>
                                          </p:val>
                                        </p:tav>
                                      </p:tavLst>
                                    </p:anim>
                                    <p:anim calcmode="lin" valueType="num">
                                      <p:cBhvr additive="base">
                                        <p:cTn id="28" dur="175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750" fill="hold"/>
                                        <p:tgtEl>
                                          <p:spTgt spid="8"/>
                                        </p:tgtEl>
                                        <p:attrNameLst>
                                          <p:attrName>ppt_x</p:attrName>
                                        </p:attrNameLst>
                                      </p:cBhvr>
                                      <p:tavLst>
                                        <p:tav tm="0">
                                          <p:val>
                                            <p:strVal val="1+#ppt_w/2"/>
                                          </p:val>
                                        </p:tav>
                                        <p:tav tm="100000">
                                          <p:val>
                                            <p:strVal val="#ppt_x"/>
                                          </p:val>
                                        </p:tav>
                                      </p:tavLst>
                                    </p:anim>
                                    <p:anim calcmode="lin" valueType="num">
                                      <p:cBhvr additive="base">
                                        <p:cTn id="32" dur="1750" fill="hold"/>
                                        <p:tgtEl>
                                          <p:spTgt spid="8"/>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750" fill="hold"/>
                                        <p:tgtEl>
                                          <p:spTgt spid="9"/>
                                        </p:tgtEl>
                                        <p:attrNameLst>
                                          <p:attrName>ppt_x</p:attrName>
                                        </p:attrNameLst>
                                      </p:cBhvr>
                                      <p:tavLst>
                                        <p:tav tm="0">
                                          <p:val>
                                            <p:strVal val="1+#ppt_w/2"/>
                                          </p:val>
                                        </p:tav>
                                        <p:tav tm="100000">
                                          <p:val>
                                            <p:strVal val="#ppt_x"/>
                                          </p:val>
                                        </p:tav>
                                      </p:tavLst>
                                    </p:anim>
                                    <p:anim calcmode="lin" valueType="num">
                                      <p:cBhvr additive="base">
                                        <p:cTn id="36" dur="17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750" fill="hold"/>
                                        <p:tgtEl>
                                          <p:spTgt spid="10"/>
                                        </p:tgtEl>
                                        <p:attrNameLst>
                                          <p:attrName>ppt_x</p:attrName>
                                        </p:attrNameLst>
                                      </p:cBhvr>
                                      <p:tavLst>
                                        <p:tav tm="0">
                                          <p:val>
                                            <p:strVal val="1+#ppt_w/2"/>
                                          </p:val>
                                        </p:tav>
                                        <p:tav tm="100000">
                                          <p:val>
                                            <p:strVal val="#ppt_x"/>
                                          </p:val>
                                        </p:tav>
                                      </p:tavLst>
                                    </p:anim>
                                    <p:anim calcmode="lin" valueType="num">
                                      <p:cBhvr additive="base">
                                        <p:cTn id="40" dur="175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7025" y="746351"/>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خامساً: توفير الموارد اللازمة </a:t>
            </a:r>
          </a:p>
        </p:txBody>
      </p:sp>
      <p:sp>
        <p:nvSpPr>
          <p:cNvPr id="3" name="Rounded Rectangle 2"/>
          <p:cNvSpPr/>
          <p:nvPr/>
        </p:nvSpPr>
        <p:spPr>
          <a:xfrm>
            <a:off x="914400" y="1828800"/>
            <a:ext cx="4937760" cy="1737360"/>
          </a:xfrm>
          <a:prstGeom prst="roundRect">
            <a:avLst/>
          </a:prstGeom>
          <a:solidFill>
            <a:srgbClr val="F4F6F8"/>
          </a:solidFill>
          <a:ln w="25400">
            <a:solidFill>
              <a:srgbClr val="005B96"/>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defRPr sz="2000" b="1">
                <a:solidFill>
                  <a:srgbClr val="005B96"/>
                </a:solidFill>
                <a:latin typeface="Arial"/>
              </a:defRPr>
            </a:pPr>
            <a:r>
              <a:rPr lang="ar-EG" sz="2800" noProof="1"/>
              <a:t>👨‍🏫 </a:t>
            </a:r>
            <a:r>
              <a:rPr lang="ar-EG" sz="2800" noProof="1">
                <a:solidFill>
                  <a:srgbClr val="0070C0"/>
                </a:solidFill>
              </a:rPr>
              <a:t>بشرية</a:t>
            </a:r>
          </a:p>
          <a:p>
            <a:pPr algn="r">
              <a:defRPr sz="1500">
                <a:solidFill>
                  <a:srgbClr val="1E293B"/>
                </a:solidFill>
                <a:latin typeface="Arial"/>
              </a:defRPr>
            </a:pPr>
            <a:r>
              <a:rPr lang="ar-EG" sz="2000" b="1" noProof="1">
                <a:solidFill>
                  <a:schemeClr val="tx1"/>
                </a:solidFill>
              </a:rPr>
              <a:t>كادر تدريسي، خبراء جودة، فرق مساندة</a:t>
            </a:r>
          </a:p>
        </p:txBody>
      </p:sp>
      <p:sp>
        <p:nvSpPr>
          <p:cNvPr id="4" name="Rounded Rectangle 3"/>
          <p:cNvSpPr/>
          <p:nvPr/>
        </p:nvSpPr>
        <p:spPr>
          <a:xfrm>
            <a:off x="6217920" y="1828800"/>
            <a:ext cx="4937760" cy="1737360"/>
          </a:xfrm>
          <a:prstGeom prst="roundRect">
            <a:avLst/>
          </a:prstGeom>
          <a:solidFill>
            <a:srgbClr val="F4F6F8"/>
          </a:solidFill>
          <a:ln w="25400">
            <a:solidFill>
              <a:srgbClr val="00A676"/>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defRPr sz="2000" b="1">
                <a:solidFill>
                  <a:srgbClr val="00A676"/>
                </a:solidFill>
                <a:latin typeface="Arial"/>
              </a:defRPr>
            </a:pPr>
            <a:r>
              <a:rPr lang="ar-EG" sz="2800" noProof="1"/>
              <a:t>💰 </a:t>
            </a:r>
            <a:r>
              <a:rPr lang="ar-EG" sz="2800" noProof="1">
                <a:solidFill>
                  <a:srgbClr val="00B050"/>
                </a:solidFill>
              </a:rPr>
              <a:t>مالية</a:t>
            </a:r>
          </a:p>
          <a:p>
            <a:pPr algn="r">
              <a:defRPr sz="1500">
                <a:solidFill>
                  <a:srgbClr val="1E293B"/>
                </a:solidFill>
                <a:latin typeface="Arial"/>
              </a:defRPr>
            </a:pPr>
            <a:r>
              <a:rPr lang="ar-EG" sz="2000" b="1" noProof="1">
                <a:solidFill>
                  <a:schemeClr val="tx1"/>
                </a:solidFill>
              </a:rPr>
              <a:t>ميزانية التشغيل، الجوائز، التطوير</a:t>
            </a:r>
          </a:p>
        </p:txBody>
      </p:sp>
      <p:sp>
        <p:nvSpPr>
          <p:cNvPr id="5" name="Rounded Rectangle 4"/>
          <p:cNvSpPr/>
          <p:nvPr/>
        </p:nvSpPr>
        <p:spPr>
          <a:xfrm>
            <a:off x="914400" y="3931920"/>
            <a:ext cx="4937760" cy="1737360"/>
          </a:xfrm>
          <a:prstGeom prst="roundRect">
            <a:avLst/>
          </a:prstGeom>
          <a:solidFill>
            <a:srgbClr val="F4F6F8"/>
          </a:solidFill>
          <a:ln w="25400">
            <a:solidFill>
              <a:srgbClr val="0A2540"/>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defRPr sz="2000" b="1">
                <a:solidFill>
                  <a:srgbClr val="0A2540"/>
                </a:solidFill>
                <a:latin typeface="Arial"/>
              </a:defRPr>
            </a:pPr>
            <a:r>
              <a:rPr lang="ar-EG" sz="2800" noProof="1"/>
              <a:t>💻 </a:t>
            </a:r>
            <a:r>
              <a:rPr lang="ar-EG" sz="2800" noProof="1">
                <a:solidFill>
                  <a:schemeClr val="tx1"/>
                </a:solidFill>
              </a:rPr>
              <a:t>تقنية</a:t>
            </a:r>
          </a:p>
          <a:p>
            <a:pPr algn="r">
              <a:defRPr sz="1500">
                <a:solidFill>
                  <a:srgbClr val="1E293B"/>
                </a:solidFill>
                <a:latin typeface="Arial"/>
              </a:defRPr>
            </a:pPr>
            <a:r>
              <a:rPr lang="ar-EG" sz="2000" b="1" noProof="1">
                <a:solidFill>
                  <a:schemeClr val="tx1"/>
                </a:solidFill>
              </a:rPr>
              <a:t>منصات تعليمية، أجهزة، برامج تحليليلة</a:t>
            </a:r>
          </a:p>
        </p:txBody>
      </p:sp>
      <p:sp>
        <p:nvSpPr>
          <p:cNvPr id="6" name="Rounded Rectangle 5"/>
          <p:cNvSpPr/>
          <p:nvPr/>
        </p:nvSpPr>
        <p:spPr>
          <a:xfrm>
            <a:off x="6217920" y="3931920"/>
            <a:ext cx="4937760" cy="1737360"/>
          </a:xfrm>
          <a:prstGeom prst="roundRect">
            <a:avLst/>
          </a:prstGeom>
          <a:solidFill>
            <a:srgbClr val="F4F6F8"/>
          </a:solidFill>
          <a:ln w="25400">
            <a:solidFill>
              <a:srgbClr val="64748B"/>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defRPr sz="2000" b="1">
                <a:solidFill>
                  <a:srgbClr val="64748B"/>
                </a:solidFill>
                <a:latin typeface="Arial"/>
              </a:defRPr>
            </a:pPr>
            <a:r>
              <a:rPr lang="ar-EG" sz="2800" noProof="1"/>
              <a:t>📚 </a:t>
            </a:r>
            <a:r>
              <a:rPr lang="ar-EG" sz="2800" noProof="1">
                <a:solidFill>
                  <a:schemeClr val="accent6">
                    <a:lumMod val="50000"/>
                  </a:schemeClr>
                </a:solidFill>
              </a:rPr>
              <a:t>تدريبية</a:t>
            </a:r>
          </a:p>
          <a:p>
            <a:pPr algn="r">
              <a:defRPr sz="1500">
                <a:solidFill>
                  <a:srgbClr val="1E293B"/>
                </a:solidFill>
                <a:latin typeface="Arial"/>
              </a:defRPr>
            </a:pPr>
            <a:r>
              <a:rPr lang="ar-EG" sz="2000" b="1" noProof="1">
                <a:solidFill>
                  <a:schemeClr val="tx1"/>
                </a:solidFill>
              </a:rPr>
              <a:t>حقائب تدريبية، ورش عمل، أدلة إرشادية</a:t>
            </a:r>
          </a:p>
        </p:txBody>
      </p:sp>
      <p:sp>
        <p:nvSpPr>
          <p:cNvPr id="7" name="TextBox 6"/>
          <p:cNvSpPr txBox="1"/>
          <p:nvPr/>
        </p:nvSpPr>
        <p:spPr>
          <a:xfrm>
            <a:off x="914400" y="5760720"/>
            <a:ext cx="10362895" cy="731520"/>
          </a:xfrm>
          <a:prstGeom prst="rect">
            <a:avLst/>
          </a:prstGeom>
          <a:noFill/>
        </p:spPr>
        <p:txBody>
          <a:bodyPr wrap="none">
            <a:spAutoFit/>
          </a:bodyPr>
          <a:lstStyle/>
          <a:p>
            <a:pPr algn="ctr">
              <a:defRPr sz="1600" b="1">
                <a:solidFill>
                  <a:srgbClr val="D9534F"/>
                </a:solidFill>
                <a:latin typeface="Arial"/>
              </a:defRPr>
            </a:pPr>
            <a:r>
              <a:rPr lang="ar-EG" noProof="1"/>
              <a:t>⚠️ ملاحظة: نجاح أي مبادرة تحسين يعتمد بشكل مباشر على جاهزية وتوافر الموارد.</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75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175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1750"/>
                                        <p:tgtEl>
                                          <p:spTgt spid="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1750"/>
                                        <p:tgtEl>
                                          <p:spTgt spid="5"/>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1750"/>
                                        <p:tgtEl>
                                          <p:spTgt spid="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1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سادساً: تحديد المسؤوليات الهيكل التنفيذي 👥</a:t>
            </a:r>
          </a:p>
        </p:txBody>
      </p:sp>
      <p:sp>
        <p:nvSpPr>
          <p:cNvPr id="3" name="Rounded Rectangle 2"/>
          <p:cNvSpPr/>
          <p:nvPr/>
        </p:nvSpPr>
        <p:spPr>
          <a:xfrm>
            <a:off x="4266590" y="1828800"/>
            <a:ext cx="3657600" cy="73152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rPr lang="ar-EG" noProof="1"/>
              <a:t>مدير المدرسة</a:t>
            </a:r>
          </a:p>
        </p:txBody>
      </p:sp>
      <p:sp>
        <p:nvSpPr>
          <p:cNvPr id="4" name="Rounded Rectangle 3"/>
          <p:cNvSpPr/>
          <p:nvPr/>
        </p:nvSpPr>
        <p:spPr>
          <a:xfrm>
            <a:off x="3580790" y="2743200"/>
            <a:ext cx="5029200" cy="731520"/>
          </a:xfrm>
          <a:prstGeom prst="roundRect">
            <a:avLst/>
          </a:prstGeom>
          <a:solidFill>
            <a:srgbClr val="005B9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rPr lang="ar-EG" noProof="1"/>
              <a:t>وكيل المدرسة</a:t>
            </a:r>
          </a:p>
        </p:txBody>
      </p:sp>
      <p:sp>
        <p:nvSpPr>
          <p:cNvPr id="5" name="Rounded Rectangle 4"/>
          <p:cNvSpPr/>
          <p:nvPr/>
        </p:nvSpPr>
        <p:spPr>
          <a:xfrm>
            <a:off x="2894990" y="3657600"/>
            <a:ext cx="6400800" cy="731520"/>
          </a:xfrm>
          <a:prstGeom prst="roundRect">
            <a:avLst/>
          </a:prstGeom>
          <a:solidFill>
            <a:srgbClr val="00A67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Arial"/>
              </a:defRPr>
            </a:pPr>
            <a:r>
              <a:rPr lang="ar-EG" noProof="1"/>
              <a:t>منسق الجودة</a:t>
            </a:r>
          </a:p>
        </p:txBody>
      </p:sp>
      <p:sp>
        <p:nvSpPr>
          <p:cNvPr id="6" name="Rounded Rectangle 5"/>
          <p:cNvSpPr/>
          <p:nvPr/>
        </p:nvSpPr>
        <p:spPr>
          <a:xfrm>
            <a:off x="2209190" y="4572000"/>
            <a:ext cx="7772400" cy="73152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1E293B"/>
                </a:solidFill>
                <a:latin typeface="Arial"/>
              </a:defRPr>
            </a:pPr>
            <a:r>
              <a:rPr lang="ar-EG" noProof="1">
                <a:solidFill>
                  <a:schemeClr val="tx1"/>
                </a:solidFill>
              </a:rPr>
              <a:t>فرق العمل والمشرفون</a:t>
            </a:r>
          </a:p>
        </p:txBody>
      </p:sp>
      <p:sp>
        <p:nvSpPr>
          <p:cNvPr id="7" name="TextBox 6"/>
          <p:cNvSpPr txBox="1"/>
          <p:nvPr/>
        </p:nvSpPr>
        <p:spPr>
          <a:xfrm>
            <a:off x="3087652" y="5669280"/>
            <a:ext cx="6016391" cy="400110"/>
          </a:xfrm>
          <a:prstGeom prst="rect">
            <a:avLst/>
          </a:prstGeom>
          <a:noFill/>
        </p:spPr>
        <p:txBody>
          <a:bodyPr wrap="none">
            <a:spAutoFit/>
          </a:bodyPr>
          <a:lstStyle/>
          <a:p>
            <a:pPr algn="r">
              <a:defRPr sz="2000" b="1">
                <a:solidFill>
                  <a:srgbClr val="0A2540"/>
                </a:solidFill>
                <a:latin typeface="Arial"/>
              </a:defRPr>
            </a:pPr>
            <a:r>
              <a:rPr lang="ar-EG" noProof="1">
                <a:solidFill>
                  <a:schemeClr val="bg1"/>
                </a:solidFill>
              </a:rPr>
              <a:t>✨ "المسؤولية الواضحة والمحددة تعني نتائج أفضل وإنجازاً أسرع."</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ppt_x"/>
                                          </p:val>
                                        </p:tav>
                                        <p:tav tm="100000">
                                          <p:val>
                                            <p:strVal val="#ppt_x"/>
                                          </p:val>
                                        </p:tav>
                                      </p:tavLst>
                                    </p:anim>
                                    <p:anim calcmode="lin" valueType="num">
                                      <p:cBhvr additive="base">
                                        <p:cTn id="8" dur="175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ppt_x"/>
                                          </p:val>
                                        </p:tav>
                                        <p:tav tm="100000">
                                          <p:val>
                                            <p:strVal val="#ppt_x"/>
                                          </p:val>
                                        </p:tav>
                                      </p:tavLst>
                                    </p:anim>
                                    <p:anim calcmode="lin" valueType="num">
                                      <p:cBhvr additive="base">
                                        <p:cTn id="12" dur="175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ppt_x"/>
                                          </p:val>
                                        </p:tav>
                                        <p:tav tm="100000">
                                          <p:val>
                                            <p:strVal val="#ppt_x"/>
                                          </p:val>
                                        </p:tav>
                                      </p:tavLst>
                                    </p:anim>
                                    <p:anim calcmode="lin" valueType="num">
                                      <p:cBhvr additive="base">
                                        <p:cTn id="16" dur="175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ppt_x"/>
                                          </p:val>
                                        </p:tav>
                                        <p:tav tm="100000">
                                          <p:val>
                                            <p:strVal val="#ppt_x"/>
                                          </p:val>
                                        </p:tav>
                                      </p:tavLst>
                                    </p:anim>
                                    <p:anim calcmode="lin" valueType="num">
                                      <p:cBhvr additive="base">
                                        <p:cTn id="20" dur="175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ppt_x"/>
                                          </p:val>
                                        </p:tav>
                                        <p:tav tm="100000">
                                          <p:val>
                                            <p:strVal val="#ppt_x"/>
                                          </p:val>
                                        </p:tav>
                                      </p:tavLst>
                                    </p:anim>
                                    <p:anim calcmode="lin" valueType="num">
                                      <p:cBhvr additive="base">
                                        <p:cTn id="24" dur="175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ppt_x"/>
                                          </p:val>
                                        </p:tav>
                                        <p:tav tm="100000">
                                          <p:val>
                                            <p:strVal val="#ppt_x"/>
                                          </p:val>
                                        </p:tav>
                                      </p:tavLst>
                                    </p:anim>
                                    <p:anim calcmode="lin" valueType="num">
                                      <p:cBhvr additive="base">
                                        <p:cTn id="28" dur="175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سابعاً: الإطار الزمني (مخطط Gantt التوضيحي)</a:t>
            </a:r>
          </a:p>
        </p:txBody>
      </p:sp>
      <p:graphicFrame>
        <p:nvGraphicFramePr>
          <p:cNvPr id="3" name="Table 2"/>
          <p:cNvGraphicFramePr>
            <a:graphicFrameLocks noGrp="1"/>
          </p:cNvGraphicFramePr>
          <p:nvPr>
            <p:extLst>
              <p:ext uri="{D42A27DB-BD31-4B8C-83A1-F6EECF244321}">
                <p14:modId xmlns:p14="http://schemas.microsoft.com/office/powerpoint/2010/main" val="3064842838"/>
              </p:ext>
            </p:extLst>
          </p:nvPr>
        </p:nvGraphicFramePr>
        <p:xfrm>
          <a:off x="731520" y="2011680"/>
          <a:ext cx="10728655" cy="3840480"/>
        </p:xfrm>
        <a:graphic>
          <a:graphicData uri="http://schemas.openxmlformats.org/drawingml/2006/table">
            <a:tbl>
              <a:tblPr rtl="1" firstRow="1" bandRow="1">
                <a:tableStyleId>{5C22544A-7EE6-4342-B048-85BDC9FD1C3A}</a:tableStyleId>
              </a:tblPr>
              <a:tblGrid>
                <a:gridCol w="249905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960120">
                <a:tc>
                  <a:txBody>
                    <a:bodyPr/>
                    <a:lstStyle/>
                    <a:p>
                      <a:pPr algn="ctr">
                        <a:lnSpc>
                          <a:spcPct val="200000"/>
                        </a:lnSpc>
                        <a:defRPr sz="1600" b="1">
                          <a:solidFill>
                            <a:srgbClr val="FFFFFF"/>
                          </a:solidFill>
                          <a:latin typeface="Arial"/>
                        </a:defRPr>
                      </a:pPr>
                      <a:r>
                        <a:rPr lang="ar-EG" sz="1800" noProof="1"/>
                        <a:t>المبادرة / الشهر</a:t>
                      </a:r>
                    </a:p>
                  </a:txBody>
                  <a:tcPr>
                    <a:solidFill>
                      <a:srgbClr val="0A2540"/>
                    </a:solidFill>
                  </a:tcPr>
                </a:tc>
                <a:tc>
                  <a:txBody>
                    <a:bodyPr/>
                    <a:lstStyle/>
                    <a:p>
                      <a:pPr algn="ctr">
                        <a:lnSpc>
                          <a:spcPct val="200000"/>
                        </a:lnSpc>
                        <a:defRPr sz="1600" b="1">
                          <a:solidFill>
                            <a:srgbClr val="FFFFFF"/>
                          </a:solidFill>
                          <a:latin typeface="Arial"/>
                        </a:defRPr>
                      </a:pPr>
                      <a:r>
                        <a:rPr lang="ar-EG" sz="1800" noProof="1"/>
                        <a:t>الأول</a:t>
                      </a:r>
                    </a:p>
                  </a:txBody>
                  <a:tcPr>
                    <a:solidFill>
                      <a:srgbClr val="0A2540"/>
                    </a:solidFill>
                  </a:tcPr>
                </a:tc>
                <a:tc>
                  <a:txBody>
                    <a:bodyPr/>
                    <a:lstStyle/>
                    <a:p>
                      <a:pPr algn="ctr">
                        <a:lnSpc>
                          <a:spcPct val="200000"/>
                        </a:lnSpc>
                        <a:defRPr sz="1600" b="1">
                          <a:solidFill>
                            <a:srgbClr val="FFFFFF"/>
                          </a:solidFill>
                          <a:latin typeface="Arial"/>
                        </a:defRPr>
                      </a:pPr>
                      <a:r>
                        <a:rPr lang="ar-EG" sz="1800" noProof="1"/>
                        <a:t>الثاني</a:t>
                      </a:r>
                    </a:p>
                  </a:txBody>
                  <a:tcPr>
                    <a:solidFill>
                      <a:srgbClr val="0A2540"/>
                    </a:solidFill>
                  </a:tcPr>
                </a:tc>
                <a:tc>
                  <a:txBody>
                    <a:bodyPr/>
                    <a:lstStyle/>
                    <a:p>
                      <a:pPr algn="ctr">
                        <a:lnSpc>
                          <a:spcPct val="200000"/>
                        </a:lnSpc>
                        <a:defRPr sz="1600" b="1">
                          <a:solidFill>
                            <a:srgbClr val="FFFFFF"/>
                          </a:solidFill>
                          <a:latin typeface="Arial"/>
                        </a:defRPr>
                      </a:pPr>
                      <a:r>
                        <a:rPr lang="ar-EG" sz="1800" noProof="1"/>
                        <a:t>الثالث</a:t>
                      </a:r>
                    </a:p>
                  </a:txBody>
                  <a:tcPr>
                    <a:solidFill>
                      <a:srgbClr val="0A2540"/>
                    </a:solidFill>
                  </a:tcPr>
                </a:tc>
                <a:tc>
                  <a:txBody>
                    <a:bodyPr/>
                    <a:lstStyle/>
                    <a:p>
                      <a:pPr algn="ctr">
                        <a:lnSpc>
                          <a:spcPct val="200000"/>
                        </a:lnSpc>
                        <a:defRPr sz="1600" b="1">
                          <a:solidFill>
                            <a:srgbClr val="FFFFFF"/>
                          </a:solidFill>
                          <a:latin typeface="Arial"/>
                        </a:defRPr>
                      </a:pPr>
                      <a:r>
                        <a:rPr lang="ar-EG" sz="1800" noProof="1"/>
                        <a:t>الرابع</a:t>
                      </a:r>
                    </a:p>
                  </a:txBody>
                  <a:tcPr>
                    <a:solidFill>
                      <a:srgbClr val="0A2540"/>
                    </a:solidFill>
                  </a:tcPr>
                </a:tc>
                <a:tc>
                  <a:txBody>
                    <a:bodyPr/>
                    <a:lstStyle/>
                    <a:p>
                      <a:pPr algn="ctr">
                        <a:lnSpc>
                          <a:spcPct val="200000"/>
                        </a:lnSpc>
                        <a:defRPr sz="1600" b="1">
                          <a:solidFill>
                            <a:srgbClr val="FFFFFF"/>
                          </a:solidFill>
                          <a:latin typeface="Arial"/>
                        </a:defRPr>
                      </a:pPr>
                      <a:r>
                        <a:rPr lang="ar-EG" sz="1800" noProof="1"/>
                        <a:t>الخامس</a:t>
                      </a:r>
                    </a:p>
                  </a:txBody>
                  <a:tcPr>
                    <a:solidFill>
                      <a:srgbClr val="0A2540"/>
                    </a:solidFill>
                  </a:tcPr>
                </a:tc>
                <a:tc>
                  <a:txBody>
                    <a:bodyPr/>
                    <a:lstStyle/>
                    <a:p>
                      <a:pPr algn="ctr">
                        <a:lnSpc>
                          <a:spcPct val="200000"/>
                        </a:lnSpc>
                        <a:defRPr sz="1600" b="1">
                          <a:solidFill>
                            <a:srgbClr val="FFFFFF"/>
                          </a:solidFill>
                          <a:latin typeface="Arial"/>
                        </a:defRPr>
                      </a:pPr>
                      <a:r>
                        <a:rPr lang="ar-EG" sz="1800" noProof="1"/>
                        <a:t>السادس</a:t>
                      </a:r>
                    </a:p>
                  </a:txBody>
                  <a:tcPr>
                    <a:solidFill>
                      <a:srgbClr val="0A2540"/>
                    </a:solidFill>
                  </a:tcPr>
                </a:tc>
                <a:extLst>
                  <a:ext uri="{0D108BD9-81ED-4DB2-BD59-A6C34878D82A}">
                    <a16:rowId xmlns:a16="http://schemas.microsoft.com/office/drawing/2014/main" val="10000"/>
                  </a:ext>
                </a:extLst>
              </a:tr>
              <a:tr h="960120">
                <a:tc>
                  <a:txBody>
                    <a:bodyPr/>
                    <a:lstStyle/>
                    <a:p>
                      <a:pPr algn="ctr">
                        <a:lnSpc>
                          <a:spcPct val="150000"/>
                        </a:lnSpc>
                        <a:defRPr sz="1600" b="1">
                          <a:solidFill>
                            <a:srgbClr val="1E293B"/>
                          </a:solidFill>
                          <a:latin typeface="Arial"/>
                        </a:defRPr>
                      </a:pPr>
                      <a:r>
                        <a:rPr lang="ar-EG" sz="2000" noProof="1"/>
                        <a:t>تدريب المعلمين</a:t>
                      </a:r>
                    </a:p>
                  </a:txBody>
                  <a:tcPr>
                    <a:solidFill>
                      <a:srgbClr val="F4F6F8"/>
                    </a:solidFill>
                  </a:tcPr>
                </a:tc>
                <a:tc>
                  <a:txBody>
                    <a:bodyPr/>
                    <a:lstStyle/>
                    <a:p>
                      <a:pPr algn="ctr">
                        <a:defRPr>
                          <a:solidFill>
                            <a:srgbClr val="005B96"/>
                          </a:solidFill>
                        </a:defRPr>
                      </a:pPr>
                      <a:endParaRPr lang="ar-EG" noProof="1"/>
                    </a:p>
                  </a:txBody>
                  <a:tcPr>
                    <a:solidFill>
                      <a:srgbClr val="005B96"/>
                    </a:solidFill>
                  </a:tcPr>
                </a:tc>
                <a:tc>
                  <a:txBody>
                    <a:bodyPr/>
                    <a:lstStyle/>
                    <a:p>
                      <a:pPr algn="ctr">
                        <a:defRPr>
                          <a:solidFill>
                            <a:srgbClr val="005B96"/>
                          </a:solidFill>
                        </a:defRPr>
                      </a:pPr>
                      <a:endParaRPr lang="ar-EG" noProof="1">
                        <a:solidFill>
                          <a:srgbClr val="005B96"/>
                        </a:solidFill>
                      </a:endParaRPr>
                    </a:p>
                  </a:txBody>
                  <a:tcPr>
                    <a:solidFill>
                      <a:srgbClr val="005B96"/>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extLst>
                  <a:ext uri="{0D108BD9-81ED-4DB2-BD59-A6C34878D82A}">
                    <a16:rowId xmlns:a16="http://schemas.microsoft.com/office/drawing/2014/main" val="10001"/>
                  </a:ext>
                </a:extLst>
              </a:tr>
              <a:tr h="960120">
                <a:tc>
                  <a:txBody>
                    <a:bodyPr/>
                    <a:lstStyle/>
                    <a:p>
                      <a:pPr algn="ctr">
                        <a:lnSpc>
                          <a:spcPct val="150000"/>
                        </a:lnSpc>
                        <a:defRPr sz="1600" b="1">
                          <a:solidFill>
                            <a:srgbClr val="1E293B"/>
                          </a:solidFill>
                          <a:latin typeface="Arial"/>
                        </a:defRPr>
                      </a:pPr>
                      <a:r>
                        <a:rPr lang="ar-EG" sz="2000" noProof="1"/>
                        <a:t>متابعة التنفيذ</a:t>
                      </a:r>
                    </a:p>
                  </a:txBody>
                  <a:tcPr>
                    <a:solidFill>
                      <a:srgbClr val="F4F6F8"/>
                    </a:solidFill>
                  </a:tcPr>
                </a:tc>
                <a:tc>
                  <a:txBody>
                    <a:bodyPr/>
                    <a:lstStyle/>
                    <a:p>
                      <a:endParaRPr lang="ar-EG" noProof="1"/>
                    </a:p>
                  </a:txBody>
                  <a:tcPr>
                    <a:solidFill>
                      <a:srgbClr val="FFFFFF"/>
                    </a:solidFill>
                  </a:tcPr>
                </a:tc>
                <a:tc>
                  <a:txBody>
                    <a:bodyPr/>
                    <a:lstStyle/>
                    <a:p>
                      <a:pPr algn="ctr">
                        <a:defRPr>
                          <a:solidFill>
                            <a:srgbClr val="00A676"/>
                          </a:solidFill>
                        </a:defRPr>
                      </a:pPr>
                      <a:endParaRPr lang="ar-EG" noProof="1"/>
                    </a:p>
                  </a:txBody>
                  <a:tcPr>
                    <a:solidFill>
                      <a:srgbClr val="00A676"/>
                    </a:solidFill>
                  </a:tcPr>
                </a:tc>
                <a:tc>
                  <a:txBody>
                    <a:bodyPr/>
                    <a:lstStyle/>
                    <a:p>
                      <a:pPr algn="ctr">
                        <a:defRPr>
                          <a:solidFill>
                            <a:srgbClr val="00A676"/>
                          </a:solidFill>
                        </a:defRPr>
                      </a:pPr>
                      <a:endParaRPr lang="ar-EG" noProof="1"/>
                    </a:p>
                  </a:txBody>
                  <a:tcPr>
                    <a:solidFill>
                      <a:srgbClr val="00A676"/>
                    </a:solidFill>
                  </a:tcPr>
                </a:tc>
                <a:tc>
                  <a:txBody>
                    <a:bodyPr/>
                    <a:lstStyle/>
                    <a:p>
                      <a:pPr algn="ctr">
                        <a:defRPr>
                          <a:solidFill>
                            <a:srgbClr val="00A676"/>
                          </a:solidFill>
                        </a:defRPr>
                      </a:pPr>
                      <a:endParaRPr lang="ar-EG" noProof="1"/>
                    </a:p>
                  </a:txBody>
                  <a:tcPr>
                    <a:solidFill>
                      <a:srgbClr val="00A676"/>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extLst>
                  <a:ext uri="{0D108BD9-81ED-4DB2-BD59-A6C34878D82A}">
                    <a16:rowId xmlns:a16="http://schemas.microsoft.com/office/drawing/2014/main" val="10002"/>
                  </a:ext>
                </a:extLst>
              </a:tr>
              <a:tr h="960120">
                <a:tc>
                  <a:txBody>
                    <a:bodyPr/>
                    <a:lstStyle/>
                    <a:p>
                      <a:pPr algn="ctr">
                        <a:lnSpc>
                          <a:spcPct val="150000"/>
                        </a:lnSpc>
                        <a:defRPr sz="1600" b="1">
                          <a:solidFill>
                            <a:srgbClr val="1E293B"/>
                          </a:solidFill>
                          <a:latin typeface="Arial"/>
                        </a:defRPr>
                      </a:pPr>
                      <a:r>
                        <a:rPr lang="ar-EG" sz="2000" noProof="1"/>
                        <a:t>التقويم النهائي</a:t>
                      </a:r>
                    </a:p>
                  </a:txBody>
                  <a:tcPr>
                    <a:solidFill>
                      <a:srgbClr val="F4F6F8"/>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tc>
                  <a:txBody>
                    <a:bodyPr/>
                    <a:lstStyle/>
                    <a:p>
                      <a:endParaRPr lang="ar-EG" noProof="1"/>
                    </a:p>
                  </a:txBody>
                  <a:tcPr>
                    <a:solidFill>
                      <a:srgbClr val="FFFFFF"/>
                    </a:solidFill>
                  </a:tcPr>
                </a:tc>
                <a:tc>
                  <a:txBody>
                    <a:bodyPr/>
                    <a:lstStyle/>
                    <a:p>
                      <a:pPr algn="ctr">
                        <a:defRPr>
                          <a:solidFill>
                            <a:srgbClr val="005B96"/>
                          </a:solidFill>
                        </a:defRPr>
                      </a:pPr>
                      <a:endParaRPr lang="ar-EG" noProof="1"/>
                    </a:p>
                  </a:txBody>
                  <a:tcPr>
                    <a:solidFill>
                      <a:srgbClr val="005B96"/>
                    </a:solidFill>
                  </a:tcPr>
                </a:tc>
                <a:tc>
                  <a:txBody>
                    <a:bodyPr/>
                    <a:lstStyle/>
                    <a:p>
                      <a:pPr algn="ctr">
                        <a:defRPr>
                          <a:solidFill>
                            <a:srgbClr val="005B96"/>
                          </a:solidFill>
                        </a:defRPr>
                      </a:pPr>
                      <a:endParaRPr lang="ar-EG" noProof="1"/>
                    </a:p>
                  </a:txBody>
                  <a:tcPr>
                    <a:solidFill>
                      <a:srgbClr val="005B96"/>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280" y="1060269"/>
            <a:ext cx="10728655" cy="492443"/>
          </a:xfrm>
          <a:prstGeom prst="rect">
            <a:avLst/>
          </a:prstGeom>
          <a:noFill/>
        </p:spPr>
        <p:txBody>
          <a:bodyPr wrap="square">
            <a:spAutoFit/>
          </a:bodyPr>
          <a:lstStyle/>
          <a:p>
            <a:pPr lvl="2" algn="r" rtl="1">
              <a:defRPr sz="2600" b="1">
                <a:solidFill>
                  <a:srgbClr val="0A2540"/>
                </a:solidFill>
                <a:latin typeface="Arial"/>
              </a:defRPr>
            </a:pPr>
            <a:r>
              <a:rPr lang="ar-EG" noProof="1">
                <a:solidFill>
                  <a:schemeClr val="bg1"/>
                </a:solidFill>
              </a:rPr>
              <a:t>ثامناً: مؤشرات النجاح قياس الأثر وليس النشاط </a:t>
            </a:r>
          </a:p>
        </p:txBody>
      </p:sp>
      <p:sp>
        <p:nvSpPr>
          <p:cNvPr id="3" name="Rounded Rectangle 2"/>
          <p:cNvSpPr/>
          <p:nvPr/>
        </p:nvSpPr>
        <p:spPr>
          <a:xfrm>
            <a:off x="1097280" y="1828800"/>
            <a:ext cx="4572000" cy="3474720"/>
          </a:xfrm>
          <a:prstGeom prst="roundRect">
            <a:avLst/>
          </a:prstGeom>
          <a:solidFill>
            <a:srgbClr val="FEF2F2"/>
          </a:solidFill>
          <a:ln w="25400">
            <a:solidFill>
              <a:srgbClr val="D9534F"/>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defRPr sz="1800" b="1">
                <a:solidFill>
                  <a:srgbClr val="D9534F"/>
                </a:solidFill>
                <a:latin typeface="Arial"/>
              </a:defRPr>
            </a:pPr>
            <a:r>
              <a:rPr lang="ar-EG" sz="2000" noProof="1">
                <a:solidFill>
                  <a:srgbClr val="FF0000"/>
                </a:solidFill>
              </a:rPr>
              <a:t>❌ التركيز على النشاط فقط (المدخلات):</a:t>
            </a:r>
          </a:p>
          <a:p>
            <a:pPr algn="r" rtl="1">
              <a:lnSpc>
                <a:spcPct val="150000"/>
              </a:lnSpc>
              <a:defRPr sz="1600">
                <a:solidFill>
                  <a:srgbClr val="1E293B"/>
                </a:solidFill>
                <a:latin typeface="Arial"/>
              </a:defRPr>
            </a:pPr>
            <a:r>
              <a:rPr lang="ar-EG" sz="2000" noProof="1">
                <a:solidFill>
                  <a:schemeClr val="tx1"/>
                </a:solidFill>
              </a:rPr>
              <a:t>• عدد الورش المنفذة</a:t>
            </a:r>
          </a:p>
          <a:p>
            <a:pPr algn="r" rtl="1">
              <a:lnSpc>
                <a:spcPct val="150000"/>
              </a:lnSpc>
              <a:defRPr sz="1600">
                <a:solidFill>
                  <a:srgbClr val="1E293B"/>
                </a:solidFill>
                <a:latin typeface="Arial"/>
              </a:defRPr>
            </a:pPr>
            <a:r>
              <a:rPr lang="ar-EG" sz="2000" noProof="1">
                <a:solidFill>
                  <a:schemeClr val="tx1"/>
                </a:solidFill>
              </a:rPr>
              <a:t>• عدد الاجتماعات المعقودة</a:t>
            </a:r>
          </a:p>
          <a:p>
            <a:pPr algn="r" rtl="1">
              <a:lnSpc>
                <a:spcPct val="150000"/>
              </a:lnSpc>
              <a:defRPr sz="1600">
                <a:solidFill>
                  <a:srgbClr val="1E293B"/>
                </a:solidFill>
                <a:latin typeface="Arial"/>
              </a:defRPr>
            </a:pPr>
            <a:r>
              <a:rPr lang="ar-EG" sz="2000" noProof="1">
                <a:solidFill>
                  <a:schemeClr val="tx1"/>
                </a:solidFill>
              </a:rPr>
              <a:t>• عدد التعاميم المرسلة</a:t>
            </a:r>
          </a:p>
        </p:txBody>
      </p:sp>
      <p:sp>
        <p:nvSpPr>
          <p:cNvPr id="4" name="Rounded Rectangle 3"/>
          <p:cNvSpPr/>
          <p:nvPr/>
        </p:nvSpPr>
        <p:spPr>
          <a:xfrm>
            <a:off x="6522415" y="1828800"/>
            <a:ext cx="4572000" cy="3474720"/>
          </a:xfrm>
          <a:prstGeom prst="roundRect">
            <a:avLst/>
          </a:prstGeom>
          <a:solidFill>
            <a:srgbClr val="ECFDF5"/>
          </a:solidFill>
          <a:ln w="25400">
            <a:solidFill>
              <a:srgbClr val="00A676"/>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defRPr sz="1800" b="1">
                <a:solidFill>
                  <a:srgbClr val="00A676"/>
                </a:solidFill>
                <a:latin typeface="Arial"/>
              </a:defRPr>
            </a:pPr>
            <a:r>
              <a:rPr lang="ar-EG" sz="2000" noProof="1">
                <a:solidFill>
                  <a:srgbClr val="00B050"/>
                </a:solidFill>
              </a:rPr>
              <a:t>✔ التركيز على الأثر الفعلي (المخرجات):</a:t>
            </a:r>
          </a:p>
          <a:p>
            <a:pPr algn="r" rtl="1">
              <a:lnSpc>
                <a:spcPct val="150000"/>
              </a:lnSpc>
              <a:defRPr sz="1600">
                <a:solidFill>
                  <a:srgbClr val="1E293B"/>
                </a:solidFill>
                <a:latin typeface="Arial"/>
              </a:defRPr>
            </a:pPr>
            <a:r>
              <a:rPr lang="ar-EG" sz="2000" noProof="1">
                <a:solidFill>
                  <a:schemeClr val="tx1"/>
                </a:solidFill>
              </a:rPr>
              <a:t>• نسبة التحسن في نتائج الطلاب</a:t>
            </a:r>
          </a:p>
          <a:p>
            <a:pPr algn="r" rtl="1">
              <a:lnSpc>
                <a:spcPct val="150000"/>
              </a:lnSpc>
              <a:defRPr sz="1600">
                <a:solidFill>
                  <a:srgbClr val="1E293B"/>
                </a:solidFill>
                <a:latin typeface="Arial"/>
              </a:defRPr>
            </a:pPr>
            <a:r>
              <a:rPr lang="ar-EG" sz="2000" noProof="1">
                <a:solidFill>
                  <a:schemeClr val="tx1"/>
                </a:solidFill>
              </a:rPr>
              <a:t>• ارتفاع نتائج مؤشرات التقييم</a:t>
            </a:r>
          </a:p>
          <a:p>
            <a:pPr algn="r" rtl="1">
              <a:lnSpc>
                <a:spcPct val="150000"/>
              </a:lnSpc>
              <a:defRPr sz="1600">
                <a:solidFill>
                  <a:srgbClr val="1E293B"/>
                </a:solidFill>
                <a:latin typeface="Arial"/>
              </a:defRPr>
            </a:pPr>
            <a:r>
              <a:rPr lang="ar-EG" sz="2000" noProof="1">
                <a:solidFill>
                  <a:schemeClr val="tx1"/>
                </a:solidFill>
              </a:rPr>
              <a:t>• نسبة إتقان المهارات المستهدفة</a:t>
            </a:r>
          </a:p>
        </p:txBody>
      </p:sp>
      <p:sp>
        <p:nvSpPr>
          <p:cNvPr id="5" name="TextBox 4"/>
          <p:cNvSpPr txBox="1"/>
          <p:nvPr/>
        </p:nvSpPr>
        <p:spPr>
          <a:xfrm>
            <a:off x="1930400" y="5669280"/>
            <a:ext cx="7677787" cy="400110"/>
          </a:xfrm>
          <a:prstGeom prst="rect">
            <a:avLst/>
          </a:prstGeom>
          <a:noFill/>
        </p:spPr>
        <p:txBody>
          <a:bodyPr wrap="square">
            <a:spAutoFit/>
          </a:bodyPr>
          <a:lstStyle/>
          <a:p>
            <a:pPr algn="r" rtl="1">
              <a:defRPr sz="2000" b="1">
                <a:solidFill>
                  <a:srgbClr val="0A2540"/>
                </a:solidFill>
                <a:latin typeface="Arial"/>
              </a:defRPr>
            </a:pPr>
            <a:r>
              <a:rPr lang="ar-EG" noProof="1">
                <a:solidFill>
                  <a:schemeClr val="bg1"/>
                </a:solidFill>
              </a:rPr>
              <a:t>🎯 "في التميز المؤسسي: نحن نقيس الأثر المتحقق، وليس مجرد كثرة الأنشطة."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fltVal val="0"/>
                                          </p:val>
                                        </p:tav>
                                        <p:tav tm="100000">
                                          <p:val>
                                            <p:strVal val="#ppt_h"/>
                                          </p:val>
                                        </p:tav>
                                      </p:tavLst>
                                    </p:anim>
                                    <p:anim calcmode="lin" valueType="num">
                                      <p:cBhvr>
                                        <p:cTn id="9" dur="1750" fill="hold"/>
                                        <p:tgtEl>
                                          <p:spTgt spid="2"/>
                                        </p:tgtEl>
                                        <p:attrNameLst>
                                          <p:attrName>style.rotation</p:attrName>
                                        </p:attrNameLst>
                                      </p:cBhvr>
                                      <p:tavLst>
                                        <p:tav tm="0">
                                          <p:val>
                                            <p:fltVal val="90"/>
                                          </p:val>
                                        </p:tav>
                                        <p:tav tm="100000">
                                          <p:val>
                                            <p:fltVal val="0"/>
                                          </p:val>
                                        </p:tav>
                                      </p:tavLst>
                                    </p:anim>
                                    <p:animEffect transition="in" filter="fade">
                                      <p:cBhvr>
                                        <p:cTn id="10" dur="1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750" fill="hold"/>
                                        <p:tgtEl>
                                          <p:spTgt spid="3"/>
                                        </p:tgtEl>
                                        <p:attrNameLst>
                                          <p:attrName>ppt_w</p:attrName>
                                        </p:attrNameLst>
                                      </p:cBhvr>
                                      <p:tavLst>
                                        <p:tav tm="0">
                                          <p:val>
                                            <p:fltVal val="0"/>
                                          </p:val>
                                        </p:tav>
                                        <p:tav tm="100000">
                                          <p:val>
                                            <p:strVal val="#ppt_w"/>
                                          </p:val>
                                        </p:tav>
                                      </p:tavLst>
                                    </p:anim>
                                    <p:anim calcmode="lin" valueType="num">
                                      <p:cBhvr>
                                        <p:cTn id="14" dur="1750" fill="hold"/>
                                        <p:tgtEl>
                                          <p:spTgt spid="3"/>
                                        </p:tgtEl>
                                        <p:attrNameLst>
                                          <p:attrName>ppt_h</p:attrName>
                                        </p:attrNameLst>
                                      </p:cBhvr>
                                      <p:tavLst>
                                        <p:tav tm="0">
                                          <p:val>
                                            <p:fltVal val="0"/>
                                          </p:val>
                                        </p:tav>
                                        <p:tav tm="100000">
                                          <p:val>
                                            <p:strVal val="#ppt_h"/>
                                          </p:val>
                                        </p:tav>
                                      </p:tavLst>
                                    </p:anim>
                                    <p:anim calcmode="lin" valueType="num">
                                      <p:cBhvr>
                                        <p:cTn id="15" dur="1750" fill="hold"/>
                                        <p:tgtEl>
                                          <p:spTgt spid="3"/>
                                        </p:tgtEl>
                                        <p:attrNameLst>
                                          <p:attrName>style.rotation</p:attrName>
                                        </p:attrNameLst>
                                      </p:cBhvr>
                                      <p:tavLst>
                                        <p:tav tm="0">
                                          <p:val>
                                            <p:fltVal val="90"/>
                                          </p:val>
                                        </p:tav>
                                        <p:tav tm="100000">
                                          <p:val>
                                            <p:fltVal val="0"/>
                                          </p:val>
                                        </p:tav>
                                      </p:tavLst>
                                    </p:anim>
                                    <p:animEffect transition="in" filter="fade">
                                      <p:cBhvr>
                                        <p:cTn id="16" dur="1750"/>
                                        <p:tgtEl>
                                          <p:spTgt spid="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750" fill="hold"/>
                                        <p:tgtEl>
                                          <p:spTgt spid="4"/>
                                        </p:tgtEl>
                                        <p:attrNameLst>
                                          <p:attrName>ppt_w</p:attrName>
                                        </p:attrNameLst>
                                      </p:cBhvr>
                                      <p:tavLst>
                                        <p:tav tm="0">
                                          <p:val>
                                            <p:fltVal val="0"/>
                                          </p:val>
                                        </p:tav>
                                        <p:tav tm="100000">
                                          <p:val>
                                            <p:strVal val="#ppt_w"/>
                                          </p:val>
                                        </p:tav>
                                      </p:tavLst>
                                    </p:anim>
                                    <p:anim calcmode="lin" valueType="num">
                                      <p:cBhvr>
                                        <p:cTn id="20" dur="1750" fill="hold"/>
                                        <p:tgtEl>
                                          <p:spTgt spid="4"/>
                                        </p:tgtEl>
                                        <p:attrNameLst>
                                          <p:attrName>ppt_h</p:attrName>
                                        </p:attrNameLst>
                                      </p:cBhvr>
                                      <p:tavLst>
                                        <p:tav tm="0">
                                          <p:val>
                                            <p:fltVal val="0"/>
                                          </p:val>
                                        </p:tav>
                                        <p:tav tm="100000">
                                          <p:val>
                                            <p:strVal val="#ppt_h"/>
                                          </p:val>
                                        </p:tav>
                                      </p:tavLst>
                                    </p:anim>
                                    <p:anim calcmode="lin" valueType="num">
                                      <p:cBhvr>
                                        <p:cTn id="21" dur="1750" fill="hold"/>
                                        <p:tgtEl>
                                          <p:spTgt spid="4"/>
                                        </p:tgtEl>
                                        <p:attrNameLst>
                                          <p:attrName>style.rotation</p:attrName>
                                        </p:attrNameLst>
                                      </p:cBhvr>
                                      <p:tavLst>
                                        <p:tav tm="0">
                                          <p:val>
                                            <p:fltVal val="90"/>
                                          </p:val>
                                        </p:tav>
                                        <p:tav tm="100000">
                                          <p:val>
                                            <p:fltVal val="0"/>
                                          </p:val>
                                        </p:tav>
                                      </p:tavLst>
                                    </p:anim>
                                    <p:animEffect transition="in" filter="fade">
                                      <p:cBhvr>
                                        <p:cTn id="22" dur="1750"/>
                                        <p:tgtEl>
                                          <p:spTgt spid="4"/>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750" fill="hold"/>
                                        <p:tgtEl>
                                          <p:spTgt spid="5"/>
                                        </p:tgtEl>
                                        <p:attrNameLst>
                                          <p:attrName>ppt_w</p:attrName>
                                        </p:attrNameLst>
                                      </p:cBhvr>
                                      <p:tavLst>
                                        <p:tav tm="0">
                                          <p:val>
                                            <p:fltVal val="0"/>
                                          </p:val>
                                        </p:tav>
                                        <p:tav tm="100000">
                                          <p:val>
                                            <p:strVal val="#ppt_w"/>
                                          </p:val>
                                        </p:tav>
                                      </p:tavLst>
                                    </p:anim>
                                    <p:anim calcmode="lin" valueType="num">
                                      <p:cBhvr>
                                        <p:cTn id="26" dur="1750" fill="hold"/>
                                        <p:tgtEl>
                                          <p:spTgt spid="5"/>
                                        </p:tgtEl>
                                        <p:attrNameLst>
                                          <p:attrName>ppt_h</p:attrName>
                                        </p:attrNameLst>
                                      </p:cBhvr>
                                      <p:tavLst>
                                        <p:tav tm="0">
                                          <p:val>
                                            <p:fltVal val="0"/>
                                          </p:val>
                                        </p:tav>
                                        <p:tav tm="100000">
                                          <p:val>
                                            <p:strVal val="#ppt_h"/>
                                          </p:val>
                                        </p:tav>
                                      </p:tavLst>
                                    </p:anim>
                                    <p:anim calcmode="lin" valueType="num">
                                      <p:cBhvr>
                                        <p:cTn id="27" dur="1750" fill="hold"/>
                                        <p:tgtEl>
                                          <p:spTgt spid="5"/>
                                        </p:tgtEl>
                                        <p:attrNameLst>
                                          <p:attrName>style.rotation</p:attrName>
                                        </p:attrNameLst>
                                      </p:cBhvr>
                                      <p:tavLst>
                                        <p:tav tm="0">
                                          <p:val>
                                            <p:fltVal val="90"/>
                                          </p:val>
                                        </p:tav>
                                        <p:tav tm="100000">
                                          <p:val>
                                            <p:fltVal val="0"/>
                                          </p:val>
                                        </p:tav>
                                      </p:tavLst>
                                    </p:anim>
                                    <p:animEffect transition="in" filter="fade">
                                      <p:cBhvr>
                                        <p:cTn id="28"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1345" y="1105989"/>
            <a:ext cx="10728655" cy="492443"/>
          </a:xfrm>
          <a:prstGeom prst="rect">
            <a:avLst/>
          </a:prstGeom>
          <a:noFill/>
        </p:spPr>
        <p:txBody>
          <a:bodyPr wrap="square">
            <a:spAutoFit/>
          </a:bodyPr>
          <a:lstStyle/>
          <a:p>
            <a:pPr algn="r" rtl="1">
              <a:defRPr sz="2600" b="1">
                <a:solidFill>
                  <a:srgbClr val="0A2540"/>
                </a:solidFill>
                <a:latin typeface="Arial"/>
              </a:defRPr>
            </a:pPr>
            <a:r>
              <a:rPr lang="ar-EG" noProof="1">
                <a:solidFill>
                  <a:schemeClr val="bg1"/>
                </a:solidFill>
              </a:rPr>
              <a:t>تاسعاً: المتابعة والتقويم وإدارة المخاطر</a:t>
            </a:r>
          </a:p>
        </p:txBody>
      </p:sp>
      <p:sp>
        <p:nvSpPr>
          <p:cNvPr id="3" name="Rounded Rectangle 2"/>
          <p:cNvSpPr/>
          <p:nvPr/>
        </p:nvSpPr>
        <p:spPr>
          <a:xfrm>
            <a:off x="731520" y="1828800"/>
            <a:ext cx="5029200" cy="4114800"/>
          </a:xfrm>
          <a:prstGeom prst="roundRect">
            <a:avLst/>
          </a:prstGeom>
          <a:solidFill>
            <a:srgbClr val="F4F6F8"/>
          </a:solidFill>
          <a:ln w="19050">
            <a:solidFill>
              <a:srgbClr val="005B96"/>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lnSpc>
                <a:spcPct val="150000"/>
              </a:lnSpc>
              <a:defRPr sz="2000" b="1">
                <a:solidFill>
                  <a:srgbClr val="005B96"/>
                </a:solidFill>
                <a:latin typeface="Arial"/>
              </a:defRPr>
            </a:pPr>
            <a:r>
              <a:rPr lang="ar-EG" sz="2400" noProof="1">
                <a:solidFill>
                  <a:schemeClr val="tx2">
                    <a:lumMod val="60000"/>
                    <a:lumOff val="40000"/>
                  </a:schemeClr>
                </a:solidFill>
              </a:rPr>
              <a:t>🔄 دورة التحسين المستمر (PDCA):</a:t>
            </a:r>
            <a:endParaRPr lang="ar-EG" noProof="1">
              <a:solidFill>
                <a:schemeClr val="tx2">
                  <a:lumMod val="60000"/>
                  <a:lumOff val="40000"/>
                </a:schemeClr>
              </a:solidFill>
            </a:endParaRPr>
          </a:p>
          <a:p>
            <a:pPr algn="r" rtl="1">
              <a:lnSpc>
                <a:spcPct val="150000"/>
              </a:lnSpc>
              <a:spcBef>
                <a:spcPts val="600"/>
              </a:spcBef>
              <a:spcAft>
                <a:spcPts val="600"/>
              </a:spcAft>
              <a:defRPr sz="1500">
                <a:solidFill>
                  <a:srgbClr val="1E293B"/>
                </a:solidFill>
                <a:latin typeface="Arial"/>
              </a:defRPr>
            </a:pPr>
            <a:r>
              <a:rPr lang="ar-EG" noProof="1">
                <a:solidFill>
                  <a:schemeClr val="tx1"/>
                </a:solidFill>
              </a:rPr>
              <a:t>1</a:t>
            </a:r>
            <a:r>
              <a:rPr lang="ar-EG" sz="1600" noProof="1">
                <a:solidFill>
                  <a:schemeClr val="tx1"/>
                </a:solidFill>
              </a:rPr>
              <a:t>. </a:t>
            </a:r>
            <a:r>
              <a:rPr lang="ar-EG" sz="1600" b="1" noProof="1">
                <a:solidFill>
                  <a:schemeClr val="tx1"/>
                </a:solidFill>
              </a:rPr>
              <a:t>خطّط (Plan): تحديد الأهداف والمسارات</a:t>
            </a:r>
          </a:p>
          <a:p>
            <a:pPr algn="r" rtl="1">
              <a:lnSpc>
                <a:spcPct val="150000"/>
              </a:lnSpc>
              <a:spcBef>
                <a:spcPts val="600"/>
              </a:spcBef>
              <a:spcAft>
                <a:spcPts val="600"/>
              </a:spcAft>
              <a:defRPr sz="1500">
                <a:solidFill>
                  <a:srgbClr val="1E293B"/>
                </a:solidFill>
                <a:latin typeface="Arial"/>
              </a:defRPr>
            </a:pPr>
            <a:r>
              <a:rPr lang="ar-EG" sz="1600" b="1" noProof="1">
                <a:solidFill>
                  <a:schemeClr val="tx1"/>
                </a:solidFill>
              </a:rPr>
              <a:t>2. نفّذ (Do): تطبيق المبادرات والإجراءات</a:t>
            </a:r>
          </a:p>
          <a:p>
            <a:pPr algn="r" rtl="1">
              <a:lnSpc>
                <a:spcPct val="150000"/>
              </a:lnSpc>
              <a:spcBef>
                <a:spcPts val="600"/>
              </a:spcBef>
              <a:spcAft>
                <a:spcPts val="600"/>
              </a:spcAft>
              <a:defRPr sz="1500">
                <a:solidFill>
                  <a:srgbClr val="1E293B"/>
                </a:solidFill>
                <a:latin typeface="Arial"/>
              </a:defRPr>
            </a:pPr>
            <a:r>
              <a:rPr lang="ar-EG" sz="1600" b="1" noProof="1">
                <a:solidFill>
                  <a:schemeClr val="tx1"/>
                </a:solidFill>
              </a:rPr>
              <a:t>3. تحقّق (Check): قياس النتائج والافتراقات</a:t>
            </a:r>
          </a:p>
          <a:p>
            <a:pPr algn="r" rtl="1">
              <a:lnSpc>
                <a:spcPct val="150000"/>
              </a:lnSpc>
              <a:spcBef>
                <a:spcPts val="600"/>
              </a:spcBef>
              <a:spcAft>
                <a:spcPts val="600"/>
              </a:spcAft>
              <a:defRPr sz="1500">
                <a:solidFill>
                  <a:srgbClr val="1E293B"/>
                </a:solidFill>
                <a:latin typeface="Arial"/>
              </a:defRPr>
            </a:pPr>
            <a:r>
              <a:rPr lang="ar-EG" sz="1600" b="1" noProof="1">
                <a:solidFill>
                  <a:schemeClr val="tx1"/>
                </a:solidFill>
              </a:rPr>
              <a:t>4. حسّن (Act): اتخاذ الإجراءات التصحيحية</a:t>
            </a:r>
          </a:p>
        </p:txBody>
      </p:sp>
      <p:sp>
        <p:nvSpPr>
          <p:cNvPr id="4" name="Rounded Rectangle 3"/>
          <p:cNvSpPr/>
          <p:nvPr/>
        </p:nvSpPr>
        <p:spPr>
          <a:xfrm>
            <a:off x="6217920" y="1828800"/>
            <a:ext cx="5212080" cy="4206240"/>
          </a:xfrm>
          <a:prstGeom prst="roundRect">
            <a:avLst/>
          </a:prstGeom>
          <a:solidFill>
            <a:srgbClr val="F4F6F8"/>
          </a:solidFill>
          <a:ln w="19050">
            <a:solidFill>
              <a:srgbClr val="D9534F"/>
            </a:solid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r" rtl="1">
              <a:lnSpc>
                <a:spcPct val="150000"/>
              </a:lnSpc>
              <a:defRPr sz="2000" b="1">
                <a:solidFill>
                  <a:srgbClr val="D9534F"/>
                </a:solidFill>
                <a:latin typeface="Arial"/>
              </a:defRPr>
            </a:pPr>
            <a:endParaRPr lang="en-US" sz="2800" noProof="1">
              <a:solidFill>
                <a:schemeClr val="accent6">
                  <a:lumMod val="75000"/>
                </a:schemeClr>
              </a:solidFill>
            </a:endParaRPr>
          </a:p>
          <a:p>
            <a:pPr algn="r" rtl="1">
              <a:lnSpc>
                <a:spcPct val="150000"/>
              </a:lnSpc>
              <a:defRPr sz="2000" b="1">
                <a:solidFill>
                  <a:srgbClr val="D9534F"/>
                </a:solidFill>
                <a:latin typeface="Arial"/>
              </a:defRPr>
            </a:pPr>
            <a:r>
              <a:rPr lang="ar-EG" sz="2800" noProof="1">
                <a:solidFill>
                  <a:schemeClr val="accent6">
                    <a:lumMod val="75000"/>
                  </a:schemeClr>
                </a:solidFill>
              </a:rPr>
              <a:t>⚠️ إدارة المخاطر المعالجة:</a:t>
            </a:r>
          </a:p>
          <a:p>
            <a:pPr algn="r" rtl="1">
              <a:lnSpc>
                <a:spcPct val="150000"/>
              </a:lnSpc>
              <a:defRPr sz="1600" b="1">
                <a:solidFill>
                  <a:srgbClr val="1E293B"/>
                </a:solidFill>
                <a:latin typeface="Arial"/>
              </a:defRPr>
            </a:pPr>
            <a:r>
              <a:rPr lang="ar-EG" sz="2000" noProof="1">
                <a:solidFill>
                  <a:schemeClr val="tx1"/>
                </a:solidFill>
              </a:rPr>
              <a:t>المخاطر المحتملة:</a:t>
            </a:r>
          </a:p>
          <a:p>
            <a:pPr algn="r" rtl="1">
              <a:lnSpc>
                <a:spcPct val="150000"/>
              </a:lnSpc>
              <a:defRPr sz="1400">
                <a:solidFill>
                  <a:srgbClr val="1E293B"/>
                </a:solidFill>
                <a:latin typeface="Arial"/>
              </a:defRPr>
            </a:pPr>
            <a:r>
              <a:rPr lang="ar-EG" sz="2000" b="1" noProof="1">
                <a:solidFill>
                  <a:schemeClr val="tx1"/>
                </a:solidFill>
              </a:rPr>
              <a:t>ضعف الالتزام، نقص الموارد، مقاومة التغيير.</a:t>
            </a:r>
          </a:p>
          <a:p>
            <a:pPr algn="r" rtl="1">
              <a:lnSpc>
                <a:spcPct val="150000"/>
              </a:lnSpc>
              <a:defRPr sz="1600" b="1">
                <a:solidFill>
                  <a:srgbClr val="1E293B"/>
                </a:solidFill>
                <a:latin typeface="Arial"/>
              </a:defRPr>
            </a:pPr>
            <a:r>
              <a:rPr lang="ar-EG" sz="2000" b="1" noProof="1">
                <a:solidFill>
                  <a:schemeClr val="tx1"/>
                </a:solidFill>
              </a:rPr>
              <a:t>إجراءات المعالجة:</a:t>
            </a:r>
          </a:p>
          <a:p>
            <a:pPr algn="r" rtl="1">
              <a:lnSpc>
                <a:spcPct val="150000"/>
              </a:lnSpc>
              <a:defRPr sz="1400">
                <a:solidFill>
                  <a:srgbClr val="1E293B"/>
                </a:solidFill>
                <a:latin typeface="Arial"/>
              </a:defRPr>
            </a:pPr>
            <a:r>
              <a:rPr lang="ar-EG" sz="2000" b="1" noProof="1">
                <a:solidFill>
                  <a:schemeClr val="tx1"/>
                </a:solidFill>
              </a:rPr>
              <a:t>✔ تقديم التدريب والتوعية المستمرة.</a:t>
            </a:r>
            <a:br>
              <a:rPr lang="ar-EG" sz="2000" b="1" noProof="1">
                <a:solidFill>
                  <a:schemeClr val="tx1"/>
                </a:solidFill>
              </a:rPr>
            </a:br>
            <a:r>
              <a:rPr lang="ar-EG" sz="2000" b="1" noProof="1">
                <a:solidFill>
                  <a:schemeClr val="tx1"/>
                </a:solidFill>
              </a:rPr>
              <a:t>✔ توفير الدعم اللوجستي والمادي.</a:t>
            </a:r>
            <a:br>
              <a:rPr lang="ar-EG" sz="2000" b="1" noProof="1">
                <a:solidFill>
                  <a:schemeClr val="tx1"/>
                </a:solidFill>
              </a:rPr>
            </a:br>
            <a:r>
              <a:rPr lang="ar-EG" sz="2000" b="1" noProof="1">
                <a:solidFill>
                  <a:schemeClr val="tx1"/>
                </a:solidFill>
              </a:rPr>
              <a:t>✔ المتابعة الدورية والتحفيز</a:t>
            </a:r>
            <a:r>
              <a:rPr lang="ar-EG" noProof="1">
                <a:solidFill>
                  <a:schemeClr val="tx1"/>
                </a:solidFill>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75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1750"/>
                                        <p:tgtEl>
                                          <p:spTgt spid="3"/>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1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672" y="611981"/>
            <a:ext cx="10728655" cy="492443"/>
          </a:xfrm>
          <a:prstGeom prst="rect">
            <a:avLst/>
          </a:prstGeom>
          <a:noFill/>
        </p:spPr>
        <p:txBody>
          <a:bodyPr wrap="square">
            <a:spAutoFit/>
          </a:bodyPr>
          <a:lstStyle/>
          <a:p>
            <a:pPr algn="r">
              <a:defRPr sz="2600" b="1">
                <a:solidFill>
                  <a:srgbClr val="0A2540"/>
                </a:solidFill>
                <a:latin typeface="Arial"/>
              </a:defRPr>
            </a:pPr>
            <a:r>
              <a:rPr lang="ar-EG" noProof="1">
                <a:solidFill>
                  <a:schemeClr val="bg1"/>
                </a:solidFill>
              </a:rPr>
              <a:t>ملخص معايير خطة التحسين (9 ركائز)</a:t>
            </a:r>
          </a:p>
        </p:txBody>
      </p:sp>
      <p:sp>
        <p:nvSpPr>
          <p:cNvPr id="3" name="Rounded Rectangle 2"/>
          <p:cNvSpPr/>
          <p:nvPr/>
        </p:nvSpPr>
        <p:spPr>
          <a:xfrm>
            <a:off x="731520" y="1645920"/>
            <a:ext cx="3383280" cy="1463040"/>
          </a:xfrm>
          <a:prstGeom prst="roundRect">
            <a:avLst/>
          </a:prstGeom>
          <a:solidFill>
            <a:srgbClr val="F4F6F8"/>
          </a:solidFill>
          <a:ln w="19050">
            <a:solidFill>
              <a:srgbClr val="005B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 وضوح المشكلة</a:t>
            </a:r>
          </a:p>
          <a:p>
            <a:pPr algn="ctr" rtl="1">
              <a:defRPr sz="1300">
                <a:solidFill>
                  <a:srgbClr val="64748B"/>
                </a:solidFill>
                <a:latin typeface="Arial"/>
              </a:defRPr>
            </a:pPr>
            <a:r>
              <a:rPr lang="ar-EG" sz="1600" b="1" noProof="1">
                <a:solidFill>
                  <a:schemeClr val="bg1">
                    <a:lumMod val="50000"/>
                  </a:schemeClr>
                </a:solidFill>
              </a:rPr>
              <a:t>تشخيص دقيق بالأرقام</a:t>
            </a:r>
          </a:p>
        </p:txBody>
      </p:sp>
      <p:sp>
        <p:nvSpPr>
          <p:cNvPr id="4" name="Rounded Rectangle 3"/>
          <p:cNvSpPr/>
          <p:nvPr/>
        </p:nvSpPr>
        <p:spPr>
          <a:xfrm>
            <a:off x="4358030" y="1645920"/>
            <a:ext cx="3383280" cy="1463040"/>
          </a:xfrm>
          <a:prstGeom prst="roundRect">
            <a:avLst/>
          </a:prstGeom>
          <a:solidFill>
            <a:srgbClr val="F4F6F8"/>
          </a:solidFill>
          <a:ln w="19050">
            <a:solidFill>
              <a:srgbClr val="005B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أهداف SMART</a:t>
            </a:r>
          </a:p>
          <a:p>
            <a:pPr algn="ctr" rtl="1">
              <a:defRPr sz="1300">
                <a:solidFill>
                  <a:srgbClr val="64748B"/>
                </a:solidFill>
                <a:latin typeface="Arial"/>
              </a:defRPr>
            </a:pPr>
            <a:r>
              <a:rPr lang="ar-EG" sz="1600" b="1" noProof="1">
                <a:solidFill>
                  <a:schemeClr val="bg1">
                    <a:lumMod val="50000"/>
                  </a:schemeClr>
                </a:solidFill>
              </a:rPr>
              <a:t>قابلة للقياس والزمن</a:t>
            </a:r>
          </a:p>
        </p:txBody>
      </p:sp>
      <p:sp>
        <p:nvSpPr>
          <p:cNvPr id="5" name="Rounded Rectangle 4"/>
          <p:cNvSpPr/>
          <p:nvPr/>
        </p:nvSpPr>
        <p:spPr>
          <a:xfrm>
            <a:off x="7984540" y="1645920"/>
            <a:ext cx="3383280" cy="1463040"/>
          </a:xfrm>
          <a:prstGeom prst="roundRect">
            <a:avLst/>
          </a:prstGeom>
          <a:solidFill>
            <a:srgbClr val="F4F6F8"/>
          </a:solidFill>
          <a:ln w="19050">
            <a:solidFill>
              <a:srgbClr val="005B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ارتباط بالمؤشرات</a:t>
            </a:r>
          </a:p>
          <a:p>
            <a:pPr algn="ctr" rtl="1">
              <a:defRPr sz="1300">
                <a:solidFill>
                  <a:srgbClr val="64748B"/>
                </a:solidFill>
                <a:latin typeface="Arial"/>
              </a:defRPr>
            </a:pPr>
            <a:r>
              <a:rPr lang="ar-EG" sz="1600" b="1" noProof="1">
                <a:solidFill>
                  <a:schemeClr val="bg1">
                    <a:lumMod val="50000"/>
                  </a:schemeClr>
                </a:solidFill>
              </a:rPr>
              <a:t>تخدم المؤشر مباشرة</a:t>
            </a:r>
          </a:p>
        </p:txBody>
      </p:sp>
      <p:sp>
        <p:nvSpPr>
          <p:cNvPr id="6" name="Rounded Rectangle 5"/>
          <p:cNvSpPr/>
          <p:nvPr/>
        </p:nvSpPr>
        <p:spPr>
          <a:xfrm>
            <a:off x="731520" y="3291840"/>
            <a:ext cx="3383280" cy="146304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إجراءات تنفيذية</a:t>
            </a:r>
          </a:p>
          <a:p>
            <a:pPr algn="ctr" rtl="1">
              <a:defRPr sz="1300">
                <a:solidFill>
                  <a:srgbClr val="64748B"/>
                </a:solidFill>
                <a:latin typeface="Arial"/>
              </a:defRPr>
            </a:pPr>
            <a:r>
              <a:rPr lang="ar-EG" sz="1600" b="1" noProof="1">
                <a:solidFill>
                  <a:schemeClr val="bg1">
                    <a:lumMod val="50000"/>
                  </a:schemeClr>
                </a:solidFill>
              </a:rPr>
              <a:t>خطوات عمل ملزمة</a:t>
            </a:r>
          </a:p>
        </p:txBody>
      </p:sp>
      <p:sp>
        <p:nvSpPr>
          <p:cNvPr id="7" name="Rounded Rectangle 6"/>
          <p:cNvSpPr/>
          <p:nvPr/>
        </p:nvSpPr>
        <p:spPr>
          <a:xfrm>
            <a:off x="4358030" y="3291840"/>
            <a:ext cx="3383280" cy="146304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تحديد المسؤوليات</a:t>
            </a:r>
          </a:p>
          <a:p>
            <a:pPr algn="ctr" rtl="1">
              <a:defRPr sz="1300">
                <a:solidFill>
                  <a:srgbClr val="64748B"/>
                </a:solidFill>
                <a:latin typeface="Arial"/>
              </a:defRPr>
            </a:pPr>
            <a:r>
              <a:rPr lang="ar-EG" sz="1600" b="1" noProof="1">
                <a:solidFill>
                  <a:schemeClr val="bg1">
                    <a:lumMod val="50000"/>
                  </a:schemeClr>
                </a:solidFill>
              </a:rPr>
              <a:t>وضوح الأدوار</a:t>
            </a:r>
          </a:p>
        </p:txBody>
      </p:sp>
      <p:sp>
        <p:nvSpPr>
          <p:cNvPr id="8" name="Rounded Rectangle 7"/>
          <p:cNvSpPr/>
          <p:nvPr/>
        </p:nvSpPr>
        <p:spPr>
          <a:xfrm>
            <a:off x="7984540" y="3291840"/>
            <a:ext cx="3383280" cy="1463040"/>
          </a:xfrm>
          <a:prstGeom prst="roundRect">
            <a:avLst/>
          </a:prstGeom>
          <a:solidFill>
            <a:srgbClr val="F4F6F8"/>
          </a:solidFill>
          <a:ln w="19050">
            <a:solidFill>
              <a:srgbClr val="00A67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توفير الموارد</a:t>
            </a:r>
          </a:p>
          <a:p>
            <a:pPr algn="ctr" rtl="1">
              <a:defRPr sz="1300">
                <a:solidFill>
                  <a:srgbClr val="64748B"/>
                </a:solidFill>
                <a:latin typeface="Arial"/>
              </a:defRPr>
            </a:pPr>
            <a:r>
              <a:rPr lang="ar-EG" sz="1600" b="1" noProof="1">
                <a:solidFill>
                  <a:schemeClr val="bg1">
                    <a:lumMod val="50000"/>
                  </a:schemeClr>
                </a:solidFill>
              </a:rPr>
              <a:t>جاهزية المتطلبات</a:t>
            </a:r>
          </a:p>
        </p:txBody>
      </p:sp>
      <p:sp>
        <p:nvSpPr>
          <p:cNvPr id="9" name="Rounded Rectangle 8"/>
          <p:cNvSpPr/>
          <p:nvPr/>
        </p:nvSpPr>
        <p:spPr>
          <a:xfrm>
            <a:off x="731520" y="4937760"/>
            <a:ext cx="3383280" cy="1463040"/>
          </a:xfrm>
          <a:prstGeom prst="roundRect">
            <a:avLst/>
          </a:prstGeom>
          <a:solidFill>
            <a:srgbClr val="F4F6F8"/>
          </a:solidFill>
          <a:ln w="19050">
            <a:solidFill>
              <a:srgbClr val="0A25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إطار زمني</a:t>
            </a:r>
          </a:p>
          <a:p>
            <a:pPr algn="ctr" rtl="1">
              <a:defRPr sz="1300">
                <a:solidFill>
                  <a:srgbClr val="64748B"/>
                </a:solidFill>
                <a:latin typeface="Arial"/>
              </a:defRPr>
            </a:pPr>
            <a:r>
              <a:rPr lang="ar-EG" sz="1600" b="1" noProof="1">
                <a:solidFill>
                  <a:schemeClr val="bg1">
                    <a:lumMod val="50000"/>
                  </a:schemeClr>
                </a:solidFill>
              </a:rPr>
              <a:t>جدول إنجاز محدد</a:t>
            </a:r>
          </a:p>
        </p:txBody>
      </p:sp>
      <p:sp>
        <p:nvSpPr>
          <p:cNvPr id="10" name="Rounded Rectangle 9"/>
          <p:cNvSpPr/>
          <p:nvPr/>
        </p:nvSpPr>
        <p:spPr>
          <a:xfrm>
            <a:off x="4358030" y="4937760"/>
            <a:ext cx="3383280" cy="1463040"/>
          </a:xfrm>
          <a:prstGeom prst="roundRect">
            <a:avLst/>
          </a:prstGeom>
          <a:solidFill>
            <a:srgbClr val="F4F6F8"/>
          </a:solidFill>
          <a:ln w="19050">
            <a:solidFill>
              <a:srgbClr val="0A25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noProof="1">
                <a:solidFill>
                  <a:schemeClr val="tx1"/>
                </a:solidFill>
              </a:rPr>
              <a:t>📈</a:t>
            </a:r>
            <a:r>
              <a:rPr lang="ar-EG" sz="2400" noProof="1">
                <a:solidFill>
                  <a:schemeClr val="tx1"/>
                </a:solidFill>
              </a:rPr>
              <a:t> مؤشرات النجاح</a:t>
            </a:r>
          </a:p>
          <a:p>
            <a:pPr algn="ctr" rtl="1">
              <a:defRPr sz="1300">
                <a:solidFill>
                  <a:srgbClr val="64748B"/>
                </a:solidFill>
                <a:latin typeface="Arial"/>
              </a:defRPr>
            </a:pPr>
            <a:r>
              <a:rPr lang="ar-EG" sz="1600" b="1" noProof="1">
                <a:solidFill>
                  <a:schemeClr val="bg1">
                    <a:lumMod val="50000"/>
                  </a:schemeClr>
                </a:solidFill>
              </a:rPr>
              <a:t>قياس الأثر المباشر</a:t>
            </a:r>
          </a:p>
        </p:txBody>
      </p:sp>
      <p:sp>
        <p:nvSpPr>
          <p:cNvPr id="11" name="Rounded Rectangle 10"/>
          <p:cNvSpPr/>
          <p:nvPr/>
        </p:nvSpPr>
        <p:spPr>
          <a:xfrm>
            <a:off x="7984540" y="4937760"/>
            <a:ext cx="3383280" cy="1463040"/>
          </a:xfrm>
          <a:prstGeom prst="roundRect">
            <a:avLst/>
          </a:prstGeom>
          <a:solidFill>
            <a:srgbClr val="F4F6F8"/>
          </a:solidFill>
          <a:ln w="19050">
            <a:solidFill>
              <a:srgbClr val="0A254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sz="2400" noProof="1">
                <a:solidFill>
                  <a:schemeClr val="tx1"/>
                </a:solidFill>
              </a:rPr>
              <a:t>🔄 متابعة وتقويم</a:t>
            </a:r>
          </a:p>
          <a:p>
            <a:pPr algn="ctr" rtl="1">
              <a:defRPr sz="1300">
                <a:solidFill>
                  <a:srgbClr val="64748B"/>
                </a:solidFill>
                <a:latin typeface="Arial"/>
              </a:defRPr>
            </a:pPr>
            <a:r>
              <a:rPr lang="ar-EG" sz="1600" b="1" noProof="1">
                <a:solidFill>
                  <a:schemeClr val="bg1">
                    <a:lumMod val="50000"/>
                  </a:schemeClr>
                </a:solidFill>
              </a:rPr>
              <a:t>تحسين مستدام للعمل</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2000"/>
                                        <p:tgtEl>
                                          <p:spTgt spid="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Oval 2"/>
          <p:cNvSpPr/>
          <p:nvPr/>
        </p:nvSpPr>
        <p:spPr>
          <a:xfrm>
            <a:off x="3352495" y="914400"/>
            <a:ext cx="5486400" cy="3657600"/>
          </a:xfrm>
          <a:prstGeom prst="ellipse">
            <a:avLst/>
          </a:prstGeom>
          <a:solidFill>
            <a:srgbClr val="005B96"/>
          </a:solidFill>
          <a:ln w="50800">
            <a:solidFill>
              <a:srgbClr val="00A676"/>
            </a:solidFill>
          </a:ln>
        </p:spPr>
        <p:style>
          <a:lnRef idx="1">
            <a:schemeClr val="accent1"/>
          </a:lnRef>
          <a:fillRef idx="3">
            <a:schemeClr val="accent1"/>
          </a:fillRef>
          <a:effectRef idx="2">
            <a:schemeClr val="accent1"/>
          </a:effectRef>
          <a:fontRef idx="minor">
            <a:schemeClr val="lt1"/>
          </a:fontRef>
        </p:style>
        <p:txBody>
          <a:bodyPr wrap="square" lIns="365760" rIns="365760" rtlCol="0" anchor="ctr"/>
          <a:lstStyle/>
          <a:p>
            <a:pPr algn="ctr" rtl="1">
              <a:defRPr sz="2000" b="1">
                <a:solidFill>
                  <a:srgbClr val="00A676"/>
                </a:solidFill>
                <a:latin typeface="Arial"/>
              </a:defRPr>
            </a:pPr>
            <a:r>
              <a:rPr lang="ar-EG" sz="2800" noProof="1">
                <a:solidFill>
                  <a:srgbClr val="00B050"/>
                </a:solidFill>
              </a:rPr>
              <a:t>الرسالة الرئيسة</a:t>
            </a:r>
          </a:p>
          <a:p>
            <a:pPr algn="ctr" rtl="1">
              <a:defRPr sz="2400" b="1">
                <a:solidFill>
                  <a:srgbClr val="FFFFFF"/>
                </a:solidFill>
                <a:latin typeface="Arial"/>
              </a:defRPr>
            </a:pPr>
            <a:r>
              <a:rPr lang="ar-EG" noProof="1"/>
              <a:t>" ليست الخطة الجيدة هي الأكثر صفحات، بل الأكثر أثراً ."</a:t>
            </a:r>
          </a:p>
        </p:txBody>
      </p:sp>
      <p:sp>
        <p:nvSpPr>
          <p:cNvPr id="4" name="Rounded Rectangle 3"/>
          <p:cNvSpPr/>
          <p:nvPr/>
        </p:nvSpPr>
        <p:spPr>
          <a:xfrm>
            <a:off x="914705" y="4937760"/>
            <a:ext cx="10362895" cy="1280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0A2540"/>
                </a:solidFill>
                <a:latin typeface="Arial"/>
              </a:defRPr>
            </a:pPr>
            <a:r>
              <a:rPr lang="ar-EG" noProof="1">
                <a:solidFill>
                  <a:schemeClr val="tx1"/>
                </a:solidFill>
              </a:rPr>
              <a:t>خطة التحسين الناجحة =</a:t>
            </a:r>
          </a:p>
          <a:p>
            <a:pPr algn="ctr" rtl="1">
              <a:defRPr sz="1800" b="1">
                <a:solidFill>
                  <a:srgbClr val="00A676"/>
                </a:solidFill>
                <a:latin typeface="Arial"/>
              </a:defRPr>
            </a:pPr>
            <a:r>
              <a:rPr lang="ar-EG" noProof="1">
                <a:solidFill>
                  <a:srgbClr val="00B050"/>
                </a:solidFill>
              </a:rPr>
              <a:t>تشخيص دقيق + أهداف ذكية + مبادرات نوعية + متابعة مستمرة + تحسين مستدام</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out)">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6" name="TextBox 5"/>
          <p:cNvSpPr txBox="1"/>
          <p:nvPr/>
        </p:nvSpPr>
        <p:spPr>
          <a:xfrm>
            <a:off x="1595437" y="2793802"/>
            <a:ext cx="9001125" cy="526939"/>
          </a:xfrm>
          <a:prstGeom prst="rect">
            <a:avLst/>
          </a:prstGeom>
          <a:noFill/>
        </p:spPr>
        <p:txBody>
          <a:bodyPr wrap="square" lIns="0" tIns="0" rIns="0" bIns="0" anchor="t">
            <a:spAutoFit/>
          </a:bodyPr>
          <a:lstStyle/>
          <a:p>
            <a:pPr algn="l">
              <a:lnSpc>
                <a:spcPts val="4312"/>
              </a:lnSpc>
            </a:pPr>
            <a:r>
              <a:rPr lang="ar-EG" sz="3450" b="0" i="0" u="none" noProof="1">
                <a:solidFill>
                  <a:srgbClr val="FFFFFF"/>
                </a:solidFill>
                <a:latin typeface="Cairo ExtraBold"/>
              </a:rPr>
              <a:t>خطة التحسين وفق مؤشرات هيئة تقويم التعليم والتدريب</a:t>
            </a:r>
          </a:p>
        </p:txBody>
      </p:sp>
      <p:sp>
        <p:nvSpPr>
          <p:cNvPr id="7" name="TextBox 6"/>
          <p:cNvSpPr txBox="1"/>
          <p:nvPr/>
        </p:nvSpPr>
        <p:spPr>
          <a:xfrm>
            <a:off x="3048000" y="4064198"/>
            <a:ext cx="8429625" cy="314325"/>
          </a:xfrm>
          <a:prstGeom prst="rect">
            <a:avLst/>
          </a:prstGeom>
          <a:noFill/>
        </p:spPr>
        <p:txBody>
          <a:bodyPr wrap="square" lIns="0" tIns="0" rIns="0" bIns="0" anchor="t">
            <a:spAutoFit/>
          </a:bodyPr>
          <a:lstStyle/>
          <a:p>
            <a:pPr algn="l">
              <a:lnSpc>
                <a:spcPts val="2475"/>
              </a:lnSpc>
            </a:pPr>
            <a:r>
              <a:rPr lang="ar-EG" b="1" i="0" u="none" noProof="1">
                <a:solidFill>
                  <a:srgbClr val="CBD5E1"/>
                </a:solidFill>
                <a:latin typeface="Tajawal"/>
              </a:rPr>
              <a:t>من تحليل المؤشرات إلى بناء المبادرات وتحقيق التميز المؤسسي المستدام</a:t>
            </a:r>
          </a:p>
        </p:txBody>
      </p:sp>
      <p:sp>
        <p:nvSpPr>
          <p:cNvPr id="25" name="TextBox 6">
            <a:extLst>
              <a:ext uri="{FF2B5EF4-FFF2-40B4-BE49-F238E27FC236}">
                <a16:creationId xmlns:a16="http://schemas.microsoft.com/office/drawing/2014/main" id="{AA915523-BA36-B082-FA1F-C90CCA800716}"/>
              </a:ext>
            </a:extLst>
          </p:cNvPr>
          <p:cNvSpPr txBox="1"/>
          <p:nvPr/>
        </p:nvSpPr>
        <p:spPr>
          <a:xfrm>
            <a:off x="1426564" y="5071192"/>
            <a:ext cx="8429625" cy="314325"/>
          </a:xfrm>
          <a:prstGeom prst="rect">
            <a:avLst/>
          </a:prstGeom>
          <a:noFill/>
        </p:spPr>
        <p:txBody>
          <a:bodyPr wrap="square" lIns="0" tIns="0" rIns="0" bIns="0" anchor="t">
            <a:spAutoFit/>
          </a:bodyPr>
          <a:lstStyle/>
          <a:p>
            <a:pPr algn="ctr">
              <a:lnSpc>
                <a:spcPts val="2729"/>
              </a:lnSpc>
            </a:pPr>
            <a:r>
              <a:rPr lang="ar-EG" b="1" noProof="1">
                <a:solidFill>
                  <a:srgbClr val="0284C7"/>
                </a:solidFill>
                <a:latin typeface="Tajawal"/>
              </a:rPr>
              <a:t>"التحسين رحلة لا تنتهي... والتميز محطة تتجدد باستمرار."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11639550" y="557212"/>
            <a:ext cx="76200" cy="304800"/>
          </a:xfrm>
          <a:prstGeom prst="rect">
            <a:avLst/>
          </a:prstGeom>
        </p:spPr>
      </p:pic>
      <p:pic>
        <p:nvPicPr>
          <p:cNvPr id="5" name="Picture 4" descr="image.png"/>
          <p:cNvPicPr>
            <a:picLocks noChangeAspect="1"/>
          </p:cNvPicPr>
          <p:nvPr/>
        </p:nvPicPr>
        <p:blipFill>
          <a:blip r:embed="rId3"/>
          <a:stretch>
            <a:fillRect/>
          </a:stretch>
        </p:blipFill>
        <p:spPr>
          <a:xfrm>
            <a:off x="6262687" y="2005012"/>
            <a:ext cx="5453062" cy="3619500"/>
          </a:xfrm>
          <a:prstGeom prst="rect">
            <a:avLst/>
          </a:prstGeom>
        </p:spPr>
      </p:pic>
      <p:pic>
        <p:nvPicPr>
          <p:cNvPr id="6" name="Picture 5" descr="image.png"/>
          <p:cNvPicPr>
            <a:picLocks noChangeAspect="1"/>
          </p:cNvPicPr>
          <p:nvPr/>
        </p:nvPicPr>
        <p:blipFill>
          <a:blip r:embed="rId4"/>
          <a:stretch>
            <a:fillRect/>
          </a:stretch>
        </p:blipFill>
        <p:spPr>
          <a:xfrm>
            <a:off x="476250" y="2581275"/>
            <a:ext cx="5453062" cy="714375"/>
          </a:xfrm>
          <a:prstGeom prst="rect">
            <a:avLst/>
          </a:prstGeom>
        </p:spPr>
      </p:pic>
      <p:pic>
        <p:nvPicPr>
          <p:cNvPr id="7" name="Picture 6" descr="image.png"/>
          <p:cNvPicPr>
            <a:picLocks noChangeAspect="1"/>
          </p:cNvPicPr>
          <p:nvPr/>
        </p:nvPicPr>
        <p:blipFill>
          <a:blip r:embed="rId4"/>
          <a:stretch>
            <a:fillRect/>
          </a:stretch>
        </p:blipFill>
        <p:spPr>
          <a:xfrm>
            <a:off x="476250" y="3448050"/>
            <a:ext cx="5453062" cy="714375"/>
          </a:xfrm>
          <a:prstGeom prst="rect">
            <a:avLst/>
          </a:prstGeom>
        </p:spPr>
      </p:pic>
      <p:pic>
        <p:nvPicPr>
          <p:cNvPr id="8" name="Picture 7" descr="image.png"/>
          <p:cNvPicPr>
            <a:picLocks noChangeAspect="1"/>
          </p:cNvPicPr>
          <p:nvPr/>
        </p:nvPicPr>
        <p:blipFill>
          <a:blip r:embed="rId5"/>
          <a:stretch>
            <a:fillRect/>
          </a:stretch>
        </p:blipFill>
        <p:spPr>
          <a:xfrm>
            <a:off x="476250" y="4314825"/>
            <a:ext cx="5453062" cy="733425"/>
          </a:xfrm>
          <a:prstGeom prst="rect">
            <a:avLst/>
          </a:prstGeom>
        </p:spPr>
      </p:pic>
      <p:pic>
        <p:nvPicPr>
          <p:cNvPr id="9" name="Picture 8" descr="image.png"/>
          <p:cNvPicPr>
            <a:picLocks noChangeAspect="1"/>
          </p:cNvPicPr>
          <p:nvPr/>
        </p:nvPicPr>
        <p:blipFill>
          <a:blip r:embed="rId6"/>
          <a:stretch>
            <a:fillRect/>
          </a:stretch>
        </p:blipFill>
        <p:spPr>
          <a:xfrm>
            <a:off x="5367337" y="2767012"/>
            <a:ext cx="342900" cy="342900"/>
          </a:xfrm>
          <a:prstGeom prst="rect">
            <a:avLst/>
          </a:prstGeom>
        </p:spPr>
      </p:pic>
      <p:pic>
        <p:nvPicPr>
          <p:cNvPr id="10" name="Picture 9" descr="image.png"/>
          <p:cNvPicPr>
            <a:picLocks noChangeAspect="1"/>
          </p:cNvPicPr>
          <p:nvPr/>
        </p:nvPicPr>
        <p:blipFill>
          <a:blip r:embed="rId7"/>
          <a:stretch>
            <a:fillRect/>
          </a:stretch>
        </p:blipFill>
        <p:spPr>
          <a:xfrm>
            <a:off x="5367337" y="3633787"/>
            <a:ext cx="342900" cy="342900"/>
          </a:xfrm>
          <a:prstGeom prst="rect">
            <a:avLst/>
          </a:prstGeom>
        </p:spPr>
      </p:pic>
      <p:sp>
        <p:nvSpPr>
          <p:cNvPr id="18" name="TextBox 17"/>
          <p:cNvSpPr txBox="1"/>
          <p:nvPr/>
        </p:nvSpPr>
        <p:spPr>
          <a:xfrm>
            <a:off x="8321040" y="512900"/>
            <a:ext cx="3978910" cy="430887"/>
          </a:xfrm>
          <a:prstGeom prst="rect">
            <a:avLst/>
          </a:prstGeom>
          <a:noFill/>
        </p:spPr>
        <p:txBody>
          <a:bodyPr wrap="square" lIns="0" tIns="0" rIns="0" bIns="0" anchor="t">
            <a:spAutoFit/>
          </a:bodyPr>
          <a:lstStyle/>
          <a:p>
            <a:pPr algn="l"/>
            <a:r>
              <a:rPr lang="ar-EG" sz="2800" b="1" i="0" u="none" noProof="1">
                <a:solidFill>
                  <a:schemeClr val="bg1"/>
                </a:solidFill>
                <a:latin typeface="Cairo ExtraBold"/>
              </a:rPr>
              <a:t>فلسفة التغيير والتحسين</a:t>
            </a:r>
          </a:p>
        </p:txBody>
      </p:sp>
      <p:pic>
        <p:nvPicPr>
          <p:cNvPr id="19" name="Picture 18" descr="image.png"/>
          <p:cNvPicPr>
            <a:picLocks noChangeAspect="1"/>
          </p:cNvPicPr>
          <p:nvPr/>
        </p:nvPicPr>
        <p:blipFill>
          <a:blip r:embed="rId8"/>
          <a:stretch>
            <a:fillRect/>
          </a:stretch>
        </p:blipFill>
        <p:spPr>
          <a:xfrm>
            <a:off x="6262687" y="2005012"/>
            <a:ext cx="5453062" cy="3619500"/>
          </a:xfrm>
          <a:prstGeom prst="rect">
            <a:avLst/>
          </a:prstGeom>
        </p:spPr>
      </p:pic>
      <p:pic>
        <p:nvPicPr>
          <p:cNvPr id="20" name="Picture 19" descr="image.png"/>
          <p:cNvPicPr>
            <a:picLocks noChangeAspect="1"/>
          </p:cNvPicPr>
          <p:nvPr/>
        </p:nvPicPr>
        <p:blipFill>
          <a:blip r:embed="rId9"/>
          <a:stretch>
            <a:fillRect/>
          </a:stretch>
        </p:blipFill>
        <p:spPr>
          <a:xfrm>
            <a:off x="5357812" y="4510087"/>
            <a:ext cx="342900" cy="342900"/>
          </a:xfrm>
          <a:prstGeom prst="rect">
            <a:avLst/>
          </a:prstGeom>
        </p:spPr>
      </p:pic>
      <p:sp>
        <p:nvSpPr>
          <p:cNvPr id="21" name="TextBox 20"/>
          <p:cNvSpPr txBox="1"/>
          <p:nvPr/>
        </p:nvSpPr>
        <p:spPr>
          <a:xfrm>
            <a:off x="2248613" y="2582378"/>
            <a:ext cx="3070383" cy="307777"/>
          </a:xfrm>
          <a:prstGeom prst="rect">
            <a:avLst/>
          </a:prstGeom>
          <a:noFill/>
        </p:spPr>
        <p:txBody>
          <a:bodyPr wrap="square" lIns="0" tIns="0" rIns="0" bIns="0" anchor="t">
            <a:spAutoFit/>
          </a:bodyPr>
          <a:lstStyle/>
          <a:p>
            <a:pPr algn="l"/>
            <a:r>
              <a:rPr lang="ar-EG" sz="2000" b="1" i="0" u="none" noProof="1">
                <a:solidFill>
                  <a:srgbClr val="0F172A"/>
                </a:solidFill>
                <a:latin typeface="Tajawal"/>
              </a:rPr>
              <a:t>المعايير المعتمدة (المجالات)</a:t>
            </a:r>
          </a:p>
        </p:txBody>
      </p:sp>
      <p:sp>
        <p:nvSpPr>
          <p:cNvPr id="22" name="TextBox 21"/>
          <p:cNvSpPr txBox="1"/>
          <p:nvPr/>
        </p:nvSpPr>
        <p:spPr>
          <a:xfrm>
            <a:off x="899410" y="2962275"/>
            <a:ext cx="4296477" cy="246221"/>
          </a:xfrm>
          <a:prstGeom prst="rect">
            <a:avLst/>
          </a:prstGeom>
          <a:noFill/>
        </p:spPr>
        <p:txBody>
          <a:bodyPr wrap="square" lIns="0" tIns="0" rIns="0" bIns="0" anchor="t">
            <a:spAutoFit/>
          </a:bodyPr>
          <a:lstStyle/>
          <a:p>
            <a:pPr algn="ctr"/>
            <a:r>
              <a:rPr lang="ar-EG" sz="1600" b="1" i="0" u="none" noProof="1">
                <a:solidFill>
                  <a:srgbClr val="475569"/>
                </a:solidFill>
                <a:latin typeface="Tajawal"/>
              </a:rPr>
              <a:t>تضعها الهيئة كأطر ثابته شاملة للعملية التعليمية والإدارية.</a:t>
            </a:r>
          </a:p>
        </p:txBody>
      </p:sp>
      <p:sp>
        <p:nvSpPr>
          <p:cNvPr id="23" name="TextBox 22"/>
          <p:cNvSpPr txBox="1"/>
          <p:nvPr/>
        </p:nvSpPr>
        <p:spPr>
          <a:xfrm>
            <a:off x="2155150" y="3479898"/>
            <a:ext cx="2740342" cy="307777"/>
          </a:xfrm>
          <a:prstGeom prst="rect">
            <a:avLst/>
          </a:prstGeom>
          <a:noFill/>
        </p:spPr>
        <p:txBody>
          <a:bodyPr wrap="square" lIns="0" tIns="0" rIns="0" bIns="0" anchor="t">
            <a:spAutoFit/>
          </a:bodyPr>
          <a:lstStyle/>
          <a:p>
            <a:pPr algn="l"/>
            <a:r>
              <a:rPr lang="ar-EG" sz="2000" b="1" i="0" u="none" noProof="1">
                <a:solidFill>
                  <a:srgbClr val="0F172A"/>
                </a:solidFill>
                <a:latin typeface="Tajawal"/>
              </a:rPr>
              <a:t>المؤشرات المقيسة (الأدوات)</a:t>
            </a:r>
          </a:p>
        </p:txBody>
      </p:sp>
      <p:sp>
        <p:nvSpPr>
          <p:cNvPr id="24" name="TextBox 23"/>
          <p:cNvSpPr txBox="1"/>
          <p:nvPr/>
        </p:nvSpPr>
        <p:spPr>
          <a:xfrm>
            <a:off x="1454046" y="3829050"/>
            <a:ext cx="3741841" cy="246221"/>
          </a:xfrm>
          <a:prstGeom prst="rect">
            <a:avLst/>
          </a:prstGeom>
          <a:noFill/>
        </p:spPr>
        <p:txBody>
          <a:bodyPr wrap="square" lIns="0" tIns="0" rIns="0" bIns="0" anchor="t">
            <a:spAutoFit/>
          </a:bodyPr>
          <a:lstStyle/>
          <a:p>
            <a:r>
              <a:rPr lang="ar-EG" sz="1600" b="1" i="0" u="none" noProof="1">
                <a:solidFill>
                  <a:srgbClr val="475569"/>
                </a:solidFill>
                <a:latin typeface="Tajawal"/>
              </a:rPr>
              <a:t>عناصر القياس </a:t>
            </a:r>
            <a:r>
              <a:rPr lang="ar-EG" sz="1600" b="1" noProof="1">
                <a:solidFill>
                  <a:srgbClr val="475569"/>
                </a:solidFill>
                <a:latin typeface="Tajawal"/>
              </a:rPr>
              <a:t>الموحدة</a:t>
            </a:r>
            <a:r>
              <a:rPr lang="ar-EG" sz="1600" b="1" i="0" u="none" noProof="1">
                <a:solidFill>
                  <a:srgbClr val="475569"/>
                </a:solidFill>
                <a:latin typeface="Tajawal"/>
              </a:rPr>
              <a:t> المقترنة بمحددات أداء دقيقة.</a:t>
            </a:r>
          </a:p>
        </p:txBody>
      </p:sp>
      <p:pic>
        <p:nvPicPr>
          <p:cNvPr id="25" name="Picture 24" descr="image.png"/>
          <p:cNvPicPr>
            <a:picLocks noChangeAspect="1"/>
          </p:cNvPicPr>
          <p:nvPr/>
        </p:nvPicPr>
        <p:blipFill>
          <a:blip r:embed="rId10"/>
          <a:stretch>
            <a:fillRect/>
          </a:stretch>
        </p:blipFill>
        <p:spPr>
          <a:xfrm>
            <a:off x="5467350" y="4610100"/>
            <a:ext cx="123825" cy="142875"/>
          </a:xfrm>
          <a:prstGeom prst="rect">
            <a:avLst/>
          </a:prstGeom>
        </p:spPr>
      </p:pic>
      <p:sp>
        <p:nvSpPr>
          <p:cNvPr id="26" name="TextBox 25"/>
          <p:cNvSpPr txBox="1"/>
          <p:nvPr/>
        </p:nvSpPr>
        <p:spPr>
          <a:xfrm>
            <a:off x="1933575" y="4321373"/>
            <a:ext cx="3100387" cy="307777"/>
          </a:xfrm>
          <a:prstGeom prst="rect">
            <a:avLst/>
          </a:prstGeom>
          <a:noFill/>
        </p:spPr>
        <p:txBody>
          <a:bodyPr wrap="square" lIns="0" tIns="0" rIns="0" bIns="0" anchor="t">
            <a:spAutoFit/>
          </a:bodyPr>
          <a:lstStyle/>
          <a:p>
            <a:pPr algn="l"/>
            <a:r>
              <a:rPr lang="ar-EG" sz="2000" b="1" i="0" u="none" noProof="1">
                <a:solidFill>
                  <a:srgbClr val="0F172A"/>
                </a:solidFill>
                <a:latin typeface="Tajawal"/>
              </a:rPr>
              <a:t>أداء المدرسة (المتغير الحقيقي)</a:t>
            </a:r>
          </a:p>
        </p:txBody>
      </p:sp>
      <p:sp>
        <p:nvSpPr>
          <p:cNvPr id="27" name="TextBox 26"/>
          <p:cNvSpPr txBox="1"/>
          <p:nvPr/>
        </p:nvSpPr>
        <p:spPr>
          <a:xfrm>
            <a:off x="722879" y="4704282"/>
            <a:ext cx="4959804" cy="276999"/>
          </a:xfrm>
          <a:prstGeom prst="rect">
            <a:avLst/>
          </a:prstGeom>
          <a:noFill/>
        </p:spPr>
        <p:txBody>
          <a:bodyPr wrap="square" lIns="0" tIns="0" rIns="0" bIns="0" anchor="t">
            <a:spAutoFit/>
          </a:bodyPr>
          <a:lstStyle/>
          <a:p>
            <a:pPr algn="l"/>
            <a:r>
              <a:rPr lang="ar-EG" b="1" i="0" u="none" noProof="1">
                <a:solidFill>
                  <a:srgbClr val="475569"/>
                </a:solidFill>
                <a:latin typeface="Tajawal"/>
              </a:rPr>
              <a:t>ميدان التغيير والتحسين الذي نملك صناعة الأثر والتطوير فيه.</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par>
                                <p:cTn id="14" presetID="6" presetClass="entr" presetSubtype="16"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ircle(in)">
                                      <p:cBhvr>
                                        <p:cTn id="16" dur="2000"/>
                                        <p:tgtEl>
                                          <p:spTgt spid="7"/>
                                        </p:tgtEl>
                                      </p:cBhvr>
                                    </p:animEffect>
                                  </p:childTnLst>
                                </p:cTn>
                              </p:par>
                              <p:par>
                                <p:cTn id="17" presetID="6" presetClass="entr" presetSubtype="16"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2000"/>
                                        <p:tgtEl>
                                          <p:spTgt spid="8"/>
                                        </p:tgtEl>
                                      </p:cBhvr>
                                    </p:animEffect>
                                  </p:childTnLst>
                                </p:cTn>
                              </p:par>
                              <p:par>
                                <p:cTn id="20" presetID="6" presetClass="entr" presetSubtype="16"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par>
                                <p:cTn id="23" presetID="6" presetClass="entr" presetSubtype="16"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ircle(in)">
                                      <p:cBhvr>
                                        <p:cTn id="25" dur="2000"/>
                                        <p:tgtEl>
                                          <p:spTgt spid="10"/>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circle(in)">
                                      <p:cBhvr>
                                        <p:cTn id="28" dur="2000"/>
                                        <p:tgtEl>
                                          <p:spTgt spid="18"/>
                                        </p:tgtEl>
                                      </p:cBhvr>
                                    </p:animEffect>
                                  </p:childTnLst>
                                </p:cTn>
                              </p:par>
                              <p:par>
                                <p:cTn id="29" presetID="6" presetClass="entr" presetSubtype="16"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circle(in)">
                                      <p:cBhvr>
                                        <p:cTn id="31" dur="2000"/>
                                        <p:tgtEl>
                                          <p:spTgt spid="19"/>
                                        </p:tgtEl>
                                      </p:cBhvr>
                                    </p:animEffect>
                                  </p:childTnLst>
                                </p:cTn>
                              </p:par>
                              <p:par>
                                <p:cTn id="32" presetID="6" presetClass="entr" presetSubtype="16"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circle(in)">
                                      <p:cBhvr>
                                        <p:cTn id="34" dur="2000"/>
                                        <p:tgtEl>
                                          <p:spTgt spid="20"/>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circle(in)">
                                      <p:cBhvr>
                                        <p:cTn id="37" dur="2000"/>
                                        <p:tgtEl>
                                          <p:spTgt spid="21"/>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circle(in)">
                                      <p:cBhvr>
                                        <p:cTn id="40" dur="2000"/>
                                        <p:tgtEl>
                                          <p:spTgt spid="22"/>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circle(in)">
                                      <p:cBhvr>
                                        <p:cTn id="43" dur="2000"/>
                                        <p:tgtEl>
                                          <p:spTgt spid="23"/>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circle(in)">
                                      <p:cBhvr>
                                        <p:cTn id="46" dur="2000"/>
                                        <p:tgtEl>
                                          <p:spTgt spid="24"/>
                                        </p:tgtEl>
                                      </p:cBhvr>
                                    </p:animEffect>
                                  </p:childTnLst>
                                </p:cTn>
                              </p:par>
                              <p:par>
                                <p:cTn id="47" presetID="6" presetClass="entr" presetSubtype="16"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circle(in)">
                                      <p:cBhvr>
                                        <p:cTn id="49" dur="2000"/>
                                        <p:tgtEl>
                                          <p:spTgt spid="25"/>
                                        </p:tgtEl>
                                      </p:cBhvr>
                                    </p:animEffect>
                                  </p:childTnLst>
                                </p:cTn>
                              </p:par>
                              <p:par>
                                <p:cTn id="50" presetID="6" presetClass="entr" presetSubtype="16"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circle(in)">
                                      <p:cBhvr>
                                        <p:cTn id="52" dur="2000"/>
                                        <p:tgtEl>
                                          <p:spTgt spid="26"/>
                                        </p:tgtEl>
                                      </p:cBhvr>
                                    </p:animEffect>
                                  </p:childTnLst>
                                </p:cTn>
                              </p:par>
                              <p:par>
                                <p:cTn id="53" presetID="6" presetClass="entr" presetSubtype="16"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circle(in)">
                                      <p:cBhvr>
                                        <p:cTn id="55"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22" grpId="0"/>
      <p:bldP spid="23" grpId="0"/>
      <p:bldP spid="24" grpId="0"/>
      <p:bldP spid="26"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11639550" y="557212"/>
            <a:ext cx="76200" cy="304800"/>
          </a:xfrm>
          <a:prstGeom prst="rect">
            <a:avLst/>
          </a:prstGeom>
        </p:spPr>
      </p:pic>
      <p:pic>
        <p:nvPicPr>
          <p:cNvPr id="5" name="Picture 4" descr="image.png"/>
          <p:cNvPicPr>
            <a:picLocks noChangeAspect="1"/>
          </p:cNvPicPr>
          <p:nvPr/>
        </p:nvPicPr>
        <p:blipFill>
          <a:blip r:embed="rId3"/>
          <a:stretch>
            <a:fillRect/>
          </a:stretch>
        </p:blipFill>
        <p:spPr>
          <a:xfrm>
            <a:off x="10191750" y="2767012"/>
            <a:ext cx="1524000" cy="2095500"/>
          </a:xfrm>
          <a:prstGeom prst="rect">
            <a:avLst/>
          </a:prstGeom>
        </p:spPr>
      </p:pic>
      <p:pic>
        <p:nvPicPr>
          <p:cNvPr id="6" name="Picture 5" descr="image.png"/>
          <p:cNvPicPr>
            <a:picLocks noChangeAspect="1"/>
          </p:cNvPicPr>
          <p:nvPr/>
        </p:nvPicPr>
        <p:blipFill>
          <a:blip r:embed="rId4"/>
          <a:stretch>
            <a:fillRect/>
          </a:stretch>
        </p:blipFill>
        <p:spPr>
          <a:xfrm>
            <a:off x="8572500" y="2767012"/>
            <a:ext cx="1524000" cy="2095500"/>
          </a:xfrm>
          <a:prstGeom prst="rect">
            <a:avLst/>
          </a:prstGeom>
        </p:spPr>
      </p:pic>
      <p:pic>
        <p:nvPicPr>
          <p:cNvPr id="7" name="Picture 6" descr="image.png"/>
          <p:cNvPicPr>
            <a:picLocks noChangeAspect="1"/>
          </p:cNvPicPr>
          <p:nvPr/>
        </p:nvPicPr>
        <p:blipFill>
          <a:blip r:embed="rId5"/>
          <a:stretch>
            <a:fillRect/>
          </a:stretch>
        </p:blipFill>
        <p:spPr>
          <a:xfrm>
            <a:off x="6953250" y="2767012"/>
            <a:ext cx="1524000" cy="2095500"/>
          </a:xfrm>
          <a:prstGeom prst="rect">
            <a:avLst/>
          </a:prstGeom>
        </p:spPr>
      </p:pic>
      <p:pic>
        <p:nvPicPr>
          <p:cNvPr id="8" name="Picture 7" descr="image.png"/>
          <p:cNvPicPr>
            <a:picLocks noChangeAspect="1"/>
          </p:cNvPicPr>
          <p:nvPr/>
        </p:nvPicPr>
        <p:blipFill>
          <a:blip r:embed="rId6"/>
          <a:stretch>
            <a:fillRect/>
          </a:stretch>
        </p:blipFill>
        <p:spPr>
          <a:xfrm>
            <a:off x="5334000" y="2767012"/>
            <a:ext cx="1524000" cy="2095500"/>
          </a:xfrm>
          <a:prstGeom prst="rect">
            <a:avLst/>
          </a:prstGeom>
        </p:spPr>
      </p:pic>
      <p:pic>
        <p:nvPicPr>
          <p:cNvPr id="9" name="Picture 8" descr="image.png"/>
          <p:cNvPicPr>
            <a:picLocks noChangeAspect="1"/>
          </p:cNvPicPr>
          <p:nvPr/>
        </p:nvPicPr>
        <p:blipFill>
          <a:blip r:embed="rId7"/>
          <a:stretch>
            <a:fillRect/>
          </a:stretch>
        </p:blipFill>
        <p:spPr>
          <a:xfrm>
            <a:off x="3714750" y="2767012"/>
            <a:ext cx="1524000" cy="2095500"/>
          </a:xfrm>
          <a:prstGeom prst="rect">
            <a:avLst/>
          </a:prstGeom>
        </p:spPr>
      </p:pic>
      <p:pic>
        <p:nvPicPr>
          <p:cNvPr id="10" name="Picture 9" descr="image.png"/>
          <p:cNvPicPr>
            <a:picLocks noChangeAspect="1"/>
          </p:cNvPicPr>
          <p:nvPr/>
        </p:nvPicPr>
        <p:blipFill>
          <a:blip r:embed="rId8"/>
          <a:stretch>
            <a:fillRect/>
          </a:stretch>
        </p:blipFill>
        <p:spPr>
          <a:xfrm>
            <a:off x="2095500" y="2767012"/>
            <a:ext cx="1524000" cy="2095500"/>
          </a:xfrm>
          <a:prstGeom prst="rect">
            <a:avLst/>
          </a:prstGeom>
        </p:spPr>
      </p:pic>
      <p:pic>
        <p:nvPicPr>
          <p:cNvPr id="11" name="Picture 10" descr="image.png"/>
          <p:cNvPicPr>
            <a:picLocks noChangeAspect="1"/>
          </p:cNvPicPr>
          <p:nvPr/>
        </p:nvPicPr>
        <p:blipFill>
          <a:blip r:embed="rId3"/>
          <a:stretch>
            <a:fillRect/>
          </a:stretch>
        </p:blipFill>
        <p:spPr>
          <a:xfrm>
            <a:off x="476250" y="2767012"/>
            <a:ext cx="1524000" cy="2095500"/>
          </a:xfrm>
          <a:prstGeom prst="rect">
            <a:avLst/>
          </a:prstGeom>
        </p:spPr>
      </p:pic>
      <p:sp>
        <p:nvSpPr>
          <p:cNvPr id="19" name="TextBox 18"/>
          <p:cNvSpPr txBox="1"/>
          <p:nvPr/>
        </p:nvSpPr>
        <p:spPr>
          <a:xfrm>
            <a:off x="7245946" y="494168"/>
            <a:ext cx="4081858" cy="430887"/>
          </a:xfrm>
          <a:prstGeom prst="rect">
            <a:avLst/>
          </a:prstGeom>
          <a:noFill/>
        </p:spPr>
        <p:txBody>
          <a:bodyPr wrap="square" lIns="0" tIns="0" rIns="0" bIns="0" anchor="t">
            <a:spAutoFit/>
          </a:bodyPr>
          <a:lstStyle/>
          <a:p>
            <a:pPr algn="r" rtl="1"/>
            <a:r>
              <a:rPr lang="ar-EG" sz="2800" b="1" i="0" u="none" noProof="1">
                <a:solidFill>
                  <a:schemeClr val="bg1"/>
                </a:solidFill>
                <a:latin typeface="Cairo ExtraBold"/>
              </a:rPr>
              <a:t>مسار رحلة التحسين المدرسي</a:t>
            </a:r>
          </a:p>
        </p:txBody>
      </p:sp>
      <p:sp>
        <p:nvSpPr>
          <p:cNvPr id="20" name="TextBox 19"/>
          <p:cNvSpPr txBox="1"/>
          <p:nvPr/>
        </p:nvSpPr>
        <p:spPr>
          <a:xfrm>
            <a:off x="10296525" y="2928937"/>
            <a:ext cx="1314450" cy="276999"/>
          </a:xfrm>
          <a:prstGeom prst="rect">
            <a:avLst/>
          </a:prstGeom>
          <a:noFill/>
        </p:spPr>
        <p:txBody>
          <a:bodyPr wrap="square" lIns="0" tIns="0" rIns="0" bIns="0" anchor="t">
            <a:spAutoFit/>
          </a:bodyPr>
          <a:lstStyle/>
          <a:p>
            <a:pPr algn="ctr" rtl="1"/>
            <a:r>
              <a:rPr lang="ar-EG" b="0" i="0" u="none" noProof="1">
                <a:solidFill>
                  <a:srgbClr val="0284C7"/>
                </a:solidFill>
                <a:latin typeface="Tajawal ExtraBold"/>
              </a:rPr>
              <a:t>خطوة 1</a:t>
            </a:r>
          </a:p>
        </p:txBody>
      </p:sp>
      <p:pic>
        <p:nvPicPr>
          <p:cNvPr id="21" name="Picture 20" descr="image.png"/>
          <p:cNvPicPr>
            <a:picLocks noChangeAspect="1"/>
          </p:cNvPicPr>
          <p:nvPr/>
        </p:nvPicPr>
        <p:blipFill>
          <a:blip r:embed="rId9"/>
          <a:stretch>
            <a:fillRect/>
          </a:stretch>
        </p:blipFill>
        <p:spPr>
          <a:xfrm>
            <a:off x="10296525" y="3457872"/>
            <a:ext cx="1314450" cy="228600"/>
          </a:xfrm>
          <a:prstGeom prst="rect">
            <a:avLst/>
          </a:prstGeom>
        </p:spPr>
      </p:pic>
      <p:sp>
        <p:nvSpPr>
          <p:cNvPr id="22" name="TextBox 21"/>
          <p:cNvSpPr txBox="1"/>
          <p:nvPr/>
        </p:nvSpPr>
        <p:spPr>
          <a:xfrm>
            <a:off x="10296525" y="3958887"/>
            <a:ext cx="1314450" cy="193066"/>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المعيار</a:t>
            </a:r>
          </a:p>
        </p:txBody>
      </p:sp>
      <p:sp>
        <p:nvSpPr>
          <p:cNvPr id="23" name="TextBox 22"/>
          <p:cNvSpPr txBox="1"/>
          <p:nvPr/>
        </p:nvSpPr>
        <p:spPr>
          <a:xfrm>
            <a:off x="10296525" y="4232244"/>
            <a:ext cx="1314450" cy="492443"/>
          </a:xfrm>
          <a:prstGeom prst="rect">
            <a:avLst/>
          </a:prstGeom>
          <a:noFill/>
        </p:spPr>
        <p:txBody>
          <a:bodyPr wrap="square" lIns="0" tIns="0" rIns="0" bIns="0" anchor="t">
            <a:spAutoFit/>
          </a:bodyPr>
          <a:lstStyle/>
          <a:p>
            <a:pPr algn="ctr"/>
            <a:r>
              <a:rPr lang="ar-EG" sz="1600" b="0" i="0" u="none" noProof="1">
                <a:solidFill>
                  <a:srgbClr val="475569"/>
                </a:solidFill>
                <a:latin typeface="Tajawal"/>
              </a:rPr>
              <a:t>المجال المستهدف للتقويم</a:t>
            </a:r>
          </a:p>
        </p:txBody>
      </p:sp>
      <p:sp>
        <p:nvSpPr>
          <p:cNvPr id="24" name="TextBox 23"/>
          <p:cNvSpPr txBox="1"/>
          <p:nvPr/>
        </p:nvSpPr>
        <p:spPr>
          <a:xfrm>
            <a:off x="8677275" y="2928937"/>
            <a:ext cx="1314450" cy="276999"/>
          </a:xfrm>
          <a:prstGeom prst="rect">
            <a:avLst/>
          </a:prstGeom>
          <a:noFill/>
        </p:spPr>
        <p:txBody>
          <a:bodyPr wrap="square" lIns="0" tIns="0" rIns="0" bIns="0" anchor="t">
            <a:spAutoFit/>
          </a:bodyPr>
          <a:lstStyle/>
          <a:p>
            <a:pPr algn="ctr" rtl="1"/>
            <a:r>
              <a:rPr lang="ar-EG" b="0" i="0" u="none" noProof="1">
                <a:solidFill>
                  <a:srgbClr val="0284C7"/>
                </a:solidFill>
                <a:latin typeface="Tajawal ExtraBold"/>
              </a:rPr>
              <a:t>خطوة 2</a:t>
            </a:r>
          </a:p>
        </p:txBody>
      </p:sp>
      <p:pic>
        <p:nvPicPr>
          <p:cNvPr id="25" name="Picture 24" descr="image.png"/>
          <p:cNvPicPr>
            <a:picLocks noChangeAspect="1"/>
          </p:cNvPicPr>
          <p:nvPr/>
        </p:nvPicPr>
        <p:blipFill>
          <a:blip r:embed="rId10"/>
          <a:stretch>
            <a:fillRect/>
          </a:stretch>
        </p:blipFill>
        <p:spPr>
          <a:xfrm>
            <a:off x="8677275" y="3457872"/>
            <a:ext cx="1314450" cy="228600"/>
          </a:xfrm>
          <a:prstGeom prst="rect">
            <a:avLst/>
          </a:prstGeom>
        </p:spPr>
      </p:pic>
      <p:sp>
        <p:nvSpPr>
          <p:cNvPr id="26" name="TextBox 25"/>
          <p:cNvSpPr txBox="1"/>
          <p:nvPr/>
        </p:nvSpPr>
        <p:spPr>
          <a:xfrm>
            <a:off x="8677275" y="3958887"/>
            <a:ext cx="1314450" cy="193066"/>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المؤشر</a:t>
            </a:r>
          </a:p>
        </p:txBody>
      </p:sp>
      <p:sp>
        <p:nvSpPr>
          <p:cNvPr id="27" name="TextBox 26"/>
          <p:cNvSpPr txBox="1"/>
          <p:nvPr/>
        </p:nvSpPr>
        <p:spPr>
          <a:xfrm>
            <a:off x="8629650" y="4166650"/>
            <a:ext cx="1314450" cy="323678"/>
          </a:xfrm>
          <a:prstGeom prst="rect">
            <a:avLst/>
          </a:prstGeom>
          <a:noFill/>
        </p:spPr>
        <p:txBody>
          <a:bodyPr wrap="square" lIns="0" tIns="0" rIns="0" bIns="0" anchor="t">
            <a:spAutoFit/>
          </a:bodyPr>
          <a:lstStyle/>
          <a:p>
            <a:pPr algn="ctr">
              <a:lnSpc>
                <a:spcPct val="150000"/>
              </a:lnSpc>
            </a:pPr>
            <a:r>
              <a:rPr lang="ar-EG" sz="1600" b="0" i="0" u="none" noProof="1">
                <a:solidFill>
                  <a:srgbClr val="475569"/>
                </a:solidFill>
                <a:latin typeface="Tajawal"/>
              </a:rPr>
              <a:t>أداة القياس المحددة</a:t>
            </a:r>
          </a:p>
        </p:txBody>
      </p:sp>
      <p:sp>
        <p:nvSpPr>
          <p:cNvPr id="28" name="TextBox 27"/>
          <p:cNvSpPr txBox="1"/>
          <p:nvPr/>
        </p:nvSpPr>
        <p:spPr>
          <a:xfrm>
            <a:off x="7058025" y="2928937"/>
            <a:ext cx="1314450" cy="276999"/>
          </a:xfrm>
          <a:prstGeom prst="rect">
            <a:avLst/>
          </a:prstGeom>
          <a:noFill/>
        </p:spPr>
        <p:txBody>
          <a:bodyPr wrap="square" lIns="0" tIns="0" rIns="0" bIns="0" anchor="t">
            <a:spAutoFit/>
          </a:bodyPr>
          <a:lstStyle/>
          <a:p>
            <a:pPr algn="ctr" rtl="1"/>
            <a:r>
              <a:rPr lang="ar-EG" b="0" i="0" u="none" noProof="1">
                <a:solidFill>
                  <a:srgbClr val="0284C7"/>
                </a:solidFill>
                <a:latin typeface="Tajawal ExtraBold"/>
              </a:rPr>
              <a:t>خطوة 3</a:t>
            </a:r>
          </a:p>
        </p:txBody>
      </p:sp>
      <p:pic>
        <p:nvPicPr>
          <p:cNvPr id="29" name="Picture 28" descr="image.png"/>
          <p:cNvPicPr>
            <a:picLocks noChangeAspect="1"/>
          </p:cNvPicPr>
          <p:nvPr/>
        </p:nvPicPr>
        <p:blipFill>
          <a:blip r:embed="rId11"/>
          <a:stretch>
            <a:fillRect/>
          </a:stretch>
        </p:blipFill>
        <p:spPr>
          <a:xfrm>
            <a:off x="7058025" y="3457872"/>
            <a:ext cx="1314450" cy="228600"/>
          </a:xfrm>
          <a:prstGeom prst="rect">
            <a:avLst/>
          </a:prstGeom>
        </p:spPr>
      </p:pic>
      <p:sp>
        <p:nvSpPr>
          <p:cNvPr id="30" name="TextBox 29"/>
          <p:cNvSpPr txBox="1"/>
          <p:nvPr/>
        </p:nvSpPr>
        <p:spPr>
          <a:xfrm>
            <a:off x="7058025" y="3958887"/>
            <a:ext cx="1314450" cy="193066"/>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المحددات</a:t>
            </a:r>
          </a:p>
        </p:txBody>
      </p:sp>
      <p:sp>
        <p:nvSpPr>
          <p:cNvPr id="31" name="TextBox 30"/>
          <p:cNvSpPr txBox="1"/>
          <p:nvPr/>
        </p:nvSpPr>
        <p:spPr>
          <a:xfrm>
            <a:off x="7070271" y="4253216"/>
            <a:ext cx="1314450" cy="492443"/>
          </a:xfrm>
          <a:prstGeom prst="rect">
            <a:avLst/>
          </a:prstGeom>
          <a:noFill/>
        </p:spPr>
        <p:txBody>
          <a:bodyPr wrap="square" lIns="0" tIns="0" rIns="0" bIns="0" anchor="t">
            <a:spAutoFit/>
          </a:bodyPr>
          <a:lstStyle/>
          <a:p>
            <a:pPr algn="ctr"/>
            <a:r>
              <a:rPr lang="ar-EG" sz="1600" b="0" i="0" u="none" noProof="1">
                <a:solidFill>
                  <a:srgbClr val="475569"/>
                </a:solidFill>
                <a:latin typeface="Tajawal"/>
              </a:rPr>
              <a:t>وصف مستويات الأداء</a:t>
            </a:r>
          </a:p>
        </p:txBody>
      </p:sp>
      <p:sp>
        <p:nvSpPr>
          <p:cNvPr id="32" name="TextBox 31"/>
          <p:cNvSpPr txBox="1"/>
          <p:nvPr/>
        </p:nvSpPr>
        <p:spPr>
          <a:xfrm>
            <a:off x="5438775" y="2928937"/>
            <a:ext cx="1314450" cy="276999"/>
          </a:xfrm>
          <a:prstGeom prst="rect">
            <a:avLst/>
          </a:prstGeom>
          <a:noFill/>
        </p:spPr>
        <p:txBody>
          <a:bodyPr wrap="square" lIns="0" tIns="0" rIns="0" bIns="0" anchor="t">
            <a:spAutoFit/>
          </a:bodyPr>
          <a:lstStyle/>
          <a:p>
            <a:pPr algn="ctr" rtl="1"/>
            <a:r>
              <a:rPr lang="ar-EG" b="0" i="0" u="none" noProof="1">
                <a:solidFill>
                  <a:srgbClr val="0284C7"/>
                </a:solidFill>
                <a:latin typeface="Tajawal ExtraBold"/>
              </a:rPr>
              <a:t>خطوة 4</a:t>
            </a:r>
          </a:p>
        </p:txBody>
      </p:sp>
      <p:pic>
        <p:nvPicPr>
          <p:cNvPr id="33" name="Picture 32" descr="image.png"/>
          <p:cNvPicPr>
            <a:picLocks noChangeAspect="1"/>
          </p:cNvPicPr>
          <p:nvPr/>
        </p:nvPicPr>
        <p:blipFill>
          <a:blip r:embed="rId12"/>
          <a:stretch>
            <a:fillRect/>
          </a:stretch>
        </p:blipFill>
        <p:spPr>
          <a:xfrm>
            <a:off x="5438775" y="3457872"/>
            <a:ext cx="1314450" cy="228600"/>
          </a:xfrm>
          <a:prstGeom prst="rect">
            <a:avLst/>
          </a:prstGeom>
        </p:spPr>
      </p:pic>
      <p:sp>
        <p:nvSpPr>
          <p:cNvPr id="34" name="TextBox 33"/>
          <p:cNvSpPr txBox="1"/>
          <p:nvPr/>
        </p:nvSpPr>
        <p:spPr>
          <a:xfrm>
            <a:off x="5448300" y="3924825"/>
            <a:ext cx="1314450" cy="193066"/>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التقدير الحالي</a:t>
            </a:r>
          </a:p>
        </p:txBody>
      </p:sp>
      <p:sp>
        <p:nvSpPr>
          <p:cNvPr id="35" name="TextBox 34"/>
          <p:cNvSpPr txBox="1"/>
          <p:nvPr/>
        </p:nvSpPr>
        <p:spPr>
          <a:xfrm>
            <a:off x="5448300" y="4316627"/>
            <a:ext cx="1314450" cy="323678"/>
          </a:xfrm>
          <a:prstGeom prst="rect">
            <a:avLst/>
          </a:prstGeom>
          <a:noFill/>
        </p:spPr>
        <p:txBody>
          <a:bodyPr wrap="square" lIns="0" tIns="0" rIns="0" bIns="0" anchor="t">
            <a:spAutoFit/>
          </a:bodyPr>
          <a:lstStyle/>
          <a:p>
            <a:pPr algn="ctr">
              <a:lnSpc>
                <a:spcPct val="150000"/>
              </a:lnSpc>
            </a:pPr>
            <a:r>
              <a:rPr lang="ar-EG" sz="1600" b="0" i="0" u="none" noProof="1">
                <a:solidFill>
                  <a:srgbClr val="475569"/>
                </a:solidFill>
                <a:latin typeface="Tajawal"/>
              </a:rPr>
              <a:t>نتيجة التقويم الذاتي</a:t>
            </a:r>
          </a:p>
        </p:txBody>
      </p:sp>
      <p:sp>
        <p:nvSpPr>
          <p:cNvPr id="36" name="TextBox 35"/>
          <p:cNvSpPr txBox="1"/>
          <p:nvPr/>
        </p:nvSpPr>
        <p:spPr>
          <a:xfrm>
            <a:off x="3829050" y="2938462"/>
            <a:ext cx="1295400" cy="276999"/>
          </a:xfrm>
          <a:prstGeom prst="rect">
            <a:avLst/>
          </a:prstGeom>
          <a:noFill/>
        </p:spPr>
        <p:txBody>
          <a:bodyPr wrap="square" lIns="0" tIns="0" rIns="0" bIns="0" anchor="t">
            <a:spAutoFit/>
          </a:bodyPr>
          <a:lstStyle/>
          <a:p>
            <a:pPr algn="ctr" rtl="1"/>
            <a:r>
              <a:rPr lang="ar-EG" b="0" i="0" u="none" noProof="1">
                <a:solidFill>
                  <a:srgbClr val="059669"/>
                </a:solidFill>
                <a:latin typeface="Tajawal ExtraBold"/>
              </a:rPr>
              <a:t>خطوة 5</a:t>
            </a:r>
          </a:p>
        </p:txBody>
      </p:sp>
      <p:pic>
        <p:nvPicPr>
          <p:cNvPr id="37" name="Picture 36" descr="image.png"/>
          <p:cNvPicPr>
            <a:picLocks noChangeAspect="1"/>
          </p:cNvPicPr>
          <p:nvPr/>
        </p:nvPicPr>
        <p:blipFill>
          <a:blip r:embed="rId13"/>
          <a:stretch>
            <a:fillRect/>
          </a:stretch>
        </p:blipFill>
        <p:spPr>
          <a:xfrm>
            <a:off x="3829050" y="3461146"/>
            <a:ext cx="1295400" cy="228600"/>
          </a:xfrm>
          <a:prstGeom prst="rect">
            <a:avLst/>
          </a:prstGeom>
        </p:spPr>
      </p:pic>
      <p:sp>
        <p:nvSpPr>
          <p:cNvPr id="38" name="TextBox 37"/>
          <p:cNvSpPr txBox="1"/>
          <p:nvPr/>
        </p:nvSpPr>
        <p:spPr>
          <a:xfrm>
            <a:off x="3838575" y="3921849"/>
            <a:ext cx="1295400" cy="193066"/>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تحليل الفجوة</a:t>
            </a:r>
          </a:p>
        </p:txBody>
      </p:sp>
      <p:sp>
        <p:nvSpPr>
          <p:cNvPr id="39" name="TextBox 38"/>
          <p:cNvSpPr txBox="1"/>
          <p:nvPr/>
        </p:nvSpPr>
        <p:spPr>
          <a:xfrm>
            <a:off x="3876675" y="4286840"/>
            <a:ext cx="1295400" cy="492443"/>
          </a:xfrm>
          <a:prstGeom prst="rect">
            <a:avLst/>
          </a:prstGeom>
          <a:noFill/>
        </p:spPr>
        <p:txBody>
          <a:bodyPr wrap="square" lIns="0" tIns="0" rIns="0" bIns="0" anchor="t">
            <a:spAutoFit/>
          </a:bodyPr>
          <a:lstStyle/>
          <a:p>
            <a:pPr algn="ctr"/>
            <a:r>
              <a:rPr lang="ar-EG" sz="1600" b="0" i="0" u="none" noProof="1">
                <a:solidFill>
                  <a:srgbClr val="475569"/>
                </a:solidFill>
                <a:latin typeface="Tajawal"/>
              </a:rPr>
              <a:t>الفرق بين المأمول والواقع</a:t>
            </a:r>
          </a:p>
        </p:txBody>
      </p:sp>
      <p:sp>
        <p:nvSpPr>
          <p:cNvPr id="40" name="TextBox 39"/>
          <p:cNvSpPr txBox="1"/>
          <p:nvPr/>
        </p:nvSpPr>
        <p:spPr>
          <a:xfrm>
            <a:off x="2209800" y="2938462"/>
            <a:ext cx="1295400" cy="276999"/>
          </a:xfrm>
          <a:prstGeom prst="rect">
            <a:avLst/>
          </a:prstGeom>
          <a:noFill/>
        </p:spPr>
        <p:txBody>
          <a:bodyPr wrap="square" lIns="0" tIns="0" rIns="0" bIns="0" anchor="t">
            <a:spAutoFit/>
          </a:bodyPr>
          <a:lstStyle/>
          <a:p>
            <a:pPr algn="ctr" rtl="1"/>
            <a:r>
              <a:rPr lang="ar-EG" b="0" i="0" u="none" noProof="1">
                <a:solidFill>
                  <a:srgbClr val="059669"/>
                </a:solidFill>
                <a:latin typeface="Tajawal ExtraBold"/>
              </a:rPr>
              <a:t>خطوة 6</a:t>
            </a:r>
          </a:p>
        </p:txBody>
      </p:sp>
      <p:pic>
        <p:nvPicPr>
          <p:cNvPr id="41" name="Picture 40" descr="image.png"/>
          <p:cNvPicPr>
            <a:picLocks noChangeAspect="1"/>
          </p:cNvPicPr>
          <p:nvPr/>
        </p:nvPicPr>
        <p:blipFill>
          <a:blip r:embed="rId14"/>
          <a:stretch>
            <a:fillRect/>
          </a:stretch>
        </p:blipFill>
        <p:spPr>
          <a:xfrm>
            <a:off x="2209800" y="3461146"/>
            <a:ext cx="1295400" cy="228600"/>
          </a:xfrm>
          <a:prstGeom prst="rect">
            <a:avLst/>
          </a:prstGeom>
        </p:spPr>
      </p:pic>
      <p:sp>
        <p:nvSpPr>
          <p:cNvPr id="42" name="TextBox 41"/>
          <p:cNvSpPr txBox="1"/>
          <p:nvPr/>
        </p:nvSpPr>
        <p:spPr>
          <a:xfrm>
            <a:off x="2219325" y="3921849"/>
            <a:ext cx="1295400" cy="193066"/>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خطة التحسين</a:t>
            </a:r>
          </a:p>
        </p:txBody>
      </p:sp>
      <p:sp>
        <p:nvSpPr>
          <p:cNvPr id="43" name="TextBox 42"/>
          <p:cNvSpPr txBox="1"/>
          <p:nvPr/>
        </p:nvSpPr>
        <p:spPr>
          <a:xfrm>
            <a:off x="2169319" y="4322312"/>
            <a:ext cx="1376362" cy="492443"/>
          </a:xfrm>
          <a:prstGeom prst="rect">
            <a:avLst/>
          </a:prstGeom>
          <a:noFill/>
        </p:spPr>
        <p:txBody>
          <a:bodyPr wrap="square" lIns="0" tIns="0" rIns="0" bIns="0" anchor="t">
            <a:spAutoFit/>
          </a:bodyPr>
          <a:lstStyle/>
          <a:p>
            <a:pPr algn="ctr"/>
            <a:r>
              <a:rPr lang="ar-EG" sz="1600" b="0" i="0" u="none" noProof="1">
                <a:solidFill>
                  <a:srgbClr val="475569"/>
                </a:solidFill>
                <a:latin typeface="Tajawal"/>
              </a:rPr>
              <a:t>صياغة المبادرات والأنشطة</a:t>
            </a:r>
          </a:p>
        </p:txBody>
      </p:sp>
      <p:sp>
        <p:nvSpPr>
          <p:cNvPr id="44" name="TextBox 43"/>
          <p:cNvSpPr txBox="1"/>
          <p:nvPr/>
        </p:nvSpPr>
        <p:spPr>
          <a:xfrm>
            <a:off x="581025" y="2928937"/>
            <a:ext cx="1314450" cy="276999"/>
          </a:xfrm>
          <a:prstGeom prst="rect">
            <a:avLst/>
          </a:prstGeom>
          <a:noFill/>
        </p:spPr>
        <p:txBody>
          <a:bodyPr wrap="square" lIns="0" tIns="0" rIns="0" bIns="0" anchor="t">
            <a:spAutoFit/>
          </a:bodyPr>
          <a:lstStyle/>
          <a:p>
            <a:pPr algn="ctr" rtl="1"/>
            <a:r>
              <a:rPr lang="ar-EG" b="0" i="0" u="none" noProof="1">
                <a:solidFill>
                  <a:srgbClr val="0284C7"/>
                </a:solidFill>
                <a:latin typeface="Tajawal ExtraBold"/>
              </a:rPr>
              <a:t>خطوة 7</a:t>
            </a:r>
          </a:p>
        </p:txBody>
      </p:sp>
      <p:pic>
        <p:nvPicPr>
          <p:cNvPr id="45" name="Picture 44" descr="image.png"/>
          <p:cNvPicPr>
            <a:picLocks noChangeAspect="1"/>
          </p:cNvPicPr>
          <p:nvPr/>
        </p:nvPicPr>
        <p:blipFill>
          <a:blip r:embed="rId15"/>
          <a:stretch>
            <a:fillRect/>
          </a:stretch>
        </p:blipFill>
        <p:spPr>
          <a:xfrm>
            <a:off x="581025" y="3457872"/>
            <a:ext cx="1314450" cy="228600"/>
          </a:xfrm>
          <a:prstGeom prst="rect">
            <a:avLst/>
          </a:prstGeom>
        </p:spPr>
      </p:pic>
      <p:sp>
        <p:nvSpPr>
          <p:cNvPr id="46" name="TextBox 45"/>
          <p:cNvSpPr txBox="1"/>
          <p:nvPr/>
        </p:nvSpPr>
        <p:spPr>
          <a:xfrm>
            <a:off x="628650" y="3947173"/>
            <a:ext cx="1314450" cy="187231"/>
          </a:xfrm>
          <a:prstGeom prst="rect">
            <a:avLst/>
          </a:prstGeom>
          <a:noFill/>
        </p:spPr>
        <p:txBody>
          <a:bodyPr wrap="square" lIns="0" tIns="0" rIns="0" bIns="0" anchor="t">
            <a:spAutoFit/>
          </a:bodyPr>
          <a:lstStyle/>
          <a:p>
            <a:pPr algn="ctr">
              <a:lnSpc>
                <a:spcPts val="1364"/>
              </a:lnSpc>
            </a:pPr>
            <a:r>
              <a:rPr lang="ar-EG" b="1" i="0" u="none" noProof="1">
                <a:solidFill>
                  <a:srgbClr val="0F172A"/>
                </a:solidFill>
                <a:latin typeface="Tajawal"/>
              </a:rPr>
              <a:t>التقدير المستهدف</a:t>
            </a:r>
          </a:p>
        </p:txBody>
      </p:sp>
      <p:sp>
        <p:nvSpPr>
          <p:cNvPr id="47" name="TextBox 46"/>
          <p:cNvSpPr txBox="1"/>
          <p:nvPr/>
        </p:nvSpPr>
        <p:spPr>
          <a:xfrm>
            <a:off x="628650" y="4151953"/>
            <a:ext cx="1314450" cy="693010"/>
          </a:xfrm>
          <a:prstGeom prst="rect">
            <a:avLst/>
          </a:prstGeom>
          <a:noFill/>
        </p:spPr>
        <p:txBody>
          <a:bodyPr wrap="square" lIns="0" tIns="0" rIns="0" bIns="0" anchor="t">
            <a:spAutoFit/>
          </a:bodyPr>
          <a:lstStyle/>
          <a:p>
            <a:pPr algn="ctr">
              <a:lnSpc>
                <a:spcPct val="150000"/>
              </a:lnSpc>
            </a:pPr>
            <a:r>
              <a:rPr lang="ar-EG" sz="1600" b="0" i="0" u="none" noProof="1">
                <a:solidFill>
                  <a:srgbClr val="475569"/>
                </a:solidFill>
                <a:latin typeface="Tajawal"/>
              </a:rPr>
              <a:t>مستوى التميز المأمول</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500" fill="hold"/>
                                        <p:tgtEl>
                                          <p:spTgt spid="4"/>
                                        </p:tgtEl>
                                        <p:attrNameLst>
                                          <p:attrName>ppt_w</p:attrName>
                                        </p:attrNameLst>
                                      </p:cBhvr>
                                      <p:tavLst>
                                        <p:tav tm="0">
                                          <p:val>
                                            <p:fltVal val="0"/>
                                          </p:val>
                                        </p:tav>
                                        <p:tav tm="100000">
                                          <p:val>
                                            <p:strVal val="#ppt_w"/>
                                          </p:val>
                                        </p:tav>
                                      </p:tavLst>
                                    </p:anim>
                                    <p:anim calcmode="lin" valueType="num">
                                      <p:cBhvr>
                                        <p:cTn id="8" dur="1500" fill="hold"/>
                                        <p:tgtEl>
                                          <p:spTgt spid="4"/>
                                        </p:tgtEl>
                                        <p:attrNameLst>
                                          <p:attrName>ppt_h</p:attrName>
                                        </p:attrNameLst>
                                      </p:cBhvr>
                                      <p:tavLst>
                                        <p:tav tm="0">
                                          <p:val>
                                            <p:fltVal val="0"/>
                                          </p:val>
                                        </p:tav>
                                        <p:tav tm="100000">
                                          <p:val>
                                            <p:strVal val="#ppt_h"/>
                                          </p:val>
                                        </p:tav>
                                      </p:tavLst>
                                    </p:anim>
                                    <p:anim calcmode="lin" valueType="num">
                                      <p:cBhvr>
                                        <p:cTn id="9" dur="1500" fill="hold"/>
                                        <p:tgtEl>
                                          <p:spTgt spid="4"/>
                                        </p:tgtEl>
                                        <p:attrNameLst>
                                          <p:attrName>style.rotation</p:attrName>
                                        </p:attrNameLst>
                                      </p:cBhvr>
                                      <p:tavLst>
                                        <p:tav tm="0">
                                          <p:val>
                                            <p:fltVal val="90"/>
                                          </p:val>
                                        </p:tav>
                                        <p:tav tm="100000">
                                          <p:val>
                                            <p:fltVal val="0"/>
                                          </p:val>
                                        </p:tav>
                                      </p:tavLst>
                                    </p:anim>
                                    <p:animEffect transition="in" filter="fade">
                                      <p:cBhvr>
                                        <p:cTn id="10" dur="1500"/>
                                        <p:tgtEl>
                                          <p:spTgt spid="4"/>
                                        </p:tgtEl>
                                      </p:cBhvr>
                                    </p:animEffect>
                                  </p:childTnLst>
                                </p:cTn>
                              </p:par>
                              <p:par>
                                <p:cTn id="11" presetID="3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500" fill="hold"/>
                                        <p:tgtEl>
                                          <p:spTgt spid="5"/>
                                        </p:tgtEl>
                                        <p:attrNameLst>
                                          <p:attrName>ppt_w</p:attrName>
                                        </p:attrNameLst>
                                      </p:cBhvr>
                                      <p:tavLst>
                                        <p:tav tm="0">
                                          <p:val>
                                            <p:fltVal val="0"/>
                                          </p:val>
                                        </p:tav>
                                        <p:tav tm="100000">
                                          <p:val>
                                            <p:strVal val="#ppt_w"/>
                                          </p:val>
                                        </p:tav>
                                      </p:tavLst>
                                    </p:anim>
                                    <p:anim calcmode="lin" valueType="num">
                                      <p:cBhvr>
                                        <p:cTn id="14" dur="1500" fill="hold"/>
                                        <p:tgtEl>
                                          <p:spTgt spid="5"/>
                                        </p:tgtEl>
                                        <p:attrNameLst>
                                          <p:attrName>ppt_h</p:attrName>
                                        </p:attrNameLst>
                                      </p:cBhvr>
                                      <p:tavLst>
                                        <p:tav tm="0">
                                          <p:val>
                                            <p:fltVal val="0"/>
                                          </p:val>
                                        </p:tav>
                                        <p:tav tm="100000">
                                          <p:val>
                                            <p:strVal val="#ppt_h"/>
                                          </p:val>
                                        </p:tav>
                                      </p:tavLst>
                                    </p:anim>
                                    <p:anim calcmode="lin" valueType="num">
                                      <p:cBhvr>
                                        <p:cTn id="15" dur="1500" fill="hold"/>
                                        <p:tgtEl>
                                          <p:spTgt spid="5"/>
                                        </p:tgtEl>
                                        <p:attrNameLst>
                                          <p:attrName>style.rotation</p:attrName>
                                        </p:attrNameLst>
                                      </p:cBhvr>
                                      <p:tavLst>
                                        <p:tav tm="0">
                                          <p:val>
                                            <p:fltVal val="90"/>
                                          </p:val>
                                        </p:tav>
                                        <p:tav tm="100000">
                                          <p:val>
                                            <p:fltVal val="0"/>
                                          </p:val>
                                        </p:tav>
                                      </p:tavLst>
                                    </p:anim>
                                    <p:animEffect transition="in" filter="fade">
                                      <p:cBhvr>
                                        <p:cTn id="16" dur="1500"/>
                                        <p:tgtEl>
                                          <p:spTgt spid="5"/>
                                        </p:tgtEl>
                                      </p:cBhvr>
                                    </p:animEffect>
                                  </p:childTnLst>
                                </p:cTn>
                              </p:par>
                              <p:par>
                                <p:cTn id="17" presetID="3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500" fill="hold"/>
                                        <p:tgtEl>
                                          <p:spTgt spid="6"/>
                                        </p:tgtEl>
                                        <p:attrNameLst>
                                          <p:attrName>ppt_w</p:attrName>
                                        </p:attrNameLst>
                                      </p:cBhvr>
                                      <p:tavLst>
                                        <p:tav tm="0">
                                          <p:val>
                                            <p:fltVal val="0"/>
                                          </p:val>
                                        </p:tav>
                                        <p:tav tm="100000">
                                          <p:val>
                                            <p:strVal val="#ppt_w"/>
                                          </p:val>
                                        </p:tav>
                                      </p:tavLst>
                                    </p:anim>
                                    <p:anim calcmode="lin" valueType="num">
                                      <p:cBhvr>
                                        <p:cTn id="20" dur="1500" fill="hold"/>
                                        <p:tgtEl>
                                          <p:spTgt spid="6"/>
                                        </p:tgtEl>
                                        <p:attrNameLst>
                                          <p:attrName>ppt_h</p:attrName>
                                        </p:attrNameLst>
                                      </p:cBhvr>
                                      <p:tavLst>
                                        <p:tav tm="0">
                                          <p:val>
                                            <p:fltVal val="0"/>
                                          </p:val>
                                        </p:tav>
                                        <p:tav tm="100000">
                                          <p:val>
                                            <p:strVal val="#ppt_h"/>
                                          </p:val>
                                        </p:tav>
                                      </p:tavLst>
                                    </p:anim>
                                    <p:anim calcmode="lin" valueType="num">
                                      <p:cBhvr>
                                        <p:cTn id="21" dur="1500" fill="hold"/>
                                        <p:tgtEl>
                                          <p:spTgt spid="6"/>
                                        </p:tgtEl>
                                        <p:attrNameLst>
                                          <p:attrName>style.rotation</p:attrName>
                                        </p:attrNameLst>
                                      </p:cBhvr>
                                      <p:tavLst>
                                        <p:tav tm="0">
                                          <p:val>
                                            <p:fltVal val="90"/>
                                          </p:val>
                                        </p:tav>
                                        <p:tav tm="100000">
                                          <p:val>
                                            <p:fltVal val="0"/>
                                          </p:val>
                                        </p:tav>
                                      </p:tavLst>
                                    </p:anim>
                                    <p:animEffect transition="in" filter="fade">
                                      <p:cBhvr>
                                        <p:cTn id="22" dur="1500"/>
                                        <p:tgtEl>
                                          <p:spTgt spid="6"/>
                                        </p:tgtEl>
                                      </p:cBhvr>
                                    </p:animEffect>
                                  </p:childTnLst>
                                </p:cTn>
                              </p:par>
                              <p:par>
                                <p:cTn id="23" presetID="3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500" fill="hold"/>
                                        <p:tgtEl>
                                          <p:spTgt spid="7"/>
                                        </p:tgtEl>
                                        <p:attrNameLst>
                                          <p:attrName>ppt_w</p:attrName>
                                        </p:attrNameLst>
                                      </p:cBhvr>
                                      <p:tavLst>
                                        <p:tav tm="0">
                                          <p:val>
                                            <p:fltVal val="0"/>
                                          </p:val>
                                        </p:tav>
                                        <p:tav tm="100000">
                                          <p:val>
                                            <p:strVal val="#ppt_w"/>
                                          </p:val>
                                        </p:tav>
                                      </p:tavLst>
                                    </p:anim>
                                    <p:anim calcmode="lin" valueType="num">
                                      <p:cBhvr>
                                        <p:cTn id="26" dur="1500" fill="hold"/>
                                        <p:tgtEl>
                                          <p:spTgt spid="7"/>
                                        </p:tgtEl>
                                        <p:attrNameLst>
                                          <p:attrName>ppt_h</p:attrName>
                                        </p:attrNameLst>
                                      </p:cBhvr>
                                      <p:tavLst>
                                        <p:tav tm="0">
                                          <p:val>
                                            <p:fltVal val="0"/>
                                          </p:val>
                                        </p:tav>
                                        <p:tav tm="100000">
                                          <p:val>
                                            <p:strVal val="#ppt_h"/>
                                          </p:val>
                                        </p:tav>
                                      </p:tavLst>
                                    </p:anim>
                                    <p:anim calcmode="lin" valueType="num">
                                      <p:cBhvr>
                                        <p:cTn id="27" dur="1500" fill="hold"/>
                                        <p:tgtEl>
                                          <p:spTgt spid="7"/>
                                        </p:tgtEl>
                                        <p:attrNameLst>
                                          <p:attrName>style.rotation</p:attrName>
                                        </p:attrNameLst>
                                      </p:cBhvr>
                                      <p:tavLst>
                                        <p:tav tm="0">
                                          <p:val>
                                            <p:fltVal val="90"/>
                                          </p:val>
                                        </p:tav>
                                        <p:tav tm="100000">
                                          <p:val>
                                            <p:fltVal val="0"/>
                                          </p:val>
                                        </p:tav>
                                      </p:tavLst>
                                    </p:anim>
                                    <p:animEffect transition="in" filter="fade">
                                      <p:cBhvr>
                                        <p:cTn id="28" dur="1500"/>
                                        <p:tgtEl>
                                          <p:spTgt spid="7"/>
                                        </p:tgtEl>
                                      </p:cBhvr>
                                    </p:animEffect>
                                  </p:childTnLst>
                                </p:cTn>
                              </p:par>
                              <p:par>
                                <p:cTn id="29" presetID="3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1500" fill="hold"/>
                                        <p:tgtEl>
                                          <p:spTgt spid="8"/>
                                        </p:tgtEl>
                                        <p:attrNameLst>
                                          <p:attrName>ppt_w</p:attrName>
                                        </p:attrNameLst>
                                      </p:cBhvr>
                                      <p:tavLst>
                                        <p:tav tm="0">
                                          <p:val>
                                            <p:fltVal val="0"/>
                                          </p:val>
                                        </p:tav>
                                        <p:tav tm="100000">
                                          <p:val>
                                            <p:strVal val="#ppt_w"/>
                                          </p:val>
                                        </p:tav>
                                      </p:tavLst>
                                    </p:anim>
                                    <p:anim calcmode="lin" valueType="num">
                                      <p:cBhvr>
                                        <p:cTn id="32" dur="1500" fill="hold"/>
                                        <p:tgtEl>
                                          <p:spTgt spid="8"/>
                                        </p:tgtEl>
                                        <p:attrNameLst>
                                          <p:attrName>ppt_h</p:attrName>
                                        </p:attrNameLst>
                                      </p:cBhvr>
                                      <p:tavLst>
                                        <p:tav tm="0">
                                          <p:val>
                                            <p:fltVal val="0"/>
                                          </p:val>
                                        </p:tav>
                                        <p:tav tm="100000">
                                          <p:val>
                                            <p:strVal val="#ppt_h"/>
                                          </p:val>
                                        </p:tav>
                                      </p:tavLst>
                                    </p:anim>
                                    <p:anim calcmode="lin" valueType="num">
                                      <p:cBhvr>
                                        <p:cTn id="33" dur="1500" fill="hold"/>
                                        <p:tgtEl>
                                          <p:spTgt spid="8"/>
                                        </p:tgtEl>
                                        <p:attrNameLst>
                                          <p:attrName>style.rotation</p:attrName>
                                        </p:attrNameLst>
                                      </p:cBhvr>
                                      <p:tavLst>
                                        <p:tav tm="0">
                                          <p:val>
                                            <p:fltVal val="90"/>
                                          </p:val>
                                        </p:tav>
                                        <p:tav tm="100000">
                                          <p:val>
                                            <p:fltVal val="0"/>
                                          </p:val>
                                        </p:tav>
                                      </p:tavLst>
                                    </p:anim>
                                    <p:animEffect transition="in" filter="fade">
                                      <p:cBhvr>
                                        <p:cTn id="34" dur="1500"/>
                                        <p:tgtEl>
                                          <p:spTgt spid="8"/>
                                        </p:tgtEl>
                                      </p:cBhvr>
                                    </p:animEffect>
                                  </p:childTnLst>
                                </p:cTn>
                              </p:par>
                              <p:par>
                                <p:cTn id="35" presetID="3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500" fill="hold"/>
                                        <p:tgtEl>
                                          <p:spTgt spid="9"/>
                                        </p:tgtEl>
                                        <p:attrNameLst>
                                          <p:attrName>ppt_w</p:attrName>
                                        </p:attrNameLst>
                                      </p:cBhvr>
                                      <p:tavLst>
                                        <p:tav tm="0">
                                          <p:val>
                                            <p:fltVal val="0"/>
                                          </p:val>
                                        </p:tav>
                                        <p:tav tm="100000">
                                          <p:val>
                                            <p:strVal val="#ppt_w"/>
                                          </p:val>
                                        </p:tav>
                                      </p:tavLst>
                                    </p:anim>
                                    <p:anim calcmode="lin" valueType="num">
                                      <p:cBhvr>
                                        <p:cTn id="38" dur="1500" fill="hold"/>
                                        <p:tgtEl>
                                          <p:spTgt spid="9"/>
                                        </p:tgtEl>
                                        <p:attrNameLst>
                                          <p:attrName>ppt_h</p:attrName>
                                        </p:attrNameLst>
                                      </p:cBhvr>
                                      <p:tavLst>
                                        <p:tav tm="0">
                                          <p:val>
                                            <p:fltVal val="0"/>
                                          </p:val>
                                        </p:tav>
                                        <p:tav tm="100000">
                                          <p:val>
                                            <p:strVal val="#ppt_h"/>
                                          </p:val>
                                        </p:tav>
                                      </p:tavLst>
                                    </p:anim>
                                    <p:anim calcmode="lin" valueType="num">
                                      <p:cBhvr>
                                        <p:cTn id="39" dur="1500" fill="hold"/>
                                        <p:tgtEl>
                                          <p:spTgt spid="9"/>
                                        </p:tgtEl>
                                        <p:attrNameLst>
                                          <p:attrName>style.rotation</p:attrName>
                                        </p:attrNameLst>
                                      </p:cBhvr>
                                      <p:tavLst>
                                        <p:tav tm="0">
                                          <p:val>
                                            <p:fltVal val="90"/>
                                          </p:val>
                                        </p:tav>
                                        <p:tav tm="100000">
                                          <p:val>
                                            <p:fltVal val="0"/>
                                          </p:val>
                                        </p:tav>
                                      </p:tavLst>
                                    </p:anim>
                                    <p:animEffect transition="in" filter="fade">
                                      <p:cBhvr>
                                        <p:cTn id="40" dur="1500"/>
                                        <p:tgtEl>
                                          <p:spTgt spid="9"/>
                                        </p:tgtEl>
                                      </p:cBhvr>
                                    </p:animEffect>
                                  </p:childTnLst>
                                </p:cTn>
                              </p:par>
                              <p:par>
                                <p:cTn id="41" presetID="31" presetClass="entr" presetSubtype="0"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500" fill="hold"/>
                                        <p:tgtEl>
                                          <p:spTgt spid="10"/>
                                        </p:tgtEl>
                                        <p:attrNameLst>
                                          <p:attrName>ppt_w</p:attrName>
                                        </p:attrNameLst>
                                      </p:cBhvr>
                                      <p:tavLst>
                                        <p:tav tm="0">
                                          <p:val>
                                            <p:fltVal val="0"/>
                                          </p:val>
                                        </p:tav>
                                        <p:tav tm="100000">
                                          <p:val>
                                            <p:strVal val="#ppt_w"/>
                                          </p:val>
                                        </p:tav>
                                      </p:tavLst>
                                    </p:anim>
                                    <p:anim calcmode="lin" valueType="num">
                                      <p:cBhvr>
                                        <p:cTn id="44" dur="1500" fill="hold"/>
                                        <p:tgtEl>
                                          <p:spTgt spid="10"/>
                                        </p:tgtEl>
                                        <p:attrNameLst>
                                          <p:attrName>ppt_h</p:attrName>
                                        </p:attrNameLst>
                                      </p:cBhvr>
                                      <p:tavLst>
                                        <p:tav tm="0">
                                          <p:val>
                                            <p:fltVal val="0"/>
                                          </p:val>
                                        </p:tav>
                                        <p:tav tm="100000">
                                          <p:val>
                                            <p:strVal val="#ppt_h"/>
                                          </p:val>
                                        </p:tav>
                                      </p:tavLst>
                                    </p:anim>
                                    <p:anim calcmode="lin" valueType="num">
                                      <p:cBhvr>
                                        <p:cTn id="45" dur="1500" fill="hold"/>
                                        <p:tgtEl>
                                          <p:spTgt spid="10"/>
                                        </p:tgtEl>
                                        <p:attrNameLst>
                                          <p:attrName>style.rotation</p:attrName>
                                        </p:attrNameLst>
                                      </p:cBhvr>
                                      <p:tavLst>
                                        <p:tav tm="0">
                                          <p:val>
                                            <p:fltVal val="90"/>
                                          </p:val>
                                        </p:tav>
                                        <p:tav tm="100000">
                                          <p:val>
                                            <p:fltVal val="0"/>
                                          </p:val>
                                        </p:tav>
                                      </p:tavLst>
                                    </p:anim>
                                    <p:animEffect transition="in" filter="fade">
                                      <p:cBhvr>
                                        <p:cTn id="46" dur="1500"/>
                                        <p:tgtEl>
                                          <p:spTgt spid="10"/>
                                        </p:tgtEl>
                                      </p:cBhvr>
                                    </p:animEffect>
                                  </p:childTnLst>
                                </p:cTn>
                              </p:par>
                              <p:par>
                                <p:cTn id="47" presetID="31"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1500" fill="hold"/>
                                        <p:tgtEl>
                                          <p:spTgt spid="11"/>
                                        </p:tgtEl>
                                        <p:attrNameLst>
                                          <p:attrName>ppt_w</p:attrName>
                                        </p:attrNameLst>
                                      </p:cBhvr>
                                      <p:tavLst>
                                        <p:tav tm="0">
                                          <p:val>
                                            <p:fltVal val="0"/>
                                          </p:val>
                                        </p:tav>
                                        <p:tav tm="100000">
                                          <p:val>
                                            <p:strVal val="#ppt_w"/>
                                          </p:val>
                                        </p:tav>
                                      </p:tavLst>
                                    </p:anim>
                                    <p:anim calcmode="lin" valueType="num">
                                      <p:cBhvr>
                                        <p:cTn id="50" dur="1500" fill="hold"/>
                                        <p:tgtEl>
                                          <p:spTgt spid="11"/>
                                        </p:tgtEl>
                                        <p:attrNameLst>
                                          <p:attrName>ppt_h</p:attrName>
                                        </p:attrNameLst>
                                      </p:cBhvr>
                                      <p:tavLst>
                                        <p:tav tm="0">
                                          <p:val>
                                            <p:fltVal val="0"/>
                                          </p:val>
                                        </p:tav>
                                        <p:tav tm="100000">
                                          <p:val>
                                            <p:strVal val="#ppt_h"/>
                                          </p:val>
                                        </p:tav>
                                      </p:tavLst>
                                    </p:anim>
                                    <p:anim calcmode="lin" valueType="num">
                                      <p:cBhvr>
                                        <p:cTn id="51" dur="1500" fill="hold"/>
                                        <p:tgtEl>
                                          <p:spTgt spid="11"/>
                                        </p:tgtEl>
                                        <p:attrNameLst>
                                          <p:attrName>style.rotation</p:attrName>
                                        </p:attrNameLst>
                                      </p:cBhvr>
                                      <p:tavLst>
                                        <p:tav tm="0">
                                          <p:val>
                                            <p:fltVal val="90"/>
                                          </p:val>
                                        </p:tav>
                                        <p:tav tm="100000">
                                          <p:val>
                                            <p:fltVal val="0"/>
                                          </p:val>
                                        </p:tav>
                                      </p:tavLst>
                                    </p:anim>
                                    <p:animEffect transition="in" filter="fade">
                                      <p:cBhvr>
                                        <p:cTn id="52" dur="1500"/>
                                        <p:tgtEl>
                                          <p:spTgt spid="11"/>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1500" fill="hold"/>
                                        <p:tgtEl>
                                          <p:spTgt spid="19"/>
                                        </p:tgtEl>
                                        <p:attrNameLst>
                                          <p:attrName>ppt_w</p:attrName>
                                        </p:attrNameLst>
                                      </p:cBhvr>
                                      <p:tavLst>
                                        <p:tav tm="0">
                                          <p:val>
                                            <p:fltVal val="0"/>
                                          </p:val>
                                        </p:tav>
                                        <p:tav tm="100000">
                                          <p:val>
                                            <p:strVal val="#ppt_w"/>
                                          </p:val>
                                        </p:tav>
                                      </p:tavLst>
                                    </p:anim>
                                    <p:anim calcmode="lin" valueType="num">
                                      <p:cBhvr>
                                        <p:cTn id="56" dur="1500" fill="hold"/>
                                        <p:tgtEl>
                                          <p:spTgt spid="19"/>
                                        </p:tgtEl>
                                        <p:attrNameLst>
                                          <p:attrName>ppt_h</p:attrName>
                                        </p:attrNameLst>
                                      </p:cBhvr>
                                      <p:tavLst>
                                        <p:tav tm="0">
                                          <p:val>
                                            <p:fltVal val="0"/>
                                          </p:val>
                                        </p:tav>
                                        <p:tav tm="100000">
                                          <p:val>
                                            <p:strVal val="#ppt_h"/>
                                          </p:val>
                                        </p:tav>
                                      </p:tavLst>
                                    </p:anim>
                                    <p:anim calcmode="lin" valueType="num">
                                      <p:cBhvr>
                                        <p:cTn id="57" dur="1500" fill="hold"/>
                                        <p:tgtEl>
                                          <p:spTgt spid="19"/>
                                        </p:tgtEl>
                                        <p:attrNameLst>
                                          <p:attrName>style.rotation</p:attrName>
                                        </p:attrNameLst>
                                      </p:cBhvr>
                                      <p:tavLst>
                                        <p:tav tm="0">
                                          <p:val>
                                            <p:fltVal val="90"/>
                                          </p:val>
                                        </p:tav>
                                        <p:tav tm="100000">
                                          <p:val>
                                            <p:fltVal val="0"/>
                                          </p:val>
                                        </p:tav>
                                      </p:tavLst>
                                    </p:anim>
                                    <p:animEffect transition="in" filter="fade">
                                      <p:cBhvr>
                                        <p:cTn id="58" dur="1500"/>
                                        <p:tgtEl>
                                          <p:spTgt spid="19"/>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p:cTn id="61" dur="1500" fill="hold"/>
                                        <p:tgtEl>
                                          <p:spTgt spid="20"/>
                                        </p:tgtEl>
                                        <p:attrNameLst>
                                          <p:attrName>ppt_w</p:attrName>
                                        </p:attrNameLst>
                                      </p:cBhvr>
                                      <p:tavLst>
                                        <p:tav tm="0">
                                          <p:val>
                                            <p:fltVal val="0"/>
                                          </p:val>
                                        </p:tav>
                                        <p:tav tm="100000">
                                          <p:val>
                                            <p:strVal val="#ppt_w"/>
                                          </p:val>
                                        </p:tav>
                                      </p:tavLst>
                                    </p:anim>
                                    <p:anim calcmode="lin" valueType="num">
                                      <p:cBhvr>
                                        <p:cTn id="62" dur="1500" fill="hold"/>
                                        <p:tgtEl>
                                          <p:spTgt spid="20"/>
                                        </p:tgtEl>
                                        <p:attrNameLst>
                                          <p:attrName>ppt_h</p:attrName>
                                        </p:attrNameLst>
                                      </p:cBhvr>
                                      <p:tavLst>
                                        <p:tav tm="0">
                                          <p:val>
                                            <p:fltVal val="0"/>
                                          </p:val>
                                        </p:tav>
                                        <p:tav tm="100000">
                                          <p:val>
                                            <p:strVal val="#ppt_h"/>
                                          </p:val>
                                        </p:tav>
                                      </p:tavLst>
                                    </p:anim>
                                    <p:anim calcmode="lin" valueType="num">
                                      <p:cBhvr>
                                        <p:cTn id="63" dur="1500" fill="hold"/>
                                        <p:tgtEl>
                                          <p:spTgt spid="20"/>
                                        </p:tgtEl>
                                        <p:attrNameLst>
                                          <p:attrName>style.rotation</p:attrName>
                                        </p:attrNameLst>
                                      </p:cBhvr>
                                      <p:tavLst>
                                        <p:tav tm="0">
                                          <p:val>
                                            <p:fltVal val="90"/>
                                          </p:val>
                                        </p:tav>
                                        <p:tav tm="100000">
                                          <p:val>
                                            <p:fltVal val="0"/>
                                          </p:val>
                                        </p:tav>
                                      </p:tavLst>
                                    </p:anim>
                                    <p:animEffect transition="in" filter="fade">
                                      <p:cBhvr>
                                        <p:cTn id="64" dur="1500"/>
                                        <p:tgtEl>
                                          <p:spTgt spid="20"/>
                                        </p:tgtEl>
                                      </p:cBhvr>
                                    </p:animEffect>
                                  </p:childTnLst>
                                </p:cTn>
                              </p:par>
                              <p:par>
                                <p:cTn id="65" presetID="31" presetClass="entr" presetSubtype="0"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p:cTn id="67" dur="1500" fill="hold"/>
                                        <p:tgtEl>
                                          <p:spTgt spid="21"/>
                                        </p:tgtEl>
                                        <p:attrNameLst>
                                          <p:attrName>ppt_w</p:attrName>
                                        </p:attrNameLst>
                                      </p:cBhvr>
                                      <p:tavLst>
                                        <p:tav tm="0">
                                          <p:val>
                                            <p:fltVal val="0"/>
                                          </p:val>
                                        </p:tav>
                                        <p:tav tm="100000">
                                          <p:val>
                                            <p:strVal val="#ppt_w"/>
                                          </p:val>
                                        </p:tav>
                                      </p:tavLst>
                                    </p:anim>
                                    <p:anim calcmode="lin" valueType="num">
                                      <p:cBhvr>
                                        <p:cTn id="68" dur="1500" fill="hold"/>
                                        <p:tgtEl>
                                          <p:spTgt spid="21"/>
                                        </p:tgtEl>
                                        <p:attrNameLst>
                                          <p:attrName>ppt_h</p:attrName>
                                        </p:attrNameLst>
                                      </p:cBhvr>
                                      <p:tavLst>
                                        <p:tav tm="0">
                                          <p:val>
                                            <p:fltVal val="0"/>
                                          </p:val>
                                        </p:tav>
                                        <p:tav tm="100000">
                                          <p:val>
                                            <p:strVal val="#ppt_h"/>
                                          </p:val>
                                        </p:tav>
                                      </p:tavLst>
                                    </p:anim>
                                    <p:anim calcmode="lin" valueType="num">
                                      <p:cBhvr>
                                        <p:cTn id="69" dur="1500" fill="hold"/>
                                        <p:tgtEl>
                                          <p:spTgt spid="21"/>
                                        </p:tgtEl>
                                        <p:attrNameLst>
                                          <p:attrName>style.rotation</p:attrName>
                                        </p:attrNameLst>
                                      </p:cBhvr>
                                      <p:tavLst>
                                        <p:tav tm="0">
                                          <p:val>
                                            <p:fltVal val="90"/>
                                          </p:val>
                                        </p:tav>
                                        <p:tav tm="100000">
                                          <p:val>
                                            <p:fltVal val="0"/>
                                          </p:val>
                                        </p:tav>
                                      </p:tavLst>
                                    </p:anim>
                                    <p:animEffect transition="in" filter="fade">
                                      <p:cBhvr>
                                        <p:cTn id="70" dur="1500"/>
                                        <p:tgtEl>
                                          <p:spTgt spid="21"/>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anim calcmode="lin" valueType="num">
                                      <p:cBhvr>
                                        <p:cTn id="73" dur="1500" fill="hold"/>
                                        <p:tgtEl>
                                          <p:spTgt spid="22"/>
                                        </p:tgtEl>
                                        <p:attrNameLst>
                                          <p:attrName>ppt_w</p:attrName>
                                        </p:attrNameLst>
                                      </p:cBhvr>
                                      <p:tavLst>
                                        <p:tav tm="0">
                                          <p:val>
                                            <p:fltVal val="0"/>
                                          </p:val>
                                        </p:tav>
                                        <p:tav tm="100000">
                                          <p:val>
                                            <p:strVal val="#ppt_w"/>
                                          </p:val>
                                        </p:tav>
                                      </p:tavLst>
                                    </p:anim>
                                    <p:anim calcmode="lin" valueType="num">
                                      <p:cBhvr>
                                        <p:cTn id="74" dur="1500" fill="hold"/>
                                        <p:tgtEl>
                                          <p:spTgt spid="22"/>
                                        </p:tgtEl>
                                        <p:attrNameLst>
                                          <p:attrName>ppt_h</p:attrName>
                                        </p:attrNameLst>
                                      </p:cBhvr>
                                      <p:tavLst>
                                        <p:tav tm="0">
                                          <p:val>
                                            <p:fltVal val="0"/>
                                          </p:val>
                                        </p:tav>
                                        <p:tav tm="100000">
                                          <p:val>
                                            <p:strVal val="#ppt_h"/>
                                          </p:val>
                                        </p:tav>
                                      </p:tavLst>
                                    </p:anim>
                                    <p:anim calcmode="lin" valueType="num">
                                      <p:cBhvr>
                                        <p:cTn id="75" dur="1500" fill="hold"/>
                                        <p:tgtEl>
                                          <p:spTgt spid="22"/>
                                        </p:tgtEl>
                                        <p:attrNameLst>
                                          <p:attrName>style.rotation</p:attrName>
                                        </p:attrNameLst>
                                      </p:cBhvr>
                                      <p:tavLst>
                                        <p:tav tm="0">
                                          <p:val>
                                            <p:fltVal val="90"/>
                                          </p:val>
                                        </p:tav>
                                        <p:tav tm="100000">
                                          <p:val>
                                            <p:fltVal val="0"/>
                                          </p:val>
                                        </p:tav>
                                      </p:tavLst>
                                    </p:anim>
                                    <p:animEffect transition="in" filter="fade">
                                      <p:cBhvr>
                                        <p:cTn id="76" dur="1500"/>
                                        <p:tgtEl>
                                          <p:spTgt spid="22"/>
                                        </p:tgtEl>
                                      </p:cBhvr>
                                    </p:animEffect>
                                  </p:childTnLst>
                                </p:cTn>
                              </p:par>
                              <p:par>
                                <p:cTn id="77" presetID="31" presetClass="entr" presetSubtype="0" fill="hold" grpId="0"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p:cTn id="79" dur="1500" fill="hold"/>
                                        <p:tgtEl>
                                          <p:spTgt spid="23"/>
                                        </p:tgtEl>
                                        <p:attrNameLst>
                                          <p:attrName>ppt_w</p:attrName>
                                        </p:attrNameLst>
                                      </p:cBhvr>
                                      <p:tavLst>
                                        <p:tav tm="0">
                                          <p:val>
                                            <p:fltVal val="0"/>
                                          </p:val>
                                        </p:tav>
                                        <p:tav tm="100000">
                                          <p:val>
                                            <p:strVal val="#ppt_w"/>
                                          </p:val>
                                        </p:tav>
                                      </p:tavLst>
                                    </p:anim>
                                    <p:anim calcmode="lin" valueType="num">
                                      <p:cBhvr>
                                        <p:cTn id="80" dur="1500" fill="hold"/>
                                        <p:tgtEl>
                                          <p:spTgt spid="23"/>
                                        </p:tgtEl>
                                        <p:attrNameLst>
                                          <p:attrName>ppt_h</p:attrName>
                                        </p:attrNameLst>
                                      </p:cBhvr>
                                      <p:tavLst>
                                        <p:tav tm="0">
                                          <p:val>
                                            <p:fltVal val="0"/>
                                          </p:val>
                                        </p:tav>
                                        <p:tav tm="100000">
                                          <p:val>
                                            <p:strVal val="#ppt_h"/>
                                          </p:val>
                                        </p:tav>
                                      </p:tavLst>
                                    </p:anim>
                                    <p:anim calcmode="lin" valueType="num">
                                      <p:cBhvr>
                                        <p:cTn id="81" dur="1500" fill="hold"/>
                                        <p:tgtEl>
                                          <p:spTgt spid="23"/>
                                        </p:tgtEl>
                                        <p:attrNameLst>
                                          <p:attrName>style.rotation</p:attrName>
                                        </p:attrNameLst>
                                      </p:cBhvr>
                                      <p:tavLst>
                                        <p:tav tm="0">
                                          <p:val>
                                            <p:fltVal val="90"/>
                                          </p:val>
                                        </p:tav>
                                        <p:tav tm="100000">
                                          <p:val>
                                            <p:fltVal val="0"/>
                                          </p:val>
                                        </p:tav>
                                      </p:tavLst>
                                    </p:anim>
                                    <p:animEffect transition="in" filter="fade">
                                      <p:cBhvr>
                                        <p:cTn id="82" dur="1500"/>
                                        <p:tgtEl>
                                          <p:spTgt spid="23"/>
                                        </p:tgtEl>
                                      </p:cBhvr>
                                    </p:animEffect>
                                  </p:childTnLst>
                                </p:cTn>
                              </p:par>
                              <p:par>
                                <p:cTn id="83" presetID="31"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 calcmode="lin" valueType="num">
                                      <p:cBhvr>
                                        <p:cTn id="85" dur="1500" fill="hold"/>
                                        <p:tgtEl>
                                          <p:spTgt spid="24"/>
                                        </p:tgtEl>
                                        <p:attrNameLst>
                                          <p:attrName>ppt_w</p:attrName>
                                        </p:attrNameLst>
                                      </p:cBhvr>
                                      <p:tavLst>
                                        <p:tav tm="0">
                                          <p:val>
                                            <p:fltVal val="0"/>
                                          </p:val>
                                        </p:tav>
                                        <p:tav tm="100000">
                                          <p:val>
                                            <p:strVal val="#ppt_w"/>
                                          </p:val>
                                        </p:tav>
                                      </p:tavLst>
                                    </p:anim>
                                    <p:anim calcmode="lin" valueType="num">
                                      <p:cBhvr>
                                        <p:cTn id="86" dur="1500" fill="hold"/>
                                        <p:tgtEl>
                                          <p:spTgt spid="24"/>
                                        </p:tgtEl>
                                        <p:attrNameLst>
                                          <p:attrName>ppt_h</p:attrName>
                                        </p:attrNameLst>
                                      </p:cBhvr>
                                      <p:tavLst>
                                        <p:tav tm="0">
                                          <p:val>
                                            <p:fltVal val="0"/>
                                          </p:val>
                                        </p:tav>
                                        <p:tav tm="100000">
                                          <p:val>
                                            <p:strVal val="#ppt_h"/>
                                          </p:val>
                                        </p:tav>
                                      </p:tavLst>
                                    </p:anim>
                                    <p:anim calcmode="lin" valueType="num">
                                      <p:cBhvr>
                                        <p:cTn id="87" dur="1500" fill="hold"/>
                                        <p:tgtEl>
                                          <p:spTgt spid="24"/>
                                        </p:tgtEl>
                                        <p:attrNameLst>
                                          <p:attrName>style.rotation</p:attrName>
                                        </p:attrNameLst>
                                      </p:cBhvr>
                                      <p:tavLst>
                                        <p:tav tm="0">
                                          <p:val>
                                            <p:fltVal val="90"/>
                                          </p:val>
                                        </p:tav>
                                        <p:tav tm="100000">
                                          <p:val>
                                            <p:fltVal val="0"/>
                                          </p:val>
                                        </p:tav>
                                      </p:tavLst>
                                    </p:anim>
                                    <p:animEffect transition="in" filter="fade">
                                      <p:cBhvr>
                                        <p:cTn id="88" dur="1500"/>
                                        <p:tgtEl>
                                          <p:spTgt spid="24"/>
                                        </p:tgtEl>
                                      </p:cBhvr>
                                    </p:animEffect>
                                  </p:childTnLst>
                                </p:cTn>
                              </p:par>
                              <p:par>
                                <p:cTn id="89" presetID="31" presetClass="entr" presetSubtype="0" fill="hold" nodeType="with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p:cTn id="91" dur="1500" fill="hold"/>
                                        <p:tgtEl>
                                          <p:spTgt spid="25"/>
                                        </p:tgtEl>
                                        <p:attrNameLst>
                                          <p:attrName>ppt_w</p:attrName>
                                        </p:attrNameLst>
                                      </p:cBhvr>
                                      <p:tavLst>
                                        <p:tav tm="0">
                                          <p:val>
                                            <p:fltVal val="0"/>
                                          </p:val>
                                        </p:tav>
                                        <p:tav tm="100000">
                                          <p:val>
                                            <p:strVal val="#ppt_w"/>
                                          </p:val>
                                        </p:tav>
                                      </p:tavLst>
                                    </p:anim>
                                    <p:anim calcmode="lin" valueType="num">
                                      <p:cBhvr>
                                        <p:cTn id="92" dur="1500" fill="hold"/>
                                        <p:tgtEl>
                                          <p:spTgt spid="25"/>
                                        </p:tgtEl>
                                        <p:attrNameLst>
                                          <p:attrName>ppt_h</p:attrName>
                                        </p:attrNameLst>
                                      </p:cBhvr>
                                      <p:tavLst>
                                        <p:tav tm="0">
                                          <p:val>
                                            <p:fltVal val="0"/>
                                          </p:val>
                                        </p:tav>
                                        <p:tav tm="100000">
                                          <p:val>
                                            <p:strVal val="#ppt_h"/>
                                          </p:val>
                                        </p:tav>
                                      </p:tavLst>
                                    </p:anim>
                                    <p:anim calcmode="lin" valueType="num">
                                      <p:cBhvr>
                                        <p:cTn id="93" dur="1500" fill="hold"/>
                                        <p:tgtEl>
                                          <p:spTgt spid="25"/>
                                        </p:tgtEl>
                                        <p:attrNameLst>
                                          <p:attrName>style.rotation</p:attrName>
                                        </p:attrNameLst>
                                      </p:cBhvr>
                                      <p:tavLst>
                                        <p:tav tm="0">
                                          <p:val>
                                            <p:fltVal val="90"/>
                                          </p:val>
                                        </p:tav>
                                        <p:tav tm="100000">
                                          <p:val>
                                            <p:fltVal val="0"/>
                                          </p:val>
                                        </p:tav>
                                      </p:tavLst>
                                    </p:anim>
                                    <p:animEffect transition="in" filter="fade">
                                      <p:cBhvr>
                                        <p:cTn id="94" dur="1500"/>
                                        <p:tgtEl>
                                          <p:spTgt spid="25"/>
                                        </p:tgtEl>
                                      </p:cBhvr>
                                    </p:animEffect>
                                  </p:childTnLst>
                                </p:cTn>
                              </p:par>
                              <p:par>
                                <p:cTn id="95" presetID="31"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anim calcmode="lin" valueType="num">
                                      <p:cBhvr>
                                        <p:cTn id="97" dur="1500" fill="hold"/>
                                        <p:tgtEl>
                                          <p:spTgt spid="26"/>
                                        </p:tgtEl>
                                        <p:attrNameLst>
                                          <p:attrName>ppt_w</p:attrName>
                                        </p:attrNameLst>
                                      </p:cBhvr>
                                      <p:tavLst>
                                        <p:tav tm="0">
                                          <p:val>
                                            <p:fltVal val="0"/>
                                          </p:val>
                                        </p:tav>
                                        <p:tav tm="100000">
                                          <p:val>
                                            <p:strVal val="#ppt_w"/>
                                          </p:val>
                                        </p:tav>
                                      </p:tavLst>
                                    </p:anim>
                                    <p:anim calcmode="lin" valueType="num">
                                      <p:cBhvr>
                                        <p:cTn id="98" dur="1500" fill="hold"/>
                                        <p:tgtEl>
                                          <p:spTgt spid="26"/>
                                        </p:tgtEl>
                                        <p:attrNameLst>
                                          <p:attrName>ppt_h</p:attrName>
                                        </p:attrNameLst>
                                      </p:cBhvr>
                                      <p:tavLst>
                                        <p:tav tm="0">
                                          <p:val>
                                            <p:fltVal val="0"/>
                                          </p:val>
                                        </p:tav>
                                        <p:tav tm="100000">
                                          <p:val>
                                            <p:strVal val="#ppt_h"/>
                                          </p:val>
                                        </p:tav>
                                      </p:tavLst>
                                    </p:anim>
                                    <p:anim calcmode="lin" valueType="num">
                                      <p:cBhvr>
                                        <p:cTn id="99" dur="1500" fill="hold"/>
                                        <p:tgtEl>
                                          <p:spTgt spid="26"/>
                                        </p:tgtEl>
                                        <p:attrNameLst>
                                          <p:attrName>style.rotation</p:attrName>
                                        </p:attrNameLst>
                                      </p:cBhvr>
                                      <p:tavLst>
                                        <p:tav tm="0">
                                          <p:val>
                                            <p:fltVal val="90"/>
                                          </p:val>
                                        </p:tav>
                                        <p:tav tm="100000">
                                          <p:val>
                                            <p:fltVal val="0"/>
                                          </p:val>
                                        </p:tav>
                                      </p:tavLst>
                                    </p:anim>
                                    <p:animEffect transition="in" filter="fade">
                                      <p:cBhvr>
                                        <p:cTn id="100" dur="1500"/>
                                        <p:tgtEl>
                                          <p:spTgt spid="26"/>
                                        </p:tgtEl>
                                      </p:cBhvr>
                                    </p:animEffect>
                                  </p:childTnLst>
                                </p:cTn>
                              </p:par>
                              <p:par>
                                <p:cTn id="101" presetID="31" presetClass="entr" presetSubtype="0"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p:cTn id="103" dur="1500" fill="hold"/>
                                        <p:tgtEl>
                                          <p:spTgt spid="27"/>
                                        </p:tgtEl>
                                        <p:attrNameLst>
                                          <p:attrName>ppt_w</p:attrName>
                                        </p:attrNameLst>
                                      </p:cBhvr>
                                      <p:tavLst>
                                        <p:tav tm="0">
                                          <p:val>
                                            <p:fltVal val="0"/>
                                          </p:val>
                                        </p:tav>
                                        <p:tav tm="100000">
                                          <p:val>
                                            <p:strVal val="#ppt_w"/>
                                          </p:val>
                                        </p:tav>
                                      </p:tavLst>
                                    </p:anim>
                                    <p:anim calcmode="lin" valueType="num">
                                      <p:cBhvr>
                                        <p:cTn id="104" dur="1500" fill="hold"/>
                                        <p:tgtEl>
                                          <p:spTgt spid="27"/>
                                        </p:tgtEl>
                                        <p:attrNameLst>
                                          <p:attrName>ppt_h</p:attrName>
                                        </p:attrNameLst>
                                      </p:cBhvr>
                                      <p:tavLst>
                                        <p:tav tm="0">
                                          <p:val>
                                            <p:fltVal val="0"/>
                                          </p:val>
                                        </p:tav>
                                        <p:tav tm="100000">
                                          <p:val>
                                            <p:strVal val="#ppt_h"/>
                                          </p:val>
                                        </p:tav>
                                      </p:tavLst>
                                    </p:anim>
                                    <p:anim calcmode="lin" valueType="num">
                                      <p:cBhvr>
                                        <p:cTn id="105" dur="1500" fill="hold"/>
                                        <p:tgtEl>
                                          <p:spTgt spid="27"/>
                                        </p:tgtEl>
                                        <p:attrNameLst>
                                          <p:attrName>style.rotation</p:attrName>
                                        </p:attrNameLst>
                                      </p:cBhvr>
                                      <p:tavLst>
                                        <p:tav tm="0">
                                          <p:val>
                                            <p:fltVal val="90"/>
                                          </p:val>
                                        </p:tav>
                                        <p:tav tm="100000">
                                          <p:val>
                                            <p:fltVal val="0"/>
                                          </p:val>
                                        </p:tav>
                                      </p:tavLst>
                                    </p:anim>
                                    <p:animEffect transition="in" filter="fade">
                                      <p:cBhvr>
                                        <p:cTn id="106" dur="1500"/>
                                        <p:tgtEl>
                                          <p:spTgt spid="27"/>
                                        </p:tgtEl>
                                      </p:cBhvr>
                                    </p:animEffect>
                                  </p:childTnLst>
                                </p:cTn>
                              </p:par>
                              <p:par>
                                <p:cTn id="107" presetID="31"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p:cTn id="109" dur="1500" fill="hold"/>
                                        <p:tgtEl>
                                          <p:spTgt spid="28"/>
                                        </p:tgtEl>
                                        <p:attrNameLst>
                                          <p:attrName>ppt_w</p:attrName>
                                        </p:attrNameLst>
                                      </p:cBhvr>
                                      <p:tavLst>
                                        <p:tav tm="0">
                                          <p:val>
                                            <p:fltVal val="0"/>
                                          </p:val>
                                        </p:tav>
                                        <p:tav tm="100000">
                                          <p:val>
                                            <p:strVal val="#ppt_w"/>
                                          </p:val>
                                        </p:tav>
                                      </p:tavLst>
                                    </p:anim>
                                    <p:anim calcmode="lin" valueType="num">
                                      <p:cBhvr>
                                        <p:cTn id="110" dur="1500" fill="hold"/>
                                        <p:tgtEl>
                                          <p:spTgt spid="28"/>
                                        </p:tgtEl>
                                        <p:attrNameLst>
                                          <p:attrName>ppt_h</p:attrName>
                                        </p:attrNameLst>
                                      </p:cBhvr>
                                      <p:tavLst>
                                        <p:tav tm="0">
                                          <p:val>
                                            <p:fltVal val="0"/>
                                          </p:val>
                                        </p:tav>
                                        <p:tav tm="100000">
                                          <p:val>
                                            <p:strVal val="#ppt_h"/>
                                          </p:val>
                                        </p:tav>
                                      </p:tavLst>
                                    </p:anim>
                                    <p:anim calcmode="lin" valueType="num">
                                      <p:cBhvr>
                                        <p:cTn id="111" dur="1500" fill="hold"/>
                                        <p:tgtEl>
                                          <p:spTgt spid="28"/>
                                        </p:tgtEl>
                                        <p:attrNameLst>
                                          <p:attrName>style.rotation</p:attrName>
                                        </p:attrNameLst>
                                      </p:cBhvr>
                                      <p:tavLst>
                                        <p:tav tm="0">
                                          <p:val>
                                            <p:fltVal val="90"/>
                                          </p:val>
                                        </p:tav>
                                        <p:tav tm="100000">
                                          <p:val>
                                            <p:fltVal val="0"/>
                                          </p:val>
                                        </p:tav>
                                      </p:tavLst>
                                    </p:anim>
                                    <p:animEffect transition="in" filter="fade">
                                      <p:cBhvr>
                                        <p:cTn id="112" dur="1500"/>
                                        <p:tgtEl>
                                          <p:spTgt spid="28"/>
                                        </p:tgtEl>
                                      </p:cBhvr>
                                    </p:animEffect>
                                  </p:childTnLst>
                                </p:cTn>
                              </p:par>
                              <p:par>
                                <p:cTn id="113" presetID="31" presetClass="entr" presetSubtype="0" fill="hold" nodeType="with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p:cTn id="115" dur="1500" fill="hold"/>
                                        <p:tgtEl>
                                          <p:spTgt spid="29"/>
                                        </p:tgtEl>
                                        <p:attrNameLst>
                                          <p:attrName>ppt_w</p:attrName>
                                        </p:attrNameLst>
                                      </p:cBhvr>
                                      <p:tavLst>
                                        <p:tav tm="0">
                                          <p:val>
                                            <p:fltVal val="0"/>
                                          </p:val>
                                        </p:tav>
                                        <p:tav tm="100000">
                                          <p:val>
                                            <p:strVal val="#ppt_w"/>
                                          </p:val>
                                        </p:tav>
                                      </p:tavLst>
                                    </p:anim>
                                    <p:anim calcmode="lin" valueType="num">
                                      <p:cBhvr>
                                        <p:cTn id="116" dur="1500" fill="hold"/>
                                        <p:tgtEl>
                                          <p:spTgt spid="29"/>
                                        </p:tgtEl>
                                        <p:attrNameLst>
                                          <p:attrName>ppt_h</p:attrName>
                                        </p:attrNameLst>
                                      </p:cBhvr>
                                      <p:tavLst>
                                        <p:tav tm="0">
                                          <p:val>
                                            <p:fltVal val="0"/>
                                          </p:val>
                                        </p:tav>
                                        <p:tav tm="100000">
                                          <p:val>
                                            <p:strVal val="#ppt_h"/>
                                          </p:val>
                                        </p:tav>
                                      </p:tavLst>
                                    </p:anim>
                                    <p:anim calcmode="lin" valueType="num">
                                      <p:cBhvr>
                                        <p:cTn id="117" dur="1500" fill="hold"/>
                                        <p:tgtEl>
                                          <p:spTgt spid="29"/>
                                        </p:tgtEl>
                                        <p:attrNameLst>
                                          <p:attrName>style.rotation</p:attrName>
                                        </p:attrNameLst>
                                      </p:cBhvr>
                                      <p:tavLst>
                                        <p:tav tm="0">
                                          <p:val>
                                            <p:fltVal val="90"/>
                                          </p:val>
                                        </p:tav>
                                        <p:tav tm="100000">
                                          <p:val>
                                            <p:fltVal val="0"/>
                                          </p:val>
                                        </p:tav>
                                      </p:tavLst>
                                    </p:anim>
                                    <p:animEffect transition="in" filter="fade">
                                      <p:cBhvr>
                                        <p:cTn id="118" dur="1500"/>
                                        <p:tgtEl>
                                          <p:spTgt spid="29"/>
                                        </p:tgtEl>
                                      </p:cBhvr>
                                    </p:animEffect>
                                  </p:childTnLst>
                                </p:cTn>
                              </p:par>
                              <p:par>
                                <p:cTn id="119" presetID="31" presetClass="entr" presetSubtype="0" fill="hold" grpId="0" nodeType="withEffect">
                                  <p:stCondLst>
                                    <p:cond delay="0"/>
                                  </p:stCondLst>
                                  <p:childTnLst>
                                    <p:set>
                                      <p:cBhvr>
                                        <p:cTn id="120" dur="1" fill="hold">
                                          <p:stCondLst>
                                            <p:cond delay="0"/>
                                          </p:stCondLst>
                                        </p:cTn>
                                        <p:tgtEl>
                                          <p:spTgt spid="30"/>
                                        </p:tgtEl>
                                        <p:attrNameLst>
                                          <p:attrName>style.visibility</p:attrName>
                                        </p:attrNameLst>
                                      </p:cBhvr>
                                      <p:to>
                                        <p:strVal val="visible"/>
                                      </p:to>
                                    </p:set>
                                    <p:anim calcmode="lin" valueType="num">
                                      <p:cBhvr>
                                        <p:cTn id="121" dur="1500" fill="hold"/>
                                        <p:tgtEl>
                                          <p:spTgt spid="30"/>
                                        </p:tgtEl>
                                        <p:attrNameLst>
                                          <p:attrName>ppt_w</p:attrName>
                                        </p:attrNameLst>
                                      </p:cBhvr>
                                      <p:tavLst>
                                        <p:tav tm="0">
                                          <p:val>
                                            <p:fltVal val="0"/>
                                          </p:val>
                                        </p:tav>
                                        <p:tav tm="100000">
                                          <p:val>
                                            <p:strVal val="#ppt_w"/>
                                          </p:val>
                                        </p:tav>
                                      </p:tavLst>
                                    </p:anim>
                                    <p:anim calcmode="lin" valueType="num">
                                      <p:cBhvr>
                                        <p:cTn id="122" dur="1500" fill="hold"/>
                                        <p:tgtEl>
                                          <p:spTgt spid="30"/>
                                        </p:tgtEl>
                                        <p:attrNameLst>
                                          <p:attrName>ppt_h</p:attrName>
                                        </p:attrNameLst>
                                      </p:cBhvr>
                                      <p:tavLst>
                                        <p:tav tm="0">
                                          <p:val>
                                            <p:fltVal val="0"/>
                                          </p:val>
                                        </p:tav>
                                        <p:tav tm="100000">
                                          <p:val>
                                            <p:strVal val="#ppt_h"/>
                                          </p:val>
                                        </p:tav>
                                      </p:tavLst>
                                    </p:anim>
                                    <p:anim calcmode="lin" valueType="num">
                                      <p:cBhvr>
                                        <p:cTn id="123" dur="1500" fill="hold"/>
                                        <p:tgtEl>
                                          <p:spTgt spid="30"/>
                                        </p:tgtEl>
                                        <p:attrNameLst>
                                          <p:attrName>style.rotation</p:attrName>
                                        </p:attrNameLst>
                                      </p:cBhvr>
                                      <p:tavLst>
                                        <p:tav tm="0">
                                          <p:val>
                                            <p:fltVal val="90"/>
                                          </p:val>
                                        </p:tav>
                                        <p:tav tm="100000">
                                          <p:val>
                                            <p:fltVal val="0"/>
                                          </p:val>
                                        </p:tav>
                                      </p:tavLst>
                                    </p:anim>
                                    <p:animEffect transition="in" filter="fade">
                                      <p:cBhvr>
                                        <p:cTn id="124" dur="1500"/>
                                        <p:tgtEl>
                                          <p:spTgt spid="30"/>
                                        </p:tgtEl>
                                      </p:cBhvr>
                                    </p:animEffect>
                                  </p:childTnLst>
                                </p:cTn>
                              </p:par>
                              <p:par>
                                <p:cTn id="125" presetID="31" presetClass="entr" presetSubtype="0" fill="hold" grpId="0" nodeType="withEffect">
                                  <p:stCondLst>
                                    <p:cond delay="0"/>
                                  </p:stCondLst>
                                  <p:childTnLst>
                                    <p:set>
                                      <p:cBhvr>
                                        <p:cTn id="126" dur="1" fill="hold">
                                          <p:stCondLst>
                                            <p:cond delay="0"/>
                                          </p:stCondLst>
                                        </p:cTn>
                                        <p:tgtEl>
                                          <p:spTgt spid="31"/>
                                        </p:tgtEl>
                                        <p:attrNameLst>
                                          <p:attrName>style.visibility</p:attrName>
                                        </p:attrNameLst>
                                      </p:cBhvr>
                                      <p:to>
                                        <p:strVal val="visible"/>
                                      </p:to>
                                    </p:set>
                                    <p:anim calcmode="lin" valueType="num">
                                      <p:cBhvr>
                                        <p:cTn id="127" dur="1500" fill="hold"/>
                                        <p:tgtEl>
                                          <p:spTgt spid="31"/>
                                        </p:tgtEl>
                                        <p:attrNameLst>
                                          <p:attrName>ppt_w</p:attrName>
                                        </p:attrNameLst>
                                      </p:cBhvr>
                                      <p:tavLst>
                                        <p:tav tm="0">
                                          <p:val>
                                            <p:fltVal val="0"/>
                                          </p:val>
                                        </p:tav>
                                        <p:tav tm="100000">
                                          <p:val>
                                            <p:strVal val="#ppt_w"/>
                                          </p:val>
                                        </p:tav>
                                      </p:tavLst>
                                    </p:anim>
                                    <p:anim calcmode="lin" valueType="num">
                                      <p:cBhvr>
                                        <p:cTn id="128" dur="1500" fill="hold"/>
                                        <p:tgtEl>
                                          <p:spTgt spid="31"/>
                                        </p:tgtEl>
                                        <p:attrNameLst>
                                          <p:attrName>ppt_h</p:attrName>
                                        </p:attrNameLst>
                                      </p:cBhvr>
                                      <p:tavLst>
                                        <p:tav tm="0">
                                          <p:val>
                                            <p:fltVal val="0"/>
                                          </p:val>
                                        </p:tav>
                                        <p:tav tm="100000">
                                          <p:val>
                                            <p:strVal val="#ppt_h"/>
                                          </p:val>
                                        </p:tav>
                                      </p:tavLst>
                                    </p:anim>
                                    <p:anim calcmode="lin" valueType="num">
                                      <p:cBhvr>
                                        <p:cTn id="129" dur="1500" fill="hold"/>
                                        <p:tgtEl>
                                          <p:spTgt spid="31"/>
                                        </p:tgtEl>
                                        <p:attrNameLst>
                                          <p:attrName>style.rotation</p:attrName>
                                        </p:attrNameLst>
                                      </p:cBhvr>
                                      <p:tavLst>
                                        <p:tav tm="0">
                                          <p:val>
                                            <p:fltVal val="90"/>
                                          </p:val>
                                        </p:tav>
                                        <p:tav tm="100000">
                                          <p:val>
                                            <p:fltVal val="0"/>
                                          </p:val>
                                        </p:tav>
                                      </p:tavLst>
                                    </p:anim>
                                    <p:animEffect transition="in" filter="fade">
                                      <p:cBhvr>
                                        <p:cTn id="130" dur="1500"/>
                                        <p:tgtEl>
                                          <p:spTgt spid="31"/>
                                        </p:tgtEl>
                                      </p:cBhvr>
                                    </p:animEffect>
                                  </p:childTnLst>
                                </p:cTn>
                              </p:par>
                              <p:par>
                                <p:cTn id="131" presetID="31" presetClass="entr" presetSubtype="0" fill="hold" grpId="0" nodeType="withEffect">
                                  <p:stCondLst>
                                    <p:cond delay="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1500" fill="hold"/>
                                        <p:tgtEl>
                                          <p:spTgt spid="32"/>
                                        </p:tgtEl>
                                        <p:attrNameLst>
                                          <p:attrName>ppt_w</p:attrName>
                                        </p:attrNameLst>
                                      </p:cBhvr>
                                      <p:tavLst>
                                        <p:tav tm="0">
                                          <p:val>
                                            <p:fltVal val="0"/>
                                          </p:val>
                                        </p:tav>
                                        <p:tav tm="100000">
                                          <p:val>
                                            <p:strVal val="#ppt_w"/>
                                          </p:val>
                                        </p:tav>
                                      </p:tavLst>
                                    </p:anim>
                                    <p:anim calcmode="lin" valueType="num">
                                      <p:cBhvr>
                                        <p:cTn id="134" dur="1500" fill="hold"/>
                                        <p:tgtEl>
                                          <p:spTgt spid="32"/>
                                        </p:tgtEl>
                                        <p:attrNameLst>
                                          <p:attrName>ppt_h</p:attrName>
                                        </p:attrNameLst>
                                      </p:cBhvr>
                                      <p:tavLst>
                                        <p:tav tm="0">
                                          <p:val>
                                            <p:fltVal val="0"/>
                                          </p:val>
                                        </p:tav>
                                        <p:tav tm="100000">
                                          <p:val>
                                            <p:strVal val="#ppt_h"/>
                                          </p:val>
                                        </p:tav>
                                      </p:tavLst>
                                    </p:anim>
                                    <p:anim calcmode="lin" valueType="num">
                                      <p:cBhvr>
                                        <p:cTn id="135" dur="1500" fill="hold"/>
                                        <p:tgtEl>
                                          <p:spTgt spid="32"/>
                                        </p:tgtEl>
                                        <p:attrNameLst>
                                          <p:attrName>style.rotation</p:attrName>
                                        </p:attrNameLst>
                                      </p:cBhvr>
                                      <p:tavLst>
                                        <p:tav tm="0">
                                          <p:val>
                                            <p:fltVal val="90"/>
                                          </p:val>
                                        </p:tav>
                                        <p:tav tm="100000">
                                          <p:val>
                                            <p:fltVal val="0"/>
                                          </p:val>
                                        </p:tav>
                                      </p:tavLst>
                                    </p:anim>
                                    <p:animEffect transition="in" filter="fade">
                                      <p:cBhvr>
                                        <p:cTn id="136" dur="1500"/>
                                        <p:tgtEl>
                                          <p:spTgt spid="32"/>
                                        </p:tgtEl>
                                      </p:cBhvr>
                                    </p:animEffect>
                                  </p:childTnLst>
                                </p:cTn>
                              </p:par>
                              <p:par>
                                <p:cTn id="137" presetID="31" presetClass="entr" presetSubtype="0" fill="hold" nodeType="withEffect">
                                  <p:stCondLst>
                                    <p:cond delay="0"/>
                                  </p:stCondLst>
                                  <p:childTnLst>
                                    <p:set>
                                      <p:cBhvr>
                                        <p:cTn id="138" dur="1" fill="hold">
                                          <p:stCondLst>
                                            <p:cond delay="0"/>
                                          </p:stCondLst>
                                        </p:cTn>
                                        <p:tgtEl>
                                          <p:spTgt spid="33"/>
                                        </p:tgtEl>
                                        <p:attrNameLst>
                                          <p:attrName>style.visibility</p:attrName>
                                        </p:attrNameLst>
                                      </p:cBhvr>
                                      <p:to>
                                        <p:strVal val="visible"/>
                                      </p:to>
                                    </p:set>
                                    <p:anim calcmode="lin" valueType="num">
                                      <p:cBhvr>
                                        <p:cTn id="139" dur="1500" fill="hold"/>
                                        <p:tgtEl>
                                          <p:spTgt spid="33"/>
                                        </p:tgtEl>
                                        <p:attrNameLst>
                                          <p:attrName>ppt_w</p:attrName>
                                        </p:attrNameLst>
                                      </p:cBhvr>
                                      <p:tavLst>
                                        <p:tav tm="0">
                                          <p:val>
                                            <p:fltVal val="0"/>
                                          </p:val>
                                        </p:tav>
                                        <p:tav tm="100000">
                                          <p:val>
                                            <p:strVal val="#ppt_w"/>
                                          </p:val>
                                        </p:tav>
                                      </p:tavLst>
                                    </p:anim>
                                    <p:anim calcmode="lin" valueType="num">
                                      <p:cBhvr>
                                        <p:cTn id="140" dur="1500" fill="hold"/>
                                        <p:tgtEl>
                                          <p:spTgt spid="33"/>
                                        </p:tgtEl>
                                        <p:attrNameLst>
                                          <p:attrName>ppt_h</p:attrName>
                                        </p:attrNameLst>
                                      </p:cBhvr>
                                      <p:tavLst>
                                        <p:tav tm="0">
                                          <p:val>
                                            <p:fltVal val="0"/>
                                          </p:val>
                                        </p:tav>
                                        <p:tav tm="100000">
                                          <p:val>
                                            <p:strVal val="#ppt_h"/>
                                          </p:val>
                                        </p:tav>
                                      </p:tavLst>
                                    </p:anim>
                                    <p:anim calcmode="lin" valueType="num">
                                      <p:cBhvr>
                                        <p:cTn id="141" dur="1500" fill="hold"/>
                                        <p:tgtEl>
                                          <p:spTgt spid="33"/>
                                        </p:tgtEl>
                                        <p:attrNameLst>
                                          <p:attrName>style.rotation</p:attrName>
                                        </p:attrNameLst>
                                      </p:cBhvr>
                                      <p:tavLst>
                                        <p:tav tm="0">
                                          <p:val>
                                            <p:fltVal val="90"/>
                                          </p:val>
                                        </p:tav>
                                        <p:tav tm="100000">
                                          <p:val>
                                            <p:fltVal val="0"/>
                                          </p:val>
                                        </p:tav>
                                      </p:tavLst>
                                    </p:anim>
                                    <p:animEffect transition="in" filter="fade">
                                      <p:cBhvr>
                                        <p:cTn id="142" dur="1500"/>
                                        <p:tgtEl>
                                          <p:spTgt spid="33"/>
                                        </p:tgtEl>
                                      </p:cBhvr>
                                    </p:animEffect>
                                  </p:childTnLst>
                                </p:cTn>
                              </p:par>
                              <p:par>
                                <p:cTn id="143" presetID="31" presetClass="entr" presetSubtype="0" fill="hold" grpId="0" nodeType="withEffect">
                                  <p:stCondLst>
                                    <p:cond delay="0"/>
                                  </p:stCondLst>
                                  <p:childTnLst>
                                    <p:set>
                                      <p:cBhvr>
                                        <p:cTn id="144" dur="1" fill="hold">
                                          <p:stCondLst>
                                            <p:cond delay="0"/>
                                          </p:stCondLst>
                                        </p:cTn>
                                        <p:tgtEl>
                                          <p:spTgt spid="34"/>
                                        </p:tgtEl>
                                        <p:attrNameLst>
                                          <p:attrName>style.visibility</p:attrName>
                                        </p:attrNameLst>
                                      </p:cBhvr>
                                      <p:to>
                                        <p:strVal val="visible"/>
                                      </p:to>
                                    </p:set>
                                    <p:anim calcmode="lin" valueType="num">
                                      <p:cBhvr>
                                        <p:cTn id="145" dur="1500" fill="hold"/>
                                        <p:tgtEl>
                                          <p:spTgt spid="34"/>
                                        </p:tgtEl>
                                        <p:attrNameLst>
                                          <p:attrName>ppt_w</p:attrName>
                                        </p:attrNameLst>
                                      </p:cBhvr>
                                      <p:tavLst>
                                        <p:tav tm="0">
                                          <p:val>
                                            <p:fltVal val="0"/>
                                          </p:val>
                                        </p:tav>
                                        <p:tav tm="100000">
                                          <p:val>
                                            <p:strVal val="#ppt_w"/>
                                          </p:val>
                                        </p:tav>
                                      </p:tavLst>
                                    </p:anim>
                                    <p:anim calcmode="lin" valueType="num">
                                      <p:cBhvr>
                                        <p:cTn id="146" dur="1500" fill="hold"/>
                                        <p:tgtEl>
                                          <p:spTgt spid="34"/>
                                        </p:tgtEl>
                                        <p:attrNameLst>
                                          <p:attrName>ppt_h</p:attrName>
                                        </p:attrNameLst>
                                      </p:cBhvr>
                                      <p:tavLst>
                                        <p:tav tm="0">
                                          <p:val>
                                            <p:fltVal val="0"/>
                                          </p:val>
                                        </p:tav>
                                        <p:tav tm="100000">
                                          <p:val>
                                            <p:strVal val="#ppt_h"/>
                                          </p:val>
                                        </p:tav>
                                      </p:tavLst>
                                    </p:anim>
                                    <p:anim calcmode="lin" valueType="num">
                                      <p:cBhvr>
                                        <p:cTn id="147" dur="1500" fill="hold"/>
                                        <p:tgtEl>
                                          <p:spTgt spid="34"/>
                                        </p:tgtEl>
                                        <p:attrNameLst>
                                          <p:attrName>style.rotation</p:attrName>
                                        </p:attrNameLst>
                                      </p:cBhvr>
                                      <p:tavLst>
                                        <p:tav tm="0">
                                          <p:val>
                                            <p:fltVal val="90"/>
                                          </p:val>
                                        </p:tav>
                                        <p:tav tm="100000">
                                          <p:val>
                                            <p:fltVal val="0"/>
                                          </p:val>
                                        </p:tav>
                                      </p:tavLst>
                                    </p:anim>
                                    <p:animEffect transition="in" filter="fade">
                                      <p:cBhvr>
                                        <p:cTn id="148" dur="1500"/>
                                        <p:tgtEl>
                                          <p:spTgt spid="34"/>
                                        </p:tgtEl>
                                      </p:cBhvr>
                                    </p:animEffect>
                                  </p:childTnLst>
                                </p:cTn>
                              </p:par>
                              <p:par>
                                <p:cTn id="149" presetID="31" presetClass="entr" presetSubtype="0" fill="hold" grpId="0" nodeType="withEffect">
                                  <p:stCondLst>
                                    <p:cond delay="0"/>
                                  </p:stCondLst>
                                  <p:childTnLst>
                                    <p:set>
                                      <p:cBhvr>
                                        <p:cTn id="150" dur="1" fill="hold">
                                          <p:stCondLst>
                                            <p:cond delay="0"/>
                                          </p:stCondLst>
                                        </p:cTn>
                                        <p:tgtEl>
                                          <p:spTgt spid="35"/>
                                        </p:tgtEl>
                                        <p:attrNameLst>
                                          <p:attrName>style.visibility</p:attrName>
                                        </p:attrNameLst>
                                      </p:cBhvr>
                                      <p:to>
                                        <p:strVal val="visible"/>
                                      </p:to>
                                    </p:set>
                                    <p:anim calcmode="lin" valueType="num">
                                      <p:cBhvr>
                                        <p:cTn id="151" dur="1500" fill="hold"/>
                                        <p:tgtEl>
                                          <p:spTgt spid="35"/>
                                        </p:tgtEl>
                                        <p:attrNameLst>
                                          <p:attrName>ppt_w</p:attrName>
                                        </p:attrNameLst>
                                      </p:cBhvr>
                                      <p:tavLst>
                                        <p:tav tm="0">
                                          <p:val>
                                            <p:fltVal val="0"/>
                                          </p:val>
                                        </p:tav>
                                        <p:tav tm="100000">
                                          <p:val>
                                            <p:strVal val="#ppt_w"/>
                                          </p:val>
                                        </p:tav>
                                      </p:tavLst>
                                    </p:anim>
                                    <p:anim calcmode="lin" valueType="num">
                                      <p:cBhvr>
                                        <p:cTn id="152" dur="1500" fill="hold"/>
                                        <p:tgtEl>
                                          <p:spTgt spid="35"/>
                                        </p:tgtEl>
                                        <p:attrNameLst>
                                          <p:attrName>ppt_h</p:attrName>
                                        </p:attrNameLst>
                                      </p:cBhvr>
                                      <p:tavLst>
                                        <p:tav tm="0">
                                          <p:val>
                                            <p:fltVal val="0"/>
                                          </p:val>
                                        </p:tav>
                                        <p:tav tm="100000">
                                          <p:val>
                                            <p:strVal val="#ppt_h"/>
                                          </p:val>
                                        </p:tav>
                                      </p:tavLst>
                                    </p:anim>
                                    <p:anim calcmode="lin" valueType="num">
                                      <p:cBhvr>
                                        <p:cTn id="153" dur="1500" fill="hold"/>
                                        <p:tgtEl>
                                          <p:spTgt spid="35"/>
                                        </p:tgtEl>
                                        <p:attrNameLst>
                                          <p:attrName>style.rotation</p:attrName>
                                        </p:attrNameLst>
                                      </p:cBhvr>
                                      <p:tavLst>
                                        <p:tav tm="0">
                                          <p:val>
                                            <p:fltVal val="90"/>
                                          </p:val>
                                        </p:tav>
                                        <p:tav tm="100000">
                                          <p:val>
                                            <p:fltVal val="0"/>
                                          </p:val>
                                        </p:tav>
                                      </p:tavLst>
                                    </p:anim>
                                    <p:animEffect transition="in" filter="fade">
                                      <p:cBhvr>
                                        <p:cTn id="154" dur="1500"/>
                                        <p:tgtEl>
                                          <p:spTgt spid="35"/>
                                        </p:tgtEl>
                                      </p:cBhvr>
                                    </p:animEffect>
                                  </p:childTnLst>
                                </p:cTn>
                              </p:par>
                              <p:par>
                                <p:cTn id="155" presetID="31" presetClass="entr" presetSubtype="0"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 calcmode="lin" valueType="num">
                                      <p:cBhvr>
                                        <p:cTn id="157" dur="1500" fill="hold"/>
                                        <p:tgtEl>
                                          <p:spTgt spid="36"/>
                                        </p:tgtEl>
                                        <p:attrNameLst>
                                          <p:attrName>ppt_w</p:attrName>
                                        </p:attrNameLst>
                                      </p:cBhvr>
                                      <p:tavLst>
                                        <p:tav tm="0">
                                          <p:val>
                                            <p:fltVal val="0"/>
                                          </p:val>
                                        </p:tav>
                                        <p:tav tm="100000">
                                          <p:val>
                                            <p:strVal val="#ppt_w"/>
                                          </p:val>
                                        </p:tav>
                                      </p:tavLst>
                                    </p:anim>
                                    <p:anim calcmode="lin" valueType="num">
                                      <p:cBhvr>
                                        <p:cTn id="158" dur="1500" fill="hold"/>
                                        <p:tgtEl>
                                          <p:spTgt spid="36"/>
                                        </p:tgtEl>
                                        <p:attrNameLst>
                                          <p:attrName>ppt_h</p:attrName>
                                        </p:attrNameLst>
                                      </p:cBhvr>
                                      <p:tavLst>
                                        <p:tav tm="0">
                                          <p:val>
                                            <p:fltVal val="0"/>
                                          </p:val>
                                        </p:tav>
                                        <p:tav tm="100000">
                                          <p:val>
                                            <p:strVal val="#ppt_h"/>
                                          </p:val>
                                        </p:tav>
                                      </p:tavLst>
                                    </p:anim>
                                    <p:anim calcmode="lin" valueType="num">
                                      <p:cBhvr>
                                        <p:cTn id="159" dur="1500" fill="hold"/>
                                        <p:tgtEl>
                                          <p:spTgt spid="36"/>
                                        </p:tgtEl>
                                        <p:attrNameLst>
                                          <p:attrName>style.rotation</p:attrName>
                                        </p:attrNameLst>
                                      </p:cBhvr>
                                      <p:tavLst>
                                        <p:tav tm="0">
                                          <p:val>
                                            <p:fltVal val="90"/>
                                          </p:val>
                                        </p:tav>
                                        <p:tav tm="100000">
                                          <p:val>
                                            <p:fltVal val="0"/>
                                          </p:val>
                                        </p:tav>
                                      </p:tavLst>
                                    </p:anim>
                                    <p:animEffect transition="in" filter="fade">
                                      <p:cBhvr>
                                        <p:cTn id="160" dur="1500"/>
                                        <p:tgtEl>
                                          <p:spTgt spid="36"/>
                                        </p:tgtEl>
                                      </p:cBhvr>
                                    </p:animEffect>
                                  </p:childTnLst>
                                </p:cTn>
                              </p:par>
                              <p:par>
                                <p:cTn id="161" presetID="31" presetClass="entr" presetSubtype="0" fill="hold" nodeType="withEffect">
                                  <p:stCondLst>
                                    <p:cond delay="0"/>
                                  </p:stCondLst>
                                  <p:childTnLst>
                                    <p:set>
                                      <p:cBhvr>
                                        <p:cTn id="162" dur="1" fill="hold">
                                          <p:stCondLst>
                                            <p:cond delay="0"/>
                                          </p:stCondLst>
                                        </p:cTn>
                                        <p:tgtEl>
                                          <p:spTgt spid="37"/>
                                        </p:tgtEl>
                                        <p:attrNameLst>
                                          <p:attrName>style.visibility</p:attrName>
                                        </p:attrNameLst>
                                      </p:cBhvr>
                                      <p:to>
                                        <p:strVal val="visible"/>
                                      </p:to>
                                    </p:set>
                                    <p:anim calcmode="lin" valueType="num">
                                      <p:cBhvr>
                                        <p:cTn id="163" dur="1500" fill="hold"/>
                                        <p:tgtEl>
                                          <p:spTgt spid="37"/>
                                        </p:tgtEl>
                                        <p:attrNameLst>
                                          <p:attrName>ppt_w</p:attrName>
                                        </p:attrNameLst>
                                      </p:cBhvr>
                                      <p:tavLst>
                                        <p:tav tm="0">
                                          <p:val>
                                            <p:fltVal val="0"/>
                                          </p:val>
                                        </p:tav>
                                        <p:tav tm="100000">
                                          <p:val>
                                            <p:strVal val="#ppt_w"/>
                                          </p:val>
                                        </p:tav>
                                      </p:tavLst>
                                    </p:anim>
                                    <p:anim calcmode="lin" valueType="num">
                                      <p:cBhvr>
                                        <p:cTn id="164" dur="1500" fill="hold"/>
                                        <p:tgtEl>
                                          <p:spTgt spid="37"/>
                                        </p:tgtEl>
                                        <p:attrNameLst>
                                          <p:attrName>ppt_h</p:attrName>
                                        </p:attrNameLst>
                                      </p:cBhvr>
                                      <p:tavLst>
                                        <p:tav tm="0">
                                          <p:val>
                                            <p:fltVal val="0"/>
                                          </p:val>
                                        </p:tav>
                                        <p:tav tm="100000">
                                          <p:val>
                                            <p:strVal val="#ppt_h"/>
                                          </p:val>
                                        </p:tav>
                                      </p:tavLst>
                                    </p:anim>
                                    <p:anim calcmode="lin" valueType="num">
                                      <p:cBhvr>
                                        <p:cTn id="165" dur="1500" fill="hold"/>
                                        <p:tgtEl>
                                          <p:spTgt spid="37"/>
                                        </p:tgtEl>
                                        <p:attrNameLst>
                                          <p:attrName>style.rotation</p:attrName>
                                        </p:attrNameLst>
                                      </p:cBhvr>
                                      <p:tavLst>
                                        <p:tav tm="0">
                                          <p:val>
                                            <p:fltVal val="90"/>
                                          </p:val>
                                        </p:tav>
                                        <p:tav tm="100000">
                                          <p:val>
                                            <p:fltVal val="0"/>
                                          </p:val>
                                        </p:tav>
                                      </p:tavLst>
                                    </p:anim>
                                    <p:animEffect transition="in" filter="fade">
                                      <p:cBhvr>
                                        <p:cTn id="166" dur="1500"/>
                                        <p:tgtEl>
                                          <p:spTgt spid="37"/>
                                        </p:tgtEl>
                                      </p:cBhvr>
                                    </p:animEffect>
                                  </p:childTnLst>
                                </p:cTn>
                              </p:par>
                              <p:par>
                                <p:cTn id="167" presetID="31" presetClass="entr" presetSubtype="0" fill="hold" grpId="0" nodeType="withEffect">
                                  <p:stCondLst>
                                    <p:cond delay="0"/>
                                  </p:stCondLst>
                                  <p:childTnLst>
                                    <p:set>
                                      <p:cBhvr>
                                        <p:cTn id="168" dur="1" fill="hold">
                                          <p:stCondLst>
                                            <p:cond delay="0"/>
                                          </p:stCondLst>
                                        </p:cTn>
                                        <p:tgtEl>
                                          <p:spTgt spid="38"/>
                                        </p:tgtEl>
                                        <p:attrNameLst>
                                          <p:attrName>style.visibility</p:attrName>
                                        </p:attrNameLst>
                                      </p:cBhvr>
                                      <p:to>
                                        <p:strVal val="visible"/>
                                      </p:to>
                                    </p:set>
                                    <p:anim calcmode="lin" valueType="num">
                                      <p:cBhvr>
                                        <p:cTn id="169" dur="1500" fill="hold"/>
                                        <p:tgtEl>
                                          <p:spTgt spid="38"/>
                                        </p:tgtEl>
                                        <p:attrNameLst>
                                          <p:attrName>ppt_w</p:attrName>
                                        </p:attrNameLst>
                                      </p:cBhvr>
                                      <p:tavLst>
                                        <p:tav tm="0">
                                          <p:val>
                                            <p:fltVal val="0"/>
                                          </p:val>
                                        </p:tav>
                                        <p:tav tm="100000">
                                          <p:val>
                                            <p:strVal val="#ppt_w"/>
                                          </p:val>
                                        </p:tav>
                                      </p:tavLst>
                                    </p:anim>
                                    <p:anim calcmode="lin" valueType="num">
                                      <p:cBhvr>
                                        <p:cTn id="170" dur="1500" fill="hold"/>
                                        <p:tgtEl>
                                          <p:spTgt spid="38"/>
                                        </p:tgtEl>
                                        <p:attrNameLst>
                                          <p:attrName>ppt_h</p:attrName>
                                        </p:attrNameLst>
                                      </p:cBhvr>
                                      <p:tavLst>
                                        <p:tav tm="0">
                                          <p:val>
                                            <p:fltVal val="0"/>
                                          </p:val>
                                        </p:tav>
                                        <p:tav tm="100000">
                                          <p:val>
                                            <p:strVal val="#ppt_h"/>
                                          </p:val>
                                        </p:tav>
                                      </p:tavLst>
                                    </p:anim>
                                    <p:anim calcmode="lin" valueType="num">
                                      <p:cBhvr>
                                        <p:cTn id="171" dur="1500" fill="hold"/>
                                        <p:tgtEl>
                                          <p:spTgt spid="38"/>
                                        </p:tgtEl>
                                        <p:attrNameLst>
                                          <p:attrName>style.rotation</p:attrName>
                                        </p:attrNameLst>
                                      </p:cBhvr>
                                      <p:tavLst>
                                        <p:tav tm="0">
                                          <p:val>
                                            <p:fltVal val="90"/>
                                          </p:val>
                                        </p:tav>
                                        <p:tav tm="100000">
                                          <p:val>
                                            <p:fltVal val="0"/>
                                          </p:val>
                                        </p:tav>
                                      </p:tavLst>
                                    </p:anim>
                                    <p:animEffect transition="in" filter="fade">
                                      <p:cBhvr>
                                        <p:cTn id="172" dur="1500"/>
                                        <p:tgtEl>
                                          <p:spTgt spid="38"/>
                                        </p:tgtEl>
                                      </p:cBhvr>
                                    </p:animEffect>
                                  </p:childTnLst>
                                </p:cTn>
                              </p:par>
                              <p:par>
                                <p:cTn id="173" presetID="31" presetClass="entr" presetSubtype="0" fill="hold" grpId="0" nodeType="withEffect">
                                  <p:stCondLst>
                                    <p:cond delay="0"/>
                                  </p:stCondLst>
                                  <p:childTnLst>
                                    <p:set>
                                      <p:cBhvr>
                                        <p:cTn id="174" dur="1" fill="hold">
                                          <p:stCondLst>
                                            <p:cond delay="0"/>
                                          </p:stCondLst>
                                        </p:cTn>
                                        <p:tgtEl>
                                          <p:spTgt spid="39"/>
                                        </p:tgtEl>
                                        <p:attrNameLst>
                                          <p:attrName>style.visibility</p:attrName>
                                        </p:attrNameLst>
                                      </p:cBhvr>
                                      <p:to>
                                        <p:strVal val="visible"/>
                                      </p:to>
                                    </p:set>
                                    <p:anim calcmode="lin" valueType="num">
                                      <p:cBhvr>
                                        <p:cTn id="175" dur="1500" fill="hold"/>
                                        <p:tgtEl>
                                          <p:spTgt spid="39"/>
                                        </p:tgtEl>
                                        <p:attrNameLst>
                                          <p:attrName>ppt_w</p:attrName>
                                        </p:attrNameLst>
                                      </p:cBhvr>
                                      <p:tavLst>
                                        <p:tav tm="0">
                                          <p:val>
                                            <p:fltVal val="0"/>
                                          </p:val>
                                        </p:tav>
                                        <p:tav tm="100000">
                                          <p:val>
                                            <p:strVal val="#ppt_w"/>
                                          </p:val>
                                        </p:tav>
                                      </p:tavLst>
                                    </p:anim>
                                    <p:anim calcmode="lin" valueType="num">
                                      <p:cBhvr>
                                        <p:cTn id="176" dur="1500" fill="hold"/>
                                        <p:tgtEl>
                                          <p:spTgt spid="39"/>
                                        </p:tgtEl>
                                        <p:attrNameLst>
                                          <p:attrName>ppt_h</p:attrName>
                                        </p:attrNameLst>
                                      </p:cBhvr>
                                      <p:tavLst>
                                        <p:tav tm="0">
                                          <p:val>
                                            <p:fltVal val="0"/>
                                          </p:val>
                                        </p:tav>
                                        <p:tav tm="100000">
                                          <p:val>
                                            <p:strVal val="#ppt_h"/>
                                          </p:val>
                                        </p:tav>
                                      </p:tavLst>
                                    </p:anim>
                                    <p:anim calcmode="lin" valueType="num">
                                      <p:cBhvr>
                                        <p:cTn id="177" dur="1500" fill="hold"/>
                                        <p:tgtEl>
                                          <p:spTgt spid="39"/>
                                        </p:tgtEl>
                                        <p:attrNameLst>
                                          <p:attrName>style.rotation</p:attrName>
                                        </p:attrNameLst>
                                      </p:cBhvr>
                                      <p:tavLst>
                                        <p:tav tm="0">
                                          <p:val>
                                            <p:fltVal val="90"/>
                                          </p:val>
                                        </p:tav>
                                        <p:tav tm="100000">
                                          <p:val>
                                            <p:fltVal val="0"/>
                                          </p:val>
                                        </p:tav>
                                      </p:tavLst>
                                    </p:anim>
                                    <p:animEffect transition="in" filter="fade">
                                      <p:cBhvr>
                                        <p:cTn id="178" dur="1500"/>
                                        <p:tgtEl>
                                          <p:spTgt spid="39"/>
                                        </p:tgtEl>
                                      </p:cBhvr>
                                    </p:animEffect>
                                  </p:childTnLst>
                                </p:cTn>
                              </p:par>
                              <p:par>
                                <p:cTn id="179" presetID="31" presetClass="entr" presetSubtype="0" fill="hold" grpId="0" nodeType="withEffect">
                                  <p:stCondLst>
                                    <p:cond delay="0"/>
                                  </p:stCondLst>
                                  <p:childTnLst>
                                    <p:set>
                                      <p:cBhvr>
                                        <p:cTn id="180" dur="1" fill="hold">
                                          <p:stCondLst>
                                            <p:cond delay="0"/>
                                          </p:stCondLst>
                                        </p:cTn>
                                        <p:tgtEl>
                                          <p:spTgt spid="40"/>
                                        </p:tgtEl>
                                        <p:attrNameLst>
                                          <p:attrName>style.visibility</p:attrName>
                                        </p:attrNameLst>
                                      </p:cBhvr>
                                      <p:to>
                                        <p:strVal val="visible"/>
                                      </p:to>
                                    </p:set>
                                    <p:anim calcmode="lin" valueType="num">
                                      <p:cBhvr>
                                        <p:cTn id="181" dur="1500" fill="hold"/>
                                        <p:tgtEl>
                                          <p:spTgt spid="40"/>
                                        </p:tgtEl>
                                        <p:attrNameLst>
                                          <p:attrName>ppt_w</p:attrName>
                                        </p:attrNameLst>
                                      </p:cBhvr>
                                      <p:tavLst>
                                        <p:tav tm="0">
                                          <p:val>
                                            <p:fltVal val="0"/>
                                          </p:val>
                                        </p:tav>
                                        <p:tav tm="100000">
                                          <p:val>
                                            <p:strVal val="#ppt_w"/>
                                          </p:val>
                                        </p:tav>
                                      </p:tavLst>
                                    </p:anim>
                                    <p:anim calcmode="lin" valueType="num">
                                      <p:cBhvr>
                                        <p:cTn id="182" dur="1500" fill="hold"/>
                                        <p:tgtEl>
                                          <p:spTgt spid="40"/>
                                        </p:tgtEl>
                                        <p:attrNameLst>
                                          <p:attrName>ppt_h</p:attrName>
                                        </p:attrNameLst>
                                      </p:cBhvr>
                                      <p:tavLst>
                                        <p:tav tm="0">
                                          <p:val>
                                            <p:fltVal val="0"/>
                                          </p:val>
                                        </p:tav>
                                        <p:tav tm="100000">
                                          <p:val>
                                            <p:strVal val="#ppt_h"/>
                                          </p:val>
                                        </p:tav>
                                      </p:tavLst>
                                    </p:anim>
                                    <p:anim calcmode="lin" valueType="num">
                                      <p:cBhvr>
                                        <p:cTn id="183" dur="1500" fill="hold"/>
                                        <p:tgtEl>
                                          <p:spTgt spid="40"/>
                                        </p:tgtEl>
                                        <p:attrNameLst>
                                          <p:attrName>style.rotation</p:attrName>
                                        </p:attrNameLst>
                                      </p:cBhvr>
                                      <p:tavLst>
                                        <p:tav tm="0">
                                          <p:val>
                                            <p:fltVal val="90"/>
                                          </p:val>
                                        </p:tav>
                                        <p:tav tm="100000">
                                          <p:val>
                                            <p:fltVal val="0"/>
                                          </p:val>
                                        </p:tav>
                                      </p:tavLst>
                                    </p:anim>
                                    <p:animEffect transition="in" filter="fade">
                                      <p:cBhvr>
                                        <p:cTn id="184" dur="1500"/>
                                        <p:tgtEl>
                                          <p:spTgt spid="40"/>
                                        </p:tgtEl>
                                      </p:cBhvr>
                                    </p:animEffect>
                                  </p:childTnLst>
                                </p:cTn>
                              </p:par>
                              <p:par>
                                <p:cTn id="185" presetID="31" presetClass="entr" presetSubtype="0" fill="hold" nodeType="withEffect">
                                  <p:stCondLst>
                                    <p:cond delay="0"/>
                                  </p:stCondLst>
                                  <p:childTnLst>
                                    <p:set>
                                      <p:cBhvr>
                                        <p:cTn id="186" dur="1" fill="hold">
                                          <p:stCondLst>
                                            <p:cond delay="0"/>
                                          </p:stCondLst>
                                        </p:cTn>
                                        <p:tgtEl>
                                          <p:spTgt spid="41"/>
                                        </p:tgtEl>
                                        <p:attrNameLst>
                                          <p:attrName>style.visibility</p:attrName>
                                        </p:attrNameLst>
                                      </p:cBhvr>
                                      <p:to>
                                        <p:strVal val="visible"/>
                                      </p:to>
                                    </p:set>
                                    <p:anim calcmode="lin" valueType="num">
                                      <p:cBhvr>
                                        <p:cTn id="187" dur="1500" fill="hold"/>
                                        <p:tgtEl>
                                          <p:spTgt spid="41"/>
                                        </p:tgtEl>
                                        <p:attrNameLst>
                                          <p:attrName>ppt_w</p:attrName>
                                        </p:attrNameLst>
                                      </p:cBhvr>
                                      <p:tavLst>
                                        <p:tav tm="0">
                                          <p:val>
                                            <p:fltVal val="0"/>
                                          </p:val>
                                        </p:tav>
                                        <p:tav tm="100000">
                                          <p:val>
                                            <p:strVal val="#ppt_w"/>
                                          </p:val>
                                        </p:tav>
                                      </p:tavLst>
                                    </p:anim>
                                    <p:anim calcmode="lin" valueType="num">
                                      <p:cBhvr>
                                        <p:cTn id="188" dur="1500" fill="hold"/>
                                        <p:tgtEl>
                                          <p:spTgt spid="41"/>
                                        </p:tgtEl>
                                        <p:attrNameLst>
                                          <p:attrName>ppt_h</p:attrName>
                                        </p:attrNameLst>
                                      </p:cBhvr>
                                      <p:tavLst>
                                        <p:tav tm="0">
                                          <p:val>
                                            <p:fltVal val="0"/>
                                          </p:val>
                                        </p:tav>
                                        <p:tav tm="100000">
                                          <p:val>
                                            <p:strVal val="#ppt_h"/>
                                          </p:val>
                                        </p:tav>
                                      </p:tavLst>
                                    </p:anim>
                                    <p:anim calcmode="lin" valueType="num">
                                      <p:cBhvr>
                                        <p:cTn id="189" dur="1500" fill="hold"/>
                                        <p:tgtEl>
                                          <p:spTgt spid="41"/>
                                        </p:tgtEl>
                                        <p:attrNameLst>
                                          <p:attrName>style.rotation</p:attrName>
                                        </p:attrNameLst>
                                      </p:cBhvr>
                                      <p:tavLst>
                                        <p:tav tm="0">
                                          <p:val>
                                            <p:fltVal val="90"/>
                                          </p:val>
                                        </p:tav>
                                        <p:tav tm="100000">
                                          <p:val>
                                            <p:fltVal val="0"/>
                                          </p:val>
                                        </p:tav>
                                      </p:tavLst>
                                    </p:anim>
                                    <p:animEffect transition="in" filter="fade">
                                      <p:cBhvr>
                                        <p:cTn id="190" dur="1500"/>
                                        <p:tgtEl>
                                          <p:spTgt spid="41"/>
                                        </p:tgtEl>
                                      </p:cBhvr>
                                    </p:animEffect>
                                  </p:childTnLst>
                                </p:cTn>
                              </p:par>
                              <p:par>
                                <p:cTn id="191" presetID="31" presetClass="entr" presetSubtype="0" fill="hold" grpId="0" nodeType="withEffect">
                                  <p:stCondLst>
                                    <p:cond delay="0"/>
                                  </p:stCondLst>
                                  <p:childTnLst>
                                    <p:set>
                                      <p:cBhvr>
                                        <p:cTn id="192" dur="1" fill="hold">
                                          <p:stCondLst>
                                            <p:cond delay="0"/>
                                          </p:stCondLst>
                                        </p:cTn>
                                        <p:tgtEl>
                                          <p:spTgt spid="42"/>
                                        </p:tgtEl>
                                        <p:attrNameLst>
                                          <p:attrName>style.visibility</p:attrName>
                                        </p:attrNameLst>
                                      </p:cBhvr>
                                      <p:to>
                                        <p:strVal val="visible"/>
                                      </p:to>
                                    </p:set>
                                    <p:anim calcmode="lin" valueType="num">
                                      <p:cBhvr>
                                        <p:cTn id="193" dur="1500" fill="hold"/>
                                        <p:tgtEl>
                                          <p:spTgt spid="42"/>
                                        </p:tgtEl>
                                        <p:attrNameLst>
                                          <p:attrName>ppt_w</p:attrName>
                                        </p:attrNameLst>
                                      </p:cBhvr>
                                      <p:tavLst>
                                        <p:tav tm="0">
                                          <p:val>
                                            <p:fltVal val="0"/>
                                          </p:val>
                                        </p:tav>
                                        <p:tav tm="100000">
                                          <p:val>
                                            <p:strVal val="#ppt_w"/>
                                          </p:val>
                                        </p:tav>
                                      </p:tavLst>
                                    </p:anim>
                                    <p:anim calcmode="lin" valueType="num">
                                      <p:cBhvr>
                                        <p:cTn id="194" dur="1500" fill="hold"/>
                                        <p:tgtEl>
                                          <p:spTgt spid="42"/>
                                        </p:tgtEl>
                                        <p:attrNameLst>
                                          <p:attrName>ppt_h</p:attrName>
                                        </p:attrNameLst>
                                      </p:cBhvr>
                                      <p:tavLst>
                                        <p:tav tm="0">
                                          <p:val>
                                            <p:fltVal val="0"/>
                                          </p:val>
                                        </p:tav>
                                        <p:tav tm="100000">
                                          <p:val>
                                            <p:strVal val="#ppt_h"/>
                                          </p:val>
                                        </p:tav>
                                      </p:tavLst>
                                    </p:anim>
                                    <p:anim calcmode="lin" valueType="num">
                                      <p:cBhvr>
                                        <p:cTn id="195" dur="1500" fill="hold"/>
                                        <p:tgtEl>
                                          <p:spTgt spid="42"/>
                                        </p:tgtEl>
                                        <p:attrNameLst>
                                          <p:attrName>style.rotation</p:attrName>
                                        </p:attrNameLst>
                                      </p:cBhvr>
                                      <p:tavLst>
                                        <p:tav tm="0">
                                          <p:val>
                                            <p:fltVal val="90"/>
                                          </p:val>
                                        </p:tav>
                                        <p:tav tm="100000">
                                          <p:val>
                                            <p:fltVal val="0"/>
                                          </p:val>
                                        </p:tav>
                                      </p:tavLst>
                                    </p:anim>
                                    <p:animEffect transition="in" filter="fade">
                                      <p:cBhvr>
                                        <p:cTn id="196" dur="1500"/>
                                        <p:tgtEl>
                                          <p:spTgt spid="42"/>
                                        </p:tgtEl>
                                      </p:cBhvr>
                                    </p:animEffect>
                                  </p:childTnLst>
                                </p:cTn>
                              </p:par>
                              <p:par>
                                <p:cTn id="197" presetID="31" presetClass="entr" presetSubtype="0" fill="hold" grpId="0" nodeType="withEffect">
                                  <p:stCondLst>
                                    <p:cond delay="0"/>
                                  </p:stCondLst>
                                  <p:childTnLst>
                                    <p:set>
                                      <p:cBhvr>
                                        <p:cTn id="198" dur="1" fill="hold">
                                          <p:stCondLst>
                                            <p:cond delay="0"/>
                                          </p:stCondLst>
                                        </p:cTn>
                                        <p:tgtEl>
                                          <p:spTgt spid="43"/>
                                        </p:tgtEl>
                                        <p:attrNameLst>
                                          <p:attrName>style.visibility</p:attrName>
                                        </p:attrNameLst>
                                      </p:cBhvr>
                                      <p:to>
                                        <p:strVal val="visible"/>
                                      </p:to>
                                    </p:set>
                                    <p:anim calcmode="lin" valueType="num">
                                      <p:cBhvr>
                                        <p:cTn id="199" dur="1500" fill="hold"/>
                                        <p:tgtEl>
                                          <p:spTgt spid="43"/>
                                        </p:tgtEl>
                                        <p:attrNameLst>
                                          <p:attrName>ppt_w</p:attrName>
                                        </p:attrNameLst>
                                      </p:cBhvr>
                                      <p:tavLst>
                                        <p:tav tm="0">
                                          <p:val>
                                            <p:fltVal val="0"/>
                                          </p:val>
                                        </p:tav>
                                        <p:tav tm="100000">
                                          <p:val>
                                            <p:strVal val="#ppt_w"/>
                                          </p:val>
                                        </p:tav>
                                      </p:tavLst>
                                    </p:anim>
                                    <p:anim calcmode="lin" valueType="num">
                                      <p:cBhvr>
                                        <p:cTn id="200" dur="1500" fill="hold"/>
                                        <p:tgtEl>
                                          <p:spTgt spid="43"/>
                                        </p:tgtEl>
                                        <p:attrNameLst>
                                          <p:attrName>ppt_h</p:attrName>
                                        </p:attrNameLst>
                                      </p:cBhvr>
                                      <p:tavLst>
                                        <p:tav tm="0">
                                          <p:val>
                                            <p:fltVal val="0"/>
                                          </p:val>
                                        </p:tav>
                                        <p:tav tm="100000">
                                          <p:val>
                                            <p:strVal val="#ppt_h"/>
                                          </p:val>
                                        </p:tav>
                                      </p:tavLst>
                                    </p:anim>
                                    <p:anim calcmode="lin" valueType="num">
                                      <p:cBhvr>
                                        <p:cTn id="201" dur="1500" fill="hold"/>
                                        <p:tgtEl>
                                          <p:spTgt spid="43"/>
                                        </p:tgtEl>
                                        <p:attrNameLst>
                                          <p:attrName>style.rotation</p:attrName>
                                        </p:attrNameLst>
                                      </p:cBhvr>
                                      <p:tavLst>
                                        <p:tav tm="0">
                                          <p:val>
                                            <p:fltVal val="90"/>
                                          </p:val>
                                        </p:tav>
                                        <p:tav tm="100000">
                                          <p:val>
                                            <p:fltVal val="0"/>
                                          </p:val>
                                        </p:tav>
                                      </p:tavLst>
                                    </p:anim>
                                    <p:animEffect transition="in" filter="fade">
                                      <p:cBhvr>
                                        <p:cTn id="202" dur="1500"/>
                                        <p:tgtEl>
                                          <p:spTgt spid="43"/>
                                        </p:tgtEl>
                                      </p:cBhvr>
                                    </p:animEffect>
                                  </p:childTnLst>
                                </p:cTn>
                              </p:par>
                              <p:par>
                                <p:cTn id="203" presetID="31" presetClass="entr" presetSubtype="0" fill="hold" grpId="0" nodeType="withEffect">
                                  <p:stCondLst>
                                    <p:cond delay="0"/>
                                  </p:stCondLst>
                                  <p:childTnLst>
                                    <p:set>
                                      <p:cBhvr>
                                        <p:cTn id="204" dur="1" fill="hold">
                                          <p:stCondLst>
                                            <p:cond delay="0"/>
                                          </p:stCondLst>
                                        </p:cTn>
                                        <p:tgtEl>
                                          <p:spTgt spid="44"/>
                                        </p:tgtEl>
                                        <p:attrNameLst>
                                          <p:attrName>style.visibility</p:attrName>
                                        </p:attrNameLst>
                                      </p:cBhvr>
                                      <p:to>
                                        <p:strVal val="visible"/>
                                      </p:to>
                                    </p:set>
                                    <p:anim calcmode="lin" valueType="num">
                                      <p:cBhvr>
                                        <p:cTn id="205" dur="1500" fill="hold"/>
                                        <p:tgtEl>
                                          <p:spTgt spid="44"/>
                                        </p:tgtEl>
                                        <p:attrNameLst>
                                          <p:attrName>ppt_w</p:attrName>
                                        </p:attrNameLst>
                                      </p:cBhvr>
                                      <p:tavLst>
                                        <p:tav tm="0">
                                          <p:val>
                                            <p:fltVal val="0"/>
                                          </p:val>
                                        </p:tav>
                                        <p:tav tm="100000">
                                          <p:val>
                                            <p:strVal val="#ppt_w"/>
                                          </p:val>
                                        </p:tav>
                                      </p:tavLst>
                                    </p:anim>
                                    <p:anim calcmode="lin" valueType="num">
                                      <p:cBhvr>
                                        <p:cTn id="206" dur="1500" fill="hold"/>
                                        <p:tgtEl>
                                          <p:spTgt spid="44"/>
                                        </p:tgtEl>
                                        <p:attrNameLst>
                                          <p:attrName>ppt_h</p:attrName>
                                        </p:attrNameLst>
                                      </p:cBhvr>
                                      <p:tavLst>
                                        <p:tav tm="0">
                                          <p:val>
                                            <p:fltVal val="0"/>
                                          </p:val>
                                        </p:tav>
                                        <p:tav tm="100000">
                                          <p:val>
                                            <p:strVal val="#ppt_h"/>
                                          </p:val>
                                        </p:tav>
                                      </p:tavLst>
                                    </p:anim>
                                    <p:anim calcmode="lin" valueType="num">
                                      <p:cBhvr>
                                        <p:cTn id="207" dur="1500" fill="hold"/>
                                        <p:tgtEl>
                                          <p:spTgt spid="44"/>
                                        </p:tgtEl>
                                        <p:attrNameLst>
                                          <p:attrName>style.rotation</p:attrName>
                                        </p:attrNameLst>
                                      </p:cBhvr>
                                      <p:tavLst>
                                        <p:tav tm="0">
                                          <p:val>
                                            <p:fltVal val="90"/>
                                          </p:val>
                                        </p:tav>
                                        <p:tav tm="100000">
                                          <p:val>
                                            <p:fltVal val="0"/>
                                          </p:val>
                                        </p:tav>
                                      </p:tavLst>
                                    </p:anim>
                                    <p:animEffect transition="in" filter="fade">
                                      <p:cBhvr>
                                        <p:cTn id="208" dur="1500"/>
                                        <p:tgtEl>
                                          <p:spTgt spid="44"/>
                                        </p:tgtEl>
                                      </p:cBhvr>
                                    </p:animEffect>
                                  </p:childTnLst>
                                </p:cTn>
                              </p:par>
                              <p:par>
                                <p:cTn id="209" presetID="31" presetClass="entr" presetSubtype="0" fill="hold" nodeType="withEffect">
                                  <p:stCondLst>
                                    <p:cond delay="0"/>
                                  </p:stCondLst>
                                  <p:childTnLst>
                                    <p:set>
                                      <p:cBhvr>
                                        <p:cTn id="210" dur="1" fill="hold">
                                          <p:stCondLst>
                                            <p:cond delay="0"/>
                                          </p:stCondLst>
                                        </p:cTn>
                                        <p:tgtEl>
                                          <p:spTgt spid="45"/>
                                        </p:tgtEl>
                                        <p:attrNameLst>
                                          <p:attrName>style.visibility</p:attrName>
                                        </p:attrNameLst>
                                      </p:cBhvr>
                                      <p:to>
                                        <p:strVal val="visible"/>
                                      </p:to>
                                    </p:set>
                                    <p:anim calcmode="lin" valueType="num">
                                      <p:cBhvr>
                                        <p:cTn id="211" dur="1500" fill="hold"/>
                                        <p:tgtEl>
                                          <p:spTgt spid="45"/>
                                        </p:tgtEl>
                                        <p:attrNameLst>
                                          <p:attrName>ppt_w</p:attrName>
                                        </p:attrNameLst>
                                      </p:cBhvr>
                                      <p:tavLst>
                                        <p:tav tm="0">
                                          <p:val>
                                            <p:fltVal val="0"/>
                                          </p:val>
                                        </p:tav>
                                        <p:tav tm="100000">
                                          <p:val>
                                            <p:strVal val="#ppt_w"/>
                                          </p:val>
                                        </p:tav>
                                      </p:tavLst>
                                    </p:anim>
                                    <p:anim calcmode="lin" valueType="num">
                                      <p:cBhvr>
                                        <p:cTn id="212" dur="1500" fill="hold"/>
                                        <p:tgtEl>
                                          <p:spTgt spid="45"/>
                                        </p:tgtEl>
                                        <p:attrNameLst>
                                          <p:attrName>ppt_h</p:attrName>
                                        </p:attrNameLst>
                                      </p:cBhvr>
                                      <p:tavLst>
                                        <p:tav tm="0">
                                          <p:val>
                                            <p:fltVal val="0"/>
                                          </p:val>
                                        </p:tav>
                                        <p:tav tm="100000">
                                          <p:val>
                                            <p:strVal val="#ppt_h"/>
                                          </p:val>
                                        </p:tav>
                                      </p:tavLst>
                                    </p:anim>
                                    <p:anim calcmode="lin" valueType="num">
                                      <p:cBhvr>
                                        <p:cTn id="213" dur="1500" fill="hold"/>
                                        <p:tgtEl>
                                          <p:spTgt spid="45"/>
                                        </p:tgtEl>
                                        <p:attrNameLst>
                                          <p:attrName>style.rotation</p:attrName>
                                        </p:attrNameLst>
                                      </p:cBhvr>
                                      <p:tavLst>
                                        <p:tav tm="0">
                                          <p:val>
                                            <p:fltVal val="90"/>
                                          </p:val>
                                        </p:tav>
                                        <p:tav tm="100000">
                                          <p:val>
                                            <p:fltVal val="0"/>
                                          </p:val>
                                        </p:tav>
                                      </p:tavLst>
                                    </p:anim>
                                    <p:animEffect transition="in" filter="fade">
                                      <p:cBhvr>
                                        <p:cTn id="214" dur="1500"/>
                                        <p:tgtEl>
                                          <p:spTgt spid="45"/>
                                        </p:tgtEl>
                                      </p:cBhvr>
                                    </p:animEffect>
                                  </p:childTnLst>
                                </p:cTn>
                              </p:par>
                              <p:par>
                                <p:cTn id="215" presetID="31" presetClass="entr" presetSubtype="0" fill="hold" grpId="0" nodeType="withEffect">
                                  <p:stCondLst>
                                    <p:cond delay="0"/>
                                  </p:stCondLst>
                                  <p:childTnLst>
                                    <p:set>
                                      <p:cBhvr>
                                        <p:cTn id="216" dur="1" fill="hold">
                                          <p:stCondLst>
                                            <p:cond delay="0"/>
                                          </p:stCondLst>
                                        </p:cTn>
                                        <p:tgtEl>
                                          <p:spTgt spid="46"/>
                                        </p:tgtEl>
                                        <p:attrNameLst>
                                          <p:attrName>style.visibility</p:attrName>
                                        </p:attrNameLst>
                                      </p:cBhvr>
                                      <p:to>
                                        <p:strVal val="visible"/>
                                      </p:to>
                                    </p:set>
                                    <p:anim calcmode="lin" valueType="num">
                                      <p:cBhvr>
                                        <p:cTn id="217" dur="1500" fill="hold"/>
                                        <p:tgtEl>
                                          <p:spTgt spid="46"/>
                                        </p:tgtEl>
                                        <p:attrNameLst>
                                          <p:attrName>ppt_w</p:attrName>
                                        </p:attrNameLst>
                                      </p:cBhvr>
                                      <p:tavLst>
                                        <p:tav tm="0">
                                          <p:val>
                                            <p:fltVal val="0"/>
                                          </p:val>
                                        </p:tav>
                                        <p:tav tm="100000">
                                          <p:val>
                                            <p:strVal val="#ppt_w"/>
                                          </p:val>
                                        </p:tav>
                                      </p:tavLst>
                                    </p:anim>
                                    <p:anim calcmode="lin" valueType="num">
                                      <p:cBhvr>
                                        <p:cTn id="218" dur="1500" fill="hold"/>
                                        <p:tgtEl>
                                          <p:spTgt spid="46"/>
                                        </p:tgtEl>
                                        <p:attrNameLst>
                                          <p:attrName>ppt_h</p:attrName>
                                        </p:attrNameLst>
                                      </p:cBhvr>
                                      <p:tavLst>
                                        <p:tav tm="0">
                                          <p:val>
                                            <p:fltVal val="0"/>
                                          </p:val>
                                        </p:tav>
                                        <p:tav tm="100000">
                                          <p:val>
                                            <p:strVal val="#ppt_h"/>
                                          </p:val>
                                        </p:tav>
                                      </p:tavLst>
                                    </p:anim>
                                    <p:anim calcmode="lin" valueType="num">
                                      <p:cBhvr>
                                        <p:cTn id="219" dur="1500" fill="hold"/>
                                        <p:tgtEl>
                                          <p:spTgt spid="46"/>
                                        </p:tgtEl>
                                        <p:attrNameLst>
                                          <p:attrName>style.rotation</p:attrName>
                                        </p:attrNameLst>
                                      </p:cBhvr>
                                      <p:tavLst>
                                        <p:tav tm="0">
                                          <p:val>
                                            <p:fltVal val="90"/>
                                          </p:val>
                                        </p:tav>
                                        <p:tav tm="100000">
                                          <p:val>
                                            <p:fltVal val="0"/>
                                          </p:val>
                                        </p:tav>
                                      </p:tavLst>
                                    </p:anim>
                                    <p:animEffect transition="in" filter="fade">
                                      <p:cBhvr>
                                        <p:cTn id="220" dur="1500"/>
                                        <p:tgtEl>
                                          <p:spTgt spid="46"/>
                                        </p:tgtEl>
                                      </p:cBhvr>
                                    </p:animEffect>
                                  </p:childTnLst>
                                </p:cTn>
                              </p:par>
                              <p:par>
                                <p:cTn id="221" presetID="31" presetClass="entr" presetSubtype="0" fill="hold" grpId="0" nodeType="withEffect">
                                  <p:stCondLst>
                                    <p:cond delay="0"/>
                                  </p:stCondLst>
                                  <p:childTnLst>
                                    <p:set>
                                      <p:cBhvr>
                                        <p:cTn id="222" dur="1" fill="hold">
                                          <p:stCondLst>
                                            <p:cond delay="0"/>
                                          </p:stCondLst>
                                        </p:cTn>
                                        <p:tgtEl>
                                          <p:spTgt spid="47"/>
                                        </p:tgtEl>
                                        <p:attrNameLst>
                                          <p:attrName>style.visibility</p:attrName>
                                        </p:attrNameLst>
                                      </p:cBhvr>
                                      <p:to>
                                        <p:strVal val="visible"/>
                                      </p:to>
                                    </p:set>
                                    <p:anim calcmode="lin" valueType="num">
                                      <p:cBhvr>
                                        <p:cTn id="223" dur="1500" fill="hold"/>
                                        <p:tgtEl>
                                          <p:spTgt spid="47"/>
                                        </p:tgtEl>
                                        <p:attrNameLst>
                                          <p:attrName>ppt_w</p:attrName>
                                        </p:attrNameLst>
                                      </p:cBhvr>
                                      <p:tavLst>
                                        <p:tav tm="0">
                                          <p:val>
                                            <p:fltVal val="0"/>
                                          </p:val>
                                        </p:tav>
                                        <p:tav tm="100000">
                                          <p:val>
                                            <p:strVal val="#ppt_w"/>
                                          </p:val>
                                        </p:tav>
                                      </p:tavLst>
                                    </p:anim>
                                    <p:anim calcmode="lin" valueType="num">
                                      <p:cBhvr>
                                        <p:cTn id="224" dur="1500" fill="hold"/>
                                        <p:tgtEl>
                                          <p:spTgt spid="47"/>
                                        </p:tgtEl>
                                        <p:attrNameLst>
                                          <p:attrName>ppt_h</p:attrName>
                                        </p:attrNameLst>
                                      </p:cBhvr>
                                      <p:tavLst>
                                        <p:tav tm="0">
                                          <p:val>
                                            <p:fltVal val="0"/>
                                          </p:val>
                                        </p:tav>
                                        <p:tav tm="100000">
                                          <p:val>
                                            <p:strVal val="#ppt_h"/>
                                          </p:val>
                                        </p:tav>
                                      </p:tavLst>
                                    </p:anim>
                                    <p:anim calcmode="lin" valueType="num">
                                      <p:cBhvr>
                                        <p:cTn id="225" dur="1500" fill="hold"/>
                                        <p:tgtEl>
                                          <p:spTgt spid="47"/>
                                        </p:tgtEl>
                                        <p:attrNameLst>
                                          <p:attrName>style.rotation</p:attrName>
                                        </p:attrNameLst>
                                      </p:cBhvr>
                                      <p:tavLst>
                                        <p:tav tm="0">
                                          <p:val>
                                            <p:fltVal val="90"/>
                                          </p:val>
                                        </p:tav>
                                        <p:tav tm="100000">
                                          <p:val>
                                            <p:fltVal val="0"/>
                                          </p:val>
                                        </p:tav>
                                      </p:tavLst>
                                    </p:anim>
                                    <p:animEffect transition="in" filter="fade">
                                      <p:cBhvr>
                                        <p:cTn id="226" dur="1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p:bldP spid="23" grpId="0"/>
      <p:bldP spid="24" grpId="0"/>
      <p:bldP spid="26" grpId="0"/>
      <p:bldP spid="27" grpId="0"/>
      <p:bldP spid="28" grpId="0"/>
      <p:bldP spid="30" grpId="0"/>
      <p:bldP spid="31" grpId="0"/>
      <p:bldP spid="32" grpId="0"/>
      <p:bldP spid="34" grpId="0"/>
      <p:bldP spid="35" grpId="0"/>
      <p:bldP spid="36" grpId="0"/>
      <p:bldP spid="38" grpId="0"/>
      <p:bldP spid="39" grpId="0"/>
      <p:bldP spid="40" grpId="0"/>
      <p:bldP spid="42" grpId="0"/>
      <p:bldP spid="43" grpId="0"/>
      <p:bldP spid="44" grpId="0"/>
      <p:bldP spid="46" grpId="0"/>
      <p:bldP spid="4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76726" y="6191250"/>
            <a:ext cx="11239500" cy="285750"/>
          </a:xfrm>
          <a:prstGeom prst="rect">
            <a:avLst/>
          </a:prstGeom>
        </p:spPr>
      </p:pic>
      <p:pic>
        <p:nvPicPr>
          <p:cNvPr id="4" name="Picture 3" descr="image.png"/>
          <p:cNvPicPr>
            <a:picLocks noChangeAspect="1"/>
          </p:cNvPicPr>
          <p:nvPr/>
        </p:nvPicPr>
        <p:blipFill>
          <a:blip r:embed="rId3"/>
          <a:stretch>
            <a:fillRect/>
          </a:stretch>
        </p:blipFill>
        <p:spPr>
          <a:xfrm>
            <a:off x="11639550" y="557212"/>
            <a:ext cx="76200" cy="304800"/>
          </a:xfrm>
          <a:prstGeom prst="rect">
            <a:avLst/>
          </a:prstGeom>
        </p:spPr>
      </p:pic>
      <p:pic>
        <p:nvPicPr>
          <p:cNvPr id="5" name="Picture 4" descr="image.png"/>
          <p:cNvPicPr>
            <a:picLocks noChangeAspect="1"/>
          </p:cNvPicPr>
          <p:nvPr/>
        </p:nvPicPr>
        <p:blipFill>
          <a:blip r:embed="rId4"/>
          <a:stretch>
            <a:fillRect/>
          </a:stretch>
        </p:blipFill>
        <p:spPr>
          <a:xfrm>
            <a:off x="476250" y="2419350"/>
            <a:ext cx="9553575" cy="590550"/>
          </a:xfrm>
          <a:prstGeom prst="rect">
            <a:avLst/>
          </a:prstGeom>
        </p:spPr>
      </p:pic>
      <p:pic>
        <p:nvPicPr>
          <p:cNvPr id="6" name="Picture 5" descr="image.png"/>
          <p:cNvPicPr>
            <a:picLocks noChangeAspect="1"/>
          </p:cNvPicPr>
          <p:nvPr/>
        </p:nvPicPr>
        <p:blipFill>
          <a:blip r:embed="rId5"/>
          <a:stretch>
            <a:fillRect/>
          </a:stretch>
        </p:blipFill>
        <p:spPr>
          <a:xfrm>
            <a:off x="476250" y="3152775"/>
            <a:ext cx="10115550" cy="590550"/>
          </a:xfrm>
          <a:prstGeom prst="rect">
            <a:avLst/>
          </a:prstGeom>
        </p:spPr>
      </p:pic>
      <p:pic>
        <p:nvPicPr>
          <p:cNvPr id="7" name="Picture 6" descr="image.png"/>
          <p:cNvPicPr>
            <a:picLocks noChangeAspect="1"/>
          </p:cNvPicPr>
          <p:nvPr/>
        </p:nvPicPr>
        <p:blipFill>
          <a:blip r:embed="rId6"/>
          <a:stretch>
            <a:fillRect/>
          </a:stretch>
        </p:blipFill>
        <p:spPr>
          <a:xfrm>
            <a:off x="476250" y="3886200"/>
            <a:ext cx="10677525" cy="590550"/>
          </a:xfrm>
          <a:prstGeom prst="rect">
            <a:avLst/>
          </a:prstGeom>
        </p:spPr>
      </p:pic>
      <p:pic>
        <p:nvPicPr>
          <p:cNvPr id="8" name="Picture 7" descr="image.png"/>
          <p:cNvPicPr>
            <a:picLocks noChangeAspect="1"/>
          </p:cNvPicPr>
          <p:nvPr/>
        </p:nvPicPr>
        <p:blipFill>
          <a:blip r:embed="rId7"/>
          <a:stretch>
            <a:fillRect/>
          </a:stretch>
        </p:blipFill>
        <p:spPr>
          <a:xfrm>
            <a:off x="476250" y="4619625"/>
            <a:ext cx="11239500" cy="590550"/>
          </a:xfrm>
          <a:prstGeom prst="rect">
            <a:avLst/>
          </a:prstGeom>
        </p:spPr>
      </p:pic>
      <p:sp>
        <p:nvSpPr>
          <p:cNvPr id="16" name="TextBox 15"/>
          <p:cNvSpPr txBox="1"/>
          <p:nvPr/>
        </p:nvSpPr>
        <p:spPr>
          <a:xfrm>
            <a:off x="7228999" y="542925"/>
            <a:ext cx="4010501" cy="323165"/>
          </a:xfrm>
          <a:prstGeom prst="rect">
            <a:avLst/>
          </a:prstGeom>
          <a:noFill/>
        </p:spPr>
        <p:txBody>
          <a:bodyPr wrap="square" lIns="0" tIns="0" rIns="0" bIns="0" anchor="t">
            <a:spAutoFit/>
          </a:bodyPr>
          <a:lstStyle/>
          <a:p>
            <a:pPr algn="r" rtl="1"/>
            <a:r>
              <a:rPr lang="ar-EG" sz="2100" b="1" i="0" u="none" noProof="1">
                <a:solidFill>
                  <a:schemeClr val="bg1"/>
                </a:solidFill>
                <a:latin typeface="Cairo ExtraBold"/>
              </a:rPr>
              <a:t>سلم ارتقاء الأداء المدرسي (ETEC)</a:t>
            </a:r>
          </a:p>
        </p:txBody>
      </p:sp>
      <p:sp>
        <p:nvSpPr>
          <p:cNvPr id="17" name="TextBox 16"/>
          <p:cNvSpPr txBox="1"/>
          <p:nvPr/>
        </p:nvSpPr>
        <p:spPr>
          <a:xfrm>
            <a:off x="8791575" y="2587667"/>
            <a:ext cx="1000125" cy="253916"/>
          </a:xfrm>
          <a:prstGeom prst="rect">
            <a:avLst/>
          </a:prstGeom>
          <a:noFill/>
        </p:spPr>
        <p:txBody>
          <a:bodyPr wrap="square" lIns="0" tIns="0" rIns="0" bIns="0" anchor="ctr">
            <a:spAutoFit/>
          </a:bodyPr>
          <a:lstStyle/>
          <a:p>
            <a:pPr algn="l"/>
            <a:r>
              <a:rPr lang="ar-EG" sz="1650" b="1" i="0" u="none" noProof="1">
                <a:solidFill>
                  <a:srgbClr val="FFFFFF"/>
                </a:solidFill>
                <a:latin typeface="Tajawal ExtraBold"/>
              </a:rPr>
              <a:t>التميز</a:t>
            </a:r>
          </a:p>
        </p:txBody>
      </p:sp>
      <p:sp>
        <p:nvSpPr>
          <p:cNvPr id="18" name="TextBox 17"/>
          <p:cNvSpPr txBox="1"/>
          <p:nvPr/>
        </p:nvSpPr>
        <p:spPr>
          <a:xfrm>
            <a:off x="714375" y="2614612"/>
            <a:ext cx="7553325" cy="215444"/>
          </a:xfrm>
          <a:prstGeom prst="rect">
            <a:avLst/>
          </a:prstGeom>
          <a:noFill/>
        </p:spPr>
        <p:txBody>
          <a:bodyPr wrap="square" lIns="0" tIns="0" rIns="0" bIns="0" anchor="t">
            <a:spAutoFit/>
          </a:bodyPr>
          <a:lstStyle/>
          <a:p>
            <a:pPr algn="r" rtl="1">
              <a:lnSpc>
                <a:spcPts val="1575"/>
              </a:lnSpc>
            </a:pPr>
            <a:r>
              <a:rPr lang="ar-EG" sz="1600" b="1" i="0" u="none" noProof="1">
                <a:solidFill>
                  <a:srgbClr val="FFFFFF"/>
                </a:solidFill>
                <a:latin typeface="Tajawal"/>
              </a:rPr>
              <a:t>المستوى الرابع (أعلى من 90%)ممارسات اتسمت بالابتكار، الاستدامة، الكفاءة عالية الجودة، والشواهد الموثقة.</a:t>
            </a:r>
          </a:p>
        </p:txBody>
      </p:sp>
      <p:sp>
        <p:nvSpPr>
          <p:cNvPr id="19" name="Rectangle 18"/>
          <p:cNvSpPr/>
          <p:nvPr/>
        </p:nvSpPr>
        <p:spPr>
          <a:xfrm>
            <a:off x="8439150" y="2614612"/>
            <a:ext cx="19050" cy="2000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0" name="TextBox 19"/>
          <p:cNvSpPr txBox="1"/>
          <p:nvPr/>
        </p:nvSpPr>
        <p:spPr>
          <a:xfrm>
            <a:off x="9324975" y="3321092"/>
            <a:ext cx="1028700" cy="253916"/>
          </a:xfrm>
          <a:prstGeom prst="rect">
            <a:avLst/>
          </a:prstGeom>
          <a:noFill/>
        </p:spPr>
        <p:txBody>
          <a:bodyPr wrap="square" lIns="0" tIns="0" rIns="0" bIns="0" anchor="ctr">
            <a:spAutoFit/>
          </a:bodyPr>
          <a:lstStyle/>
          <a:p>
            <a:pPr algn="l"/>
            <a:r>
              <a:rPr lang="ar-EG" sz="1650" b="1" i="0" u="none" noProof="1">
                <a:solidFill>
                  <a:srgbClr val="FFFFFF"/>
                </a:solidFill>
                <a:latin typeface="Tajawal ExtraBold"/>
              </a:rPr>
              <a:t>التقدم</a:t>
            </a:r>
          </a:p>
        </p:txBody>
      </p:sp>
      <p:sp>
        <p:nvSpPr>
          <p:cNvPr id="21" name="TextBox 20"/>
          <p:cNvSpPr txBox="1"/>
          <p:nvPr/>
        </p:nvSpPr>
        <p:spPr>
          <a:xfrm>
            <a:off x="714375" y="3348037"/>
            <a:ext cx="8115300" cy="215444"/>
          </a:xfrm>
          <a:prstGeom prst="rect">
            <a:avLst/>
          </a:prstGeom>
          <a:noFill/>
        </p:spPr>
        <p:txBody>
          <a:bodyPr wrap="square" lIns="0" tIns="0" rIns="0" bIns="0" anchor="t">
            <a:spAutoFit/>
          </a:bodyPr>
          <a:lstStyle/>
          <a:p>
            <a:pPr algn="r" rtl="1">
              <a:lnSpc>
                <a:spcPts val="1575"/>
              </a:lnSpc>
            </a:pPr>
            <a:r>
              <a:rPr lang="ar-EG" sz="1600" b="1" noProof="1">
                <a:solidFill>
                  <a:srgbClr val="FFFFFF"/>
                </a:solidFill>
                <a:latin typeface="Tajawal"/>
              </a:rPr>
              <a:t>المستوى الثالث (75% - 89%): ممارسات مستقرة وتلبي المتطلبات بدرجة عالية مع وجود فرص للتحسين للوصول للريادة</a:t>
            </a:r>
            <a:r>
              <a:rPr lang="ar-EG" sz="1125" b="0" i="0" u="none" noProof="1">
                <a:solidFill>
                  <a:srgbClr val="FFFFFF"/>
                </a:solidFill>
                <a:latin typeface="Tajawal"/>
              </a:rPr>
              <a:t>.</a:t>
            </a:r>
          </a:p>
        </p:txBody>
      </p:sp>
      <p:sp>
        <p:nvSpPr>
          <p:cNvPr id="22" name="Rectangle 21"/>
          <p:cNvSpPr/>
          <p:nvPr/>
        </p:nvSpPr>
        <p:spPr>
          <a:xfrm>
            <a:off x="9001125" y="3348037"/>
            <a:ext cx="19050" cy="2000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3" name="TextBox 22"/>
          <p:cNvSpPr txBox="1"/>
          <p:nvPr/>
        </p:nvSpPr>
        <p:spPr>
          <a:xfrm>
            <a:off x="9886950" y="4054517"/>
            <a:ext cx="1028700" cy="253916"/>
          </a:xfrm>
          <a:prstGeom prst="rect">
            <a:avLst/>
          </a:prstGeom>
          <a:noFill/>
        </p:spPr>
        <p:txBody>
          <a:bodyPr wrap="square" lIns="0" tIns="0" rIns="0" bIns="0" anchor="ctr">
            <a:spAutoFit/>
          </a:bodyPr>
          <a:lstStyle/>
          <a:p>
            <a:pPr algn="l"/>
            <a:r>
              <a:rPr lang="ar-EG" sz="1650" b="1" i="0" u="none" noProof="1">
                <a:solidFill>
                  <a:srgbClr val="FFFFFF"/>
                </a:solidFill>
                <a:latin typeface="Tajawal ExtraBold"/>
              </a:rPr>
              <a:t>الانطلاق</a:t>
            </a:r>
          </a:p>
        </p:txBody>
      </p:sp>
      <p:sp>
        <p:nvSpPr>
          <p:cNvPr id="24" name="TextBox 23"/>
          <p:cNvSpPr txBox="1"/>
          <p:nvPr/>
        </p:nvSpPr>
        <p:spPr>
          <a:xfrm>
            <a:off x="714375" y="4081462"/>
            <a:ext cx="8677275" cy="215444"/>
          </a:xfrm>
          <a:prstGeom prst="rect">
            <a:avLst/>
          </a:prstGeom>
          <a:noFill/>
        </p:spPr>
        <p:txBody>
          <a:bodyPr wrap="square" lIns="0" tIns="0" rIns="0" bIns="0" anchor="t">
            <a:spAutoFit/>
          </a:bodyPr>
          <a:lstStyle/>
          <a:p>
            <a:pPr algn="r" rtl="1">
              <a:lnSpc>
                <a:spcPts val="1575"/>
              </a:lnSpc>
            </a:pPr>
            <a:r>
              <a:rPr lang="ar-EG" sz="1600" b="1" noProof="1">
                <a:solidFill>
                  <a:srgbClr val="FFFFFF"/>
                </a:solidFill>
                <a:latin typeface="Tajawal"/>
              </a:rPr>
              <a:t>المستوى الثاني (50% - 74%): توفر الحد الأدنى من متطلبات المؤشر مع الحاجة لدعم وتطوير مهارات الفريق.</a:t>
            </a:r>
          </a:p>
        </p:txBody>
      </p:sp>
      <p:sp>
        <p:nvSpPr>
          <p:cNvPr id="25" name="Rectangle 24"/>
          <p:cNvSpPr/>
          <p:nvPr/>
        </p:nvSpPr>
        <p:spPr>
          <a:xfrm>
            <a:off x="9563100" y="4081462"/>
            <a:ext cx="19050" cy="2000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6" name="TextBox 25"/>
          <p:cNvSpPr txBox="1"/>
          <p:nvPr/>
        </p:nvSpPr>
        <p:spPr>
          <a:xfrm>
            <a:off x="10448925" y="4787942"/>
            <a:ext cx="1028700" cy="253916"/>
          </a:xfrm>
          <a:prstGeom prst="rect">
            <a:avLst/>
          </a:prstGeom>
          <a:noFill/>
        </p:spPr>
        <p:txBody>
          <a:bodyPr wrap="square" lIns="0" tIns="0" rIns="0" bIns="0" anchor="ctr">
            <a:spAutoFit/>
          </a:bodyPr>
          <a:lstStyle/>
          <a:p>
            <a:pPr algn="l"/>
            <a:r>
              <a:rPr lang="ar-EG" sz="1650" b="1" i="0" u="none" noProof="1">
                <a:solidFill>
                  <a:srgbClr val="FFFFFF"/>
                </a:solidFill>
                <a:latin typeface="Tajawal ExtraBold"/>
              </a:rPr>
              <a:t>التهيئة</a:t>
            </a:r>
          </a:p>
        </p:txBody>
      </p:sp>
      <p:sp>
        <p:nvSpPr>
          <p:cNvPr id="27" name="TextBox 26"/>
          <p:cNvSpPr txBox="1"/>
          <p:nvPr/>
        </p:nvSpPr>
        <p:spPr>
          <a:xfrm>
            <a:off x="714375" y="4814887"/>
            <a:ext cx="9239250" cy="215444"/>
          </a:xfrm>
          <a:prstGeom prst="rect">
            <a:avLst/>
          </a:prstGeom>
          <a:noFill/>
        </p:spPr>
        <p:txBody>
          <a:bodyPr wrap="square" lIns="0" tIns="0" rIns="0" bIns="0" anchor="t">
            <a:spAutoFit/>
          </a:bodyPr>
          <a:lstStyle/>
          <a:p>
            <a:pPr algn="r" rtl="1">
              <a:lnSpc>
                <a:spcPts val="1575"/>
              </a:lnSpc>
            </a:pPr>
            <a:r>
              <a:rPr lang="ar-EG" sz="1600" b="1" noProof="1">
                <a:solidFill>
                  <a:srgbClr val="FFFFFF"/>
                </a:solidFill>
                <a:latin typeface="Tajawal"/>
              </a:rPr>
              <a:t>المستوى الأول (أقل من 50%) ممارسات أولية تتطلب إعادة بناء وتأسيس للبنية التشغيلية والتربوية</a:t>
            </a:r>
            <a:r>
              <a:rPr lang="ar-EG" sz="1125" b="0" i="0" u="none" noProof="1">
                <a:solidFill>
                  <a:srgbClr val="FFFFFF"/>
                </a:solidFill>
                <a:latin typeface="Tajawal"/>
              </a:rPr>
              <a:t>.</a:t>
            </a:r>
          </a:p>
        </p:txBody>
      </p:sp>
      <p:sp>
        <p:nvSpPr>
          <p:cNvPr id="28" name="Rectangle 27"/>
          <p:cNvSpPr/>
          <p:nvPr/>
        </p:nvSpPr>
        <p:spPr>
          <a:xfrm>
            <a:off x="10125075" y="4814887"/>
            <a:ext cx="19050" cy="2000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pic>
        <p:nvPicPr>
          <p:cNvPr id="29" name="Picture 28" descr="image.png"/>
          <p:cNvPicPr>
            <a:picLocks noChangeAspect="1"/>
          </p:cNvPicPr>
          <p:nvPr/>
        </p:nvPicPr>
        <p:blipFill>
          <a:blip r:embed="rId8"/>
          <a:stretch>
            <a:fillRect/>
          </a:stretch>
        </p:blipFill>
        <p:spPr>
          <a:xfrm>
            <a:off x="9553575" y="2609850"/>
            <a:ext cx="238125" cy="209550"/>
          </a:xfrm>
          <a:prstGeom prst="rect">
            <a:avLst/>
          </a:prstGeom>
        </p:spPr>
      </p:pic>
      <p:pic>
        <p:nvPicPr>
          <p:cNvPr id="30" name="Picture 29" descr="image.png"/>
          <p:cNvPicPr>
            <a:picLocks noChangeAspect="1"/>
          </p:cNvPicPr>
          <p:nvPr/>
        </p:nvPicPr>
        <p:blipFill>
          <a:blip r:embed="rId9"/>
          <a:stretch>
            <a:fillRect/>
          </a:stretch>
        </p:blipFill>
        <p:spPr>
          <a:xfrm>
            <a:off x="10144125" y="3343275"/>
            <a:ext cx="209550" cy="209550"/>
          </a:xfrm>
          <a:prstGeom prst="rect">
            <a:avLst/>
          </a:prstGeom>
        </p:spPr>
      </p:pic>
      <p:pic>
        <p:nvPicPr>
          <p:cNvPr id="31" name="Picture 30" descr="image.png"/>
          <p:cNvPicPr>
            <a:picLocks noChangeAspect="1"/>
          </p:cNvPicPr>
          <p:nvPr/>
        </p:nvPicPr>
        <p:blipFill>
          <a:blip r:embed="rId10"/>
          <a:stretch>
            <a:fillRect/>
          </a:stretch>
        </p:blipFill>
        <p:spPr>
          <a:xfrm>
            <a:off x="10706100" y="4076700"/>
            <a:ext cx="209550" cy="209550"/>
          </a:xfrm>
          <a:prstGeom prst="rect">
            <a:avLst/>
          </a:prstGeom>
        </p:spPr>
      </p:pic>
      <p:pic>
        <p:nvPicPr>
          <p:cNvPr id="32" name="Picture 31" descr="image.png"/>
          <p:cNvPicPr>
            <a:picLocks noChangeAspect="1"/>
          </p:cNvPicPr>
          <p:nvPr/>
        </p:nvPicPr>
        <p:blipFill>
          <a:blip r:embed="rId11"/>
          <a:stretch>
            <a:fillRect/>
          </a:stretch>
        </p:blipFill>
        <p:spPr>
          <a:xfrm>
            <a:off x="11268075" y="4810125"/>
            <a:ext cx="209550" cy="2095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ppt_x"/>
                                          </p:val>
                                        </p:tav>
                                        <p:tav tm="100000">
                                          <p:val>
                                            <p:strVal val="#ppt_x"/>
                                          </p:val>
                                        </p:tav>
                                      </p:tavLst>
                                    </p:anim>
                                    <p:anim calcmode="lin" valueType="num">
                                      <p:cBhvr additive="base">
                                        <p:cTn id="8" dur="1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500" fill="hold"/>
                                        <p:tgtEl>
                                          <p:spTgt spid="4"/>
                                        </p:tgtEl>
                                        <p:attrNameLst>
                                          <p:attrName>ppt_x</p:attrName>
                                        </p:attrNameLst>
                                      </p:cBhvr>
                                      <p:tavLst>
                                        <p:tav tm="0">
                                          <p:val>
                                            <p:strVal val="#ppt_x"/>
                                          </p:val>
                                        </p:tav>
                                        <p:tav tm="100000">
                                          <p:val>
                                            <p:strVal val="#ppt_x"/>
                                          </p:val>
                                        </p:tav>
                                      </p:tavLst>
                                    </p:anim>
                                    <p:anim calcmode="lin" valueType="num">
                                      <p:cBhvr additive="base">
                                        <p:cTn id="12" dur="15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500" fill="hold"/>
                                        <p:tgtEl>
                                          <p:spTgt spid="5"/>
                                        </p:tgtEl>
                                        <p:attrNameLst>
                                          <p:attrName>ppt_x</p:attrName>
                                        </p:attrNameLst>
                                      </p:cBhvr>
                                      <p:tavLst>
                                        <p:tav tm="0">
                                          <p:val>
                                            <p:strVal val="#ppt_x"/>
                                          </p:val>
                                        </p:tav>
                                        <p:tav tm="100000">
                                          <p:val>
                                            <p:strVal val="#ppt_x"/>
                                          </p:val>
                                        </p:tav>
                                      </p:tavLst>
                                    </p:anim>
                                    <p:anim calcmode="lin" valueType="num">
                                      <p:cBhvr additive="base">
                                        <p:cTn id="16" dur="1500" fill="hold"/>
                                        <p:tgtEl>
                                          <p:spTgt spid="5"/>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500" fill="hold"/>
                                        <p:tgtEl>
                                          <p:spTgt spid="6"/>
                                        </p:tgtEl>
                                        <p:attrNameLst>
                                          <p:attrName>ppt_x</p:attrName>
                                        </p:attrNameLst>
                                      </p:cBhvr>
                                      <p:tavLst>
                                        <p:tav tm="0">
                                          <p:val>
                                            <p:strVal val="#ppt_x"/>
                                          </p:val>
                                        </p:tav>
                                        <p:tav tm="100000">
                                          <p:val>
                                            <p:strVal val="#ppt_x"/>
                                          </p:val>
                                        </p:tav>
                                      </p:tavLst>
                                    </p:anim>
                                    <p:anim calcmode="lin" valueType="num">
                                      <p:cBhvr additive="base">
                                        <p:cTn id="20" dur="1500" fill="hold"/>
                                        <p:tgtEl>
                                          <p:spTgt spid="6"/>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500" fill="hold"/>
                                        <p:tgtEl>
                                          <p:spTgt spid="7"/>
                                        </p:tgtEl>
                                        <p:attrNameLst>
                                          <p:attrName>ppt_x</p:attrName>
                                        </p:attrNameLst>
                                      </p:cBhvr>
                                      <p:tavLst>
                                        <p:tav tm="0">
                                          <p:val>
                                            <p:strVal val="#ppt_x"/>
                                          </p:val>
                                        </p:tav>
                                        <p:tav tm="100000">
                                          <p:val>
                                            <p:strVal val="#ppt_x"/>
                                          </p:val>
                                        </p:tav>
                                      </p:tavLst>
                                    </p:anim>
                                    <p:anim calcmode="lin" valueType="num">
                                      <p:cBhvr additive="base">
                                        <p:cTn id="24" dur="15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1500" fill="hold"/>
                                        <p:tgtEl>
                                          <p:spTgt spid="8"/>
                                        </p:tgtEl>
                                        <p:attrNameLst>
                                          <p:attrName>ppt_x</p:attrName>
                                        </p:attrNameLst>
                                      </p:cBhvr>
                                      <p:tavLst>
                                        <p:tav tm="0">
                                          <p:val>
                                            <p:strVal val="#ppt_x"/>
                                          </p:val>
                                        </p:tav>
                                        <p:tav tm="100000">
                                          <p:val>
                                            <p:strVal val="#ppt_x"/>
                                          </p:val>
                                        </p:tav>
                                      </p:tavLst>
                                    </p:anim>
                                    <p:anim calcmode="lin" valueType="num">
                                      <p:cBhvr additive="base">
                                        <p:cTn id="28" dur="1500" fill="hold"/>
                                        <p:tgtEl>
                                          <p:spTgt spid="8"/>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500" fill="hold"/>
                                        <p:tgtEl>
                                          <p:spTgt spid="16"/>
                                        </p:tgtEl>
                                        <p:attrNameLst>
                                          <p:attrName>ppt_x</p:attrName>
                                        </p:attrNameLst>
                                      </p:cBhvr>
                                      <p:tavLst>
                                        <p:tav tm="0">
                                          <p:val>
                                            <p:strVal val="#ppt_x"/>
                                          </p:val>
                                        </p:tav>
                                        <p:tav tm="100000">
                                          <p:val>
                                            <p:strVal val="#ppt_x"/>
                                          </p:val>
                                        </p:tav>
                                      </p:tavLst>
                                    </p:anim>
                                    <p:anim calcmode="lin" valueType="num">
                                      <p:cBhvr additive="base">
                                        <p:cTn id="32" dur="1500" fill="hold"/>
                                        <p:tgtEl>
                                          <p:spTgt spid="16"/>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500" fill="hold"/>
                                        <p:tgtEl>
                                          <p:spTgt spid="17"/>
                                        </p:tgtEl>
                                        <p:attrNameLst>
                                          <p:attrName>ppt_x</p:attrName>
                                        </p:attrNameLst>
                                      </p:cBhvr>
                                      <p:tavLst>
                                        <p:tav tm="0">
                                          <p:val>
                                            <p:strVal val="#ppt_x"/>
                                          </p:val>
                                        </p:tav>
                                        <p:tav tm="100000">
                                          <p:val>
                                            <p:strVal val="#ppt_x"/>
                                          </p:val>
                                        </p:tav>
                                      </p:tavLst>
                                    </p:anim>
                                    <p:anim calcmode="lin" valueType="num">
                                      <p:cBhvr additive="base">
                                        <p:cTn id="36" dur="1500" fill="hold"/>
                                        <p:tgtEl>
                                          <p:spTgt spid="17"/>
                                        </p:tgtEl>
                                        <p:attrNameLst>
                                          <p:attrName>ppt_y</p:attrName>
                                        </p:attrNameLst>
                                      </p:cBhvr>
                                      <p:tavLst>
                                        <p:tav tm="0">
                                          <p:val>
                                            <p:strVal val="0-#ppt_h/2"/>
                                          </p:val>
                                        </p:tav>
                                        <p:tav tm="100000">
                                          <p:val>
                                            <p:strVal val="#ppt_y"/>
                                          </p:val>
                                        </p:tav>
                                      </p:tavLst>
                                    </p:anim>
                                  </p:childTnLst>
                                </p:cTn>
                              </p:par>
                              <p:par>
                                <p:cTn id="37" presetID="2" presetClass="entr" presetSubtype="1"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1500" fill="hold"/>
                                        <p:tgtEl>
                                          <p:spTgt spid="18"/>
                                        </p:tgtEl>
                                        <p:attrNameLst>
                                          <p:attrName>ppt_x</p:attrName>
                                        </p:attrNameLst>
                                      </p:cBhvr>
                                      <p:tavLst>
                                        <p:tav tm="0">
                                          <p:val>
                                            <p:strVal val="#ppt_x"/>
                                          </p:val>
                                        </p:tav>
                                        <p:tav tm="100000">
                                          <p:val>
                                            <p:strVal val="#ppt_x"/>
                                          </p:val>
                                        </p:tav>
                                      </p:tavLst>
                                    </p:anim>
                                    <p:anim calcmode="lin" valueType="num">
                                      <p:cBhvr additive="base">
                                        <p:cTn id="40" dur="1500" fill="hold"/>
                                        <p:tgtEl>
                                          <p:spTgt spid="18"/>
                                        </p:tgtEl>
                                        <p:attrNameLst>
                                          <p:attrName>ppt_y</p:attrName>
                                        </p:attrNameLst>
                                      </p:cBhvr>
                                      <p:tavLst>
                                        <p:tav tm="0">
                                          <p:val>
                                            <p:strVal val="0-#ppt_h/2"/>
                                          </p:val>
                                        </p:tav>
                                        <p:tav tm="100000">
                                          <p:val>
                                            <p:strVal val="#ppt_y"/>
                                          </p:val>
                                        </p:tav>
                                      </p:tavLst>
                                    </p:anim>
                                  </p:childTnLst>
                                </p:cTn>
                              </p:par>
                              <p:par>
                                <p:cTn id="41" presetID="2" presetClass="entr" presetSubtype="1"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1500" fill="hold"/>
                                        <p:tgtEl>
                                          <p:spTgt spid="19"/>
                                        </p:tgtEl>
                                        <p:attrNameLst>
                                          <p:attrName>ppt_x</p:attrName>
                                        </p:attrNameLst>
                                      </p:cBhvr>
                                      <p:tavLst>
                                        <p:tav tm="0">
                                          <p:val>
                                            <p:strVal val="#ppt_x"/>
                                          </p:val>
                                        </p:tav>
                                        <p:tav tm="100000">
                                          <p:val>
                                            <p:strVal val="#ppt_x"/>
                                          </p:val>
                                        </p:tav>
                                      </p:tavLst>
                                    </p:anim>
                                    <p:anim calcmode="lin" valueType="num">
                                      <p:cBhvr additive="base">
                                        <p:cTn id="44" dur="1500" fill="hold"/>
                                        <p:tgtEl>
                                          <p:spTgt spid="19"/>
                                        </p:tgtEl>
                                        <p:attrNameLst>
                                          <p:attrName>ppt_y</p:attrName>
                                        </p:attrNameLst>
                                      </p:cBhvr>
                                      <p:tavLst>
                                        <p:tav tm="0">
                                          <p:val>
                                            <p:strVal val="0-#ppt_h/2"/>
                                          </p:val>
                                        </p:tav>
                                        <p:tav tm="100000">
                                          <p:val>
                                            <p:strVal val="#ppt_y"/>
                                          </p:val>
                                        </p:tav>
                                      </p:tavLst>
                                    </p:anim>
                                  </p:childTnLst>
                                </p:cTn>
                              </p:par>
                              <p:par>
                                <p:cTn id="45" presetID="2" presetClass="entr" presetSubtype="1"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1500" fill="hold"/>
                                        <p:tgtEl>
                                          <p:spTgt spid="20"/>
                                        </p:tgtEl>
                                        <p:attrNameLst>
                                          <p:attrName>ppt_x</p:attrName>
                                        </p:attrNameLst>
                                      </p:cBhvr>
                                      <p:tavLst>
                                        <p:tav tm="0">
                                          <p:val>
                                            <p:strVal val="#ppt_x"/>
                                          </p:val>
                                        </p:tav>
                                        <p:tav tm="100000">
                                          <p:val>
                                            <p:strVal val="#ppt_x"/>
                                          </p:val>
                                        </p:tav>
                                      </p:tavLst>
                                    </p:anim>
                                    <p:anim calcmode="lin" valueType="num">
                                      <p:cBhvr additive="base">
                                        <p:cTn id="48" dur="1500" fill="hold"/>
                                        <p:tgtEl>
                                          <p:spTgt spid="20"/>
                                        </p:tgtEl>
                                        <p:attrNameLst>
                                          <p:attrName>ppt_y</p:attrName>
                                        </p:attrNameLst>
                                      </p:cBhvr>
                                      <p:tavLst>
                                        <p:tav tm="0">
                                          <p:val>
                                            <p:strVal val="0-#ppt_h/2"/>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1500" fill="hold"/>
                                        <p:tgtEl>
                                          <p:spTgt spid="21"/>
                                        </p:tgtEl>
                                        <p:attrNameLst>
                                          <p:attrName>ppt_x</p:attrName>
                                        </p:attrNameLst>
                                      </p:cBhvr>
                                      <p:tavLst>
                                        <p:tav tm="0">
                                          <p:val>
                                            <p:strVal val="#ppt_x"/>
                                          </p:val>
                                        </p:tav>
                                        <p:tav tm="100000">
                                          <p:val>
                                            <p:strVal val="#ppt_x"/>
                                          </p:val>
                                        </p:tav>
                                      </p:tavLst>
                                    </p:anim>
                                    <p:anim calcmode="lin" valueType="num">
                                      <p:cBhvr additive="base">
                                        <p:cTn id="52" dur="1500" fill="hold"/>
                                        <p:tgtEl>
                                          <p:spTgt spid="21"/>
                                        </p:tgtEl>
                                        <p:attrNameLst>
                                          <p:attrName>ppt_y</p:attrName>
                                        </p:attrNameLst>
                                      </p:cBhvr>
                                      <p:tavLst>
                                        <p:tav tm="0">
                                          <p:val>
                                            <p:strVal val="0-#ppt_h/2"/>
                                          </p:val>
                                        </p:tav>
                                        <p:tav tm="100000">
                                          <p:val>
                                            <p:strVal val="#ppt_y"/>
                                          </p:val>
                                        </p:tav>
                                      </p:tavLst>
                                    </p:anim>
                                  </p:childTnLst>
                                </p:cTn>
                              </p:par>
                              <p:par>
                                <p:cTn id="53" presetID="2" presetClass="entr" presetSubtype="1"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1500" fill="hold"/>
                                        <p:tgtEl>
                                          <p:spTgt spid="22"/>
                                        </p:tgtEl>
                                        <p:attrNameLst>
                                          <p:attrName>ppt_x</p:attrName>
                                        </p:attrNameLst>
                                      </p:cBhvr>
                                      <p:tavLst>
                                        <p:tav tm="0">
                                          <p:val>
                                            <p:strVal val="#ppt_x"/>
                                          </p:val>
                                        </p:tav>
                                        <p:tav tm="100000">
                                          <p:val>
                                            <p:strVal val="#ppt_x"/>
                                          </p:val>
                                        </p:tav>
                                      </p:tavLst>
                                    </p:anim>
                                    <p:anim calcmode="lin" valueType="num">
                                      <p:cBhvr additive="base">
                                        <p:cTn id="56" dur="1500" fill="hold"/>
                                        <p:tgtEl>
                                          <p:spTgt spid="22"/>
                                        </p:tgtEl>
                                        <p:attrNameLst>
                                          <p:attrName>ppt_y</p:attrName>
                                        </p:attrNameLst>
                                      </p:cBhvr>
                                      <p:tavLst>
                                        <p:tav tm="0">
                                          <p:val>
                                            <p:strVal val="0-#ppt_h/2"/>
                                          </p:val>
                                        </p:tav>
                                        <p:tav tm="100000">
                                          <p:val>
                                            <p:strVal val="#ppt_y"/>
                                          </p:val>
                                        </p:tav>
                                      </p:tavLst>
                                    </p:anim>
                                  </p:childTnLst>
                                </p:cTn>
                              </p:par>
                              <p:par>
                                <p:cTn id="57" presetID="2" presetClass="entr" presetSubtype="1"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1500" fill="hold"/>
                                        <p:tgtEl>
                                          <p:spTgt spid="23"/>
                                        </p:tgtEl>
                                        <p:attrNameLst>
                                          <p:attrName>ppt_x</p:attrName>
                                        </p:attrNameLst>
                                      </p:cBhvr>
                                      <p:tavLst>
                                        <p:tav tm="0">
                                          <p:val>
                                            <p:strVal val="#ppt_x"/>
                                          </p:val>
                                        </p:tav>
                                        <p:tav tm="100000">
                                          <p:val>
                                            <p:strVal val="#ppt_x"/>
                                          </p:val>
                                        </p:tav>
                                      </p:tavLst>
                                    </p:anim>
                                    <p:anim calcmode="lin" valueType="num">
                                      <p:cBhvr additive="base">
                                        <p:cTn id="60" dur="1500" fill="hold"/>
                                        <p:tgtEl>
                                          <p:spTgt spid="23"/>
                                        </p:tgtEl>
                                        <p:attrNameLst>
                                          <p:attrName>ppt_y</p:attrName>
                                        </p:attrNameLst>
                                      </p:cBhvr>
                                      <p:tavLst>
                                        <p:tav tm="0">
                                          <p:val>
                                            <p:strVal val="0-#ppt_h/2"/>
                                          </p:val>
                                        </p:tav>
                                        <p:tav tm="100000">
                                          <p:val>
                                            <p:strVal val="#ppt_y"/>
                                          </p:val>
                                        </p:tav>
                                      </p:tavLst>
                                    </p:anim>
                                  </p:childTnLst>
                                </p:cTn>
                              </p:par>
                              <p:par>
                                <p:cTn id="61" presetID="2" presetClass="entr" presetSubtype="1"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additive="base">
                                        <p:cTn id="63" dur="1500" fill="hold"/>
                                        <p:tgtEl>
                                          <p:spTgt spid="24"/>
                                        </p:tgtEl>
                                        <p:attrNameLst>
                                          <p:attrName>ppt_x</p:attrName>
                                        </p:attrNameLst>
                                      </p:cBhvr>
                                      <p:tavLst>
                                        <p:tav tm="0">
                                          <p:val>
                                            <p:strVal val="#ppt_x"/>
                                          </p:val>
                                        </p:tav>
                                        <p:tav tm="100000">
                                          <p:val>
                                            <p:strVal val="#ppt_x"/>
                                          </p:val>
                                        </p:tav>
                                      </p:tavLst>
                                    </p:anim>
                                    <p:anim calcmode="lin" valueType="num">
                                      <p:cBhvr additive="base">
                                        <p:cTn id="64" dur="1500" fill="hold"/>
                                        <p:tgtEl>
                                          <p:spTgt spid="24"/>
                                        </p:tgtEl>
                                        <p:attrNameLst>
                                          <p:attrName>ppt_y</p:attrName>
                                        </p:attrNameLst>
                                      </p:cBhvr>
                                      <p:tavLst>
                                        <p:tav tm="0">
                                          <p:val>
                                            <p:strVal val="0-#ppt_h/2"/>
                                          </p:val>
                                        </p:tav>
                                        <p:tav tm="100000">
                                          <p:val>
                                            <p:strVal val="#ppt_y"/>
                                          </p:val>
                                        </p:tav>
                                      </p:tavLst>
                                    </p:anim>
                                  </p:childTnLst>
                                </p:cTn>
                              </p:par>
                              <p:par>
                                <p:cTn id="65" presetID="2" presetClass="entr" presetSubtype="1"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1500" fill="hold"/>
                                        <p:tgtEl>
                                          <p:spTgt spid="25"/>
                                        </p:tgtEl>
                                        <p:attrNameLst>
                                          <p:attrName>ppt_x</p:attrName>
                                        </p:attrNameLst>
                                      </p:cBhvr>
                                      <p:tavLst>
                                        <p:tav tm="0">
                                          <p:val>
                                            <p:strVal val="#ppt_x"/>
                                          </p:val>
                                        </p:tav>
                                        <p:tav tm="100000">
                                          <p:val>
                                            <p:strVal val="#ppt_x"/>
                                          </p:val>
                                        </p:tav>
                                      </p:tavLst>
                                    </p:anim>
                                    <p:anim calcmode="lin" valueType="num">
                                      <p:cBhvr additive="base">
                                        <p:cTn id="68" dur="1500" fill="hold"/>
                                        <p:tgtEl>
                                          <p:spTgt spid="25"/>
                                        </p:tgtEl>
                                        <p:attrNameLst>
                                          <p:attrName>ppt_y</p:attrName>
                                        </p:attrNameLst>
                                      </p:cBhvr>
                                      <p:tavLst>
                                        <p:tav tm="0">
                                          <p:val>
                                            <p:strVal val="0-#ppt_h/2"/>
                                          </p:val>
                                        </p:tav>
                                        <p:tav tm="100000">
                                          <p:val>
                                            <p:strVal val="#ppt_y"/>
                                          </p:val>
                                        </p:tav>
                                      </p:tavLst>
                                    </p:anim>
                                  </p:childTnLst>
                                </p:cTn>
                              </p:par>
                              <p:par>
                                <p:cTn id="69" presetID="2" presetClass="entr" presetSubtype="1"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1500" fill="hold"/>
                                        <p:tgtEl>
                                          <p:spTgt spid="26"/>
                                        </p:tgtEl>
                                        <p:attrNameLst>
                                          <p:attrName>ppt_x</p:attrName>
                                        </p:attrNameLst>
                                      </p:cBhvr>
                                      <p:tavLst>
                                        <p:tav tm="0">
                                          <p:val>
                                            <p:strVal val="#ppt_x"/>
                                          </p:val>
                                        </p:tav>
                                        <p:tav tm="100000">
                                          <p:val>
                                            <p:strVal val="#ppt_x"/>
                                          </p:val>
                                        </p:tav>
                                      </p:tavLst>
                                    </p:anim>
                                    <p:anim calcmode="lin" valueType="num">
                                      <p:cBhvr additive="base">
                                        <p:cTn id="72" dur="1500" fill="hold"/>
                                        <p:tgtEl>
                                          <p:spTgt spid="26"/>
                                        </p:tgtEl>
                                        <p:attrNameLst>
                                          <p:attrName>ppt_y</p:attrName>
                                        </p:attrNameLst>
                                      </p:cBhvr>
                                      <p:tavLst>
                                        <p:tav tm="0">
                                          <p:val>
                                            <p:strVal val="0-#ppt_h/2"/>
                                          </p:val>
                                        </p:tav>
                                        <p:tav tm="100000">
                                          <p:val>
                                            <p:strVal val="#ppt_y"/>
                                          </p:val>
                                        </p:tav>
                                      </p:tavLst>
                                    </p:anim>
                                  </p:childTnLst>
                                </p:cTn>
                              </p:par>
                              <p:par>
                                <p:cTn id="73" presetID="2" presetClass="entr" presetSubtype="1"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cBhvr additive="base">
                                        <p:cTn id="75" dur="1500" fill="hold"/>
                                        <p:tgtEl>
                                          <p:spTgt spid="27"/>
                                        </p:tgtEl>
                                        <p:attrNameLst>
                                          <p:attrName>ppt_x</p:attrName>
                                        </p:attrNameLst>
                                      </p:cBhvr>
                                      <p:tavLst>
                                        <p:tav tm="0">
                                          <p:val>
                                            <p:strVal val="#ppt_x"/>
                                          </p:val>
                                        </p:tav>
                                        <p:tav tm="100000">
                                          <p:val>
                                            <p:strVal val="#ppt_x"/>
                                          </p:val>
                                        </p:tav>
                                      </p:tavLst>
                                    </p:anim>
                                    <p:anim calcmode="lin" valueType="num">
                                      <p:cBhvr additive="base">
                                        <p:cTn id="76" dur="1500" fill="hold"/>
                                        <p:tgtEl>
                                          <p:spTgt spid="27"/>
                                        </p:tgtEl>
                                        <p:attrNameLst>
                                          <p:attrName>ppt_y</p:attrName>
                                        </p:attrNameLst>
                                      </p:cBhvr>
                                      <p:tavLst>
                                        <p:tav tm="0">
                                          <p:val>
                                            <p:strVal val="0-#ppt_h/2"/>
                                          </p:val>
                                        </p:tav>
                                        <p:tav tm="100000">
                                          <p:val>
                                            <p:strVal val="#ppt_y"/>
                                          </p:val>
                                        </p:tav>
                                      </p:tavLst>
                                    </p:anim>
                                  </p:childTnLst>
                                </p:cTn>
                              </p:par>
                              <p:par>
                                <p:cTn id="77" presetID="2" presetClass="entr" presetSubtype="1"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1500" fill="hold"/>
                                        <p:tgtEl>
                                          <p:spTgt spid="28"/>
                                        </p:tgtEl>
                                        <p:attrNameLst>
                                          <p:attrName>ppt_x</p:attrName>
                                        </p:attrNameLst>
                                      </p:cBhvr>
                                      <p:tavLst>
                                        <p:tav tm="0">
                                          <p:val>
                                            <p:strVal val="#ppt_x"/>
                                          </p:val>
                                        </p:tav>
                                        <p:tav tm="100000">
                                          <p:val>
                                            <p:strVal val="#ppt_x"/>
                                          </p:val>
                                        </p:tav>
                                      </p:tavLst>
                                    </p:anim>
                                    <p:anim calcmode="lin" valueType="num">
                                      <p:cBhvr additive="base">
                                        <p:cTn id="80" dur="1500" fill="hold"/>
                                        <p:tgtEl>
                                          <p:spTgt spid="28"/>
                                        </p:tgtEl>
                                        <p:attrNameLst>
                                          <p:attrName>ppt_y</p:attrName>
                                        </p:attrNameLst>
                                      </p:cBhvr>
                                      <p:tavLst>
                                        <p:tav tm="0">
                                          <p:val>
                                            <p:strVal val="0-#ppt_h/2"/>
                                          </p:val>
                                        </p:tav>
                                        <p:tav tm="100000">
                                          <p:val>
                                            <p:strVal val="#ppt_y"/>
                                          </p:val>
                                        </p:tav>
                                      </p:tavLst>
                                    </p:anim>
                                  </p:childTnLst>
                                </p:cTn>
                              </p:par>
                              <p:par>
                                <p:cTn id="81" presetID="2" presetClass="entr" presetSubtype="1" fill="hold" nodeType="with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additive="base">
                                        <p:cTn id="83" dur="1500" fill="hold"/>
                                        <p:tgtEl>
                                          <p:spTgt spid="29"/>
                                        </p:tgtEl>
                                        <p:attrNameLst>
                                          <p:attrName>ppt_x</p:attrName>
                                        </p:attrNameLst>
                                      </p:cBhvr>
                                      <p:tavLst>
                                        <p:tav tm="0">
                                          <p:val>
                                            <p:strVal val="#ppt_x"/>
                                          </p:val>
                                        </p:tav>
                                        <p:tav tm="100000">
                                          <p:val>
                                            <p:strVal val="#ppt_x"/>
                                          </p:val>
                                        </p:tav>
                                      </p:tavLst>
                                    </p:anim>
                                    <p:anim calcmode="lin" valueType="num">
                                      <p:cBhvr additive="base">
                                        <p:cTn id="84" dur="1500" fill="hold"/>
                                        <p:tgtEl>
                                          <p:spTgt spid="29"/>
                                        </p:tgtEl>
                                        <p:attrNameLst>
                                          <p:attrName>ppt_y</p:attrName>
                                        </p:attrNameLst>
                                      </p:cBhvr>
                                      <p:tavLst>
                                        <p:tav tm="0">
                                          <p:val>
                                            <p:strVal val="0-#ppt_h/2"/>
                                          </p:val>
                                        </p:tav>
                                        <p:tav tm="100000">
                                          <p:val>
                                            <p:strVal val="#ppt_y"/>
                                          </p:val>
                                        </p:tav>
                                      </p:tavLst>
                                    </p:anim>
                                  </p:childTnLst>
                                </p:cTn>
                              </p:par>
                              <p:par>
                                <p:cTn id="85" presetID="2" presetClass="entr" presetSubtype="1"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 calcmode="lin" valueType="num">
                                      <p:cBhvr additive="base">
                                        <p:cTn id="87" dur="1500" fill="hold"/>
                                        <p:tgtEl>
                                          <p:spTgt spid="30"/>
                                        </p:tgtEl>
                                        <p:attrNameLst>
                                          <p:attrName>ppt_x</p:attrName>
                                        </p:attrNameLst>
                                      </p:cBhvr>
                                      <p:tavLst>
                                        <p:tav tm="0">
                                          <p:val>
                                            <p:strVal val="#ppt_x"/>
                                          </p:val>
                                        </p:tav>
                                        <p:tav tm="100000">
                                          <p:val>
                                            <p:strVal val="#ppt_x"/>
                                          </p:val>
                                        </p:tav>
                                      </p:tavLst>
                                    </p:anim>
                                    <p:anim calcmode="lin" valueType="num">
                                      <p:cBhvr additive="base">
                                        <p:cTn id="88" dur="1500" fill="hold"/>
                                        <p:tgtEl>
                                          <p:spTgt spid="30"/>
                                        </p:tgtEl>
                                        <p:attrNameLst>
                                          <p:attrName>ppt_y</p:attrName>
                                        </p:attrNameLst>
                                      </p:cBhvr>
                                      <p:tavLst>
                                        <p:tav tm="0">
                                          <p:val>
                                            <p:strVal val="0-#ppt_h/2"/>
                                          </p:val>
                                        </p:tav>
                                        <p:tav tm="100000">
                                          <p:val>
                                            <p:strVal val="#ppt_y"/>
                                          </p:val>
                                        </p:tav>
                                      </p:tavLst>
                                    </p:anim>
                                  </p:childTnLst>
                                </p:cTn>
                              </p:par>
                              <p:par>
                                <p:cTn id="89" presetID="2" presetClass="entr" presetSubtype="1"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1500" fill="hold"/>
                                        <p:tgtEl>
                                          <p:spTgt spid="31"/>
                                        </p:tgtEl>
                                        <p:attrNameLst>
                                          <p:attrName>ppt_x</p:attrName>
                                        </p:attrNameLst>
                                      </p:cBhvr>
                                      <p:tavLst>
                                        <p:tav tm="0">
                                          <p:val>
                                            <p:strVal val="#ppt_x"/>
                                          </p:val>
                                        </p:tav>
                                        <p:tav tm="100000">
                                          <p:val>
                                            <p:strVal val="#ppt_x"/>
                                          </p:val>
                                        </p:tav>
                                      </p:tavLst>
                                    </p:anim>
                                    <p:anim calcmode="lin" valueType="num">
                                      <p:cBhvr additive="base">
                                        <p:cTn id="92" dur="1500" fill="hold"/>
                                        <p:tgtEl>
                                          <p:spTgt spid="31"/>
                                        </p:tgtEl>
                                        <p:attrNameLst>
                                          <p:attrName>ppt_y</p:attrName>
                                        </p:attrNameLst>
                                      </p:cBhvr>
                                      <p:tavLst>
                                        <p:tav tm="0">
                                          <p:val>
                                            <p:strVal val="0-#ppt_h/2"/>
                                          </p:val>
                                        </p:tav>
                                        <p:tav tm="100000">
                                          <p:val>
                                            <p:strVal val="#ppt_y"/>
                                          </p:val>
                                        </p:tav>
                                      </p:tavLst>
                                    </p:anim>
                                  </p:childTnLst>
                                </p:cTn>
                              </p:par>
                              <p:par>
                                <p:cTn id="93" presetID="2" presetClass="entr" presetSubtype="1" fill="hold" nodeType="withEffect">
                                  <p:stCondLst>
                                    <p:cond delay="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1500" fill="hold"/>
                                        <p:tgtEl>
                                          <p:spTgt spid="32"/>
                                        </p:tgtEl>
                                        <p:attrNameLst>
                                          <p:attrName>ppt_x</p:attrName>
                                        </p:attrNameLst>
                                      </p:cBhvr>
                                      <p:tavLst>
                                        <p:tav tm="0">
                                          <p:val>
                                            <p:strVal val="#ppt_x"/>
                                          </p:val>
                                        </p:tav>
                                        <p:tav tm="100000">
                                          <p:val>
                                            <p:strVal val="#ppt_x"/>
                                          </p:val>
                                        </p:tav>
                                      </p:tavLst>
                                    </p:anim>
                                    <p:anim calcmode="lin" valueType="num">
                                      <p:cBhvr additive="base">
                                        <p:cTn id="96" dur="1500" fill="hold"/>
                                        <p:tgtEl>
                                          <p:spTgt spid="3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animBg="1"/>
      <p:bldP spid="20" grpId="0"/>
      <p:bldP spid="21" grpId="0"/>
      <p:bldP spid="22" grpId="0" animBg="1"/>
      <p:bldP spid="23" grpId="0"/>
      <p:bldP spid="24" grpId="0"/>
      <p:bldP spid="25" grpId="0" animBg="1"/>
      <p:bldP spid="26" grpId="0"/>
      <p:bldP spid="27" grpId="0"/>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11639550" y="557212"/>
            <a:ext cx="76200" cy="304800"/>
          </a:xfrm>
          <a:prstGeom prst="rect">
            <a:avLst/>
          </a:prstGeom>
        </p:spPr>
      </p:pic>
      <p:pic>
        <p:nvPicPr>
          <p:cNvPr id="5" name="Picture 4" descr="image.png"/>
          <p:cNvPicPr>
            <a:picLocks noChangeAspect="1"/>
          </p:cNvPicPr>
          <p:nvPr/>
        </p:nvPicPr>
        <p:blipFill>
          <a:blip r:embed="rId3"/>
          <a:stretch>
            <a:fillRect/>
          </a:stretch>
        </p:blipFill>
        <p:spPr>
          <a:xfrm>
            <a:off x="6673875" y="2005012"/>
            <a:ext cx="5095875" cy="3619500"/>
          </a:xfrm>
          <a:prstGeom prst="rect">
            <a:avLst/>
          </a:prstGeom>
        </p:spPr>
      </p:pic>
      <p:pic>
        <p:nvPicPr>
          <p:cNvPr id="6" name="Picture 5" descr="image.png"/>
          <p:cNvPicPr>
            <a:picLocks noChangeAspect="1"/>
          </p:cNvPicPr>
          <p:nvPr/>
        </p:nvPicPr>
        <p:blipFill>
          <a:blip r:embed="rId4"/>
          <a:stretch>
            <a:fillRect/>
          </a:stretch>
        </p:blipFill>
        <p:spPr>
          <a:xfrm>
            <a:off x="476250" y="2005012"/>
            <a:ext cx="5095875" cy="3619500"/>
          </a:xfrm>
          <a:prstGeom prst="rect">
            <a:avLst/>
          </a:prstGeom>
        </p:spPr>
      </p:pic>
      <p:sp>
        <p:nvSpPr>
          <p:cNvPr id="14" name="TextBox 13"/>
          <p:cNvSpPr txBox="1"/>
          <p:nvPr/>
        </p:nvSpPr>
        <p:spPr>
          <a:xfrm>
            <a:off x="7186558" y="518529"/>
            <a:ext cx="4070508" cy="369332"/>
          </a:xfrm>
          <a:prstGeom prst="rect">
            <a:avLst/>
          </a:prstGeom>
          <a:noFill/>
        </p:spPr>
        <p:txBody>
          <a:bodyPr wrap="square" lIns="0" tIns="0" rIns="0" bIns="0" anchor="t">
            <a:spAutoFit/>
          </a:bodyPr>
          <a:lstStyle/>
          <a:p>
            <a:pPr algn="r" rtl="1"/>
            <a:r>
              <a:rPr lang="ar-EG" sz="2400" b="1" i="0" u="none" noProof="1">
                <a:solidFill>
                  <a:schemeClr val="bg1"/>
                </a:solidFill>
                <a:latin typeface="Cairo ExtraBold"/>
              </a:rPr>
              <a:t>رحلة التحول: من التهيئة إلى التميز</a:t>
            </a:r>
          </a:p>
        </p:txBody>
      </p:sp>
      <p:pic>
        <p:nvPicPr>
          <p:cNvPr id="15" name="Picture 14" descr="image.png"/>
          <p:cNvPicPr>
            <a:picLocks noChangeAspect="1"/>
          </p:cNvPicPr>
          <p:nvPr/>
        </p:nvPicPr>
        <p:blipFill>
          <a:blip r:embed="rId5"/>
          <a:stretch>
            <a:fillRect/>
          </a:stretch>
        </p:blipFill>
        <p:spPr>
          <a:xfrm>
            <a:off x="5810250" y="3424237"/>
            <a:ext cx="571500" cy="571500"/>
          </a:xfrm>
          <a:prstGeom prst="rect">
            <a:avLst/>
          </a:prstGeom>
        </p:spPr>
      </p:pic>
      <p:pic>
        <p:nvPicPr>
          <p:cNvPr id="17" name="Picture 16" descr="image.png"/>
          <p:cNvPicPr>
            <a:picLocks noChangeAspect="1"/>
          </p:cNvPicPr>
          <p:nvPr/>
        </p:nvPicPr>
        <p:blipFill>
          <a:blip r:embed="rId6"/>
          <a:stretch>
            <a:fillRect/>
          </a:stretch>
        </p:blipFill>
        <p:spPr>
          <a:xfrm>
            <a:off x="11144249" y="2202315"/>
            <a:ext cx="447675" cy="447675"/>
          </a:xfrm>
          <a:prstGeom prst="rect">
            <a:avLst/>
          </a:prstGeom>
        </p:spPr>
      </p:pic>
      <p:sp>
        <p:nvSpPr>
          <p:cNvPr id="18" name="TextBox 17"/>
          <p:cNvSpPr txBox="1"/>
          <p:nvPr/>
        </p:nvSpPr>
        <p:spPr>
          <a:xfrm>
            <a:off x="7407740" y="2260949"/>
            <a:ext cx="3685698" cy="430887"/>
          </a:xfrm>
          <a:prstGeom prst="rect">
            <a:avLst/>
          </a:prstGeom>
          <a:noFill/>
        </p:spPr>
        <p:txBody>
          <a:bodyPr wrap="square" lIns="0" tIns="0" rIns="0" bIns="0" anchor="t">
            <a:spAutoFit/>
          </a:bodyPr>
          <a:lstStyle/>
          <a:p>
            <a:pPr algn="ctr" rtl="1"/>
            <a:r>
              <a:rPr lang="ar-EG" sz="2800" b="1" i="0" u="none" noProof="1">
                <a:solidFill>
                  <a:srgbClr val="0F172A"/>
                </a:solidFill>
                <a:latin typeface="Tajawal ExtraBold"/>
              </a:rPr>
              <a:t>قبل التحسين (مستوى التهيئة)</a:t>
            </a:r>
          </a:p>
        </p:txBody>
      </p:sp>
      <p:sp>
        <p:nvSpPr>
          <p:cNvPr id="19" name="TextBox 18"/>
          <p:cNvSpPr txBox="1"/>
          <p:nvPr/>
        </p:nvSpPr>
        <p:spPr>
          <a:xfrm>
            <a:off x="7008053" y="3123008"/>
            <a:ext cx="4305300" cy="307777"/>
          </a:xfrm>
          <a:prstGeom prst="rect">
            <a:avLst/>
          </a:prstGeom>
          <a:noFill/>
        </p:spPr>
        <p:txBody>
          <a:bodyPr wrap="square" lIns="0" tIns="0" rIns="0" bIns="0" anchor="t">
            <a:spAutoFit/>
          </a:bodyPr>
          <a:lstStyle/>
          <a:p>
            <a:pPr algn="ctr" rtl="1"/>
            <a:r>
              <a:rPr lang="ar-EG" sz="2000" b="1" i="0" u="none" noProof="1">
                <a:solidFill>
                  <a:srgbClr val="475569"/>
                </a:solidFill>
                <a:latin typeface="Tajawal"/>
              </a:rPr>
              <a:t>غياب أدوات قياس تحصيل الطلاب المنتظمة.</a:t>
            </a:r>
          </a:p>
        </p:txBody>
      </p:sp>
      <p:sp>
        <p:nvSpPr>
          <p:cNvPr id="20" name="TextBox 19"/>
          <p:cNvSpPr txBox="1"/>
          <p:nvPr/>
        </p:nvSpPr>
        <p:spPr>
          <a:xfrm>
            <a:off x="7010400" y="3596877"/>
            <a:ext cx="4305300" cy="307777"/>
          </a:xfrm>
          <a:prstGeom prst="rect">
            <a:avLst/>
          </a:prstGeom>
          <a:noFill/>
        </p:spPr>
        <p:txBody>
          <a:bodyPr wrap="square" lIns="0" tIns="0" rIns="0" bIns="0" anchor="t">
            <a:spAutoFit/>
          </a:bodyPr>
          <a:lstStyle/>
          <a:p>
            <a:pPr algn="ctr" rtl="1"/>
            <a:r>
              <a:rPr lang="ar-EG" sz="2000" b="1" i="0" u="none" noProof="1">
                <a:solidFill>
                  <a:srgbClr val="475569"/>
                </a:solidFill>
                <a:latin typeface="Tajawal"/>
              </a:rPr>
              <a:t>ضعف التنسيق بين المعلمين في بناء خطط العلاج.</a:t>
            </a:r>
          </a:p>
        </p:txBody>
      </p:sp>
      <p:sp>
        <p:nvSpPr>
          <p:cNvPr id="21" name="TextBox 20"/>
          <p:cNvSpPr txBox="1"/>
          <p:nvPr/>
        </p:nvSpPr>
        <p:spPr>
          <a:xfrm>
            <a:off x="7097939" y="4060626"/>
            <a:ext cx="4305300" cy="307777"/>
          </a:xfrm>
          <a:prstGeom prst="rect">
            <a:avLst/>
          </a:prstGeom>
          <a:noFill/>
        </p:spPr>
        <p:txBody>
          <a:bodyPr wrap="square" lIns="0" tIns="0" rIns="0" bIns="0" anchor="t">
            <a:spAutoFit/>
          </a:bodyPr>
          <a:lstStyle/>
          <a:p>
            <a:pPr algn="ctr" rtl="1"/>
            <a:r>
              <a:rPr lang="ar-EG" sz="2000" b="1" i="0" u="none" noProof="1">
                <a:solidFill>
                  <a:srgbClr val="475569"/>
                </a:solidFill>
                <a:latin typeface="Tajawal"/>
              </a:rPr>
              <a:t>نسبة تحقق المؤشر لا تتجاوز 40%.</a:t>
            </a:r>
          </a:p>
        </p:txBody>
      </p:sp>
      <p:sp>
        <p:nvSpPr>
          <p:cNvPr id="22" name="TextBox 21"/>
          <p:cNvSpPr txBox="1"/>
          <p:nvPr/>
        </p:nvSpPr>
        <p:spPr>
          <a:xfrm>
            <a:off x="7115175" y="4542063"/>
            <a:ext cx="4305300" cy="307777"/>
          </a:xfrm>
          <a:prstGeom prst="rect">
            <a:avLst/>
          </a:prstGeom>
          <a:noFill/>
        </p:spPr>
        <p:txBody>
          <a:bodyPr wrap="square" lIns="0" tIns="0" rIns="0" bIns="0" anchor="t">
            <a:spAutoFit/>
          </a:bodyPr>
          <a:lstStyle/>
          <a:p>
            <a:pPr algn="ctr" rtl="1"/>
            <a:r>
              <a:rPr lang="ar-EG" sz="2000" b="1" i="0" u="none" noProof="1">
                <a:solidFill>
                  <a:srgbClr val="475569"/>
                </a:solidFill>
                <a:latin typeface="Tajawal"/>
              </a:rPr>
              <a:t>غياب التوثيق المستندي للشواهد والأدلة.</a:t>
            </a:r>
          </a:p>
        </p:txBody>
      </p:sp>
      <p:pic>
        <p:nvPicPr>
          <p:cNvPr id="23" name="Picture 22" descr="image.png"/>
          <p:cNvPicPr>
            <a:picLocks noChangeAspect="1"/>
          </p:cNvPicPr>
          <p:nvPr/>
        </p:nvPicPr>
        <p:blipFill>
          <a:blip r:embed="rId7"/>
          <a:stretch>
            <a:fillRect/>
          </a:stretch>
        </p:blipFill>
        <p:spPr>
          <a:xfrm>
            <a:off x="5962650" y="3605212"/>
            <a:ext cx="266700" cy="209550"/>
          </a:xfrm>
          <a:prstGeom prst="rect">
            <a:avLst/>
          </a:prstGeom>
        </p:spPr>
      </p:pic>
      <p:pic>
        <p:nvPicPr>
          <p:cNvPr id="24" name="Picture 23" descr="image.png"/>
          <p:cNvPicPr>
            <a:picLocks noChangeAspect="1"/>
          </p:cNvPicPr>
          <p:nvPr/>
        </p:nvPicPr>
        <p:blipFill>
          <a:blip r:embed="rId8"/>
          <a:stretch>
            <a:fillRect/>
          </a:stretch>
        </p:blipFill>
        <p:spPr>
          <a:xfrm>
            <a:off x="4675412" y="2152053"/>
            <a:ext cx="487137" cy="487137"/>
          </a:xfrm>
          <a:prstGeom prst="rect">
            <a:avLst/>
          </a:prstGeom>
        </p:spPr>
      </p:pic>
      <p:sp>
        <p:nvSpPr>
          <p:cNvPr id="25" name="TextBox 24"/>
          <p:cNvSpPr txBox="1"/>
          <p:nvPr/>
        </p:nvSpPr>
        <p:spPr>
          <a:xfrm>
            <a:off x="1122520" y="2170569"/>
            <a:ext cx="3796460" cy="430887"/>
          </a:xfrm>
          <a:prstGeom prst="rect">
            <a:avLst/>
          </a:prstGeom>
          <a:noFill/>
        </p:spPr>
        <p:txBody>
          <a:bodyPr wrap="square" lIns="0" tIns="0" rIns="0" bIns="0" anchor="t">
            <a:spAutoFit/>
          </a:bodyPr>
          <a:lstStyle/>
          <a:p>
            <a:pPr algn="l"/>
            <a:r>
              <a:rPr lang="ar-EG" sz="2800" b="1" i="0" u="none" noProof="1">
                <a:solidFill>
                  <a:srgbClr val="0F172A"/>
                </a:solidFill>
                <a:latin typeface="Tajawal ExtraBold"/>
              </a:rPr>
              <a:t>بعد التحسين (مستوى التميز)</a:t>
            </a:r>
          </a:p>
        </p:txBody>
      </p:sp>
      <p:sp>
        <p:nvSpPr>
          <p:cNvPr id="26" name="TextBox 25"/>
          <p:cNvSpPr txBox="1"/>
          <p:nvPr/>
        </p:nvSpPr>
        <p:spPr>
          <a:xfrm>
            <a:off x="790575" y="3215665"/>
            <a:ext cx="4295775" cy="202684"/>
          </a:xfrm>
          <a:prstGeom prst="rect">
            <a:avLst/>
          </a:prstGeom>
          <a:noFill/>
        </p:spPr>
        <p:txBody>
          <a:bodyPr wrap="square" lIns="0" tIns="0" rIns="0" bIns="0" anchor="t">
            <a:spAutoFit/>
          </a:bodyPr>
          <a:lstStyle/>
          <a:p>
            <a:pPr algn="ctr" rtl="1">
              <a:lnSpc>
                <a:spcPts val="1470"/>
              </a:lnSpc>
            </a:pPr>
            <a:r>
              <a:rPr lang="ar-EG" sz="2000" b="1" i="0" u="none" noProof="1">
                <a:solidFill>
                  <a:srgbClr val="475569"/>
                </a:solidFill>
                <a:latin typeface="Tajawal"/>
              </a:rPr>
              <a:t>تدشين مجتمعات تعلم مهنية أسبوعية لكل تخصص.</a:t>
            </a:r>
          </a:p>
        </p:txBody>
      </p:sp>
      <p:sp>
        <p:nvSpPr>
          <p:cNvPr id="27" name="TextBox 26"/>
          <p:cNvSpPr txBox="1"/>
          <p:nvPr/>
        </p:nvSpPr>
        <p:spPr>
          <a:xfrm>
            <a:off x="790575" y="3708034"/>
            <a:ext cx="4295775" cy="202684"/>
          </a:xfrm>
          <a:prstGeom prst="rect">
            <a:avLst/>
          </a:prstGeom>
          <a:noFill/>
        </p:spPr>
        <p:txBody>
          <a:bodyPr wrap="square" lIns="0" tIns="0" rIns="0" bIns="0" anchor="t">
            <a:spAutoFit/>
          </a:bodyPr>
          <a:lstStyle/>
          <a:p>
            <a:pPr algn="ctr" rtl="1">
              <a:lnSpc>
                <a:spcPts val="1470"/>
              </a:lnSpc>
            </a:pPr>
            <a:r>
              <a:rPr lang="ar-EG" sz="2000" b="1" i="0" u="none" noProof="1">
                <a:solidFill>
                  <a:srgbClr val="475569"/>
                </a:solidFill>
                <a:latin typeface="Tajawal"/>
              </a:rPr>
              <a:t>نظام رقمي لقياس نواتج التعلم واستخراج الفجوات.</a:t>
            </a:r>
          </a:p>
        </p:txBody>
      </p:sp>
      <p:sp>
        <p:nvSpPr>
          <p:cNvPr id="28" name="TextBox 27"/>
          <p:cNvSpPr txBox="1"/>
          <p:nvPr/>
        </p:nvSpPr>
        <p:spPr>
          <a:xfrm>
            <a:off x="872862" y="4145757"/>
            <a:ext cx="4295775" cy="202684"/>
          </a:xfrm>
          <a:prstGeom prst="rect">
            <a:avLst/>
          </a:prstGeom>
          <a:noFill/>
        </p:spPr>
        <p:txBody>
          <a:bodyPr wrap="square" lIns="0" tIns="0" rIns="0" bIns="0" anchor="t">
            <a:spAutoFit/>
          </a:bodyPr>
          <a:lstStyle/>
          <a:p>
            <a:pPr algn="ctr" rtl="1">
              <a:lnSpc>
                <a:spcPts val="1470"/>
              </a:lnSpc>
            </a:pPr>
            <a:r>
              <a:rPr lang="ar-EG" sz="2000" b="1" i="0" u="none" noProof="1">
                <a:solidFill>
                  <a:srgbClr val="475569"/>
                </a:solidFill>
                <a:latin typeface="Tajawal"/>
              </a:rPr>
              <a:t>ارتفاع نسبة تحقق المؤشر إلى 94%.</a:t>
            </a:r>
          </a:p>
        </p:txBody>
      </p:sp>
      <p:sp>
        <p:nvSpPr>
          <p:cNvPr id="29" name="TextBox 28"/>
          <p:cNvSpPr txBox="1"/>
          <p:nvPr/>
        </p:nvSpPr>
        <p:spPr>
          <a:xfrm>
            <a:off x="893987" y="4606331"/>
            <a:ext cx="4295775" cy="202684"/>
          </a:xfrm>
          <a:prstGeom prst="rect">
            <a:avLst/>
          </a:prstGeom>
          <a:noFill/>
        </p:spPr>
        <p:txBody>
          <a:bodyPr wrap="square" lIns="0" tIns="0" rIns="0" bIns="0" anchor="t">
            <a:spAutoFit/>
          </a:bodyPr>
          <a:lstStyle/>
          <a:p>
            <a:pPr algn="ctr" rtl="1">
              <a:lnSpc>
                <a:spcPts val="1470"/>
              </a:lnSpc>
            </a:pPr>
            <a:r>
              <a:rPr lang="ar-EG" sz="2000" b="1" i="0" u="none" noProof="1">
                <a:solidFill>
                  <a:srgbClr val="475569"/>
                </a:solidFill>
                <a:latin typeface="Tajawal"/>
              </a:rPr>
              <a:t>توثيق مكتمل للشواهد ونقل التجربة لمدارس أخرى.</a:t>
            </a:r>
          </a:p>
        </p:txBody>
      </p:sp>
      <p:pic>
        <p:nvPicPr>
          <p:cNvPr id="33" name="Picture 32" descr="image.png"/>
          <p:cNvPicPr>
            <a:picLocks noChangeAspect="1"/>
          </p:cNvPicPr>
          <p:nvPr/>
        </p:nvPicPr>
        <p:blipFill>
          <a:blip r:embed="rId9"/>
          <a:stretch>
            <a:fillRect/>
          </a:stretch>
        </p:blipFill>
        <p:spPr>
          <a:xfrm>
            <a:off x="10980586" y="4537726"/>
            <a:ext cx="225703" cy="307777"/>
          </a:xfrm>
          <a:prstGeom prst="rect">
            <a:avLst/>
          </a:prstGeom>
        </p:spPr>
      </p:pic>
      <p:pic>
        <p:nvPicPr>
          <p:cNvPr id="37" name="Picture 36" descr="image.png"/>
          <p:cNvPicPr>
            <a:picLocks noChangeAspect="1"/>
          </p:cNvPicPr>
          <p:nvPr/>
        </p:nvPicPr>
        <p:blipFill>
          <a:blip r:embed="rId10"/>
          <a:stretch>
            <a:fillRect/>
          </a:stretch>
        </p:blipFill>
        <p:spPr>
          <a:xfrm>
            <a:off x="5229174" y="4506732"/>
            <a:ext cx="241827" cy="302283"/>
          </a:xfrm>
          <a:prstGeom prst="rect">
            <a:avLst/>
          </a:prstGeom>
        </p:spPr>
      </p:pic>
      <p:pic>
        <p:nvPicPr>
          <p:cNvPr id="39" name="Picture 38" descr="image.png">
            <a:extLst>
              <a:ext uri="{FF2B5EF4-FFF2-40B4-BE49-F238E27FC236}">
                <a16:creationId xmlns:a16="http://schemas.microsoft.com/office/drawing/2014/main" id="{A0A38E62-FA29-9F7A-9C75-FB7821D4494A}"/>
              </a:ext>
            </a:extLst>
          </p:cNvPr>
          <p:cNvPicPr>
            <a:picLocks noChangeAspect="1"/>
          </p:cNvPicPr>
          <p:nvPr/>
        </p:nvPicPr>
        <p:blipFill>
          <a:blip r:embed="rId9"/>
          <a:stretch>
            <a:fillRect/>
          </a:stretch>
        </p:blipFill>
        <p:spPr>
          <a:xfrm>
            <a:off x="10980585" y="4051415"/>
            <a:ext cx="225703" cy="307777"/>
          </a:xfrm>
          <a:prstGeom prst="rect">
            <a:avLst/>
          </a:prstGeom>
        </p:spPr>
      </p:pic>
      <p:pic>
        <p:nvPicPr>
          <p:cNvPr id="40" name="Picture 39" descr="image.png">
            <a:extLst>
              <a:ext uri="{FF2B5EF4-FFF2-40B4-BE49-F238E27FC236}">
                <a16:creationId xmlns:a16="http://schemas.microsoft.com/office/drawing/2014/main" id="{5E6FA440-36C0-08C2-60A4-DF2CE6E8E7C5}"/>
              </a:ext>
            </a:extLst>
          </p:cNvPr>
          <p:cNvPicPr>
            <a:picLocks noChangeAspect="1"/>
          </p:cNvPicPr>
          <p:nvPr/>
        </p:nvPicPr>
        <p:blipFill>
          <a:blip r:embed="rId9"/>
          <a:stretch>
            <a:fillRect/>
          </a:stretch>
        </p:blipFill>
        <p:spPr>
          <a:xfrm>
            <a:off x="11288573" y="3574315"/>
            <a:ext cx="225703" cy="307777"/>
          </a:xfrm>
          <a:prstGeom prst="rect">
            <a:avLst/>
          </a:prstGeom>
        </p:spPr>
      </p:pic>
      <p:pic>
        <p:nvPicPr>
          <p:cNvPr id="41" name="Picture 40" descr="image.png">
            <a:extLst>
              <a:ext uri="{FF2B5EF4-FFF2-40B4-BE49-F238E27FC236}">
                <a16:creationId xmlns:a16="http://schemas.microsoft.com/office/drawing/2014/main" id="{C1C9B250-8929-C334-F30F-A4462C2962B2}"/>
              </a:ext>
            </a:extLst>
          </p:cNvPr>
          <p:cNvPicPr>
            <a:picLocks noChangeAspect="1"/>
          </p:cNvPicPr>
          <p:nvPr/>
        </p:nvPicPr>
        <p:blipFill>
          <a:blip r:embed="rId9"/>
          <a:stretch>
            <a:fillRect/>
          </a:stretch>
        </p:blipFill>
        <p:spPr>
          <a:xfrm>
            <a:off x="11003251" y="3093624"/>
            <a:ext cx="225703" cy="307777"/>
          </a:xfrm>
          <a:prstGeom prst="rect">
            <a:avLst/>
          </a:prstGeom>
        </p:spPr>
      </p:pic>
      <p:pic>
        <p:nvPicPr>
          <p:cNvPr id="43" name="Picture 42" descr="image.png">
            <a:extLst>
              <a:ext uri="{FF2B5EF4-FFF2-40B4-BE49-F238E27FC236}">
                <a16:creationId xmlns:a16="http://schemas.microsoft.com/office/drawing/2014/main" id="{8A91E16B-F75A-20A6-B26F-9EF4CBB44188}"/>
              </a:ext>
            </a:extLst>
          </p:cNvPr>
          <p:cNvPicPr>
            <a:picLocks noChangeAspect="1"/>
          </p:cNvPicPr>
          <p:nvPr/>
        </p:nvPicPr>
        <p:blipFill>
          <a:blip r:embed="rId10"/>
          <a:stretch>
            <a:fillRect/>
          </a:stretch>
        </p:blipFill>
        <p:spPr>
          <a:xfrm>
            <a:off x="4677153" y="4017451"/>
            <a:ext cx="241827" cy="302283"/>
          </a:xfrm>
          <a:prstGeom prst="rect">
            <a:avLst/>
          </a:prstGeom>
        </p:spPr>
      </p:pic>
      <p:pic>
        <p:nvPicPr>
          <p:cNvPr id="44" name="Picture 43" descr="image.png">
            <a:extLst>
              <a:ext uri="{FF2B5EF4-FFF2-40B4-BE49-F238E27FC236}">
                <a16:creationId xmlns:a16="http://schemas.microsoft.com/office/drawing/2014/main" id="{70A98DD8-9A31-E9E7-9397-8886D3B3997F}"/>
              </a:ext>
            </a:extLst>
          </p:cNvPr>
          <p:cNvPicPr>
            <a:picLocks noChangeAspect="1"/>
          </p:cNvPicPr>
          <p:nvPr/>
        </p:nvPicPr>
        <p:blipFill>
          <a:blip r:embed="rId10"/>
          <a:stretch>
            <a:fillRect/>
          </a:stretch>
        </p:blipFill>
        <p:spPr>
          <a:xfrm>
            <a:off x="5087792" y="3605212"/>
            <a:ext cx="241827" cy="302283"/>
          </a:xfrm>
          <a:prstGeom prst="rect">
            <a:avLst/>
          </a:prstGeom>
        </p:spPr>
      </p:pic>
      <p:pic>
        <p:nvPicPr>
          <p:cNvPr id="45" name="Picture 44" descr="image.png">
            <a:extLst>
              <a:ext uri="{FF2B5EF4-FFF2-40B4-BE49-F238E27FC236}">
                <a16:creationId xmlns:a16="http://schemas.microsoft.com/office/drawing/2014/main" id="{18BA1486-C537-6FE0-0FD6-6E02A22D47D3}"/>
              </a:ext>
            </a:extLst>
          </p:cNvPr>
          <p:cNvPicPr>
            <a:picLocks noChangeAspect="1"/>
          </p:cNvPicPr>
          <p:nvPr/>
        </p:nvPicPr>
        <p:blipFill>
          <a:blip r:embed="rId10"/>
          <a:stretch>
            <a:fillRect/>
          </a:stretch>
        </p:blipFill>
        <p:spPr>
          <a:xfrm>
            <a:off x="5147411" y="3104911"/>
            <a:ext cx="241827" cy="30228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par>
                                <p:cTn id="8" presetID="21"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par>
                                <p:cTn id="11" presetID="21" presetClass="entr" presetSubtype="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2000"/>
                                        <p:tgtEl>
                                          <p:spTgt spid="6"/>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heel(1)">
                                      <p:cBhvr>
                                        <p:cTn id="16" dur="2000"/>
                                        <p:tgtEl>
                                          <p:spTgt spid="14"/>
                                        </p:tgtEl>
                                      </p:cBhvr>
                                    </p:animEffect>
                                  </p:childTnLst>
                                </p:cTn>
                              </p:par>
                              <p:par>
                                <p:cTn id="17" presetID="21" presetClass="entr" presetSubtype="1"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heel(1)">
                                      <p:cBhvr>
                                        <p:cTn id="19" dur="2000"/>
                                        <p:tgtEl>
                                          <p:spTgt spid="15"/>
                                        </p:tgtEl>
                                      </p:cBhvr>
                                    </p:animEffect>
                                  </p:childTnLst>
                                </p:cTn>
                              </p:par>
                              <p:par>
                                <p:cTn id="20" presetID="21" presetClass="entr" presetSubtype="1"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heel(1)">
                                      <p:cBhvr>
                                        <p:cTn id="22" dur="2000"/>
                                        <p:tgtEl>
                                          <p:spTgt spid="1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heel(1)">
                                      <p:cBhvr>
                                        <p:cTn id="25" dur="2000"/>
                                        <p:tgtEl>
                                          <p:spTgt spid="1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2000"/>
                                        <p:tgtEl>
                                          <p:spTgt spid="1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heel(1)">
                                      <p:cBhvr>
                                        <p:cTn id="31" dur="2000"/>
                                        <p:tgtEl>
                                          <p:spTgt spid="20"/>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heel(1)">
                                      <p:cBhvr>
                                        <p:cTn id="34" dur="2000"/>
                                        <p:tgtEl>
                                          <p:spTgt spid="21"/>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heel(1)">
                                      <p:cBhvr>
                                        <p:cTn id="37" dur="2000"/>
                                        <p:tgtEl>
                                          <p:spTgt spid="22"/>
                                        </p:tgtEl>
                                      </p:cBhvr>
                                    </p:animEffect>
                                  </p:childTnLst>
                                </p:cTn>
                              </p:par>
                              <p:par>
                                <p:cTn id="38" presetID="21" presetClass="entr" presetSubtype="1"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heel(1)">
                                      <p:cBhvr>
                                        <p:cTn id="40" dur="2000"/>
                                        <p:tgtEl>
                                          <p:spTgt spid="23"/>
                                        </p:tgtEl>
                                      </p:cBhvr>
                                    </p:animEffect>
                                  </p:childTnLst>
                                </p:cTn>
                              </p:par>
                              <p:par>
                                <p:cTn id="41" presetID="21" presetClass="entr" presetSubtype="1"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heel(1)">
                                      <p:cBhvr>
                                        <p:cTn id="43" dur="2000"/>
                                        <p:tgtEl>
                                          <p:spTgt spid="24"/>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heel(1)">
                                      <p:cBhvr>
                                        <p:cTn id="46" dur="2000"/>
                                        <p:tgtEl>
                                          <p:spTgt spid="25"/>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heel(1)">
                                      <p:cBhvr>
                                        <p:cTn id="49" dur="2000"/>
                                        <p:tgtEl>
                                          <p:spTgt spid="26"/>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heel(1)">
                                      <p:cBhvr>
                                        <p:cTn id="52" dur="2000"/>
                                        <p:tgtEl>
                                          <p:spTgt spid="27"/>
                                        </p:tgtEl>
                                      </p:cBhvr>
                                    </p:animEffect>
                                  </p:childTnLst>
                                </p:cTn>
                              </p:par>
                              <p:par>
                                <p:cTn id="53" presetID="21" presetClass="entr" presetSubtype="1"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heel(1)">
                                      <p:cBhvr>
                                        <p:cTn id="55" dur="2000"/>
                                        <p:tgtEl>
                                          <p:spTgt spid="28"/>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heel(1)">
                                      <p:cBhvr>
                                        <p:cTn id="58" dur="2000"/>
                                        <p:tgtEl>
                                          <p:spTgt spid="29"/>
                                        </p:tgtEl>
                                      </p:cBhvr>
                                    </p:animEffect>
                                  </p:childTnLst>
                                </p:cTn>
                              </p:par>
                              <p:par>
                                <p:cTn id="59" presetID="21" presetClass="entr" presetSubtype="1"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wheel(1)">
                                      <p:cBhvr>
                                        <p:cTn id="61" dur="2000"/>
                                        <p:tgtEl>
                                          <p:spTgt spid="33"/>
                                        </p:tgtEl>
                                      </p:cBhvr>
                                    </p:animEffect>
                                  </p:childTnLst>
                                </p:cTn>
                              </p:par>
                              <p:par>
                                <p:cTn id="62" presetID="21" presetClass="entr" presetSubtype="1" fill="hold"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wheel(1)">
                                      <p:cBhvr>
                                        <p:cTn id="64" dur="2000"/>
                                        <p:tgtEl>
                                          <p:spTgt spid="37"/>
                                        </p:tgtEl>
                                      </p:cBhvr>
                                    </p:animEffect>
                                  </p:childTnLst>
                                </p:cTn>
                              </p:par>
                              <p:par>
                                <p:cTn id="65" presetID="21" presetClass="entr" presetSubtype="1"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wheel(1)">
                                      <p:cBhvr>
                                        <p:cTn id="67" dur="2000"/>
                                        <p:tgtEl>
                                          <p:spTgt spid="39"/>
                                        </p:tgtEl>
                                      </p:cBhvr>
                                    </p:animEffect>
                                  </p:childTnLst>
                                </p:cTn>
                              </p:par>
                              <p:par>
                                <p:cTn id="68" presetID="21" presetClass="entr" presetSubtype="1" fill="hold"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wheel(1)">
                                      <p:cBhvr>
                                        <p:cTn id="70" dur="2000"/>
                                        <p:tgtEl>
                                          <p:spTgt spid="40"/>
                                        </p:tgtEl>
                                      </p:cBhvr>
                                    </p:animEffect>
                                  </p:childTnLst>
                                </p:cTn>
                              </p:par>
                              <p:par>
                                <p:cTn id="71" presetID="21" presetClass="entr" presetSubtype="1"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wheel(1)">
                                      <p:cBhvr>
                                        <p:cTn id="73" dur="2000"/>
                                        <p:tgtEl>
                                          <p:spTgt spid="41"/>
                                        </p:tgtEl>
                                      </p:cBhvr>
                                    </p:animEffect>
                                  </p:childTnLst>
                                </p:cTn>
                              </p:par>
                              <p:par>
                                <p:cTn id="74" presetID="21" presetClass="entr" presetSubtype="1" fill="hold" nodeType="with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wheel(1)">
                                      <p:cBhvr>
                                        <p:cTn id="76" dur="2000"/>
                                        <p:tgtEl>
                                          <p:spTgt spid="43"/>
                                        </p:tgtEl>
                                      </p:cBhvr>
                                    </p:animEffect>
                                  </p:childTnLst>
                                </p:cTn>
                              </p:par>
                              <p:par>
                                <p:cTn id="77" presetID="21" presetClass="entr" presetSubtype="1" fill="hold" nodeType="with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wheel(1)">
                                      <p:cBhvr>
                                        <p:cTn id="79" dur="2000"/>
                                        <p:tgtEl>
                                          <p:spTgt spid="44"/>
                                        </p:tgtEl>
                                      </p:cBhvr>
                                    </p:animEffect>
                                  </p:childTnLst>
                                </p:cTn>
                              </p:par>
                              <p:par>
                                <p:cTn id="80" presetID="21" presetClass="entr" presetSubtype="1" fill="hold"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heel(1)">
                                      <p:cBhvr>
                                        <p:cTn id="82" dur="2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19" grpId="0"/>
      <p:bldP spid="20" grpId="0"/>
      <p:bldP spid="21" grpId="0"/>
      <p:bldP spid="22" grpId="0"/>
      <p:bldP spid="25" grpId="0"/>
      <p:bldP spid="26" grpId="0"/>
      <p:bldP spid="27" grpId="0"/>
      <p:bldP spid="28"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7215187" y="1648866"/>
            <a:ext cx="428625" cy="571500"/>
          </a:xfrm>
          <a:prstGeom prst="rect">
            <a:avLst/>
          </a:prstGeom>
        </p:spPr>
      </p:pic>
      <p:sp>
        <p:nvSpPr>
          <p:cNvPr id="5" name="TextBox 4"/>
          <p:cNvSpPr txBox="1"/>
          <p:nvPr/>
        </p:nvSpPr>
        <p:spPr>
          <a:xfrm>
            <a:off x="2159754" y="2373805"/>
            <a:ext cx="8201025" cy="1188541"/>
          </a:xfrm>
          <a:prstGeom prst="rect">
            <a:avLst/>
          </a:prstGeom>
          <a:noFill/>
        </p:spPr>
        <p:txBody>
          <a:bodyPr wrap="square" lIns="0" tIns="0" rIns="0" bIns="0" anchor="t">
            <a:spAutoFit/>
          </a:bodyPr>
          <a:lstStyle/>
          <a:p>
            <a:pPr algn="ctr">
              <a:lnSpc>
                <a:spcPts val="4680"/>
              </a:lnSpc>
            </a:pPr>
            <a:r>
              <a:rPr lang="ar-EG" sz="3600" b="0" i="0" u="none" noProof="1">
                <a:solidFill>
                  <a:srgbClr val="FFFFFF"/>
                </a:solidFill>
                <a:latin typeface="Cairo ExtraBold"/>
              </a:rPr>
              <a:t>"لا نغيّر المؤشر...</a:t>
            </a:r>
            <a:r>
              <a:rPr lang="ar-EG" noProof="1"/>
              <a:t>
</a:t>
            </a:r>
            <a:r>
              <a:rPr lang="ar-EG" sz="3600" b="0" i="0" u="none" noProof="1">
                <a:solidFill>
                  <a:srgbClr val="FFFFFF"/>
                </a:solidFill>
                <a:latin typeface="Cairo ExtraBold"/>
              </a:rPr>
              <a:t> بل نغيّر </a:t>
            </a:r>
            <a:r>
              <a:rPr lang="ar-EG" sz="3600" b="0" i="0" u="none" noProof="1">
                <a:solidFill>
                  <a:srgbClr val="34D399"/>
                </a:solidFill>
                <a:latin typeface="Cairo ExtraBold"/>
              </a:rPr>
              <a:t>الأداء</a:t>
            </a:r>
            <a:r>
              <a:rPr lang="ar-EG" sz="3600" b="0" i="0" u="none" noProof="1">
                <a:solidFill>
                  <a:srgbClr val="FFFFFF"/>
                </a:solidFill>
                <a:latin typeface="Cairo ExtraBold"/>
              </a:rPr>
              <a:t>."</a:t>
            </a:r>
          </a:p>
        </p:txBody>
      </p:sp>
      <p:sp>
        <p:nvSpPr>
          <p:cNvPr id="6" name="TextBox 5"/>
          <p:cNvSpPr txBox="1"/>
          <p:nvPr/>
        </p:nvSpPr>
        <p:spPr>
          <a:xfrm>
            <a:off x="2278506" y="3885158"/>
            <a:ext cx="8722870" cy="1039515"/>
          </a:xfrm>
          <a:prstGeom prst="rect">
            <a:avLst/>
          </a:prstGeom>
          <a:noFill/>
        </p:spPr>
        <p:txBody>
          <a:bodyPr wrap="square" lIns="0" tIns="0" rIns="0" bIns="0" anchor="t">
            <a:spAutoFit/>
          </a:bodyPr>
          <a:lstStyle/>
          <a:p>
            <a:pPr algn="ctr">
              <a:lnSpc>
                <a:spcPct val="150000"/>
              </a:lnSpc>
            </a:pPr>
            <a:r>
              <a:rPr lang="ar-EG" sz="2400" b="1" i="0" u="none" noProof="1">
                <a:solidFill>
                  <a:srgbClr val="CBD5E1"/>
                </a:solidFill>
                <a:latin typeface="Tajawal"/>
              </a:rPr>
              <a:t>المؤشرات هي معايير وطنية ثابتة للقياس والعدالة، بينما التحدي القيادي الحقيقي يتجسد في تمكين فرق العمل وتحويل الممارسات اليومية نحو الريادة والتميز المستدام.</a:t>
            </a:r>
          </a:p>
        </p:txBody>
      </p:sp>
      <p:sp>
        <p:nvSpPr>
          <p:cNvPr id="12" name="TextBox 3">
            <a:extLst>
              <a:ext uri="{FF2B5EF4-FFF2-40B4-BE49-F238E27FC236}">
                <a16:creationId xmlns:a16="http://schemas.microsoft.com/office/drawing/2014/main" id="{45D622D8-22B8-8FD8-1152-97C2FA0155C5}"/>
              </a:ext>
            </a:extLst>
          </p:cNvPr>
          <p:cNvSpPr txBox="1"/>
          <p:nvPr/>
        </p:nvSpPr>
        <p:spPr>
          <a:xfrm>
            <a:off x="1022385" y="711014"/>
            <a:ext cx="10728655" cy="646331"/>
          </a:xfrm>
          <a:prstGeom prst="rect">
            <a:avLst/>
          </a:prstGeom>
          <a:noFill/>
        </p:spPr>
        <p:txBody>
          <a:bodyPr wrap="square">
            <a:spAutoFit/>
          </a:bodyPr>
          <a:lstStyle/>
          <a:p>
            <a:pPr algn="ctr">
              <a:defRPr sz="2400" b="1">
                <a:solidFill>
                  <a:srgbClr val="FFFFFF"/>
                </a:solidFill>
                <a:latin typeface="Arial"/>
              </a:defRPr>
            </a:pPr>
            <a:r>
              <a:rPr lang="ar-EG" sz="3600" noProof="1"/>
              <a:t>وسائل التحقق من تنفيذ خطة التحسين</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2784"/>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وسائل التحقق من تنفيذ خطة التحسين</a:t>
            </a:r>
          </a:p>
        </p:txBody>
      </p:sp>
      <p:sp>
        <p:nvSpPr>
          <p:cNvPr id="5" name="Rounded Rectangle 4"/>
          <p:cNvSpPr/>
          <p:nvPr/>
        </p:nvSpPr>
        <p:spPr>
          <a:xfrm>
            <a:off x="731520" y="1371600"/>
            <a:ext cx="3413455" cy="21945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594360" y="1508760"/>
            <a:ext cx="3413455" cy="1323439"/>
          </a:xfrm>
          <a:prstGeom prst="rect">
            <a:avLst/>
          </a:prstGeom>
          <a:noFill/>
        </p:spPr>
        <p:txBody>
          <a:bodyPr wrap="square">
            <a:spAutoFit/>
          </a:bodyPr>
          <a:lstStyle/>
          <a:p>
            <a:pPr algn="r" rtl="1">
              <a:defRPr sz="1600" b="1">
                <a:solidFill>
                  <a:srgbClr val="0F2043"/>
                </a:solidFill>
                <a:latin typeface="Arial"/>
              </a:defRPr>
            </a:pPr>
            <a:r>
              <a:rPr lang="ar-EG" noProof="1"/>
              <a:t>📁  </a:t>
            </a:r>
            <a:r>
              <a:rPr lang="ar-EG" sz="2000" noProof="1"/>
              <a:t>السجلات التشغيلية</a:t>
            </a:r>
          </a:p>
          <a:p>
            <a:pPr algn="r" rtl="1">
              <a:defRPr sz="1200">
                <a:solidFill>
                  <a:srgbClr val="282828"/>
                </a:solidFill>
                <a:latin typeface="Arial"/>
              </a:defRPr>
            </a:pPr>
            <a:r>
              <a:rPr lang="ar-EG" sz="2000" noProof="1"/>
              <a:t>• </a:t>
            </a:r>
            <a:r>
              <a:rPr lang="ar-EG" sz="2000" b="1" noProof="1"/>
              <a:t>توثيق الحضور والغياب والانضباط</a:t>
            </a:r>
            <a:br>
              <a:rPr lang="ar-EG" sz="2000" b="1" noProof="1"/>
            </a:br>
            <a:r>
              <a:rPr lang="ar-EG" sz="2000" b="1" noProof="1"/>
              <a:t>• محاضر الاجتماعات والسجلات الرسمية</a:t>
            </a:r>
            <a:endParaRPr lang="ar-EG" b="1" noProof="1"/>
          </a:p>
        </p:txBody>
      </p:sp>
      <p:sp>
        <p:nvSpPr>
          <p:cNvPr id="7" name="Rounded Rectangle 6"/>
          <p:cNvSpPr/>
          <p:nvPr/>
        </p:nvSpPr>
        <p:spPr>
          <a:xfrm>
            <a:off x="4297680" y="1371600"/>
            <a:ext cx="3413455" cy="21945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4434840" y="1508760"/>
            <a:ext cx="3139135" cy="1000274"/>
          </a:xfrm>
          <a:prstGeom prst="rect">
            <a:avLst/>
          </a:prstGeom>
          <a:noFill/>
        </p:spPr>
        <p:txBody>
          <a:bodyPr wrap="square">
            <a:spAutoFit/>
          </a:bodyPr>
          <a:lstStyle/>
          <a:p>
            <a:pPr algn="r" rtl="1">
              <a:defRPr sz="1600" b="1">
                <a:solidFill>
                  <a:srgbClr val="0F2043"/>
                </a:solidFill>
                <a:latin typeface="Arial"/>
              </a:defRPr>
            </a:pPr>
            <a:r>
              <a:rPr lang="ar-EG" noProof="1"/>
              <a:t>📑  </a:t>
            </a:r>
            <a:r>
              <a:rPr lang="ar-EG" sz="2000" noProof="1"/>
              <a:t>التقارير الدورية</a:t>
            </a:r>
          </a:p>
          <a:p>
            <a:pPr algn="r" rtl="1">
              <a:defRPr sz="1200">
                <a:solidFill>
                  <a:srgbClr val="282828"/>
                </a:solidFill>
                <a:latin typeface="Arial"/>
              </a:defRPr>
            </a:pPr>
            <a:r>
              <a:rPr lang="ar-EG" sz="2000" noProof="1"/>
              <a:t>• </a:t>
            </a:r>
            <a:r>
              <a:rPr lang="ar-EG" sz="1900" b="1" noProof="1"/>
              <a:t>تقارير الإنجاز الأسبوعية والشهرية</a:t>
            </a:r>
            <a:br>
              <a:rPr lang="ar-EG" sz="1900" b="1" noProof="1"/>
            </a:br>
            <a:r>
              <a:rPr lang="ar-EG" sz="1900" b="1" noProof="1"/>
              <a:t>• تقارير الفجوة والتحصيل الدراسي</a:t>
            </a:r>
          </a:p>
        </p:txBody>
      </p:sp>
      <p:sp>
        <p:nvSpPr>
          <p:cNvPr id="9" name="Rounded Rectangle 8"/>
          <p:cNvSpPr/>
          <p:nvPr/>
        </p:nvSpPr>
        <p:spPr>
          <a:xfrm>
            <a:off x="7863840" y="1371600"/>
            <a:ext cx="3413455" cy="21945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7863840" y="1558712"/>
            <a:ext cx="3429000" cy="1015663"/>
          </a:xfrm>
          <a:prstGeom prst="rect">
            <a:avLst/>
          </a:prstGeom>
          <a:noFill/>
        </p:spPr>
        <p:txBody>
          <a:bodyPr wrap="square">
            <a:spAutoFit/>
          </a:bodyPr>
          <a:lstStyle/>
          <a:p>
            <a:pPr algn="r" rtl="1">
              <a:defRPr sz="1600" b="1">
                <a:solidFill>
                  <a:srgbClr val="0F2043"/>
                </a:solidFill>
                <a:latin typeface="Arial"/>
              </a:defRPr>
            </a:pPr>
            <a:r>
              <a:rPr lang="ar-EG" noProof="1"/>
              <a:t>🧪  </a:t>
            </a:r>
            <a:r>
              <a:rPr lang="ar-EG" sz="2000" noProof="1"/>
              <a:t>نتائج الاختبارات</a:t>
            </a:r>
          </a:p>
          <a:p>
            <a:pPr algn="r" rtl="1">
              <a:defRPr sz="1200">
                <a:solidFill>
                  <a:srgbClr val="282828"/>
                </a:solidFill>
                <a:latin typeface="Arial"/>
              </a:defRPr>
            </a:pPr>
            <a:r>
              <a:rPr lang="ar-EG" sz="2000" noProof="1"/>
              <a:t>• </a:t>
            </a:r>
            <a:r>
              <a:rPr lang="ar-EG" sz="2000" b="1" noProof="1"/>
              <a:t>اختبارات قياس نواتج التعلم</a:t>
            </a:r>
            <a:br>
              <a:rPr lang="ar-EG" sz="2000" b="1" noProof="1"/>
            </a:br>
            <a:r>
              <a:rPr lang="ar-EG" sz="2000" b="1" noProof="1"/>
              <a:t>• نتائج الاختبارات الوطنية والمعيارية</a:t>
            </a:r>
          </a:p>
        </p:txBody>
      </p:sp>
      <p:sp>
        <p:nvSpPr>
          <p:cNvPr id="11" name="Rounded Rectangle 10"/>
          <p:cNvSpPr/>
          <p:nvPr/>
        </p:nvSpPr>
        <p:spPr>
          <a:xfrm>
            <a:off x="731520" y="3749039"/>
            <a:ext cx="3413455" cy="21945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731520" y="3886199"/>
            <a:ext cx="3276295" cy="1015663"/>
          </a:xfrm>
          <a:prstGeom prst="rect">
            <a:avLst/>
          </a:prstGeom>
          <a:noFill/>
        </p:spPr>
        <p:txBody>
          <a:bodyPr wrap="square">
            <a:spAutoFit/>
          </a:bodyPr>
          <a:lstStyle/>
          <a:p>
            <a:pPr algn="r" rtl="1">
              <a:defRPr sz="1600" b="1">
                <a:solidFill>
                  <a:srgbClr val="0F2043"/>
                </a:solidFill>
                <a:latin typeface="Arial"/>
              </a:defRPr>
            </a:pPr>
            <a:r>
              <a:rPr lang="ar-EG" noProof="1"/>
              <a:t>📝  </a:t>
            </a:r>
            <a:r>
              <a:rPr lang="ar-EG" sz="2000" noProof="1"/>
              <a:t>الاستبانات والقياس</a:t>
            </a:r>
          </a:p>
          <a:p>
            <a:pPr algn="r" rtl="1">
              <a:defRPr sz="1200">
                <a:solidFill>
                  <a:srgbClr val="282828"/>
                </a:solidFill>
                <a:latin typeface="Arial"/>
              </a:defRPr>
            </a:pPr>
            <a:r>
              <a:rPr lang="ar-EG" sz="2000" noProof="1"/>
              <a:t>• </a:t>
            </a:r>
            <a:r>
              <a:rPr lang="ar-EG" sz="2000" b="1" noProof="1"/>
              <a:t>استطلاعات قياس رضا المستفيدين</a:t>
            </a:r>
            <a:br>
              <a:rPr lang="ar-EG" sz="2000" b="1" noProof="1"/>
            </a:br>
            <a:r>
              <a:rPr lang="ar-EG" sz="2000" b="1" noProof="1"/>
              <a:t>• قياس جودة البيئة المدرسية</a:t>
            </a:r>
          </a:p>
        </p:txBody>
      </p:sp>
      <p:sp>
        <p:nvSpPr>
          <p:cNvPr id="13" name="Rounded Rectangle 12"/>
          <p:cNvSpPr/>
          <p:nvPr/>
        </p:nvSpPr>
        <p:spPr>
          <a:xfrm>
            <a:off x="4297680" y="3749039"/>
            <a:ext cx="3413455" cy="21945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4434840" y="3886199"/>
            <a:ext cx="3139135" cy="1015663"/>
          </a:xfrm>
          <a:prstGeom prst="rect">
            <a:avLst/>
          </a:prstGeom>
          <a:noFill/>
        </p:spPr>
        <p:txBody>
          <a:bodyPr wrap="square">
            <a:spAutoFit/>
          </a:bodyPr>
          <a:lstStyle/>
          <a:p>
            <a:pPr algn="r" rtl="1">
              <a:defRPr sz="1600" b="1">
                <a:solidFill>
                  <a:srgbClr val="0F2043"/>
                </a:solidFill>
                <a:latin typeface="Arial"/>
              </a:defRPr>
            </a:pPr>
            <a:r>
              <a:rPr lang="ar-EG" noProof="1"/>
              <a:t>🏫  </a:t>
            </a:r>
            <a:r>
              <a:rPr lang="ar-EG" sz="2000" noProof="1"/>
              <a:t>الزيارات الصفية</a:t>
            </a:r>
          </a:p>
          <a:p>
            <a:pPr algn="r" rtl="1">
              <a:defRPr sz="1200">
                <a:solidFill>
                  <a:srgbClr val="282828"/>
                </a:solidFill>
                <a:latin typeface="Arial"/>
              </a:defRPr>
            </a:pPr>
            <a:r>
              <a:rPr lang="ar-EG" sz="2000" noProof="1"/>
              <a:t>• </a:t>
            </a:r>
            <a:r>
              <a:rPr lang="ar-EG" sz="2000" b="1" noProof="1"/>
              <a:t>ملاحظة الأداء التدريسي المباشر</a:t>
            </a:r>
            <a:br>
              <a:rPr lang="ar-EG" sz="2000" b="1" noProof="1"/>
            </a:br>
            <a:r>
              <a:rPr lang="ar-EG" sz="2000" b="1" noProof="1"/>
              <a:t>• قياس استراتيجيات التعلم النشط</a:t>
            </a:r>
          </a:p>
        </p:txBody>
      </p:sp>
      <p:sp>
        <p:nvSpPr>
          <p:cNvPr id="15" name="Rounded Rectangle 14"/>
          <p:cNvSpPr/>
          <p:nvPr/>
        </p:nvSpPr>
        <p:spPr>
          <a:xfrm>
            <a:off x="7863840" y="3749039"/>
            <a:ext cx="3413455" cy="21945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6" name="TextBox 15"/>
          <p:cNvSpPr txBox="1"/>
          <p:nvPr/>
        </p:nvSpPr>
        <p:spPr>
          <a:xfrm>
            <a:off x="7848296" y="3886199"/>
            <a:ext cx="3291840" cy="1015663"/>
          </a:xfrm>
          <a:prstGeom prst="rect">
            <a:avLst/>
          </a:prstGeom>
          <a:noFill/>
        </p:spPr>
        <p:txBody>
          <a:bodyPr wrap="square">
            <a:spAutoFit/>
          </a:bodyPr>
          <a:lstStyle/>
          <a:p>
            <a:pPr algn="r" rtl="1">
              <a:defRPr sz="1600" b="1">
                <a:solidFill>
                  <a:srgbClr val="0F2043"/>
                </a:solidFill>
                <a:latin typeface="Arial"/>
              </a:defRPr>
            </a:pPr>
            <a:r>
              <a:rPr lang="ar-EG" noProof="1"/>
              <a:t>📚  </a:t>
            </a:r>
            <a:r>
              <a:rPr lang="ar-EG" sz="2000" noProof="1"/>
              <a:t>ملفات الإنجاز</a:t>
            </a:r>
          </a:p>
          <a:p>
            <a:pPr algn="r" rtl="1">
              <a:defRPr sz="1200">
                <a:solidFill>
                  <a:srgbClr val="282828"/>
                </a:solidFill>
                <a:latin typeface="Arial"/>
              </a:defRPr>
            </a:pPr>
            <a:r>
              <a:rPr lang="ar-EG" sz="2000" noProof="1"/>
              <a:t>• </a:t>
            </a:r>
            <a:r>
              <a:rPr lang="ar-EG" sz="2000" b="1" noProof="1"/>
              <a:t>شواهد إنجاز المعلمين والطلاب</a:t>
            </a:r>
            <a:br>
              <a:rPr lang="ar-EG" sz="2000" b="1" noProof="1"/>
            </a:br>
            <a:r>
              <a:rPr lang="ar-EG" sz="2000" b="1" noProof="1"/>
              <a:t>• توثيق المبادرات والأنشطة المكتملة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fltVal val="0"/>
                                          </p:val>
                                        </p:tav>
                                        <p:tav tm="100000">
                                          <p:val>
                                            <p:strVal val="#ppt_h"/>
                                          </p:val>
                                        </p:tav>
                                      </p:tavLst>
                                    </p:anim>
                                    <p:animEffect transition="in" filter="fade">
                                      <p:cBhvr>
                                        <p:cTn id="9" dur="175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750" fill="hold"/>
                                        <p:tgtEl>
                                          <p:spTgt spid="3"/>
                                        </p:tgtEl>
                                        <p:attrNameLst>
                                          <p:attrName>ppt_w</p:attrName>
                                        </p:attrNameLst>
                                      </p:cBhvr>
                                      <p:tavLst>
                                        <p:tav tm="0">
                                          <p:val>
                                            <p:fltVal val="0"/>
                                          </p:val>
                                        </p:tav>
                                        <p:tav tm="100000">
                                          <p:val>
                                            <p:strVal val="#ppt_w"/>
                                          </p:val>
                                        </p:tav>
                                      </p:tavLst>
                                    </p:anim>
                                    <p:anim calcmode="lin" valueType="num">
                                      <p:cBhvr>
                                        <p:cTn id="13" dur="1750" fill="hold"/>
                                        <p:tgtEl>
                                          <p:spTgt spid="3"/>
                                        </p:tgtEl>
                                        <p:attrNameLst>
                                          <p:attrName>ppt_h</p:attrName>
                                        </p:attrNameLst>
                                      </p:cBhvr>
                                      <p:tavLst>
                                        <p:tav tm="0">
                                          <p:val>
                                            <p:fltVal val="0"/>
                                          </p:val>
                                        </p:tav>
                                        <p:tav tm="100000">
                                          <p:val>
                                            <p:strVal val="#ppt_h"/>
                                          </p:val>
                                        </p:tav>
                                      </p:tavLst>
                                    </p:anim>
                                    <p:animEffect transition="in" filter="fade">
                                      <p:cBhvr>
                                        <p:cTn id="14" dur="175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750" fill="hold"/>
                                        <p:tgtEl>
                                          <p:spTgt spid="4"/>
                                        </p:tgtEl>
                                        <p:attrNameLst>
                                          <p:attrName>ppt_w</p:attrName>
                                        </p:attrNameLst>
                                      </p:cBhvr>
                                      <p:tavLst>
                                        <p:tav tm="0">
                                          <p:val>
                                            <p:fltVal val="0"/>
                                          </p:val>
                                        </p:tav>
                                        <p:tav tm="100000">
                                          <p:val>
                                            <p:strVal val="#ppt_w"/>
                                          </p:val>
                                        </p:tav>
                                      </p:tavLst>
                                    </p:anim>
                                    <p:anim calcmode="lin" valueType="num">
                                      <p:cBhvr>
                                        <p:cTn id="18" dur="1750" fill="hold"/>
                                        <p:tgtEl>
                                          <p:spTgt spid="4"/>
                                        </p:tgtEl>
                                        <p:attrNameLst>
                                          <p:attrName>ppt_h</p:attrName>
                                        </p:attrNameLst>
                                      </p:cBhvr>
                                      <p:tavLst>
                                        <p:tav tm="0">
                                          <p:val>
                                            <p:fltVal val="0"/>
                                          </p:val>
                                        </p:tav>
                                        <p:tav tm="100000">
                                          <p:val>
                                            <p:strVal val="#ppt_h"/>
                                          </p:val>
                                        </p:tav>
                                      </p:tavLst>
                                    </p:anim>
                                    <p:animEffect transition="in" filter="fade">
                                      <p:cBhvr>
                                        <p:cTn id="19" dur="1750"/>
                                        <p:tgtEl>
                                          <p:spTgt spid="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750" fill="hold"/>
                                        <p:tgtEl>
                                          <p:spTgt spid="5"/>
                                        </p:tgtEl>
                                        <p:attrNameLst>
                                          <p:attrName>ppt_w</p:attrName>
                                        </p:attrNameLst>
                                      </p:cBhvr>
                                      <p:tavLst>
                                        <p:tav tm="0">
                                          <p:val>
                                            <p:fltVal val="0"/>
                                          </p:val>
                                        </p:tav>
                                        <p:tav tm="100000">
                                          <p:val>
                                            <p:strVal val="#ppt_w"/>
                                          </p:val>
                                        </p:tav>
                                      </p:tavLst>
                                    </p:anim>
                                    <p:anim calcmode="lin" valueType="num">
                                      <p:cBhvr>
                                        <p:cTn id="23" dur="1750" fill="hold"/>
                                        <p:tgtEl>
                                          <p:spTgt spid="5"/>
                                        </p:tgtEl>
                                        <p:attrNameLst>
                                          <p:attrName>ppt_h</p:attrName>
                                        </p:attrNameLst>
                                      </p:cBhvr>
                                      <p:tavLst>
                                        <p:tav tm="0">
                                          <p:val>
                                            <p:fltVal val="0"/>
                                          </p:val>
                                        </p:tav>
                                        <p:tav tm="100000">
                                          <p:val>
                                            <p:strVal val="#ppt_h"/>
                                          </p:val>
                                        </p:tav>
                                      </p:tavLst>
                                    </p:anim>
                                    <p:animEffect transition="in" filter="fade">
                                      <p:cBhvr>
                                        <p:cTn id="24" dur="175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750" fill="hold"/>
                                        <p:tgtEl>
                                          <p:spTgt spid="6"/>
                                        </p:tgtEl>
                                        <p:attrNameLst>
                                          <p:attrName>ppt_w</p:attrName>
                                        </p:attrNameLst>
                                      </p:cBhvr>
                                      <p:tavLst>
                                        <p:tav tm="0">
                                          <p:val>
                                            <p:fltVal val="0"/>
                                          </p:val>
                                        </p:tav>
                                        <p:tav tm="100000">
                                          <p:val>
                                            <p:strVal val="#ppt_w"/>
                                          </p:val>
                                        </p:tav>
                                      </p:tavLst>
                                    </p:anim>
                                    <p:anim calcmode="lin" valueType="num">
                                      <p:cBhvr>
                                        <p:cTn id="28" dur="1750" fill="hold"/>
                                        <p:tgtEl>
                                          <p:spTgt spid="6"/>
                                        </p:tgtEl>
                                        <p:attrNameLst>
                                          <p:attrName>ppt_h</p:attrName>
                                        </p:attrNameLst>
                                      </p:cBhvr>
                                      <p:tavLst>
                                        <p:tav tm="0">
                                          <p:val>
                                            <p:fltVal val="0"/>
                                          </p:val>
                                        </p:tav>
                                        <p:tav tm="100000">
                                          <p:val>
                                            <p:strVal val="#ppt_h"/>
                                          </p:val>
                                        </p:tav>
                                      </p:tavLst>
                                    </p:anim>
                                    <p:animEffect transition="in" filter="fade">
                                      <p:cBhvr>
                                        <p:cTn id="29" dur="175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1750" fill="hold"/>
                                        <p:tgtEl>
                                          <p:spTgt spid="7"/>
                                        </p:tgtEl>
                                        <p:attrNameLst>
                                          <p:attrName>ppt_w</p:attrName>
                                        </p:attrNameLst>
                                      </p:cBhvr>
                                      <p:tavLst>
                                        <p:tav tm="0">
                                          <p:val>
                                            <p:fltVal val="0"/>
                                          </p:val>
                                        </p:tav>
                                        <p:tav tm="100000">
                                          <p:val>
                                            <p:strVal val="#ppt_w"/>
                                          </p:val>
                                        </p:tav>
                                      </p:tavLst>
                                    </p:anim>
                                    <p:anim calcmode="lin" valueType="num">
                                      <p:cBhvr>
                                        <p:cTn id="33" dur="1750" fill="hold"/>
                                        <p:tgtEl>
                                          <p:spTgt spid="7"/>
                                        </p:tgtEl>
                                        <p:attrNameLst>
                                          <p:attrName>ppt_h</p:attrName>
                                        </p:attrNameLst>
                                      </p:cBhvr>
                                      <p:tavLst>
                                        <p:tav tm="0">
                                          <p:val>
                                            <p:fltVal val="0"/>
                                          </p:val>
                                        </p:tav>
                                        <p:tav tm="100000">
                                          <p:val>
                                            <p:strVal val="#ppt_h"/>
                                          </p:val>
                                        </p:tav>
                                      </p:tavLst>
                                    </p:anim>
                                    <p:animEffect transition="in" filter="fade">
                                      <p:cBhvr>
                                        <p:cTn id="34" dur="1750"/>
                                        <p:tgtEl>
                                          <p:spTgt spid="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750" fill="hold"/>
                                        <p:tgtEl>
                                          <p:spTgt spid="8"/>
                                        </p:tgtEl>
                                        <p:attrNameLst>
                                          <p:attrName>ppt_w</p:attrName>
                                        </p:attrNameLst>
                                      </p:cBhvr>
                                      <p:tavLst>
                                        <p:tav tm="0">
                                          <p:val>
                                            <p:fltVal val="0"/>
                                          </p:val>
                                        </p:tav>
                                        <p:tav tm="100000">
                                          <p:val>
                                            <p:strVal val="#ppt_w"/>
                                          </p:val>
                                        </p:tav>
                                      </p:tavLst>
                                    </p:anim>
                                    <p:anim calcmode="lin" valueType="num">
                                      <p:cBhvr>
                                        <p:cTn id="38" dur="1750" fill="hold"/>
                                        <p:tgtEl>
                                          <p:spTgt spid="8"/>
                                        </p:tgtEl>
                                        <p:attrNameLst>
                                          <p:attrName>ppt_h</p:attrName>
                                        </p:attrNameLst>
                                      </p:cBhvr>
                                      <p:tavLst>
                                        <p:tav tm="0">
                                          <p:val>
                                            <p:fltVal val="0"/>
                                          </p:val>
                                        </p:tav>
                                        <p:tav tm="100000">
                                          <p:val>
                                            <p:strVal val="#ppt_h"/>
                                          </p:val>
                                        </p:tav>
                                      </p:tavLst>
                                    </p:anim>
                                    <p:animEffect transition="in" filter="fade">
                                      <p:cBhvr>
                                        <p:cTn id="39" dur="1750"/>
                                        <p:tgtEl>
                                          <p:spTgt spid="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1750" fill="hold"/>
                                        <p:tgtEl>
                                          <p:spTgt spid="9"/>
                                        </p:tgtEl>
                                        <p:attrNameLst>
                                          <p:attrName>ppt_w</p:attrName>
                                        </p:attrNameLst>
                                      </p:cBhvr>
                                      <p:tavLst>
                                        <p:tav tm="0">
                                          <p:val>
                                            <p:fltVal val="0"/>
                                          </p:val>
                                        </p:tav>
                                        <p:tav tm="100000">
                                          <p:val>
                                            <p:strVal val="#ppt_w"/>
                                          </p:val>
                                        </p:tav>
                                      </p:tavLst>
                                    </p:anim>
                                    <p:anim calcmode="lin" valueType="num">
                                      <p:cBhvr>
                                        <p:cTn id="43" dur="1750" fill="hold"/>
                                        <p:tgtEl>
                                          <p:spTgt spid="9"/>
                                        </p:tgtEl>
                                        <p:attrNameLst>
                                          <p:attrName>ppt_h</p:attrName>
                                        </p:attrNameLst>
                                      </p:cBhvr>
                                      <p:tavLst>
                                        <p:tav tm="0">
                                          <p:val>
                                            <p:fltVal val="0"/>
                                          </p:val>
                                        </p:tav>
                                        <p:tav tm="100000">
                                          <p:val>
                                            <p:strVal val="#ppt_h"/>
                                          </p:val>
                                        </p:tav>
                                      </p:tavLst>
                                    </p:anim>
                                    <p:animEffect transition="in" filter="fade">
                                      <p:cBhvr>
                                        <p:cTn id="44" dur="1750"/>
                                        <p:tgtEl>
                                          <p:spTgt spid="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1750" fill="hold"/>
                                        <p:tgtEl>
                                          <p:spTgt spid="10"/>
                                        </p:tgtEl>
                                        <p:attrNameLst>
                                          <p:attrName>ppt_w</p:attrName>
                                        </p:attrNameLst>
                                      </p:cBhvr>
                                      <p:tavLst>
                                        <p:tav tm="0">
                                          <p:val>
                                            <p:fltVal val="0"/>
                                          </p:val>
                                        </p:tav>
                                        <p:tav tm="100000">
                                          <p:val>
                                            <p:strVal val="#ppt_w"/>
                                          </p:val>
                                        </p:tav>
                                      </p:tavLst>
                                    </p:anim>
                                    <p:anim calcmode="lin" valueType="num">
                                      <p:cBhvr>
                                        <p:cTn id="48" dur="1750" fill="hold"/>
                                        <p:tgtEl>
                                          <p:spTgt spid="10"/>
                                        </p:tgtEl>
                                        <p:attrNameLst>
                                          <p:attrName>ppt_h</p:attrName>
                                        </p:attrNameLst>
                                      </p:cBhvr>
                                      <p:tavLst>
                                        <p:tav tm="0">
                                          <p:val>
                                            <p:fltVal val="0"/>
                                          </p:val>
                                        </p:tav>
                                        <p:tav tm="100000">
                                          <p:val>
                                            <p:strVal val="#ppt_h"/>
                                          </p:val>
                                        </p:tav>
                                      </p:tavLst>
                                    </p:anim>
                                    <p:animEffect transition="in" filter="fade">
                                      <p:cBhvr>
                                        <p:cTn id="49" dur="1750"/>
                                        <p:tgtEl>
                                          <p:spTgt spid="1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1750" fill="hold"/>
                                        <p:tgtEl>
                                          <p:spTgt spid="11"/>
                                        </p:tgtEl>
                                        <p:attrNameLst>
                                          <p:attrName>ppt_w</p:attrName>
                                        </p:attrNameLst>
                                      </p:cBhvr>
                                      <p:tavLst>
                                        <p:tav tm="0">
                                          <p:val>
                                            <p:fltVal val="0"/>
                                          </p:val>
                                        </p:tav>
                                        <p:tav tm="100000">
                                          <p:val>
                                            <p:strVal val="#ppt_w"/>
                                          </p:val>
                                        </p:tav>
                                      </p:tavLst>
                                    </p:anim>
                                    <p:anim calcmode="lin" valueType="num">
                                      <p:cBhvr>
                                        <p:cTn id="53" dur="1750" fill="hold"/>
                                        <p:tgtEl>
                                          <p:spTgt spid="11"/>
                                        </p:tgtEl>
                                        <p:attrNameLst>
                                          <p:attrName>ppt_h</p:attrName>
                                        </p:attrNameLst>
                                      </p:cBhvr>
                                      <p:tavLst>
                                        <p:tav tm="0">
                                          <p:val>
                                            <p:fltVal val="0"/>
                                          </p:val>
                                        </p:tav>
                                        <p:tav tm="100000">
                                          <p:val>
                                            <p:strVal val="#ppt_h"/>
                                          </p:val>
                                        </p:tav>
                                      </p:tavLst>
                                    </p:anim>
                                    <p:animEffect transition="in" filter="fade">
                                      <p:cBhvr>
                                        <p:cTn id="54" dur="1750"/>
                                        <p:tgtEl>
                                          <p:spTgt spid="1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1750" fill="hold"/>
                                        <p:tgtEl>
                                          <p:spTgt spid="12"/>
                                        </p:tgtEl>
                                        <p:attrNameLst>
                                          <p:attrName>ppt_w</p:attrName>
                                        </p:attrNameLst>
                                      </p:cBhvr>
                                      <p:tavLst>
                                        <p:tav tm="0">
                                          <p:val>
                                            <p:fltVal val="0"/>
                                          </p:val>
                                        </p:tav>
                                        <p:tav tm="100000">
                                          <p:val>
                                            <p:strVal val="#ppt_w"/>
                                          </p:val>
                                        </p:tav>
                                      </p:tavLst>
                                    </p:anim>
                                    <p:anim calcmode="lin" valueType="num">
                                      <p:cBhvr>
                                        <p:cTn id="58" dur="1750" fill="hold"/>
                                        <p:tgtEl>
                                          <p:spTgt spid="12"/>
                                        </p:tgtEl>
                                        <p:attrNameLst>
                                          <p:attrName>ppt_h</p:attrName>
                                        </p:attrNameLst>
                                      </p:cBhvr>
                                      <p:tavLst>
                                        <p:tav tm="0">
                                          <p:val>
                                            <p:fltVal val="0"/>
                                          </p:val>
                                        </p:tav>
                                        <p:tav tm="100000">
                                          <p:val>
                                            <p:strVal val="#ppt_h"/>
                                          </p:val>
                                        </p:tav>
                                      </p:tavLst>
                                    </p:anim>
                                    <p:animEffect transition="in" filter="fade">
                                      <p:cBhvr>
                                        <p:cTn id="59" dur="1750"/>
                                        <p:tgtEl>
                                          <p:spTgt spid="12"/>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 calcmode="lin" valueType="num">
                                      <p:cBhvr>
                                        <p:cTn id="62" dur="1750" fill="hold"/>
                                        <p:tgtEl>
                                          <p:spTgt spid="13"/>
                                        </p:tgtEl>
                                        <p:attrNameLst>
                                          <p:attrName>ppt_w</p:attrName>
                                        </p:attrNameLst>
                                      </p:cBhvr>
                                      <p:tavLst>
                                        <p:tav tm="0">
                                          <p:val>
                                            <p:fltVal val="0"/>
                                          </p:val>
                                        </p:tav>
                                        <p:tav tm="100000">
                                          <p:val>
                                            <p:strVal val="#ppt_w"/>
                                          </p:val>
                                        </p:tav>
                                      </p:tavLst>
                                    </p:anim>
                                    <p:anim calcmode="lin" valueType="num">
                                      <p:cBhvr>
                                        <p:cTn id="63" dur="1750" fill="hold"/>
                                        <p:tgtEl>
                                          <p:spTgt spid="13"/>
                                        </p:tgtEl>
                                        <p:attrNameLst>
                                          <p:attrName>ppt_h</p:attrName>
                                        </p:attrNameLst>
                                      </p:cBhvr>
                                      <p:tavLst>
                                        <p:tav tm="0">
                                          <p:val>
                                            <p:fltVal val="0"/>
                                          </p:val>
                                        </p:tav>
                                        <p:tav tm="100000">
                                          <p:val>
                                            <p:strVal val="#ppt_h"/>
                                          </p:val>
                                        </p:tav>
                                      </p:tavLst>
                                    </p:anim>
                                    <p:animEffect transition="in" filter="fade">
                                      <p:cBhvr>
                                        <p:cTn id="64" dur="1750"/>
                                        <p:tgtEl>
                                          <p:spTgt spid="13"/>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p:cTn id="67" dur="1750" fill="hold"/>
                                        <p:tgtEl>
                                          <p:spTgt spid="14"/>
                                        </p:tgtEl>
                                        <p:attrNameLst>
                                          <p:attrName>ppt_w</p:attrName>
                                        </p:attrNameLst>
                                      </p:cBhvr>
                                      <p:tavLst>
                                        <p:tav tm="0">
                                          <p:val>
                                            <p:fltVal val="0"/>
                                          </p:val>
                                        </p:tav>
                                        <p:tav tm="100000">
                                          <p:val>
                                            <p:strVal val="#ppt_w"/>
                                          </p:val>
                                        </p:tav>
                                      </p:tavLst>
                                    </p:anim>
                                    <p:anim calcmode="lin" valueType="num">
                                      <p:cBhvr>
                                        <p:cTn id="68" dur="1750" fill="hold"/>
                                        <p:tgtEl>
                                          <p:spTgt spid="14"/>
                                        </p:tgtEl>
                                        <p:attrNameLst>
                                          <p:attrName>ppt_h</p:attrName>
                                        </p:attrNameLst>
                                      </p:cBhvr>
                                      <p:tavLst>
                                        <p:tav tm="0">
                                          <p:val>
                                            <p:fltVal val="0"/>
                                          </p:val>
                                        </p:tav>
                                        <p:tav tm="100000">
                                          <p:val>
                                            <p:strVal val="#ppt_h"/>
                                          </p:val>
                                        </p:tav>
                                      </p:tavLst>
                                    </p:anim>
                                    <p:animEffect transition="in" filter="fade">
                                      <p:cBhvr>
                                        <p:cTn id="69" dur="1750"/>
                                        <p:tgtEl>
                                          <p:spTgt spid="14"/>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p:cTn id="72" dur="1750" fill="hold"/>
                                        <p:tgtEl>
                                          <p:spTgt spid="15"/>
                                        </p:tgtEl>
                                        <p:attrNameLst>
                                          <p:attrName>ppt_w</p:attrName>
                                        </p:attrNameLst>
                                      </p:cBhvr>
                                      <p:tavLst>
                                        <p:tav tm="0">
                                          <p:val>
                                            <p:fltVal val="0"/>
                                          </p:val>
                                        </p:tav>
                                        <p:tav tm="100000">
                                          <p:val>
                                            <p:strVal val="#ppt_w"/>
                                          </p:val>
                                        </p:tav>
                                      </p:tavLst>
                                    </p:anim>
                                    <p:anim calcmode="lin" valueType="num">
                                      <p:cBhvr>
                                        <p:cTn id="73" dur="1750" fill="hold"/>
                                        <p:tgtEl>
                                          <p:spTgt spid="15"/>
                                        </p:tgtEl>
                                        <p:attrNameLst>
                                          <p:attrName>ppt_h</p:attrName>
                                        </p:attrNameLst>
                                      </p:cBhvr>
                                      <p:tavLst>
                                        <p:tav tm="0">
                                          <p:val>
                                            <p:fltVal val="0"/>
                                          </p:val>
                                        </p:tav>
                                        <p:tav tm="100000">
                                          <p:val>
                                            <p:strVal val="#ppt_h"/>
                                          </p:val>
                                        </p:tav>
                                      </p:tavLst>
                                    </p:anim>
                                    <p:animEffect transition="in" filter="fade">
                                      <p:cBhvr>
                                        <p:cTn id="74" dur="1750"/>
                                        <p:tgtEl>
                                          <p:spTgt spid="15"/>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1750" fill="hold"/>
                                        <p:tgtEl>
                                          <p:spTgt spid="16"/>
                                        </p:tgtEl>
                                        <p:attrNameLst>
                                          <p:attrName>ppt_w</p:attrName>
                                        </p:attrNameLst>
                                      </p:cBhvr>
                                      <p:tavLst>
                                        <p:tav tm="0">
                                          <p:val>
                                            <p:fltVal val="0"/>
                                          </p:val>
                                        </p:tav>
                                        <p:tav tm="100000">
                                          <p:val>
                                            <p:strVal val="#ppt_w"/>
                                          </p:val>
                                        </p:tav>
                                      </p:tavLst>
                                    </p:anim>
                                    <p:anim calcmode="lin" valueType="num">
                                      <p:cBhvr>
                                        <p:cTn id="78" dur="1750" fill="hold"/>
                                        <p:tgtEl>
                                          <p:spTgt spid="16"/>
                                        </p:tgtEl>
                                        <p:attrNameLst>
                                          <p:attrName>ppt_h</p:attrName>
                                        </p:attrNameLst>
                                      </p:cBhvr>
                                      <p:tavLst>
                                        <p:tav tm="0">
                                          <p:val>
                                            <p:fltVal val="0"/>
                                          </p:val>
                                        </p:tav>
                                        <p:tav tm="100000">
                                          <p:val>
                                            <p:strVal val="#ppt_h"/>
                                          </p:val>
                                        </p:tav>
                                      </p:tavLst>
                                    </p:anim>
                                    <p:animEffect transition="in" filter="fade">
                                      <p:cBhvr>
                                        <p:cTn id="79" dur="1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P spid="13" grpId="0" animBg="1"/>
      <p:bldP spid="14" grpId="0"/>
      <p:bldP spid="15" grpId="0" animBg="1"/>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إدارة المخاطر في خطة التحسين</a:t>
            </a:r>
          </a:p>
        </p:txBody>
      </p:sp>
      <p:graphicFrame>
        <p:nvGraphicFramePr>
          <p:cNvPr id="5" name="Table 4"/>
          <p:cNvGraphicFramePr>
            <a:graphicFrameLocks noGrp="1"/>
          </p:cNvGraphicFramePr>
          <p:nvPr>
            <p:extLst>
              <p:ext uri="{D42A27DB-BD31-4B8C-83A1-F6EECF244321}">
                <p14:modId xmlns:p14="http://schemas.microsoft.com/office/powerpoint/2010/main" val="2549319096"/>
              </p:ext>
            </p:extLst>
          </p:nvPr>
        </p:nvGraphicFramePr>
        <p:xfrm>
          <a:off x="324466" y="1371600"/>
          <a:ext cx="11135710" cy="4572000"/>
        </p:xfrm>
        <a:graphic>
          <a:graphicData uri="http://schemas.openxmlformats.org/drawingml/2006/table">
            <a:tbl>
              <a:tblPr firstRow="1" bandRow="1">
                <a:tableStyleId>{5C22544A-7EE6-4342-B048-85BDC9FD1C3A}</a:tableStyleId>
              </a:tblPr>
              <a:tblGrid>
                <a:gridCol w="2088005">
                  <a:extLst>
                    <a:ext uri="{9D8B030D-6E8A-4147-A177-3AD203B41FA5}">
                      <a16:colId xmlns:a16="http://schemas.microsoft.com/office/drawing/2014/main" val="20000"/>
                    </a:ext>
                  </a:extLst>
                </a:gridCol>
                <a:gridCol w="1423640">
                  <a:extLst>
                    <a:ext uri="{9D8B030D-6E8A-4147-A177-3AD203B41FA5}">
                      <a16:colId xmlns:a16="http://schemas.microsoft.com/office/drawing/2014/main" val="20001"/>
                    </a:ext>
                  </a:extLst>
                </a:gridCol>
                <a:gridCol w="1423640">
                  <a:extLst>
                    <a:ext uri="{9D8B030D-6E8A-4147-A177-3AD203B41FA5}">
                      <a16:colId xmlns:a16="http://schemas.microsoft.com/office/drawing/2014/main" val="20002"/>
                    </a:ext>
                  </a:extLst>
                </a:gridCol>
                <a:gridCol w="3037098">
                  <a:extLst>
                    <a:ext uri="{9D8B030D-6E8A-4147-A177-3AD203B41FA5}">
                      <a16:colId xmlns:a16="http://schemas.microsoft.com/office/drawing/2014/main" val="20003"/>
                    </a:ext>
                  </a:extLst>
                </a:gridCol>
                <a:gridCol w="3163327">
                  <a:extLst>
                    <a:ext uri="{9D8B030D-6E8A-4147-A177-3AD203B41FA5}">
                      <a16:colId xmlns:a16="http://schemas.microsoft.com/office/drawing/2014/main" val="20004"/>
                    </a:ext>
                  </a:extLst>
                </a:gridCol>
              </a:tblGrid>
              <a:tr h="762000">
                <a:tc>
                  <a:txBody>
                    <a:bodyPr/>
                    <a:lstStyle/>
                    <a:p>
                      <a:pPr algn="ctr" rtl="1">
                        <a:defRPr sz="1300" b="1">
                          <a:solidFill>
                            <a:srgbClr val="FFFFFF"/>
                          </a:solidFill>
                          <a:latin typeface="Arial"/>
                        </a:defRPr>
                      </a:pPr>
                      <a:r>
                        <a:rPr lang="ar-EG" sz="1800" b="1" noProof="1">
                          <a:cs typeface="+mj-cs"/>
                        </a:rPr>
                        <a:t>الخطر</a:t>
                      </a:r>
                    </a:p>
                  </a:txBody>
                  <a:tcPr anchor="ctr">
                    <a:solidFill>
                      <a:srgbClr val="0F2043"/>
                    </a:solidFill>
                  </a:tcPr>
                </a:tc>
                <a:tc>
                  <a:txBody>
                    <a:bodyPr/>
                    <a:lstStyle/>
                    <a:p>
                      <a:pPr algn="ctr" rtl="1">
                        <a:defRPr sz="1300" b="1">
                          <a:solidFill>
                            <a:srgbClr val="FFFFFF"/>
                          </a:solidFill>
                          <a:latin typeface="Arial"/>
                        </a:defRPr>
                      </a:pPr>
                      <a:r>
                        <a:rPr lang="ar-EG" sz="1800" b="1" noProof="1">
                          <a:cs typeface="+mj-cs"/>
                        </a:rPr>
                        <a:t>التأثير</a:t>
                      </a:r>
                    </a:p>
                  </a:txBody>
                  <a:tcPr anchor="ctr">
                    <a:solidFill>
                      <a:srgbClr val="0F2043"/>
                    </a:solidFill>
                  </a:tcPr>
                </a:tc>
                <a:tc>
                  <a:txBody>
                    <a:bodyPr/>
                    <a:lstStyle/>
                    <a:p>
                      <a:pPr algn="ctr" rtl="1">
                        <a:defRPr sz="1300" b="1">
                          <a:solidFill>
                            <a:srgbClr val="FFFFFF"/>
                          </a:solidFill>
                          <a:latin typeface="Arial"/>
                        </a:defRPr>
                      </a:pPr>
                      <a:r>
                        <a:rPr lang="ar-EG" sz="1800" b="1" noProof="1">
                          <a:cs typeface="+mj-cs"/>
                        </a:rPr>
                        <a:t>الاحتمال</a:t>
                      </a:r>
                    </a:p>
                  </a:txBody>
                  <a:tcPr anchor="ctr">
                    <a:solidFill>
                      <a:srgbClr val="0F2043"/>
                    </a:solidFill>
                  </a:tcPr>
                </a:tc>
                <a:tc>
                  <a:txBody>
                    <a:bodyPr/>
                    <a:lstStyle/>
                    <a:p>
                      <a:pPr algn="ctr" rtl="1">
                        <a:defRPr sz="1300" b="1">
                          <a:solidFill>
                            <a:srgbClr val="FFFFFF"/>
                          </a:solidFill>
                          <a:latin typeface="Arial"/>
                        </a:defRPr>
                      </a:pPr>
                      <a:r>
                        <a:rPr lang="ar-EG" sz="1800" b="1" noProof="1">
                          <a:cs typeface="+mj-cs"/>
                        </a:rPr>
                        <a:t>الإجراء الوقائي</a:t>
                      </a:r>
                    </a:p>
                  </a:txBody>
                  <a:tcPr anchor="ctr">
                    <a:solidFill>
                      <a:srgbClr val="0F2043"/>
                    </a:solidFill>
                  </a:tcPr>
                </a:tc>
                <a:tc>
                  <a:txBody>
                    <a:bodyPr/>
                    <a:lstStyle/>
                    <a:p>
                      <a:pPr algn="ctr" rtl="1">
                        <a:defRPr sz="1300" b="1">
                          <a:solidFill>
                            <a:srgbClr val="FFFFFF"/>
                          </a:solidFill>
                          <a:latin typeface="Arial"/>
                        </a:defRPr>
                      </a:pPr>
                      <a:r>
                        <a:rPr lang="ar-EG" sz="1800" b="1" noProof="1">
                          <a:cs typeface="+mj-cs"/>
                        </a:rPr>
                        <a:t>خطة المعالجة (Mitigation)</a:t>
                      </a:r>
                    </a:p>
                  </a:txBody>
                  <a:tcPr anchor="ctr">
                    <a:solidFill>
                      <a:srgbClr val="0F2043"/>
                    </a:solidFill>
                  </a:tcPr>
                </a:tc>
                <a:extLst>
                  <a:ext uri="{0D108BD9-81ED-4DB2-BD59-A6C34878D82A}">
                    <a16:rowId xmlns:a16="http://schemas.microsoft.com/office/drawing/2014/main" val="10000"/>
                  </a:ext>
                </a:extLst>
              </a:tr>
              <a:tr h="762000">
                <a:tc>
                  <a:txBody>
                    <a:bodyPr/>
                    <a:lstStyle/>
                    <a:p>
                      <a:pPr algn="ctr" rtl="1">
                        <a:defRPr sz="1100">
                          <a:solidFill>
                            <a:srgbClr val="282828"/>
                          </a:solidFill>
                          <a:latin typeface="Arial"/>
                        </a:defRPr>
                      </a:pPr>
                      <a:r>
                        <a:rPr lang="ar-EG" sz="1800" b="1" noProof="1">
                          <a:cs typeface="+mj-cs"/>
                        </a:rPr>
                        <a:t>📉 ضعف الموارد المالية/البشرية</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 عالي (4)</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 متوسط (3)</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إعادة توجيه وتدريب الميزانيات المتاحة</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البحث عن شراكات مجتمعية ودعم إضافي</a:t>
                      </a:r>
                    </a:p>
                  </a:txBody>
                  <a:tcPr anchor="ctr">
                    <a:solidFill>
                      <a:srgbClr val="F0F4F8"/>
                    </a:solidFill>
                  </a:tcPr>
                </a:tc>
                <a:extLst>
                  <a:ext uri="{0D108BD9-81ED-4DB2-BD59-A6C34878D82A}">
                    <a16:rowId xmlns:a16="http://schemas.microsoft.com/office/drawing/2014/main" val="10001"/>
                  </a:ext>
                </a:extLst>
              </a:tr>
              <a:tr h="762000">
                <a:tc>
                  <a:txBody>
                    <a:bodyPr/>
                    <a:lstStyle/>
                    <a:p>
                      <a:pPr algn="ctr" rtl="1">
                        <a:defRPr sz="1100">
                          <a:solidFill>
                            <a:srgbClr val="282828"/>
                          </a:solidFill>
                          <a:latin typeface="Arial"/>
                        </a:defRPr>
                      </a:pPr>
                      <a:r>
                        <a:rPr lang="ar-EG" sz="1800" b="1" noProof="1">
                          <a:cs typeface="+mj-cs"/>
                        </a:rPr>
                        <a:t>🛡️ مقاومة التغيير والكادر</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 عالي (5)</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 عالي (4)</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إشراك الكادر في التخطيط والتوعية المبكرة</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جلسات توجيه فردية ونظام تحفيز كفاءات</a:t>
                      </a:r>
                    </a:p>
                  </a:txBody>
                  <a:tcPr anchor="ctr">
                    <a:solidFill>
                      <a:srgbClr val="FFFFFF"/>
                    </a:solidFill>
                  </a:tcPr>
                </a:tc>
                <a:extLst>
                  <a:ext uri="{0D108BD9-81ED-4DB2-BD59-A6C34878D82A}">
                    <a16:rowId xmlns:a16="http://schemas.microsoft.com/office/drawing/2014/main" val="10002"/>
                  </a:ext>
                </a:extLst>
              </a:tr>
              <a:tr h="762000">
                <a:tc>
                  <a:txBody>
                    <a:bodyPr/>
                    <a:lstStyle/>
                    <a:p>
                      <a:pPr algn="ctr" rtl="1">
                        <a:defRPr sz="1100">
                          <a:solidFill>
                            <a:srgbClr val="282828"/>
                          </a:solidFill>
                          <a:latin typeface="Arial"/>
                        </a:defRPr>
                      </a:pPr>
                      <a:r>
                        <a:rPr lang="ar-EG" sz="1800" b="1" noProof="1">
                          <a:cs typeface="+mj-cs"/>
                        </a:rPr>
                        <a:t>⏳ ضيق الوقت وضغط الجدول</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 متوسط (3)</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 عالي (4)</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جدولة مرنة للمبادرات وتوزيع المهام</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التركيز على المبادرات الأسرع أثراً (Quick Wins)</a:t>
                      </a:r>
                    </a:p>
                  </a:txBody>
                  <a:tcPr anchor="ctr">
                    <a:solidFill>
                      <a:srgbClr val="F0F4F8"/>
                    </a:solidFill>
                  </a:tcPr>
                </a:tc>
                <a:extLst>
                  <a:ext uri="{0D108BD9-81ED-4DB2-BD59-A6C34878D82A}">
                    <a16:rowId xmlns:a16="http://schemas.microsoft.com/office/drawing/2014/main" val="10003"/>
                  </a:ext>
                </a:extLst>
              </a:tr>
              <a:tr h="762000">
                <a:tc>
                  <a:txBody>
                    <a:bodyPr/>
                    <a:lstStyle/>
                    <a:p>
                      <a:pPr algn="ctr" rtl="1">
                        <a:defRPr sz="1100">
                          <a:solidFill>
                            <a:srgbClr val="282828"/>
                          </a:solidFill>
                          <a:latin typeface="Arial"/>
                        </a:defRPr>
                      </a:pPr>
                      <a:r>
                        <a:rPr lang="ar-EG" sz="1800" b="1" noProof="1">
                          <a:cs typeface="+mj-cs"/>
                        </a:rPr>
                        <a:t>🎓 نقص التدريب على المهارات</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 متوسط (3)</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 متوسط (3)</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إعداد خطة إنماء مهني مكثفة مسبقة</a:t>
                      </a:r>
                    </a:p>
                  </a:txBody>
                  <a:tcPr anchor="ctr">
                    <a:solidFill>
                      <a:srgbClr val="FFFFFF"/>
                    </a:solidFill>
                  </a:tcPr>
                </a:tc>
                <a:tc>
                  <a:txBody>
                    <a:bodyPr/>
                    <a:lstStyle/>
                    <a:p>
                      <a:pPr algn="ctr" rtl="1">
                        <a:defRPr sz="1100">
                          <a:solidFill>
                            <a:srgbClr val="282828"/>
                          </a:solidFill>
                          <a:latin typeface="Arial"/>
                        </a:defRPr>
                      </a:pPr>
                      <a:r>
                        <a:rPr lang="ar-EG" sz="1800" b="1" noProof="1">
                          <a:cs typeface="+mj-cs"/>
                        </a:rPr>
                        <a:t>التدريب الأقراني والورش الكبسولية السريعة</a:t>
                      </a:r>
                    </a:p>
                  </a:txBody>
                  <a:tcPr anchor="ctr">
                    <a:solidFill>
                      <a:srgbClr val="FFFFFF"/>
                    </a:solidFill>
                  </a:tcPr>
                </a:tc>
                <a:extLst>
                  <a:ext uri="{0D108BD9-81ED-4DB2-BD59-A6C34878D82A}">
                    <a16:rowId xmlns:a16="http://schemas.microsoft.com/office/drawing/2014/main" val="10004"/>
                  </a:ext>
                </a:extLst>
              </a:tr>
              <a:tr h="762000">
                <a:tc>
                  <a:txBody>
                    <a:bodyPr/>
                    <a:lstStyle/>
                    <a:p>
                      <a:pPr algn="ctr" rtl="1">
                        <a:defRPr sz="1100">
                          <a:solidFill>
                            <a:srgbClr val="282828"/>
                          </a:solidFill>
                          <a:latin typeface="Arial"/>
                        </a:defRPr>
                      </a:pPr>
                      <a:r>
                        <a:rPr lang="ar-EG" sz="1800" b="1" noProof="1">
                          <a:cs typeface="+mj-cs"/>
                        </a:rPr>
                        <a:t>🔍 ضعف المتابعة والرقابة</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 عالي (5)</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 منخفض (2)</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مأسسة وحوكمة جدول الاجتماعات</a:t>
                      </a:r>
                    </a:p>
                  </a:txBody>
                  <a:tcPr anchor="ctr">
                    <a:solidFill>
                      <a:srgbClr val="F0F4F8"/>
                    </a:solidFill>
                  </a:tcPr>
                </a:tc>
                <a:tc>
                  <a:txBody>
                    <a:bodyPr/>
                    <a:lstStyle/>
                    <a:p>
                      <a:pPr algn="ctr" rtl="1">
                        <a:defRPr sz="1100">
                          <a:solidFill>
                            <a:srgbClr val="282828"/>
                          </a:solidFill>
                          <a:latin typeface="Arial"/>
                        </a:defRPr>
                      </a:pPr>
                      <a:r>
                        <a:rPr lang="ar-EG" sz="1800" b="1" noProof="1">
                          <a:cs typeface="+mj-cs"/>
                        </a:rPr>
                        <a:t>تفعيل تنبيهات اللوحة الرقمية للمتابعة</a:t>
                      </a:r>
                    </a:p>
                  </a:txBody>
                  <a:tcPr anchor="ctr">
                    <a:solidFill>
                      <a:srgbClr val="F0F4F8"/>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par>
                                <p:cTn id="14" presetID="6"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circle(in)">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المتابعة الفعالة لخطة التحسين</a:t>
            </a:r>
          </a:p>
        </p:txBody>
      </p:sp>
      <p:sp>
        <p:nvSpPr>
          <p:cNvPr id="5" name="Rounded Rectangle 4"/>
          <p:cNvSpPr/>
          <p:nvPr/>
        </p:nvSpPr>
        <p:spPr>
          <a:xfrm>
            <a:off x="7863840" y="1645920"/>
            <a:ext cx="3413455" cy="192024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8001000" y="1783080"/>
            <a:ext cx="3139135" cy="707886"/>
          </a:xfrm>
          <a:prstGeom prst="rect">
            <a:avLst/>
          </a:prstGeom>
          <a:noFill/>
        </p:spPr>
        <p:txBody>
          <a:bodyPr wrap="square">
            <a:spAutoFit/>
          </a:bodyPr>
          <a:lstStyle/>
          <a:p>
            <a:pPr algn="r" rtl="1">
              <a:defRPr sz="1600" b="1">
                <a:solidFill>
                  <a:srgbClr val="0F2043"/>
                </a:solidFill>
                <a:latin typeface="Arial"/>
              </a:defRPr>
            </a:pPr>
            <a:r>
              <a:rPr lang="ar-EG" sz="2000" noProof="1"/>
              <a:t>1. التنفيذ  ▶️</a:t>
            </a:r>
          </a:p>
          <a:p>
            <a:pPr algn="r" rtl="1">
              <a:defRPr sz="1300">
                <a:solidFill>
                  <a:srgbClr val="282828"/>
                </a:solidFill>
                <a:latin typeface="Arial"/>
              </a:defRPr>
            </a:pPr>
            <a:r>
              <a:rPr lang="ar-EG" sz="2000" b="1" noProof="1"/>
              <a:t>تطبيق المبادرات المعتمدة</a:t>
            </a:r>
          </a:p>
        </p:txBody>
      </p:sp>
      <p:sp>
        <p:nvSpPr>
          <p:cNvPr id="7" name="Rounded Rectangle 6"/>
          <p:cNvSpPr/>
          <p:nvPr/>
        </p:nvSpPr>
        <p:spPr>
          <a:xfrm>
            <a:off x="4297680" y="1645920"/>
            <a:ext cx="3413455" cy="192024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4352644" y="1797239"/>
            <a:ext cx="3139135" cy="707886"/>
          </a:xfrm>
          <a:prstGeom prst="rect">
            <a:avLst/>
          </a:prstGeom>
          <a:noFill/>
        </p:spPr>
        <p:txBody>
          <a:bodyPr wrap="square">
            <a:spAutoFit/>
          </a:bodyPr>
          <a:lstStyle/>
          <a:p>
            <a:pPr algn="r" rtl="1">
              <a:defRPr sz="1600" b="1">
                <a:solidFill>
                  <a:srgbClr val="0F2043"/>
                </a:solidFill>
                <a:latin typeface="Arial"/>
              </a:defRPr>
            </a:pPr>
            <a:r>
              <a:rPr lang="ar-EG" sz="2000" noProof="1"/>
              <a:t>2. المتابعة  👁️</a:t>
            </a:r>
          </a:p>
          <a:p>
            <a:pPr algn="r">
              <a:defRPr sz="1300">
                <a:solidFill>
                  <a:srgbClr val="282828"/>
                </a:solidFill>
                <a:latin typeface="Arial"/>
              </a:defRPr>
            </a:pPr>
            <a:r>
              <a:rPr lang="ar-EG" sz="2000" b="1" noProof="1"/>
              <a:t>الرصد المباشر لسير العمل</a:t>
            </a:r>
          </a:p>
        </p:txBody>
      </p:sp>
      <p:sp>
        <p:nvSpPr>
          <p:cNvPr id="9" name="Rounded Rectangle 8"/>
          <p:cNvSpPr/>
          <p:nvPr/>
        </p:nvSpPr>
        <p:spPr>
          <a:xfrm>
            <a:off x="713740" y="1645920"/>
            <a:ext cx="3413455" cy="192024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850900" y="1783080"/>
            <a:ext cx="3139135" cy="707886"/>
          </a:xfrm>
          <a:prstGeom prst="rect">
            <a:avLst/>
          </a:prstGeom>
          <a:noFill/>
        </p:spPr>
        <p:txBody>
          <a:bodyPr wrap="square">
            <a:spAutoFit/>
          </a:bodyPr>
          <a:lstStyle/>
          <a:p>
            <a:pPr algn="r" rtl="1">
              <a:defRPr sz="1600" b="1">
                <a:solidFill>
                  <a:srgbClr val="0F2043"/>
                </a:solidFill>
                <a:latin typeface="Arial"/>
              </a:defRPr>
            </a:pPr>
            <a:r>
              <a:rPr lang="ar-EG" sz="2000" noProof="1"/>
              <a:t>3. جمع البيانات  📊</a:t>
            </a:r>
          </a:p>
          <a:p>
            <a:pPr algn="r" rtl="1">
              <a:defRPr sz="1300">
                <a:solidFill>
                  <a:srgbClr val="282828"/>
                </a:solidFill>
                <a:latin typeface="Arial"/>
              </a:defRPr>
            </a:pPr>
            <a:r>
              <a:rPr lang="ar-EG" sz="2000" b="1" noProof="1"/>
              <a:t>استخراج المؤشرات والأرقام</a:t>
            </a:r>
          </a:p>
        </p:txBody>
      </p:sp>
      <p:sp>
        <p:nvSpPr>
          <p:cNvPr id="11" name="Rounded Rectangle 10"/>
          <p:cNvSpPr/>
          <p:nvPr/>
        </p:nvSpPr>
        <p:spPr>
          <a:xfrm>
            <a:off x="7881620" y="3840480"/>
            <a:ext cx="3413455" cy="192024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8018780" y="3977640"/>
            <a:ext cx="3139135" cy="707886"/>
          </a:xfrm>
          <a:prstGeom prst="rect">
            <a:avLst/>
          </a:prstGeom>
          <a:noFill/>
        </p:spPr>
        <p:txBody>
          <a:bodyPr wrap="square">
            <a:spAutoFit/>
          </a:bodyPr>
          <a:lstStyle/>
          <a:p>
            <a:pPr algn="r" rtl="1">
              <a:defRPr sz="1600" b="1">
                <a:solidFill>
                  <a:srgbClr val="0F2043"/>
                </a:solidFill>
                <a:latin typeface="Arial"/>
              </a:defRPr>
            </a:pPr>
            <a:r>
              <a:rPr lang="ar-EG" sz="2000" noProof="1"/>
              <a:t>4. تحليل النتائج  🔍</a:t>
            </a:r>
          </a:p>
          <a:p>
            <a:pPr algn="r">
              <a:defRPr sz="1300">
                <a:solidFill>
                  <a:srgbClr val="282828"/>
                </a:solidFill>
                <a:latin typeface="Arial"/>
              </a:defRPr>
            </a:pPr>
            <a:r>
              <a:rPr lang="ar-EG" sz="2000" b="1" noProof="1"/>
              <a:t>قياس الفجوة ومقارنة الأداء</a:t>
            </a:r>
          </a:p>
        </p:txBody>
      </p:sp>
      <p:sp>
        <p:nvSpPr>
          <p:cNvPr id="13" name="Rounded Rectangle 12"/>
          <p:cNvSpPr/>
          <p:nvPr/>
        </p:nvSpPr>
        <p:spPr>
          <a:xfrm>
            <a:off x="4297680" y="3840480"/>
            <a:ext cx="3413455" cy="192024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4434840" y="3977640"/>
            <a:ext cx="3139135" cy="707886"/>
          </a:xfrm>
          <a:prstGeom prst="rect">
            <a:avLst/>
          </a:prstGeom>
          <a:noFill/>
        </p:spPr>
        <p:txBody>
          <a:bodyPr wrap="square">
            <a:spAutoFit/>
          </a:bodyPr>
          <a:lstStyle/>
          <a:p>
            <a:pPr algn="r" rtl="1">
              <a:defRPr sz="1600" b="1">
                <a:solidFill>
                  <a:srgbClr val="0F2043"/>
                </a:solidFill>
                <a:latin typeface="Arial"/>
              </a:defRPr>
            </a:pPr>
            <a:r>
              <a:rPr lang="ar-EG" sz="2000" noProof="1"/>
              <a:t>5. اتخاذ القرار  ⚖️</a:t>
            </a:r>
          </a:p>
          <a:p>
            <a:pPr algn="r">
              <a:defRPr sz="1300">
                <a:solidFill>
                  <a:srgbClr val="282828"/>
                </a:solidFill>
                <a:latin typeface="Arial"/>
              </a:defRPr>
            </a:pPr>
            <a:r>
              <a:rPr lang="ar-EG" sz="2000" b="1" noProof="1"/>
              <a:t>اعتماد التدخلات التصحيحية</a:t>
            </a:r>
          </a:p>
        </p:txBody>
      </p:sp>
      <p:sp>
        <p:nvSpPr>
          <p:cNvPr id="15" name="Rounded Rectangle 14"/>
          <p:cNvSpPr/>
          <p:nvPr/>
        </p:nvSpPr>
        <p:spPr>
          <a:xfrm>
            <a:off x="713740" y="3840480"/>
            <a:ext cx="3413455" cy="192024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6" name="TextBox 15"/>
          <p:cNvSpPr txBox="1"/>
          <p:nvPr/>
        </p:nvSpPr>
        <p:spPr>
          <a:xfrm>
            <a:off x="850900" y="3977640"/>
            <a:ext cx="3139135" cy="707886"/>
          </a:xfrm>
          <a:prstGeom prst="rect">
            <a:avLst/>
          </a:prstGeom>
          <a:noFill/>
        </p:spPr>
        <p:txBody>
          <a:bodyPr wrap="square">
            <a:spAutoFit/>
          </a:bodyPr>
          <a:lstStyle/>
          <a:p>
            <a:pPr algn="r" rtl="1">
              <a:defRPr sz="1600" b="1">
                <a:solidFill>
                  <a:srgbClr val="0F2043"/>
                </a:solidFill>
                <a:latin typeface="Arial"/>
              </a:defRPr>
            </a:pPr>
            <a:r>
              <a:rPr lang="ar-EG" sz="2000" noProof="1"/>
              <a:t>6. إعادة التحسين  🔄</a:t>
            </a:r>
          </a:p>
          <a:p>
            <a:pPr algn="r">
              <a:defRPr sz="1300">
                <a:solidFill>
                  <a:srgbClr val="282828"/>
                </a:solidFill>
                <a:latin typeface="Arial"/>
              </a:defRPr>
            </a:pPr>
            <a:r>
              <a:rPr lang="ar-EG" sz="2000" b="1" noProof="1"/>
              <a:t>تحديث وتطوير مسار العمل</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0-#ppt_w/2"/>
                                          </p:val>
                                        </p:tav>
                                        <p:tav tm="100000">
                                          <p:val>
                                            <p:strVal val="#ppt_x"/>
                                          </p:val>
                                        </p:tav>
                                      </p:tavLst>
                                    </p:anim>
                                    <p:anim calcmode="lin" valueType="num">
                                      <p:cBhvr additive="base">
                                        <p:cTn id="8" dur="1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0-#ppt_w/2"/>
                                          </p:val>
                                        </p:tav>
                                        <p:tav tm="100000">
                                          <p:val>
                                            <p:strVal val="#ppt_x"/>
                                          </p:val>
                                        </p:tav>
                                      </p:tavLst>
                                    </p:anim>
                                    <p:anim calcmode="lin" valueType="num">
                                      <p:cBhvr additive="base">
                                        <p:cTn id="12" dur="175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0-#ppt_w/2"/>
                                          </p:val>
                                        </p:tav>
                                        <p:tav tm="100000">
                                          <p:val>
                                            <p:strVal val="#ppt_x"/>
                                          </p:val>
                                        </p:tav>
                                      </p:tavLst>
                                    </p:anim>
                                    <p:anim calcmode="lin" valueType="num">
                                      <p:cBhvr additive="base">
                                        <p:cTn id="16" dur="1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0-#ppt_w/2"/>
                                          </p:val>
                                        </p:tav>
                                        <p:tav tm="100000">
                                          <p:val>
                                            <p:strVal val="#ppt_x"/>
                                          </p:val>
                                        </p:tav>
                                      </p:tavLst>
                                    </p:anim>
                                    <p:anim calcmode="lin" valueType="num">
                                      <p:cBhvr additive="base">
                                        <p:cTn id="20" dur="175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0-#ppt_w/2"/>
                                          </p:val>
                                        </p:tav>
                                        <p:tav tm="100000">
                                          <p:val>
                                            <p:strVal val="#ppt_x"/>
                                          </p:val>
                                        </p:tav>
                                      </p:tavLst>
                                    </p:anim>
                                    <p:anim calcmode="lin" valueType="num">
                                      <p:cBhvr additive="base">
                                        <p:cTn id="24" dur="175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0-#ppt_w/2"/>
                                          </p:val>
                                        </p:tav>
                                        <p:tav tm="100000">
                                          <p:val>
                                            <p:strVal val="#ppt_x"/>
                                          </p:val>
                                        </p:tav>
                                      </p:tavLst>
                                    </p:anim>
                                    <p:anim calcmode="lin" valueType="num">
                                      <p:cBhvr additive="base">
                                        <p:cTn id="28" dur="175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750" fill="hold"/>
                                        <p:tgtEl>
                                          <p:spTgt spid="8"/>
                                        </p:tgtEl>
                                        <p:attrNameLst>
                                          <p:attrName>ppt_x</p:attrName>
                                        </p:attrNameLst>
                                      </p:cBhvr>
                                      <p:tavLst>
                                        <p:tav tm="0">
                                          <p:val>
                                            <p:strVal val="0-#ppt_w/2"/>
                                          </p:val>
                                        </p:tav>
                                        <p:tav tm="100000">
                                          <p:val>
                                            <p:strVal val="#ppt_x"/>
                                          </p:val>
                                        </p:tav>
                                      </p:tavLst>
                                    </p:anim>
                                    <p:anim calcmode="lin" valueType="num">
                                      <p:cBhvr additive="base">
                                        <p:cTn id="32" dur="1750" fill="hold"/>
                                        <p:tgtEl>
                                          <p:spTgt spid="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750" fill="hold"/>
                                        <p:tgtEl>
                                          <p:spTgt spid="9"/>
                                        </p:tgtEl>
                                        <p:attrNameLst>
                                          <p:attrName>ppt_x</p:attrName>
                                        </p:attrNameLst>
                                      </p:cBhvr>
                                      <p:tavLst>
                                        <p:tav tm="0">
                                          <p:val>
                                            <p:strVal val="0-#ppt_w/2"/>
                                          </p:val>
                                        </p:tav>
                                        <p:tav tm="100000">
                                          <p:val>
                                            <p:strVal val="#ppt_x"/>
                                          </p:val>
                                        </p:tav>
                                      </p:tavLst>
                                    </p:anim>
                                    <p:anim calcmode="lin" valueType="num">
                                      <p:cBhvr additive="base">
                                        <p:cTn id="36" dur="1750" fill="hold"/>
                                        <p:tgtEl>
                                          <p:spTgt spid="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750" fill="hold"/>
                                        <p:tgtEl>
                                          <p:spTgt spid="10"/>
                                        </p:tgtEl>
                                        <p:attrNameLst>
                                          <p:attrName>ppt_x</p:attrName>
                                        </p:attrNameLst>
                                      </p:cBhvr>
                                      <p:tavLst>
                                        <p:tav tm="0">
                                          <p:val>
                                            <p:strVal val="0-#ppt_w/2"/>
                                          </p:val>
                                        </p:tav>
                                        <p:tav tm="100000">
                                          <p:val>
                                            <p:strVal val="#ppt_x"/>
                                          </p:val>
                                        </p:tav>
                                      </p:tavLst>
                                    </p:anim>
                                    <p:anim calcmode="lin" valueType="num">
                                      <p:cBhvr additive="base">
                                        <p:cTn id="40" dur="1750" fill="hold"/>
                                        <p:tgtEl>
                                          <p:spTgt spid="1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750" fill="hold"/>
                                        <p:tgtEl>
                                          <p:spTgt spid="11"/>
                                        </p:tgtEl>
                                        <p:attrNameLst>
                                          <p:attrName>ppt_x</p:attrName>
                                        </p:attrNameLst>
                                      </p:cBhvr>
                                      <p:tavLst>
                                        <p:tav tm="0">
                                          <p:val>
                                            <p:strVal val="0-#ppt_w/2"/>
                                          </p:val>
                                        </p:tav>
                                        <p:tav tm="100000">
                                          <p:val>
                                            <p:strVal val="#ppt_x"/>
                                          </p:val>
                                        </p:tav>
                                      </p:tavLst>
                                    </p:anim>
                                    <p:anim calcmode="lin" valueType="num">
                                      <p:cBhvr additive="base">
                                        <p:cTn id="44" dur="1750" fill="hold"/>
                                        <p:tgtEl>
                                          <p:spTgt spid="11"/>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1750" fill="hold"/>
                                        <p:tgtEl>
                                          <p:spTgt spid="12"/>
                                        </p:tgtEl>
                                        <p:attrNameLst>
                                          <p:attrName>ppt_x</p:attrName>
                                        </p:attrNameLst>
                                      </p:cBhvr>
                                      <p:tavLst>
                                        <p:tav tm="0">
                                          <p:val>
                                            <p:strVal val="0-#ppt_w/2"/>
                                          </p:val>
                                        </p:tav>
                                        <p:tav tm="100000">
                                          <p:val>
                                            <p:strVal val="#ppt_x"/>
                                          </p:val>
                                        </p:tav>
                                      </p:tavLst>
                                    </p:anim>
                                    <p:anim calcmode="lin" valueType="num">
                                      <p:cBhvr additive="base">
                                        <p:cTn id="48" dur="1750" fill="hold"/>
                                        <p:tgtEl>
                                          <p:spTgt spid="12"/>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1750" fill="hold"/>
                                        <p:tgtEl>
                                          <p:spTgt spid="13"/>
                                        </p:tgtEl>
                                        <p:attrNameLst>
                                          <p:attrName>ppt_x</p:attrName>
                                        </p:attrNameLst>
                                      </p:cBhvr>
                                      <p:tavLst>
                                        <p:tav tm="0">
                                          <p:val>
                                            <p:strVal val="0-#ppt_w/2"/>
                                          </p:val>
                                        </p:tav>
                                        <p:tav tm="100000">
                                          <p:val>
                                            <p:strVal val="#ppt_x"/>
                                          </p:val>
                                        </p:tav>
                                      </p:tavLst>
                                    </p:anim>
                                    <p:anim calcmode="lin" valueType="num">
                                      <p:cBhvr additive="base">
                                        <p:cTn id="52" dur="1750" fill="hold"/>
                                        <p:tgtEl>
                                          <p:spTgt spid="1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1750" fill="hold"/>
                                        <p:tgtEl>
                                          <p:spTgt spid="14"/>
                                        </p:tgtEl>
                                        <p:attrNameLst>
                                          <p:attrName>ppt_x</p:attrName>
                                        </p:attrNameLst>
                                      </p:cBhvr>
                                      <p:tavLst>
                                        <p:tav tm="0">
                                          <p:val>
                                            <p:strVal val="0-#ppt_w/2"/>
                                          </p:val>
                                        </p:tav>
                                        <p:tav tm="100000">
                                          <p:val>
                                            <p:strVal val="#ppt_x"/>
                                          </p:val>
                                        </p:tav>
                                      </p:tavLst>
                                    </p:anim>
                                    <p:anim calcmode="lin" valueType="num">
                                      <p:cBhvr additive="base">
                                        <p:cTn id="56" dur="1750" fill="hold"/>
                                        <p:tgtEl>
                                          <p:spTgt spid="1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1750" fill="hold"/>
                                        <p:tgtEl>
                                          <p:spTgt spid="15"/>
                                        </p:tgtEl>
                                        <p:attrNameLst>
                                          <p:attrName>ppt_x</p:attrName>
                                        </p:attrNameLst>
                                      </p:cBhvr>
                                      <p:tavLst>
                                        <p:tav tm="0">
                                          <p:val>
                                            <p:strVal val="0-#ppt_w/2"/>
                                          </p:val>
                                        </p:tav>
                                        <p:tav tm="100000">
                                          <p:val>
                                            <p:strVal val="#ppt_x"/>
                                          </p:val>
                                        </p:tav>
                                      </p:tavLst>
                                    </p:anim>
                                    <p:anim calcmode="lin" valueType="num">
                                      <p:cBhvr additive="base">
                                        <p:cTn id="60" dur="1750" fill="hold"/>
                                        <p:tgtEl>
                                          <p:spTgt spid="15"/>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1750" fill="hold"/>
                                        <p:tgtEl>
                                          <p:spTgt spid="16"/>
                                        </p:tgtEl>
                                        <p:attrNameLst>
                                          <p:attrName>ppt_x</p:attrName>
                                        </p:attrNameLst>
                                      </p:cBhvr>
                                      <p:tavLst>
                                        <p:tav tm="0">
                                          <p:val>
                                            <p:strVal val="0-#ppt_w/2"/>
                                          </p:val>
                                        </p:tav>
                                        <p:tav tm="100000">
                                          <p:val>
                                            <p:strVal val="#ppt_x"/>
                                          </p:val>
                                        </p:tav>
                                      </p:tavLst>
                                    </p:anim>
                                    <p:anim calcmode="lin" valueType="num">
                                      <p:cBhvr additive="base">
                                        <p:cTn id="64" dur="175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P spid="13" grpId="0" animBg="1"/>
      <p:bldP spid="14" grpId="0"/>
      <p:bldP spid="15" grpId="0" animBg="1"/>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مؤشرات الأداء الرئيسية (KPIs)</a:t>
            </a:r>
          </a:p>
        </p:txBody>
      </p:sp>
      <p:sp>
        <p:nvSpPr>
          <p:cNvPr id="5" name="Rounded Rectangle 4"/>
          <p:cNvSpPr/>
          <p:nvPr/>
        </p:nvSpPr>
        <p:spPr>
          <a:xfrm>
            <a:off x="731520" y="1280160"/>
            <a:ext cx="5212080" cy="1188720"/>
          </a:xfrm>
          <a:prstGeom prst="roundRect">
            <a:avLst/>
          </a:prstGeom>
          <a:solidFill>
            <a:srgbClr val="FDEDED"/>
          </a:solidFill>
          <a:ln w="12700">
            <a:solidFill>
              <a:srgbClr val="EF93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822960" y="1325880"/>
            <a:ext cx="5029200" cy="1015663"/>
          </a:xfrm>
          <a:prstGeom prst="rect">
            <a:avLst/>
          </a:prstGeom>
          <a:noFill/>
        </p:spPr>
        <p:txBody>
          <a:bodyPr wrap="square">
            <a:spAutoFit/>
          </a:bodyPr>
          <a:lstStyle/>
          <a:p>
            <a:pPr algn="r" rtl="1">
              <a:defRPr sz="1400" b="1">
                <a:solidFill>
                  <a:srgbClr val="B42828"/>
                </a:solidFill>
              </a:defRPr>
            </a:pPr>
            <a:r>
              <a:rPr lang="ar-EG" sz="2000" noProof="1"/>
              <a:t>❌ قياس الأنشطة (Activity-Based)</a:t>
            </a:r>
          </a:p>
          <a:p>
            <a:pPr algn="r" rtl="1">
              <a:defRPr sz="1100">
                <a:solidFill>
                  <a:srgbClr val="282828"/>
                </a:solidFill>
              </a:defRPr>
            </a:pPr>
            <a:r>
              <a:rPr lang="ar-EG" sz="2000" noProof="1"/>
              <a:t>• </a:t>
            </a:r>
            <a:r>
              <a:rPr lang="ar-EG" sz="2000" b="1" noProof="1"/>
              <a:t>التركيز على عدد الورش المقامة أو الأوراق المطبوعة بدون قياس الأثر الفعلي.</a:t>
            </a:r>
          </a:p>
        </p:txBody>
      </p:sp>
      <p:sp>
        <p:nvSpPr>
          <p:cNvPr id="7" name="Rounded Rectangle 6"/>
          <p:cNvSpPr/>
          <p:nvPr/>
        </p:nvSpPr>
        <p:spPr>
          <a:xfrm>
            <a:off x="6217920" y="1280160"/>
            <a:ext cx="5212080" cy="1188720"/>
          </a:xfrm>
          <a:prstGeom prst="roundRect">
            <a:avLst/>
          </a:prstGeom>
          <a:solidFill>
            <a:srgbClr val="EDF7F2"/>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1200"/>
              </a:spcBef>
              <a:spcAft>
                <a:spcPts val="1200"/>
              </a:spcAft>
            </a:pPr>
            <a:endParaRPr lang="ar-EG" noProof="1"/>
          </a:p>
        </p:txBody>
      </p:sp>
      <p:sp>
        <p:nvSpPr>
          <p:cNvPr id="8" name="TextBox 7"/>
          <p:cNvSpPr txBox="1"/>
          <p:nvPr/>
        </p:nvSpPr>
        <p:spPr>
          <a:xfrm>
            <a:off x="6309360" y="1325880"/>
            <a:ext cx="5029200" cy="1015663"/>
          </a:xfrm>
          <a:prstGeom prst="rect">
            <a:avLst/>
          </a:prstGeom>
          <a:noFill/>
        </p:spPr>
        <p:txBody>
          <a:bodyPr wrap="square">
            <a:spAutoFit/>
          </a:bodyPr>
          <a:lstStyle/>
          <a:p>
            <a:pPr algn="r" rtl="1">
              <a:defRPr sz="1400" b="1">
                <a:solidFill>
                  <a:srgbClr val="107C41"/>
                </a:solidFill>
              </a:defRPr>
            </a:pPr>
            <a:r>
              <a:rPr lang="ar-EG" noProof="1"/>
              <a:t>✔ قياس </a:t>
            </a:r>
            <a:r>
              <a:rPr lang="ar-EG" sz="2000" noProof="1"/>
              <a:t>النتائج والأثر (Outcome-Based)</a:t>
            </a:r>
          </a:p>
          <a:p>
            <a:pPr algn="r" rtl="1">
              <a:defRPr sz="1100">
                <a:solidFill>
                  <a:srgbClr val="282828"/>
                </a:solidFill>
              </a:defRPr>
            </a:pPr>
            <a:r>
              <a:rPr lang="ar-EG" sz="2000" b="1" noProof="1"/>
              <a:t>• التركيز على نسبة التحسن الفعلي في مهارات الطلاب ورضا المستفيدين وجودة الأداء.A</a:t>
            </a:r>
          </a:p>
        </p:txBody>
      </p:sp>
      <p:sp>
        <p:nvSpPr>
          <p:cNvPr id="9" name="Rounded Rectangle 8"/>
          <p:cNvSpPr/>
          <p:nvPr/>
        </p:nvSpPr>
        <p:spPr>
          <a:xfrm>
            <a:off x="731520" y="2743200"/>
            <a:ext cx="2542032" cy="32918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822960" y="2926080"/>
            <a:ext cx="2359152" cy="2185214"/>
          </a:xfrm>
          <a:prstGeom prst="rect">
            <a:avLst/>
          </a:prstGeom>
          <a:noFill/>
        </p:spPr>
        <p:txBody>
          <a:bodyPr wrap="square">
            <a:spAutoFit/>
          </a:bodyPr>
          <a:lstStyle/>
          <a:p>
            <a:pPr algn="ctr" rtl="1">
              <a:defRPr sz="1500" b="1">
                <a:solidFill>
                  <a:srgbClr val="0F2043"/>
                </a:solidFill>
              </a:defRPr>
            </a:pPr>
            <a:r>
              <a:rPr lang="ar-EG" sz="2400" noProof="1"/>
              <a:t>📊 نسبة الإنجاز</a:t>
            </a:r>
          </a:p>
          <a:p>
            <a:pPr algn="ctr" rtl="1"/>
            <a:br>
              <a:rPr lang="ar-EG" sz="2400" noProof="1"/>
            </a:br>
            <a:r>
              <a:rPr lang="ar-EG" sz="2400" noProof="1"/>
              <a:t>95%</a:t>
            </a:r>
            <a:br>
              <a:rPr lang="ar-EG" sz="2400" noProof="1"/>
            </a:br>
            <a:endParaRPr lang="ar-EG" sz="2400" noProof="1"/>
          </a:p>
          <a:p>
            <a:pPr algn="ctr" rtl="1">
              <a:defRPr sz="1100">
                <a:solidFill>
                  <a:srgbClr val="282828"/>
                </a:solidFill>
              </a:defRPr>
            </a:pPr>
            <a:r>
              <a:rPr lang="ar-EG" sz="2000" b="1" noProof="1"/>
              <a:t>مدى تحقق الجدول الزمني للمبادرات</a:t>
            </a:r>
          </a:p>
        </p:txBody>
      </p:sp>
      <p:sp>
        <p:nvSpPr>
          <p:cNvPr id="11" name="Rounded Rectangle 10"/>
          <p:cNvSpPr/>
          <p:nvPr/>
        </p:nvSpPr>
        <p:spPr>
          <a:xfrm>
            <a:off x="3429000" y="2743200"/>
            <a:ext cx="2542032" cy="32918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3520440" y="2926080"/>
            <a:ext cx="2359152" cy="2185214"/>
          </a:xfrm>
          <a:prstGeom prst="rect">
            <a:avLst/>
          </a:prstGeom>
          <a:noFill/>
        </p:spPr>
        <p:txBody>
          <a:bodyPr wrap="square">
            <a:spAutoFit/>
          </a:bodyPr>
          <a:lstStyle/>
          <a:p>
            <a:pPr algn="ctr" rtl="1">
              <a:defRPr sz="1500" b="1">
                <a:solidFill>
                  <a:srgbClr val="0F2043"/>
                </a:solidFill>
              </a:defRPr>
            </a:pPr>
            <a:r>
              <a:rPr lang="ar-EG" sz="2400" noProof="1"/>
              <a:t>📈 نسبة التحسن</a:t>
            </a:r>
          </a:p>
          <a:p>
            <a:pPr algn="ctr" rtl="1"/>
            <a:br>
              <a:rPr lang="ar-EG" sz="2400" noProof="1"/>
            </a:br>
            <a:r>
              <a:rPr lang="ar-EG" sz="2400" noProof="1"/>
              <a:t>+15%</a:t>
            </a:r>
            <a:br>
              <a:rPr lang="ar-EG" sz="2400" noProof="1"/>
            </a:br>
            <a:endParaRPr lang="ar-EG" sz="2400" noProof="1"/>
          </a:p>
          <a:p>
            <a:pPr algn="ctr">
              <a:defRPr sz="1100">
                <a:solidFill>
                  <a:srgbClr val="282828"/>
                </a:solidFill>
              </a:defRPr>
            </a:pPr>
            <a:r>
              <a:rPr lang="ar-EG" sz="2000" b="1" noProof="1"/>
              <a:t>الأثر الفعلي على المستويات التحصيلية</a:t>
            </a:r>
          </a:p>
        </p:txBody>
      </p:sp>
      <p:sp>
        <p:nvSpPr>
          <p:cNvPr id="13" name="Rounded Rectangle 12"/>
          <p:cNvSpPr/>
          <p:nvPr/>
        </p:nvSpPr>
        <p:spPr>
          <a:xfrm>
            <a:off x="6126480" y="2743200"/>
            <a:ext cx="2542032" cy="32918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6217920" y="2926080"/>
            <a:ext cx="2359152" cy="2185214"/>
          </a:xfrm>
          <a:prstGeom prst="rect">
            <a:avLst/>
          </a:prstGeom>
          <a:noFill/>
        </p:spPr>
        <p:txBody>
          <a:bodyPr wrap="square">
            <a:spAutoFit/>
          </a:bodyPr>
          <a:lstStyle/>
          <a:p>
            <a:pPr algn="ctr" rtl="1">
              <a:defRPr sz="1500" b="1">
                <a:solidFill>
                  <a:srgbClr val="0F2043"/>
                </a:solidFill>
              </a:defRPr>
            </a:pPr>
            <a:r>
              <a:rPr lang="ar-EG" sz="2400" noProof="1"/>
              <a:t>🌟 رضا المستفيدين</a:t>
            </a:r>
          </a:p>
          <a:p>
            <a:pPr algn="ctr" rtl="1"/>
            <a:br>
              <a:rPr lang="ar-EG" sz="2400" noProof="1"/>
            </a:br>
            <a:r>
              <a:rPr lang="ar-EG" sz="2400" noProof="1"/>
              <a:t>90%</a:t>
            </a:r>
            <a:br>
              <a:rPr lang="ar-EG" sz="2400" noProof="1"/>
            </a:br>
            <a:endParaRPr lang="ar-EG" sz="2400" noProof="1"/>
          </a:p>
          <a:p>
            <a:pPr algn="ctr">
              <a:defRPr sz="1100">
                <a:solidFill>
                  <a:srgbClr val="282828"/>
                </a:solidFill>
              </a:defRPr>
            </a:pPr>
            <a:r>
              <a:rPr lang="ar-EG" sz="2000" b="1" noProof="1"/>
              <a:t>انطباعات المعلمين والطلاب وأولياء الأمور</a:t>
            </a:r>
          </a:p>
        </p:txBody>
      </p:sp>
      <p:sp>
        <p:nvSpPr>
          <p:cNvPr id="15" name="Rounded Rectangle 14"/>
          <p:cNvSpPr/>
          <p:nvPr/>
        </p:nvSpPr>
        <p:spPr>
          <a:xfrm>
            <a:off x="8823960" y="2743200"/>
            <a:ext cx="2542032" cy="32918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6" name="TextBox 15"/>
          <p:cNvSpPr txBox="1"/>
          <p:nvPr/>
        </p:nvSpPr>
        <p:spPr>
          <a:xfrm>
            <a:off x="8915400" y="2926080"/>
            <a:ext cx="2359152" cy="2185214"/>
          </a:xfrm>
          <a:prstGeom prst="rect">
            <a:avLst/>
          </a:prstGeom>
          <a:noFill/>
        </p:spPr>
        <p:txBody>
          <a:bodyPr wrap="square">
            <a:spAutoFit/>
          </a:bodyPr>
          <a:lstStyle/>
          <a:p>
            <a:pPr algn="ctr" rtl="1">
              <a:defRPr sz="1500" b="1">
                <a:solidFill>
                  <a:srgbClr val="0F2043"/>
                </a:solidFill>
              </a:defRPr>
            </a:pPr>
            <a:r>
              <a:rPr lang="ar-EG" sz="2400" noProof="1"/>
              <a:t>💎 جودة التنفيذ</a:t>
            </a:r>
          </a:p>
          <a:p>
            <a:pPr algn="ctr" rtl="1"/>
            <a:br>
              <a:rPr lang="ar-EG" sz="2400" noProof="1"/>
            </a:br>
            <a:r>
              <a:rPr lang="ar-EG" sz="2400" noProof="1"/>
              <a:t>100%</a:t>
            </a:r>
            <a:br>
              <a:rPr lang="ar-EG" sz="2400" b="1" noProof="1"/>
            </a:br>
            <a:endParaRPr lang="ar-EG" sz="2400" b="1" noProof="1"/>
          </a:p>
          <a:p>
            <a:pPr algn="ctr" rtl="1">
              <a:defRPr sz="1100">
                <a:solidFill>
                  <a:srgbClr val="282828"/>
                </a:solidFill>
              </a:defRPr>
            </a:pPr>
            <a:r>
              <a:rPr lang="ar-EG" sz="2000" b="1" noProof="1"/>
              <a:t>الالتزام بالمعايير والجودة الصفرية للإخفاق</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75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1750"/>
                                        <p:tgtEl>
                                          <p:spTgt spid="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1750"/>
                                        <p:tgtEl>
                                          <p:spTgt spid="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1750"/>
                                        <p:tgtEl>
                                          <p:spTgt spid="5"/>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1750"/>
                                        <p:tgtEl>
                                          <p:spTgt spid="6"/>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1750"/>
                                        <p:tgtEl>
                                          <p:spTgt spid="7"/>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1750"/>
                                        <p:tgtEl>
                                          <p:spTgt spid="8"/>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arn(inVertical)">
                                      <p:cBhvr>
                                        <p:cTn id="28" dur="1750"/>
                                        <p:tgtEl>
                                          <p:spTgt spid="9"/>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1750"/>
                                        <p:tgtEl>
                                          <p:spTgt spid="1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barn(inVertical)">
                                      <p:cBhvr>
                                        <p:cTn id="34" dur="1750"/>
                                        <p:tgtEl>
                                          <p:spTgt spid="11"/>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arn(inVertical)">
                                      <p:cBhvr>
                                        <p:cTn id="37" dur="1750"/>
                                        <p:tgtEl>
                                          <p:spTgt spid="12"/>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arn(inVertical)">
                                      <p:cBhvr>
                                        <p:cTn id="40" dur="1750"/>
                                        <p:tgtEl>
                                          <p:spTgt spid="13"/>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barn(inVertical)">
                                      <p:cBhvr>
                                        <p:cTn id="43" dur="1750"/>
                                        <p:tgtEl>
                                          <p:spTgt spid="14"/>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barn(inVertical)">
                                      <p:cBhvr>
                                        <p:cTn id="46" dur="1750"/>
                                        <p:tgtEl>
                                          <p:spTgt spid="15"/>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barn(inVertical)">
                                      <p:cBhvr>
                                        <p:cTn id="49" dur="1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P spid="13" grpId="0" animBg="1"/>
      <p:bldP spid="14" grpId="0"/>
      <p:bldP spid="15" grpId="0" animBg="1"/>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90902"/>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672" y="338295"/>
            <a:ext cx="10728655" cy="461665"/>
          </a:xfrm>
          <a:prstGeom prst="rect">
            <a:avLst/>
          </a:prstGeom>
          <a:noFill/>
        </p:spPr>
        <p:txBody>
          <a:bodyPr wrap="square">
            <a:spAutoFit/>
          </a:bodyPr>
          <a:lstStyle/>
          <a:p>
            <a:pPr algn="r" rtl="1">
              <a:defRPr sz="2400" b="1">
                <a:solidFill>
                  <a:srgbClr val="FFFFFF"/>
                </a:solidFill>
                <a:latin typeface="Arial"/>
              </a:defRPr>
            </a:pPr>
            <a:r>
              <a:rPr lang="ar-EG" noProof="1"/>
              <a:t>لوحة متابعة الأداء (Performance Dashboard)</a:t>
            </a:r>
          </a:p>
        </p:txBody>
      </p:sp>
      <p:sp>
        <p:nvSpPr>
          <p:cNvPr id="5" name="Rounded Rectangle 4"/>
          <p:cNvSpPr/>
          <p:nvPr/>
        </p:nvSpPr>
        <p:spPr>
          <a:xfrm>
            <a:off x="731520" y="1371600"/>
            <a:ext cx="5285232" cy="17373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914400" y="1554480"/>
            <a:ext cx="4919472" cy="873637"/>
          </a:xfrm>
          <a:prstGeom prst="rect">
            <a:avLst/>
          </a:prstGeom>
          <a:noFill/>
        </p:spPr>
        <p:txBody>
          <a:bodyPr wrap="square">
            <a:spAutoFit/>
          </a:bodyPr>
          <a:lstStyle/>
          <a:p>
            <a:pPr algn="r">
              <a:defRPr sz="1500" b="1">
                <a:solidFill>
                  <a:srgbClr val="0F2043"/>
                </a:solidFill>
              </a:defRPr>
            </a:pPr>
            <a:r>
              <a:rPr lang="ar-EG" sz="2400" noProof="1"/>
              <a:t>🟢 نسبة الإنجاز الكلية</a:t>
            </a:r>
          </a:p>
          <a:p>
            <a:pPr algn="r" rtl="1">
              <a:lnSpc>
                <a:spcPct val="150000"/>
              </a:lnSpc>
              <a:defRPr sz="1800" b="1">
                <a:solidFill>
                  <a:srgbClr val="107C41"/>
                </a:solidFill>
              </a:defRPr>
            </a:pPr>
            <a:r>
              <a:rPr lang="ar-EG" sz="2000" noProof="1"/>
              <a:t>87%  -  ▓▓▓▓▓▓▓▓▓░ (On Track)</a:t>
            </a:r>
          </a:p>
        </p:txBody>
      </p:sp>
      <p:sp>
        <p:nvSpPr>
          <p:cNvPr id="7" name="Rounded Rectangle 6"/>
          <p:cNvSpPr/>
          <p:nvPr/>
        </p:nvSpPr>
        <p:spPr>
          <a:xfrm>
            <a:off x="6172200" y="1371600"/>
            <a:ext cx="5285232" cy="17373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6355080" y="1554480"/>
            <a:ext cx="4919472" cy="866327"/>
          </a:xfrm>
          <a:prstGeom prst="rect">
            <a:avLst/>
          </a:prstGeom>
          <a:noFill/>
        </p:spPr>
        <p:txBody>
          <a:bodyPr wrap="square">
            <a:spAutoFit/>
          </a:bodyPr>
          <a:lstStyle/>
          <a:p>
            <a:pPr algn="r">
              <a:defRPr sz="1500" b="1">
                <a:solidFill>
                  <a:srgbClr val="0F2043"/>
                </a:solidFill>
              </a:defRPr>
            </a:pPr>
            <a:r>
              <a:rPr lang="ar-EG" sz="2400" noProof="1"/>
              <a:t>📦 المبادرات المكتملة</a:t>
            </a:r>
          </a:p>
          <a:p>
            <a:pPr algn="r" rtl="1">
              <a:lnSpc>
                <a:spcPct val="150000"/>
              </a:lnSpc>
              <a:defRPr sz="1800" b="1">
                <a:solidFill>
                  <a:srgbClr val="0F2043"/>
                </a:solidFill>
              </a:defRPr>
            </a:pPr>
            <a:r>
              <a:rPr lang="ar-EG" sz="2000" noProof="1"/>
              <a:t>18 / 20  -  مبادرة مكتملة بنجاح</a:t>
            </a:r>
          </a:p>
        </p:txBody>
      </p:sp>
      <p:sp>
        <p:nvSpPr>
          <p:cNvPr id="9" name="Rounded Rectangle 8"/>
          <p:cNvSpPr/>
          <p:nvPr/>
        </p:nvSpPr>
        <p:spPr>
          <a:xfrm>
            <a:off x="731520" y="3291840"/>
            <a:ext cx="5285232" cy="17373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914400" y="3474720"/>
            <a:ext cx="4919472" cy="866327"/>
          </a:xfrm>
          <a:prstGeom prst="rect">
            <a:avLst/>
          </a:prstGeom>
          <a:noFill/>
        </p:spPr>
        <p:txBody>
          <a:bodyPr wrap="square">
            <a:spAutoFit/>
          </a:bodyPr>
          <a:lstStyle/>
          <a:p>
            <a:pPr algn="r">
              <a:defRPr sz="1500" b="1">
                <a:solidFill>
                  <a:srgbClr val="0F2043"/>
                </a:solidFill>
              </a:defRPr>
            </a:pPr>
            <a:r>
              <a:rPr lang="ar-EG" sz="2400" noProof="1"/>
              <a:t>⚠️ المبادرات المتعثرة</a:t>
            </a:r>
          </a:p>
          <a:p>
            <a:pPr algn="r" rtl="1">
              <a:lnSpc>
                <a:spcPct val="150000"/>
              </a:lnSpc>
              <a:defRPr sz="1800" b="1">
                <a:solidFill>
                  <a:srgbClr val="D9534F"/>
                </a:solidFill>
              </a:defRPr>
            </a:pPr>
            <a:r>
              <a:rPr lang="ar-EG" sz="2000" noProof="1"/>
              <a:t>2  -  تتطلب تدخلاً وتوفير دعم</a:t>
            </a:r>
          </a:p>
        </p:txBody>
      </p:sp>
      <p:sp>
        <p:nvSpPr>
          <p:cNvPr id="11" name="Rounded Rectangle 10"/>
          <p:cNvSpPr/>
          <p:nvPr/>
        </p:nvSpPr>
        <p:spPr>
          <a:xfrm>
            <a:off x="6172200" y="3291840"/>
            <a:ext cx="5285232" cy="173736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6355080" y="3474720"/>
            <a:ext cx="4919472" cy="866327"/>
          </a:xfrm>
          <a:prstGeom prst="rect">
            <a:avLst/>
          </a:prstGeom>
          <a:noFill/>
        </p:spPr>
        <p:txBody>
          <a:bodyPr wrap="square">
            <a:spAutoFit/>
          </a:bodyPr>
          <a:lstStyle/>
          <a:p>
            <a:pPr algn="r">
              <a:defRPr sz="1500" b="1">
                <a:solidFill>
                  <a:srgbClr val="0F2043"/>
                </a:solidFill>
              </a:defRPr>
            </a:pPr>
            <a:r>
              <a:rPr lang="ar-EG" sz="2400" noProof="1"/>
              <a:t>📈 المؤشرات المتحسنة</a:t>
            </a:r>
          </a:p>
          <a:p>
            <a:pPr algn="r" rtl="1">
              <a:lnSpc>
                <a:spcPct val="150000"/>
              </a:lnSpc>
              <a:defRPr sz="1800" b="1">
                <a:solidFill>
                  <a:srgbClr val="1E4E79"/>
                </a:solidFill>
              </a:defRPr>
            </a:pPr>
            <a:r>
              <a:rPr lang="ar-EG" sz="2000" noProof="1"/>
              <a:t>12  -  مؤشراً حققت النمو المطلوب</a:t>
            </a:r>
          </a:p>
        </p:txBody>
      </p:sp>
      <p:sp>
        <p:nvSpPr>
          <p:cNvPr id="13" name="Rounded Rectangle 12"/>
          <p:cNvSpPr/>
          <p:nvPr/>
        </p:nvSpPr>
        <p:spPr>
          <a:xfrm>
            <a:off x="731520" y="5303519"/>
            <a:ext cx="10728655" cy="1216185"/>
          </a:xfrm>
          <a:prstGeom prst="roundRect">
            <a:avLst/>
          </a:prstGeom>
          <a:solidFill>
            <a:srgbClr val="FFF8E1"/>
          </a:solidFill>
          <a:ln w="127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822960" y="5349240"/>
            <a:ext cx="10545775" cy="1015663"/>
          </a:xfrm>
          <a:prstGeom prst="rect">
            <a:avLst/>
          </a:prstGeom>
          <a:noFill/>
        </p:spPr>
        <p:txBody>
          <a:bodyPr wrap="square">
            <a:spAutoFit/>
          </a:bodyPr>
          <a:lstStyle/>
          <a:p>
            <a:pPr algn="r" rtl="1">
              <a:defRPr sz="1300" b="1">
                <a:solidFill>
                  <a:srgbClr val="B46400"/>
                </a:solidFill>
              </a:defRPr>
            </a:pPr>
            <a:r>
              <a:rPr lang="ar-EG" sz="2000" noProof="1"/>
              <a:t>🚨 المؤشرات التي تحتاج إلى دعم وحوكمة (Focus Area):</a:t>
            </a:r>
          </a:p>
          <a:p>
            <a:pPr algn="r" rtl="1">
              <a:defRPr sz="1100">
                <a:solidFill>
                  <a:srgbClr val="282828"/>
                </a:solidFill>
              </a:defRPr>
            </a:pPr>
            <a:r>
              <a:rPr lang="ar-EG" sz="2000" noProof="1"/>
              <a:t>• مؤشر زمن استجابة التغذية الراجعة (الحالي: 65% | المستهدف: 85%)   |   • مؤشر مشاركة أولياء الأمور (الحالي: 58% | المستهدف: 75%)</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1+#ppt_w/2"/>
                                          </p:val>
                                        </p:tav>
                                        <p:tav tm="100000">
                                          <p:val>
                                            <p:strVal val="#ppt_x"/>
                                          </p:val>
                                        </p:tav>
                                      </p:tavLst>
                                    </p:anim>
                                    <p:anim calcmode="lin" valueType="num">
                                      <p:cBhvr additive="base">
                                        <p:cTn id="8" dur="175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6"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1+#ppt_w/2"/>
                                          </p:val>
                                        </p:tav>
                                        <p:tav tm="100000">
                                          <p:val>
                                            <p:strVal val="#ppt_x"/>
                                          </p:val>
                                        </p:tav>
                                      </p:tavLst>
                                    </p:anim>
                                    <p:anim calcmode="lin" valueType="num">
                                      <p:cBhvr additive="base">
                                        <p:cTn id="12" dur="175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1+#ppt_w/2"/>
                                          </p:val>
                                        </p:tav>
                                        <p:tav tm="100000">
                                          <p:val>
                                            <p:strVal val="#ppt_x"/>
                                          </p:val>
                                        </p:tav>
                                      </p:tavLst>
                                    </p:anim>
                                    <p:anim calcmode="lin" valueType="num">
                                      <p:cBhvr additive="base">
                                        <p:cTn id="16" dur="175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1+#ppt_w/2"/>
                                          </p:val>
                                        </p:tav>
                                        <p:tav tm="100000">
                                          <p:val>
                                            <p:strVal val="#ppt_x"/>
                                          </p:val>
                                        </p:tav>
                                      </p:tavLst>
                                    </p:anim>
                                    <p:anim calcmode="lin" valueType="num">
                                      <p:cBhvr additive="base">
                                        <p:cTn id="20" dur="175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6"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1+#ppt_w/2"/>
                                          </p:val>
                                        </p:tav>
                                        <p:tav tm="100000">
                                          <p:val>
                                            <p:strVal val="#ppt_x"/>
                                          </p:val>
                                        </p:tav>
                                      </p:tavLst>
                                    </p:anim>
                                    <p:anim calcmode="lin" valueType="num">
                                      <p:cBhvr additive="base">
                                        <p:cTn id="24" dur="175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1+#ppt_w/2"/>
                                          </p:val>
                                        </p:tav>
                                        <p:tav tm="100000">
                                          <p:val>
                                            <p:strVal val="#ppt_x"/>
                                          </p:val>
                                        </p:tav>
                                      </p:tavLst>
                                    </p:anim>
                                    <p:anim calcmode="lin" valueType="num">
                                      <p:cBhvr additive="base">
                                        <p:cTn id="28" dur="175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750" fill="hold"/>
                                        <p:tgtEl>
                                          <p:spTgt spid="8"/>
                                        </p:tgtEl>
                                        <p:attrNameLst>
                                          <p:attrName>ppt_x</p:attrName>
                                        </p:attrNameLst>
                                      </p:cBhvr>
                                      <p:tavLst>
                                        <p:tav tm="0">
                                          <p:val>
                                            <p:strVal val="1+#ppt_w/2"/>
                                          </p:val>
                                        </p:tav>
                                        <p:tav tm="100000">
                                          <p:val>
                                            <p:strVal val="#ppt_x"/>
                                          </p:val>
                                        </p:tav>
                                      </p:tavLst>
                                    </p:anim>
                                    <p:anim calcmode="lin" valueType="num">
                                      <p:cBhvr additive="base">
                                        <p:cTn id="32" dur="175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750" fill="hold"/>
                                        <p:tgtEl>
                                          <p:spTgt spid="9"/>
                                        </p:tgtEl>
                                        <p:attrNameLst>
                                          <p:attrName>ppt_x</p:attrName>
                                        </p:attrNameLst>
                                      </p:cBhvr>
                                      <p:tavLst>
                                        <p:tav tm="0">
                                          <p:val>
                                            <p:strVal val="1+#ppt_w/2"/>
                                          </p:val>
                                        </p:tav>
                                        <p:tav tm="100000">
                                          <p:val>
                                            <p:strVal val="#ppt_x"/>
                                          </p:val>
                                        </p:tav>
                                      </p:tavLst>
                                    </p:anim>
                                    <p:anim calcmode="lin" valueType="num">
                                      <p:cBhvr additive="base">
                                        <p:cTn id="36" dur="175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750" fill="hold"/>
                                        <p:tgtEl>
                                          <p:spTgt spid="10"/>
                                        </p:tgtEl>
                                        <p:attrNameLst>
                                          <p:attrName>ppt_x</p:attrName>
                                        </p:attrNameLst>
                                      </p:cBhvr>
                                      <p:tavLst>
                                        <p:tav tm="0">
                                          <p:val>
                                            <p:strVal val="1+#ppt_w/2"/>
                                          </p:val>
                                        </p:tav>
                                        <p:tav tm="100000">
                                          <p:val>
                                            <p:strVal val="#ppt_x"/>
                                          </p:val>
                                        </p:tav>
                                      </p:tavLst>
                                    </p:anim>
                                    <p:anim calcmode="lin" valueType="num">
                                      <p:cBhvr additive="base">
                                        <p:cTn id="40" dur="175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750" fill="hold"/>
                                        <p:tgtEl>
                                          <p:spTgt spid="11"/>
                                        </p:tgtEl>
                                        <p:attrNameLst>
                                          <p:attrName>ppt_x</p:attrName>
                                        </p:attrNameLst>
                                      </p:cBhvr>
                                      <p:tavLst>
                                        <p:tav tm="0">
                                          <p:val>
                                            <p:strVal val="1+#ppt_w/2"/>
                                          </p:val>
                                        </p:tav>
                                        <p:tav tm="100000">
                                          <p:val>
                                            <p:strVal val="#ppt_x"/>
                                          </p:val>
                                        </p:tav>
                                      </p:tavLst>
                                    </p:anim>
                                    <p:anim calcmode="lin" valueType="num">
                                      <p:cBhvr additive="base">
                                        <p:cTn id="44" dur="175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1750" fill="hold"/>
                                        <p:tgtEl>
                                          <p:spTgt spid="12"/>
                                        </p:tgtEl>
                                        <p:attrNameLst>
                                          <p:attrName>ppt_x</p:attrName>
                                        </p:attrNameLst>
                                      </p:cBhvr>
                                      <p:tavLst>
                                        <p:tav tm="0">
                                          <p:val>
                                            <p:strVal val="1+#ppt_w/2"/>
                                          </p:val>
                                        </p:tav>
                                        <p:tav tm="100000">
                                          <p:val>
                                            <p:strVal val="#ppt_x"/>
                                          </p:val>
                                        </p:tav>
                                      </p:tavLst>
                                    </p:anim>
                                    <p:anim calcmode="lin" valueType="num">
                                      <p:cBhvr additive="base">
                                        <p:cTn id="48" dur="175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1750" fill="hold"/>
                                        <p:tgtEl>
                                          <p:spTgt spid="13"/>
                                        </p:tgtEl>
                                        <p:attrNameLst>
                                          <p:attrName>ppt_x</p:attrName>
                                        </p:attrNameLst>
                                      </p:cBhvr>
                                      <p:tavLst>
                                        <p:tav tm="0">
                                          <p:val>
                                            <p:strVal val="1+#ppt_w/2"/>
                                          </p:val>
                                        </p:tav>
                                        <p:tav tm="100000">
                                          <p:val>
                                            <p:strVal val="#ppt_x"/>
                                          </p:val>
                                        </p:tav>
                                      </p:tavLst>
                                    </p:anim>
                                    <p:anim calcmode="lin" valueType="num">
                                      <p:cBhvr additive="base">
                                        <p:cTn id="52" dur="175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6"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1750" fill="hold"/>
                                        <p:tgtEl>
                                          <p:spTgt spid="14"/>
                                        </p:tgtEl>
                                        <p:attrNameLst>
                                          <p:attrName>ppt_x</p:attrName>
                                        </p:attrNameLst>
                                      </p:cBhvr>
                                      <p:tavLst>
                                        <p:tav tm="0">
                                          <p:val>
                                            <p:strVal val="1+#ppt_w/2"/>
                                          </p:val>
                                        </p:tav>
                                        <p:tav tm="100000">
                                          <p:val>
                                            <p:strVal val="#ppt_x"/>
                                          </p:val>
                                        </p:tav>
                                      </p:tavLst>
                                    </p:anim>
                                    <p:anim calcmode="lin" valueType="num">
                                      <p:cBhvr additive="base">
                                        <p:cTn id="56" dur="175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P spid="13" grpId="0" animBg="1"/>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الاجتماعات الدورية لمتابعة التنفيذ</a:t>
            </a:r>
          </a:p>
        </p:txBody>
      </p:sp>
      <p:sp>
        <p:nvSpPr>
          <p:cNvPr id="5" name="Rounded Rectangle 4"/>
          <p:cNvSpPr/>
          <p:nvPr/>
        </p:nvSpPr>
        <p:spPr>
          <a:xfrm>
            <a:off x="8260385" y="1362055"/>
            <a:ext cx="3504895" cy="46634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8260385" y="1544935"/>
            <a:ext cx="3322015" cy="4093428"/>
          </a:xfrm>
          <a:prstGeom prst="rect">
            <a:avLst/>
          </a:prstGeom>
          <a:noFill/>
        </p:spPr>
        <p:txBody>
          <a:bodyPr wrap="square">
            <a:spAutoFit/>
          </a:bodyPr>
          <a:lstStyle/>
          <a:p>
            <a:pPr algn="r" rtl="1">
              <a:defRPr sz="1600" b="1">
                <a:solidFill>
                  <a:srgbClr val="0F2043"/>
                </a:solidFill>
              </a:defRPr>
            </a:pPr>
            <a:r>
              <a:rPr lang="ar-EG" noProof="1"/>
              <a:t>🔄 اجتماع </a:t>
            </a:r>
            <a:r>
              <a:rPr lang="ar-EG" sz="2000" noProof="1"/>
              <a:t>أسبوعي</a:t>
            </a:r>
          </a:p>
          <a:p>
            <a:pPr algn="r" rtl="1">
              <a:defRPr sz="1100" b="1">
                <a:solidFill>
                  <a:srgbClr val="107C41"/>
                </a:solidFill>
              </a:defRPr>
            </a:pPr>
            <a:r>
              <a:rPr lang="ar-EG" sz="2000" noProof="1"/>
              <a:t>[Operational]</a:t>
            </a:r>
            <a:br>
              <a:rPr lang="ar-EG" sz="2000" noProof="1"/>
            </a:br>
            <a:endParaRPr lang="ar-EG" sz="2000" noProof="1"/>
          </a:p>
          <a:p>
            <a:pPr algn="r" rtl="1">
              <a:defRPr sz="1100">
                <a:solidFill>
                  <a:srgbClr val="282828"/>
                </a:solidFill>
              </a:defRPr>
            </a:pPr>
            <a:r>
              <a:rPr lang="ar-EG" sz="2000" noProof="1"/>
              <a:t>🎯 </a:t>
            </a:r>
            <a:r>
              <a:rPr lang="ar-EG" sz="2000" b="1" noProof="1"/>
              <a:t>الهدف: متابعة التشغيل اليومي</a:t>
            </a:r>
            <a:br>
              <a:rPr lang="ar-EG" sz="2000" b="1" noProof="1"/>
            </a:br>
            <a:endParaRPr lang="ar-EG" sz="2000" b="1" noProof="1"/>
          </a:p>
          <a:p>
            <a:pPr algn="r" rtl="1">
              <a:defRPr sz="1100">
                <a:solidFill>
                  <a:srgbClr val="282828"/>
                </a:solidFill>
              </a:defRPr>
            </a:pPr>
            <a:r>
              <a:rPr lang="ar-EG" sz="2000" b="1" noProof="1"/>
              <a:t>📥 المدخلات: قائمة المهام وحظر </a:t>
            </a:r>
          </a:p>
          <a:p>
            <a:pPr algn="r" rtl="1">
              <a:defRPr sz="1100">
                <a:solidFill>
                  <a:srgbClr val="282828"/>
                </a:solidFill>
              </a:defRPr>
            </a:pPr>
            <a:r>
              <a:rPr lang="ar-EG" sz="2000" b="1" noProof="1"/>
              <a:t>     العقبات</a:t>
            </a:r>
            <a:br>
              <a:rPr lang="ar-EG" sz="2000" b="1" noProof="1"/>
            </a:br>
            <a:endParaRPr lang="ar-EG" sz="2000" b="1" noProof="1"/>
          </a:p>
          <a:p>
            <a:pPr algn="r" rtl="1">
              <a:defRPr sz="1100">
                <a:solidFill>
                  <a:srgbClr val="282828"/>
                </a:solidFill>
              </a:defRPr>
            </a:pPr>
            <a:r>
              <a:rPr lang="ar-EG" sz="2000" b="1" noProof="1"/>
              <a:t>📤 المخرجات: حل الخلافات </a:t>
            </a:r>
          </a:p>
          <a:p>
            <a:pPr algn="r" rtl="1">
              <a:defRPr sz="1100">
                <a:solidFill>
                  <a:srgbClr val="282828"/>
                </a:solidFill>
              </a:defRPr>
            </a:pPr>
            <a:r>
              <a:rPr lang="ar-EG" sz="2000" b="1" noProof="1"/>
              <a:t>     والعقبات الفورية</a:t>
            </a:r>
            <a:br>
              <a:rPr lang="ar-EG" sz="2000" b="1" noProof="1"/>
            </a:br>
            <a:endParaRPr lang="ar-EG" sz="2000" b="1" noProof="1"/>
          </a:p>
          <a:p>
            <a:pPr algn="r" rtl="1">
              <a:defRPr sz="1100">
                <a:solidFill>
                  <a:srgbClr val="282828"/>
                </a:solidFill>
              </a:defRPr>
            </a:pPr>
            <a:r>
              <a:rPr lang="ar-EG" sz="2000" b="1" noProof="1"/>
              <a:t>⚖️ القرارات: قرارات تشغيلية سريعة</a:t>
            </a:r>
            <a:br>
              <a:rPr lang="ar-EG" sz="2000" b="1" noProof="1"/>
            </a:br>
            <a:endParaRPr lang="ar-EG" sz="2000" b="1" noProof="1"/>
          </a:p>
        </p:txBody>
      </p:sp>
      <p:sp>
        <p:nvSpPr>
          <p:cNvPr id="7" name="Rounded Rectangle 6"/>
          <p:cNvSpPr/>
          <p:nvPr/>
        </p:nvSpPr>
        <p:spPr>
          <a:xfrm>
            <a:off x="4343400" y="1371600"/>
            <a:ext cx="3504895" cy="46634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4526280" y="1554480"/>
            <a:ext cx="3322015" cy="4401205"/>
          </a:xfrm>
          <a:prstGeom prst="rect">
            <a:avLst/>
          </a:prstGeom>
          <a:noFill/>
        </p:spPr>
        <p:txBody>
          <a:bodyPr wrap="square">
            <a:spAutoFit/>
          </a:bodyPr>
          <a:lstStyle/>
          <a:p>
            <a:pPr algn="r" rtl="1">
              <a:defRPr sz="1600" b="1">
                <a:solidFill>
                  <a:srgbClr val="0F2043"/>
                </a:solidFill>
              </a:defRPr>
            </a:pPr>
            <a:r>
              <a:rPr lang="ar-EG" noProof="1"/>
              <a:t>🗓️ </a:t>
            </a:r>
            <a:r>
              <a:rPr lang="ar-EG" sz="2000" noProof="1"/>
              <a:t>اجتماع شهري</a:t>
            </a:r>
          </a:p>
          <a:p>
            <a:pPr algn="r" rtl="1">
              <a:defRPr sz="1100" b="1">
                <a:solidFill>
                  <a:srgbClr val="107C41"/>
                </a:solidFill>
              </a:defRPr>
            </a:pPr>
            <a:r>
              <a:rPr lang="ar-EG" sz="2000" noProof="1"/>
              <a:t>[Tactical]</a:t>
            </a:r>
            <a:br>
              <a:rPr lang="ar-EG" sz="2000" noProof="1"/>
            </a:br>
            <a:endParaRPr lang="ar-EG" sz="2000" noProof="1"/>
          </a:p>
          <a:p>
            <a:pPr algn="r" rtl="1">
              <a:defRPr sz="1100">
                <a:solidFill>
                  <a:srgbClr val="282828"/>
                </a:solidFill>
              </a:defRPr>
            </a:pPr>
            <a:r>
              <a:rPr lang="ar-EG" sz="2000" noProof="1"/>
              <a:t>🎯 </a:t>
            </a:r>
            <a:r>
              <a:rPr lang="ar-EG" sz="2000" b="1" noProof="1"/>
              <a:t>الهدف: مراجعة مؤشرات الأداء</a:t>
            </a:r>
            <a:br>
              <a:rPr lang="ar-EG" sz="2000" b="1" noProof="1"/>
            </a:br>
            <a:endParaRPr lang="ar-EG" sz="2000" b="1" noProof="1"/>
          </a:p>
          <a:p>
            <a:pPr algn="r" rtl="1">
              <a:defRPr sz="1100">
                <a:solidFill>
                  <a:srgbClr val="282828"/>
                </a:solidFill>
              </a:defRPr>
            </a:pPr>
            <a:r>
              <a:rPr lang="ar-EG" sz="2000" b="1" noProof="1"/>
              <a:t>📥 المدخلات: تقرير الإنجاز الدوري </a:t>
            </a:r>
          </a:p>
          <a:p>
            <a:pPr algn="r" rtl="1">
              <a:defRPr sz="1100">
                <a:solidFill>
                  <a:srgbClr val="282828"/>
                </a:solidFill>
              </a:defRPr>
            </a:pPr>
            <a:r>
              <a:rPr lang="ar-EG" sz="2000" b="1" noProof="1"/>
              <a:t>      والـ KPIs</a:t>
            </a:r>
            <a:br>
              <a:rPr lang="ar-EG" sz="2000" b="1" noProof="1"/>
            </a:br>
            <a:endParaRPr lang="ar-EG" sz="2000" b="1" noProof="1"/>
          </a:p>
          <a:p>
            <a:pPr algn="r" rtl="1">
              <a:defRPr sz="1100">
                <a:solidFill>
                  <a:srgbClr val="282828"/>
                </a:solidFill>
              </a:defRPr>
            </a:pPr>
            <a:r>
              <a:rPr lang="ar-EG" sz="2000" b="1" noProof="1"/>
              <a:t>📤 المخرجات: تعديل المسار وإعادة </a:t>
            </a:r>
          </a:p>
          <a:p>
            <a:pPr algn="r" rtl="1">
              <a:defRPr sz="1100">
                <a:solidFill>
                  <a:srgbClr val="282828"/>
                </a:solidFill>
              </a:defRPr>
            </a:pPr>
            <a:r>
              <a:rPr lang="ar-EG" sz="2000" b="1" noProof="1"/>
              <a:t>      التوجيه</a:t>
            </a:r>
            <a:br>
              <a:rPr lang="ar-EG" sz="2000" b="1" noProof="1"/>
            </a:br>
            <a:endParaRPr lang="ar-EG" sz="2000" b="1" noProof="1"/>
          </a:p>
          <a:p>
            <a:pPr algn="r" rtl="1">
              <a:defRPr sz="1100">
                <a:solidFill>
                  <a:srgbClr val="282828"/>
                </a:solidFill>
              </a:defRPr>
            </a:pPr>
            <a:r>
              <a:rPr lang="ar-EG" sz="2000" b="1" noProof="1"/>
              <a:t>⚖️ القرارات: توزيع الموارد وتعديل </a:t>
            </a:r>
          </a:p>
          <a:p>
            <a:pPr algn="r" rtl="1">
              <a:defRPr sz="1100">
                <a:solidFill>
                  <a:srgbClr val="282828"/>
                </a:solidFill>
              </a:defRPr>
            </a:pPr>
            <a:r>
              <a:rPr lang="ar-EG" sz="2000" b="1" noProof="1"/>
              <a:t>     الأولويات</a:t>
            </a:r>
            <a:br>
              <a:rPr lang="ar-EG" sz="2000" noProof="1"/>
            </a:br>
            <a:endParaRPr lang="ar-EG" sz="2000" noProof="1"/>
          </a:p>
        </p:txBody>
      </p:sp>
      <p:sp>
        <p:nvSpPr>
          <p:cNvPr id="9" name="Rounded Rectangle 8"/>
          <p:cNvSpPr/>
          <p:nvPr/>
        </p:nvSpPr>
        <p:spPr>
          <a:xfrm>
            <a:off x="426720" y="1371600"/>
            <a:ext cx="3504895" cy="4663440"/>
          </a:xfrm>
          <a:prstGeom prst="roundRect">
            <a:avLst/>
          </a:prstGeom>
          <a:solidFill>
            <a:srgbClr val="F0F4F8"/>
          </a:solidFill>
          <a:ln w="127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502616" y="1519646"/>
            <a:ext cx="3428999" cy="4708981"/>
          </a:xfrm>
          <a:prstGeom prst="rect">
            <a:avLst/>
          </a:prstGeom>
          <a:noFill/>
        </p:spPr>
        <p:txBody>
          <a:bodyPr wrap="square">
            <a:spAutoFit/>
          </a:bodyPr>
          <a:lstStyle/>
          <a:p>
            <a:pPr algn="r" rtl="1">
              <a:defRPr sz="1600" b="1">
                <a:solidFill>
                  <a:srgbClr val="0F2043"/>
                </a:solidFill>
              </a:defRPr>
            </a:pPr>
            <a:r>
              <a:rPr lang="ar-EG" noProof="1"/>
              <a:t>🎯 </a:t>
            </a:r>
            <a:r>
              <a:rPr lang="ar-EG" sz="2000" noProof="1"/>
              <a:t>اجتماع فصلي</a:t>
            </a:r>
          </a:p>
          <a:p>
            <a:pPr algn="r" rtl="1">
              <a:defRPr sz="1100" b="1">
                <a:solidFill>
                  <a:srgbClr val="107C41"/>
                </a:solidFill>
              </a:defRPr>
            </a:pPr>
            <a:r>
              <a:rPr lang="ar-EG" sz="2000" noProof="1"/>
              <a:t>[Strategic]</a:t>
            </a:r>
            <a:br>
              <a:rPr lang="ar-EG" sz="2000" noProof="1"/>
            </a:br>
            <a:endParaRPr lang="ar-EG" sz="2000" noProof="1"/>
          </a:p>
          <a:p>
            <a:pPr algn="r" rtl="1">
              <a:defRPr sz="1100">
                <a:solidFill>
                  <a:srgbClr val="282828"/>
                </a:solidFill>
              </a:defRPr>
            </a:pPr>
            <a:r>
              <a:rPr lang="ar-EG" sz="2000" noProof="1"/>
              <a:t>🎯 </a:t>
            </a:r>
            <a:r>
              <a:rPr lang="ar-EG" sz="2000" b="1" noProof="1"/>
              <a:t>الهدف: تقييم الأثر والمخرجات </a:t>
            </a:r>
          </a:p>
          <a:p>
            <a:pPr algn="r" rtl="1">
              <a:defRPr sz="1100">
                <a:solidFill>
                  <a:srgbClr val="282828"/>
                </a:solidFill>
              </a:defRPr>
            </a:pPr>
            <a:r>
              <a:rPr lang="ar-EG" sz="2000" b="1" noProof="1"/>
              <a:t>     الشاملة</a:t>
            </a:r>
          </a:p>
          <a:p>
            <a:pPr algn="r" rtl="1">
              <a:defRPr sz="1100">
                <a:solidFill>
                  <a:srgbClr val="282828"/>
                </a:solidFill>
              </a:defRPr>
            </a:pPr>
            <a:endParaRPr lang="ar-EG" sz="2000" b="1" noProof="1"/>
          </a:p>
          <a:p>
            <a:pPr algn="r" rtl="1">
              <a:defRPr sz="1100">
                <a:solidFill>
                  <a:srgbClr val="282828"/>
                </a:solidFill>
              </a:defRPr>
            </a:pPr>
            <a:r>
              <a:rPr lang="ar-EG" sz="2000" b="1" noProof="1"/>
              <a:t>📥 المدخلات: التقرير الفصلي وتقارير</a:t>
            </a:r>
          </a:p>
          <a:p>
            <a:pPr algn="r" rtl="1">
              <a:defRPr sz="1100">
                <a:solidFill>
                  <a:srgbClr val="282828"/>
                </a:solidFill>
              </a:defRPr>
            </a:pPr>
            <a:r>
              <a:rPr lang="ar-EG" sz="2000" b="1" noProof="1"/>
              <a:t>       الأثر</a:t>
            </a:r>
            <a:br>
              <a:rPr lang="ar-EG" sz="2000" b="1" noProof="1"/>
            </a:br>
            <a:endParaRPr lang="ar-EG" sz="2000" b="1" noProof="1"/>
          </a:p>
          <a:p>
            <a:pPr algn="r" rtl="1">
              <a:defRPr sz="1100">
                <a:solidFill>
                  <a:srgbClr val="282828"/>
                </a:solidFill>
              </a:defRPr>
            </a:pPr>
            <a:r>
              <a:rPr lang="ar-EG" sz="2000" b="1" noProof="1"/>
              <a:t>📤 المخرجات: إغلاق المرحلة</a:t>
            </a:r>
          </a:p>
          <a:p>
            <a:pPr algn="r" rtl="1">
              <a:defRPr sz="1100">
                <a:solidFill>
                  <a:srgbClr val="282828"/>
                </a:solidFill>
              </a:defRPr>
            </a:pPr>
            <a:r>
              <a:rPr lang="ar-EG" sz="2000" b="1" noProof="1"/>
              <a:t>      وتحديث الخطة</a:t>
            </a:r>
            <a:br>
              <a:rPr lang="ar-EG" sz="2000" b="1" noProof="1"/>
            </a:br>
            <a:endParaRPr lang="ar-EG" sz="2000" b="1" noProof="1"/>
          </a:p>
          <a:p>
            <a:pPr algn="r" rtl="1">
              <a:defRPr sz="1100">
                <a:solidFill>
                  <a:srgbClr val="282828"/>
                </a:solidFill>
              </a:defRPr>
            </a:pPr>
            <a:r>
              <a:rPr lang="ar-EG" sz="2000" b="1" noProof="1"/>
              <a:t>⚖️ القرارات: قرارات استراتيجية</a:t>
            </a:r>
          </a:p>
          <a:p>
            <a:pPr algn="r" rtl="1">
              <a:defRPr sz="1100">
                <a:solidFill>
                  <a:srgbClr val="282828"/>
                </a:solidFill>
              </a:defRPr>
            </a:pPr>
            <a:r>
              <a:rPr lang="ar-EG" sz="2000" b="1" noProof="1"/>
              <a:t>     وعليا</a:t>
            </a:r>
            <a:br>
              <a:rPr lang="ar-EG" sz="2000" b="1" noProof="1"/>
            </a:br>
            <a:endParaRPr lang="ar-EG" sz="2000" b="1" noProof="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fltVal val="0"/>
                                          </p:val>
                                        </p:tav>
                                        <p:tav tm="100000">
                                          <p:val>
                                            <p:strVal val="#ppt_h"/>
                                          </p:val>
                                        </p:tav>
                                      </p:tavLst>
                                    </p:anim>
                                    <p:animEffect transition="in" filter="fade">
                                      <p:cBhvr>
                                        <p:cTn id="9" dur="1750"/>
                                        <p:tgtEl>
                                          <p:spTgt spid="2"/>
                                        </p:tgtEl>
                                      </p:cBhvr>
                                    </p:animEffect>
                                    <p:anim calcmode="lin" valueType="num">
                                      <p:cBhvr>
                                        <p:cTn id="10" dur="1750" fill="hold"/>
                                        <p:tgtEl>
                                          <p:spTgt spid="2"/>
                                        </p:tgtEl>
                                        <p:attrNameLst>
                                          <p:attrName>ppt_x</p:attrName>
                                        </p:attrNameLst>
                                      </p:cBhvr>
                                      <p:tavLst>
                                        <p:tav tm="0">
                                          <p:val>
                                            <p:fltVal val="0.5"/>
                                          </p:val>
                                        </p:tav>
                                        <p:tav tm="100000">
                                          <p:val>
                                            <p:strVal val="#ppt_x"/>
                                          </p:val>
                                        </p:tav>
                                      </p:tavLst>
                                    </p:anim>
                                    <p:anim calcmode="lin" valueType="num">
                                      <p:cBhvr>
                                        <p:cTn id="11" dur="1750" fill="hold"/>
                                        <p:tgtEl>
                                          <p:spTgt spid="2"/>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750" fill="hold"/>
                                        <p:tgtEl>
                                          <p:spTgt spid="3"/>
                                        </p:tgtEl>
                                        <p:attrNameLst>
                                          <p:attrName>ppt_w</p:attrName>
                                        </p:attrNameLst>
                                      </p:cBhvr>
                                      <p:tavLst>
                                        <p:tav tm="0">
                                          <p:val>
                                            <p:fltVal val="0"/>
                                          </p:val>
                                        </p:tav>
                                        <p:tav tm="100000">
                                          <p:val>
                                            <p:strVal val="#ppt_w"/>
                                          </p:val>
                                        </p:tav>
                                      </p:tavLst>
                                    </p:anim>
                                    <p:anim calcmode="lin" valueType="num">
                                      <p:cBhvr>
                                        <p:cTn id="15" dur="1750" fill="hold"/>
                                        <p:tgtEl>
                                          <p:spTgt spid="3"/>
                                        </p:tgtEl>
                                        <p:attrNameLst>
                                          <p:attrName>ppt_h</p:attrName>
                                        </p:attrNameLst>
                                      </p:cBhvr>
                                      <p:tavLst>
                                        <p:tav tm="0">
                                          <p:val>
                                            <p:fltVal val="0"/>
                                          </p:val>
                                        </p:tav>
                                        <p:tav tm="100000">
                                          <p:val>
                                            <p:strVal val="#ppt_h"/>
                                          </p:val>
                                        </p:tav>
                                      </p:tavLst>
                                    </p:anim>
                                    <p:animEffect transition="in" filter="fade">
                                      <p:cBhvr>
                                        <p:cTn id="16" dur="1750"/>
                                        <p:tgtEl>
                                          <p:spTgt spid="3"/>
                                        </p:tgtEl>
                                      </p:cBhvr>
                                    </p:animEffect>
                                    <p:anim calcmode="lin" valueType="num">
                                      <p:cBhvr>
                                        <p:cTn id="17" dur="1750" fill="hold"/>
                                        <p:tgtEl>
                                          <p:spTgt spid="3"/>
                                        </p:tgtEl>
                                        <p:attrNameLst>
                                          <p:attrName>ppt_x</p:attrName>
                                        </p:attrNameLst>
                                      </p:cBhvr>
                                      <p:tavLst>
                                        <p:tav tm="0">
                                          <p:val>
                                            <p:fltVal val="0.5"/>
                                          </p:val>
                                        </p:tav>
                                        <p:tav tm="100000">
                                          <p:val>
                                            <p:strVal val="#ppt_x"/>
                                          </p:val>
                                        </p:tav>
                                      </p:tavLst>
                                    </p:anim>
                                    <p:anim calcmode="lin" valueType="num">
                                      <p:cBhvr>
                                        <p:cTn id="18" dur="1750" fill="hold"/>
                                        <p:tgtEl>
                                          <p:spTgt spid="3"/>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1750" fill="hold"/>
                                        <p:tgtEl>
                                          <p:spTgt spid="4"/>
                                        </p:tgtEl>
                                        <p:attrNameLst>
                                          <p:attrName>ppt_w</p:attrName>
                                        </p:attrNameLst>
                                      </p:cBhvr>
                                      <p:tavLst>
                                        <p:tav tm="0">
                                          <p:val>
                                            <p:fltVal val="0"/>
                                          </p:val>
                                        </p:tav>
                                        <p:tav tm="100000">
                                          <p:val>
                                            <p:strVal val="#ppt_w"/>
                                          </p:val>
                                        </p:tav>
                                      </p:tavLst>
                                    </p:anim>
                                    <p:anim calcmode="lin" valueType="num">
                                      <p:cBhvr>
                                        <p:cTn id="22" dur="1750" fill="hold"/>
                                        <p:tgtEl>
                                          <p:spTgt spid="4"/>
                                        </p:tgtEl>
                                        <p:attrNameLst>
                                          <p:attrName>ppt_h</p:attrName>
                                        </p:attrNameLst>
                                      </p:cBhvr>
                                      <p:tavLst>
                                        <p:tav tm="0">
                                          <p:val>
                                            <p:fltVal val="0"/>
                                          </p:val>
                                        </p:tav>
                                        <p:tav tm="100000">
                                          <p:val>
                                            <p:strVal val="#ppt_h"/>
                                          </p:val>
                                        </p:tav>
                                      </p:tavLst>
                                    </p:anim>
                                    <p:animEffect transition="in" filter="fade">
                                      <p:cBhvr>
                                        <p:cTn id="23" dur="1750"/>
                                        <p:tgtEl>
                                          <p:spTgt spid="4"/>
                                        </p:tgtEl>
                                      </p:cBhvr>
                                    </p:animEffect>
                                    <p:anim calcmode="lin" valueType="num">
                                      <p:cBhvr>
                                        <p:cTn id="24" dur="1750" fill="hold"/>
                                        <p:tgtEl>
                                          <p:spTgt spid="4"/>
                                        </p:tgtEl>
                                        <p:attrNameLst>
                                          <p:attrName>ppt_x</p:attrName>
                                        </p:attrNameLst>
                                      </p:cBhvr>
                                      <p:tavLst>
                                        <p:tav tm="0">
                                          <p:val>
                                            <p:fltVal val="0.5"/>
                                          </p:val>
                                        </p:tav>
                                        <p:tav tm="100000">
                                          <p:val>
                                            <p:strVal val="#ppt_x"/>
                                          </p:val>
                                        </p:tav>
                                      </p:tavLst>
                                    </p:anim>
                                    <p:anim calcmode="lin" valueType="num">
                                      <p:cBhvr>
                                        <p:cTn id="25" dur="1750" fill="hold"/>
                                        <p:tgtEl>
                                          <p:spTgt spid="4"/>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1750" fill="hold"/>
                                        <p:tgtEl>
                                          <p:spTgt spid="5"/>
                                        </p:tgtEl>
                                        <p:attrNameLst>
                                          <p:attrName>ppt_w</p:attrName>
                                        </p:attrNameLst>
                                      </p:cBhvr>
                                      <p:tavLst>
                                        <p:tav tm="0">
                                          <p:val>
                                            <p:fltVal val="0"/>
                                          </p:val>
                                        </p:tav>
                                        <p:tav tm="100000">
                                          <p:val>
                                            <p:strVal val="#ppt_w"/>
                                          </p:val>
                                        </p:tav>
                                      </p:tavLst>
                                    </p:anim>
                                    <p:anim calcmode="lin" valueType="num">
                                      <p:cBhvr>
                                        <p:cTn id="29" dur="1750" fill="hold"/>
                                        <p:tgtEl>
                                          <p:spTgt spid="5"/>
                                        </p:tgtEl>
                                        <p:attrNameLst>
                                          <p:attrName>ppt_h</p:attrName>
                                        </p:attrNameLst>
                                      </p:cBhvr>
                                      <p:tavLst>
                                        <p:tav tm="0">
                                          <p:val>
                                            <p:fltVal val="0"/>
                                          </p:val>
                                        </p:tav>
                                        <p:tav tm="100000">
                                          <p:val>
                                            <p:strVal val="#ppt_h"/>
                                          </p:val>
                                        </p:tav>
                                      </p:tavLst>
                                    </p:anim>
                                    <p:animEffect transition="in" filter="fade">
                                      <p:cBhvr>
                                        <p:cTn id="30" dur="1750"/>
                                        <p:tgtEl>
                                          <p:spTgt spid="5"/>
                                        </p:tgtEl>
                                      </p:cBhvr>
                                    </p:animEffect>
                                    <p:anim calcmode="lin" valueType="num">
                                      <p:cBhvr>
                                        <p:cTn id="31" dur="1750" fill="hold"/>
                                        <p:tgtEl>
                                          <p:spTgt spid="5"/>
                                        </p:tgtEl>
                                        <p:attrNameLst>
                                          <p:attrName>ppt_x</p:attrName>
                                        </p:attrNameLst>
                                      </p:cBhvr>
                                      <p:tavLst>
                                        <p:tav tm="0">
                                          <p:val>
                                            <p:fltVal val="0.5"/>
                                          </p:val>
                                        </p:tav>
                                        <p:tav tm="100000">
                                          <p:val>
                                            <p:strVal val="#ppt_x"/>
                                          </p:val>
                                        </p:tav>
                                      </p:tavLst>
                                    </p:anim>
                                    <p:anim calcmode="lin" valueType="num">
                                      <p:cBhvr>
                                        <p:cTn id="32" dur="1750" fill="hold"/>
                                        <p:tgtEl>
                                          <p:spTgt spid="5"/>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750" fill="hold"/>
                                        <p:tgtEl>
                                          <p:spTgt spid="6"/>
                                        </p:tgtEl>
                                        <p:attrNameLst>
                                          <p:attrName>ppt_w</p:attrName>
                                        </p:attrNameLst>
                                      </p:cBhvr>
                                      <p:tavLst>
                                        <p:tav tm="0">
                                          <p:val>
                                            <p:fltVal val="0"/>
                                          </p:val>
                                        </p:tav>
                                        <p:tav tm="100000">
                                          <p:val>
                                            <p:strVal val="#ppt_w"/>
                                          </p:val>
                                        </p:tav>
                                      </p:tavLst>
                                    </p:anim>
                                    <p:anim calcmode="lin" valueType="num">
                                      <p:cBhvr>
                                        <p:cTn id="36" dur="1750" fill="hold"/>
                                        <p:tgtEl>
                                          <p:spTgt spid="6"/>
                                        </p:tgtEl>
                                        <p:attrNameLst>
                                          <p:attrName>ppt_h</p:attrName>
                                        </p:attrNameLst>
                                      </p:cBhvr>
                                      <p:tavLst>
                                        <p:tav tm="0">
                                          <p:val>
                                            <p:fltVal val="0"/>
                                          </p:val>
                                        </p:tav>
                                        <p:tav tm="100000">
                                          <p:val>
                                            <p:strVal val="#ppt_h"/>
                                          </p:val>
                                        </p:tav>
                                      </p:tavLst>
                                    </p:anim>
                                    <p:animEffect transition="in" filter="fade">
                                      <p:cBhvr>
                                        <p:cTn id="37" dur="1750"/>
                                        <p:tgtEl>
                                          <p:spTgt spid="6"/>
                                        </p:tgtEl>
                                      </p:cBhvr>
                                    </p:animEffect>
                                    <p:anim calcmode="lin" valueType="num">
                                      <p:cBhvr>
                                        <p:cTn id="38" dur="1750" fill="hold"/>
                                        <p:tgtEl>
                                          <p:spTgt spid="6"/>
                                        </p:tgtEl>
                                        <p:attrNameLst>
                                          <p:attrName>ppt_x</p:attrName>
                                        </p:attrNameLst>
                                      </p:cBhvr>
                                      <p:tavLst>
                                        <p:tav tm="0">
                                          <p:val>
                                            <p:fltVal val="0.5"/>
                                          </p:val>
                                        </p:tav>
                                        <p:tav tm="100000">
                                          <p:val>
                                            <p:strVal val="#ppt_x"/>
                                          </p:val>
                                        </p:tav>
                                      </p:tavLst>
                                    </p:anim>
                                    <p:anim calcmode="lin" valueType="num">
                                      <p:cBhvr>
                                        <p:cTn id="39" dur="1750" fill="hold"/>
                                        <p:tgtEl>
                                          <p:spTgt spid="6"/>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1750" fill="hold"/>
                                        <p:tgtEl>
                                          <p:spTgt spid="7"/>
                                        </p:tgtEl>
                                        <p:attrNameLst>
                                          <p:attrName>ppt_w</p:attrName>
                                        </p:attrNameLst>
                                      </p:cBhvr>
                                      <p:tavLst>
                                        <p:tav tm="0">
                                          <p:val>
                                            <p:fltVal val="0"/>
                                          </p:val>
                                        </p:tav>
                                        <p:tav tm="100000">
                                          <p:val>
                                            <p:strVal val="#ppt_w"/>
                                          </p:val>
                                        </p:tav>
                                      </p:tavLst>
                                    </p:anim>
                                    <p:anim calcmode="lin" valueType="num">
                                      <p:cBhvr>
                                        <p:cTn id="43" dur="1750" fill="hold"/>
                                        <p:tgtEl>
                                          <p:spTgt spid="7"/>
                                        </p:tgtEl>
                                        <p:attrNameLst>
                                          <p:attrName>ppt_h</p:attrName>
                                        </p:attrNameLst>
                                      </p:cBhvr>
                                      <p:tavLst>
                                        <p:tav tm="0">
                                          <p:val>
                                            <p:fltVal val="0"/>
                                          </p:val>
                                        </p:tav>
                                        <p:tav tm="100000">
                                          <p:val>
                                            <p:strVal val="#ppt_h"/>
                                          </p:val>
                                        </p:tav>
                                      </p:tavLst>
                                    </p:anim>
                                    <p:animEffect transition="in" filter="fade">
                                      <p:cBhvr>
                                        <p:cTn id="44" dur="1750"/>
                                        <p:tgtEl>
                                          <p:spTgt spid="7"/>
                                        </p:tgtEl>
                                      </p:cBhvr>
                                    </p:animEffect>
                                    <p:anim calcmode="lin" valueType="num">
                                      <p:cBhvr>
                                        <p:cTn id="45" dur="1750" fill="hold"/>
                                        <p:tgtEl>
                                          <p:spTgt spid="7"/>
                                        </p:tgtEl>
                                        <p:attrNameLst>
                                          <p:attrName>ppt_x</p:attrName>
                                        </p:attrNameLst>
                                      </p:cBhvr>
                                      <p:tavLst>
                                        <p:tav tm="0">
                                          <p:val>
                                            <p:fltVal val="0.5"/>
                                          </p:val>
                                        </p:tav>
                                        <p:tav tm="100000">
                                          <p:val>
                                            <p:strVal val="#ppt_x"/>
                                          </p:val>
                                        </p:tav>
                                      </p:tavLst>
                                    </p:anim>
                                    <p:anim calcmode="lin" valueType="num">
                                      <p:cBhvr>
                                        <p:cTn id="46" dur="1750" fill="hold"/>
                                        <p:tgtEl>
                                          <p:spTgt spid="7"/>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1750" fill="hold"/>
                                        <p:tgtEl>
                                          <p:spTgt spid="8"/>
                                        </p:tgtEl>
                                        <p:attrNameLst>
                                          <p:attrName>ppt_w</p:attrName>
                                        </p:attrNameLst>
                                      </p:cBhvr>
                                      <p:tavLst>
                                        <p:tav tm="0">
                                          <p:val>
                                            <p:fltVal val="0"/>
                                          </p:val>
                                        </p:tav>
                                        <p:tav tm="100000">
                                          <p:val>
                                            <p:strVal val="#ppt_w"/>
                                          </p:val>
                                        </p:tav>
                                      </p:tavLst>
                                    </p:anim>
                                    <p:anim calcmode="lin" valueType="num">
                                      <p:cBhvr>
                                        <p:cTn id="50" dur="1750" fill="hold"/>
                                        <p:tgtEl>
                                          <p:spTgt spid="8"/>
                                        </p:tgtEl>
                                        <p:attrNameLst>
                                          <p:attrName>ppt_h</p:attrName>
                                        </p:attrNameLst>
                                      </p:cBhvr>
                                      <p:tavLst>
                                        <p:tav tm="0">
                                          <p:val>
                                            <p:fltVal val="0"/>
                                          </p:val>
                                        </p:tav>
                                        <p:tav tm="100000">
                                          <p:val>
                                            <p:strVal val="#ppt_h"/>
                                          </p:val>
                                        </p:tav>
                                      </p:tavLst>
                                    </p:anim>
                                    <p:animEffect transition="in" filter="fade">
                                      <p:cBhvr>
                                        <p:cTn id="51" dur="1750"/>
                                        <p:tgtEl>
                                          <p:spTgt spid="8"/>
                                        </p:tgtEl>
                                      </p:cBhvr>
                                    </p:animEffect>
                                    <p:anim calcmode="lin" valueType="num">
                                      <p:cBhvr>
                                        <p:cTn id="52" dur="1750" fill="hold"/>
                                        <p:tgtEl>
                                          <p:spTgt spid="8"/>
                                        </p:tgtEl>
                                        <p:attrNameLst>
                                          <p:attrName>ppt_x</p:attrName>
                                        </p:attrNameLst>
                                      </p:cBhvr>
                                      <p:tavLst>
                                        <p:tav tm="0">
                                          <p:val>
                                            <p:fltVal val="0.5"/>
                                          </p:val>
                                        </p:tav>
                                        <p:tav tm="100000">
                                          <p:val>
                                            <p:strVal val="#ppt_x"/>
                                          </p:val>
                                        </p:tav>
                                      </p:tavLst>
                                    </p:anim>
                                    <p:anim calcmode="lin" valueType="num">
                                      <p:cBhvr>
                                        <p:cTn id="53" dur="1750" fill="hold"/>
                                        <p:tgtEl>
                                          <p:spTgt spid="8"/>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p:cTn id="56" dur="1750" fill="hold"/>
                                        <p:tgtEl>
                                          <p:spTgt spid="9"/>
                                        </p:tgtEl>
                                        <p:attrNameLst>
                                          <p:attrName>ppt_w</p:attrName>
                                        </p:attrNameLst>
                                      </p:cBhvr>
                                      <p:tavLst>
                                        <p:tav tm="0">
                                          <p:val>
                                            <p:fltVal val="0"/>
                                          </p:val>
                                        </p:tav>
                                        <p:tav tm="100000">
                                          <p:val>
                                            <p:strVal val="#ppt_w"/>
                                          </p:val>
                                        </p:tav>
                                      </p:tavLst>
                                    </p:anim>
                                    <p:anim calcmode="lin" valueType="num">
                                      <p:cBhvr>
                                        <p:cTn id="57" dur="1750" fill="hold"/>
                                        <p:tgtEl>
                                          <p:spTgt spid="9"/>
                                        </p:tgtEl>
                                        <p:attrNameLst>
                                          <p:attrName>ppt_h</p:attrName>
                                        </p:attrNameLst>
                                      </p:cBhvr>
                                      <p:tavLst>
                                        <p:tav tm="0">
                                          <p:val>
                                            <p:fltVal val="0"/>
                                          </p:val>
                                        </p:tav>
                                        <p:tav tm="100000">
                                          <p:val>
                                            <p:strVal val="#ppt_h"/>
                                          </p:val>
                                        </p:tav>
                                      </p:tavLst>
                                    </p:anim>
                                    <p:animEffect transition="in" filter="fade">
                                      <p:cBhvr>
                                        <p:cTn id="58" dur="1750"/>
                                        <p:tgtEl>
                                          <p:spTgt spid="9"/>
                                        </p:tgtEl>
                                      </p:cBhvr>
                                    </p:animEffect>
                                    <p:anim calcmode="lin" valueType="num">
                                      <p:cBhvr>
                                        <p:cTn id="59" dur="1750" fill="hold"/>
                                        <p:tgtEl>
                                          <p:spTgt spid="9"/>
                                        </p:tgtEl>
                                        <p:attrNameLst>
                                          <p:attrName>ppt_x</p:attrName>
                                        </p:attrNameLst>
                                      </p:cBhvr>
                                      <p:tavLst>
                                        <p:tav tm="0">
                                          <p:val>
                                            <p:fltVal val="0.5"/>
                                          </p:val>
                                        </p:tav>
                                        <p:tav tm="100000">
                                          <p:val>
                                            <p:strVal val="#ppt_x"/>
                                          </p:val>
                                        </p:tav>
                                      </p:tavLst>
                                    </p:anim>
                                    <p:anim calcmode="lin" valueType="num">
                                      <p:cBhvr>
                                        <p:cTn id="60" dur="1750" fill="hold"/>
                                        <p:tgtEl>
                                          <p:spTgt spid="9"/>
                                        </p:tgtEl>
                                        <p:attrNameLst>
                                          <p:attrName>ppt_y</p:attrName>
                                        </p:attrNameLst>
                                      </p:cBhvr>
                                      <p:tavLst>
                                        <p:tav tm="0">
                                          <p:val>
                                            <p:fltVal val="0.5"/>
                                          </p:val>
                                        </p:tav>
                                        <p:tav tm="100000">
                                          <p:val>
                                            <p:strVal val="#ppt_y"/>
                                          </p:val>
                                        </p:tav>
                                      </p:tavLst>
                                    </p:anim>
                                  </p:childTnLst>
                                </p:cTn>
                              </p:par>
                              <p:par>
                                <p:cTn id="61" presetID="53" presetClass="entr" presetSubtype="528"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 calcmode="lin" valueType="num">
                                      <p:cBhvr>
                                        <p:cTn id="63" dur="1750" fill="hold"/>
                                        <p:tgtEl>
                                          <p:spTgt spid="10"/>
                                        </p:tgtEl>
                                        <p:attrNameLst>
                                          <p:attrName>ppt_w</p:attrName>
                                        </p:attrNameLst>
                                      </p:cBhvr>
                                      <p:tavLst>
                                        <p:tav tm="0">
                                          <p:val>
                                            <p:fltVal val="0"/>
                                          </p:val>
                                        </p:tav>
                                        <p:tav tm="100000">
                                          <p:val>
                                            <p:strVal val="#ppt_w"/>
                                          </p:val>
                                        </p:tav>
                                      </p:tavLst>
                                    </p:anim>
                                    <p:anim calcmode="lin" valueType="num">
                                      <p:cBhvr>
                                        <p:cTn id="64" dur="1750" fill="hold"/>
                                        <p:tgtEl>
                                          <p:spTgt spid="10"/>
                                        </p:tgtEl>
                                        <p:attrNameLst>
                                          <p:attrName>ppt_h</p:attrName>
                                        </p:attrNameLst>
                                      </p:cBhvr>
                                      <p:tavLst>
                                        <p:tav tm="0">
                                          <p:val>
                                            <p:fltVal val="0"/>
                                          </p:val>
                                        </p:tav>
                                        <p:tav tm="100000">
                                          <p:val>
                                            <p:strVal val="#ppt_h"/>
                                          </p:val>
                                        </p:tav>
                                      </p:tavLst>
                                    </p:anim>
                                    <p:animEffect transition="in" filter="fade">
                                      <p:cBhvr>
                                        <p:cTn id="65" dur="1750"/>
                                        <p:tgtEl>
                                          <p:spTgt spid="10"/>
                                        </p:tgtEl>
                                      </p:cBhvr>
                                    </p:animEffect>
                                    <p:anim calcmode="lin" valueType="num">
                                      <p:cBhvr>
                                        <p:cTn id="66" dur="1750" fill="hold"/>
                                        <p:tgtEl>
                                          <p:spTgt spid="10"/>
                                        </p:tgtEl>
                                        <p:attrNameLst>
                                          <p:attrName>ppt_x</p:attrName>
                                        </p:attrNameLst>
                                      </p:cBhvr>
                                      <p:tavLst>
                                        <p:tav tm="0">
                                          <p:val>
                                            <p:fltVal val="0.5"/>
                                          </p:val>
                                        </p:tav>
                                        <p:tav tm="100000">
                                          <p:val>
                                            <p:strVal val="#ppt_x"/>
                                          </p:val>
                                        </p:tav>
                                      </p:tavLst>
                                    </p:anim>
                                    <p:anim calcmode="lin" valueType="num">
                                      <p:cBhvr>
                                        <p:cTn id="67" dur="1750" fill="hold"/>
                                        <p:tgtEl>
                                          <p:spTgt spid="1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التقارير الدورية التنفيذية</a:t>
            </a:r>
          </a:p>
        </p:txBody>
      </p:sp>
      <p:sp>
        <p:nvSpPr>
          <p:cNvPr id="5" name="Rounded Rectangle 4"/>
          <p:cNvSpPr/>
          <p:nvPr/>
        </p:nvSpPr>
        <p:spPr>
          <a:xfrm>
            <a:off x="6278880" y="1520766"/>
            <a:ext cx="5285232" cy="2011680"/>
          </a:xfrm>
          <a:prstGeom prst="roundRect">
            <a:avLst/>
          </a:prstGeom>
          <a:solidFill>
            <a:srgbClr val="FFFFFF"/>
          </a:solidFill>
          <a:ln w="12700">
            <a:solidFill>
              <a:srgbClr val="1E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6461760" y="1703646"/>
            <a:ext cx="4919472" cy="1384995"/>
          </a:xfrm>
          <a:prstGeom prst="rect">
            <a:avLst/>
          </a:prstGeom>
          <a:noFill/>
        </p:spPr>
        <p:txBody>
          <a:bodyPr wrap="square">
            <a:spAutoFit/>
          </a:bodyPr>
          <a:lstStyle/>
          <a:p>
            <a:pPr algn="r" rtl="1">
              <a:defRPr sz="1600" b="1">
                <a:solidFill>
                  <a:srgbClr val="0F2043"/>
                </a:solidFill>
              </a:defRPr>
            </a:pPr>
            <a:r>
              <a:rPr lang="ar-EG" sz="2400" noProof="1"/>
              <a:t>📊 1. نسبة الإنجاز والتقدم</a:t>
            </a:r>
          </a:p>
          <a:p>
            <a:pPr algn="r" rtl="1"/>
            <a:br>
              <a:rPr lang="ar-EG" sz="2000" noProof="1"/>
            </a:br>
            <a:r>
              <a:rPr lang="ar-EG" sz="2000" b="1" noProof="1"/>
              <a:t>عرض رسومي ومؤشرات رقمية تعكس تقدم المبادرات مقارنة بالجدول الزمني.</a:t>
            </a:r>
          </a:p>
        </p:txBody>
      </p:sp>
      <p:sp>
        <p:nvSpPr>
          <p:cNvPr id="7" name="Rounded Rectangle 6"/>
          <p:cNvSpPr/>
          <p:nvPr/>
        </p:nvSpPr>
        <p:spPr>
          <a:xfrm>
            <a:off x="810768" y="1541086"/>
            <a:ext cx="5285232" cy="2011680"/>
          </a:xfrm>
          <a:prstGeom prst="roundRect">
            <a:avLst/>
          </a:prstGeom>
          <a:solidFill>
            <a:srgbClr val="FFFFFF"/>
          </a:solidFill>
          <a:ln w="12700">
            <a:solidFill>
              <a:srgbClr val="1E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993648" y="1745853"/>
            <a:ext cx="4919472" cy="1384995"/>
          </a:xfrm>
          <a:prstGeom prst="rect">
            <a:avLst/>
          </a:prstGeom>
          <a:noFill/>
        </p:spPr>
        <p:txBody>
          <a:bodyPr wrap="square">
            <a:spAutoFit/>
          </a:bodyPr>
          <a:lstStyle/>
          <a:p>
            <a:pPr algn="r" rtl="1">
              <a:defRPr sz="1600" b="1">
                <a:solidFill>
                  <a:srgbClr val="0F2043"/>
                </a:solidFill>
              </a:defRPr>
            </a:pPr>
            <a:r>
              <a:rPr lang="ar-EG" sz="2400" noProof="1"/>
              <a:t>🏆 2. أهم الإنجازات المحققة</a:t>
            </a:r>
          </a:p>
          <a:p>
            <a:pPr algn="r" rtl="1"/>
            <a:br>
              <a:rPr lang="ar-EG" sz="2000" b="1" noProof="1"/>
            </a:br>
            <a:r>
              <a:rPr lang="ar-EG" sz="2000" b="1" noProof="1"/>
              <a:t>توثيق المِكاسب السريعة والمخرجات المكتملة خلال الفترة بكل شفافية.ِ</a:t>
            </a:r>
          </a:p>
        </p:txBody>
      </p:sp>
      <p:sp>
        <p:nvSpPr>
          <p:cNvPr id="9" name="Rounded Rectangle 8"/>
          <p:cNvSpPr/>
          <p:nvPr/>
        </p:nvSpPr>
        <p:spPr>
          <a:xfrm>
            <a:off x="6278880" y="3715326"/>
            <a:ext cx="5285232" cy="2011680"/>
          </a:xfrm>
          <a:prstGeom prst="roundRect">
            <a:avLst/>
          </a:prstGeom>
          <a:solidFill>
            <a:srgbClr val="FFFFFF"/>
          </a:solidFill>
          <a:ln w="12700">
            <a:solidFill>
              <a:srgbClr val="1E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6461760" y="3898206"/>
            <a:ext cx="4919472" cy="1384995"/>
          </a:xfrm>
          <a:prstGeom prst="rect">
            <a:avLst/>
          </a:prstGeom>
          <a:noFill/>
        </p:spPr>
        <p:txBody>
          <a:bodyPr wrap="square">
            <a:spAutoFit/>
          </a:bodyPr>
          <a:lstStyle/>
          <a:p>
            <a:pPr algn="r" rtl="1">
              <a:defRPr sz="1600" b="1">
                <a:solidFill>
                  <a:srgbClr val="0F2043"/>
                </a:solidFill>
              </a:defRPr>
            </a:pPr>
            <a:r>
              <a:rPr lang="ar-EG" sz="2400" noProof="1"/>
              <a:t>⚠️ 3. التحديات والمخاطر</a:t>
            </a:r>
          </a:p>
          <a:p>
            <a:pPr algn="r" rtl="1"/>
            <a:br>
              <a:rPr lang="ar-EG" sz="2000" b="1" noProof="1"/>
            </a:br>
            <a:r>
              <a:rPr lang="ar-EG" sz="2000" b="1" noProof="1"/>
              <a:t>رصد التحديات الميدانية وتحديد نوعية الدعم المطلوب لتجاوزها.</a:t>
            </a:r>
          </a:p>
        </p:txBody>
      </p:sp>
      <p:sp>
        <p:nvSpPr>
          <p:cNvPr id="11" name="Rounded Rectangle 10"/>
          <p:cNvSpPr/>
          <p:nvPr/>
        </p:nvSpPr>
        <p:spPr>
          <a:xfrm>
            <a:off x="810768" y="3738878"/>
            <a:ext cx="5285232" cy="2011680"/>
          </a:xfrm>
          <a:prstGeom prst="roundRect">
            <a:avLst/>
          </a:prstGeom>
          <a:solidFill>
            <a:srgbClr val="FFFFFF"/>
          </a:solidFill>
          <a:ln w="12700">
            <a:solidFill>
              <a:srgbClr val="1E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993648" y="3921758"/>
            <a:ext cx="4919472" cy="1384995"/>
          </a:xfrm>
          <a:prstGeom prst="rect">
            <a:avLst/>
          </a:prstGeom>
          <a:noFill/>
        </p:spPr>
        <p:txBody>
          <a:bodyPr wrap="square">
            <a:spAutoFit/>
          </a:bodyPr>
          <a:lstStyle/>
          <a:p>
            <a:pPr algn="r" rtl="1">
              <a:defRPr sz="1600" b="1">
                <a:solidFill>
                  <a:srgbClr val="0F2043"/>
                </a:solidFill>
              </a:defRPr>
            </a:pPr>
            <a:r>
              <a:rPr lang="ar-EG" sz="2400" noProof="1"/>
              <a:t>💡 4. التوصيات والقرارات</a:t>
            </a:r>
          </a:p>
          <a:p>
            <a:pPr algn="r" rtl="1"/>
            <a:br>
              <a:rPr lang="ar-EG" sz="2000" b="1" noProof="1"/>
            </a:br>
            <a:r>
              <a:rPr lang="ar-EG" sz="2000" b="1" noProof="1"/>
              <a:t>مقترحات عملية محددة تتطلب اعتماد القيادة المدرسية للتحسين.</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fltVal val="0"/>
                                          </p:val>
                                        </p:tav>
                                        <p:tav tm="100000">
                                          <p:val>
                                            <p:strVal val="#ppt_h"/>
                                          </p:val>
                                        </p:tav>
                                      </p:tavLst>
                                    </p:anim>
                                    <p:animEffect transition="in" filter="fade">
                                      <p:cBhvr>
                                        <p:cTn id="9" dur="175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750" fill="hold"/>
                                        <p:tgtEl>
                                          <p:spTgt spid="3"/>
                                        </p:tgtEl>
                                        <p:attrNameLst>
                                          <p:attrName>ppt_w</p:attrName>
                                        </p:attrNameLst>
                                      </p:cBhvr>
                                      <p:tavLst>
                                        <p:tav tm="0">
                                          <p:val>
                                            <p:fltVal val="0"/>
                                          </p:val>
                                        </p:tav>
                                        <p:tav tm="100000">
                                          <p:val>
                                            <p:strVal val="#ppt_w"/>
                                          </p:val>
                                        </p:tav>
                                      </p:tavLst>
                                    </p:anim>
                                    <p:anim calcmode="lin" valueType="num">
                                      <p:cBhvr>
                                        <p:cTn id="13" dur="1750" fill="hold"/>
                                        <p:tgtEl>
                                          <p:spTgt spid="3"/>
                                        </p:tgtEl>
                                        <p:attrNameLst>
                                          <p:attrName>ppt_h</p:attrName>
                                        </p:attrNameLst>
                                      </p:cBhvr>
                                      <p:tavLst>
                                        <p:tav tm="0">
                                          <p:val>
                                            <p:fltVal val="0"/>
                                          </p:val>
                                        </p:tav>
                                        <p:tav tm="100000">
                                          <p:val>
                                            <p:strVal val="#ppt_h"/>
                                          </p:val>
                                        </p:tav>
                                      </p:tavLst>
                                    </p:anim>
                                    <p:animEffect transition="in" filter="fade">
                                      <p:cBhvr>
                                        <p:cTn id="14" dur="175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750" fill="hold"/>
                                        <p:tgtEl>
                                          <p:spTgt spid="4"/>
                                        </p:tgtEl>
                                        <p:attrNameLst>
                                          <p:attrName>ppt_w</p:attrName>
                                        </p:attrNameLst>
                                      </p:cBhvr>
                                      <p:tavLst>
                                        <p:tav tm="0">
                                          <p:val>
                                            <p:fltVal val="0"/>
                                          </p:val>
                                        </p:tav>
                                        <p:tav tm="100000">
                                          <p:val>
                                            <p:strVal val="#ppt_w"/>
                                          </p:val>
                                        </p:tav>
                                      </p:tavLst>
                                    </p:anim>
                                    <p:anim calcmode="lin" valueType="num">
                                      <p:cBhvr>
                                        <p:cTn id="18" dur="1750" fill="hold"/>
                                        <p:tgtEl>
                                          <p:spTgt spid="4"/>
                                        </p:tgtEl>
                                        <p:attrNameLst>
                                          <p:attrName>ppt_h</p:attrName>
                                        </p:attrNameLst>
                                      </p:cBhvr>
                                      <p:tavLst>
                                        <p:tav tm="0">
                                          <p:val>
                                            <p:fltVal val="0"/>
                                          </p:val>
                                        </p:tav>
                                        <p:tav tm="100000">
                                          <p:val>
                                            <p:strVal val="#ppt_h"/>
                                          </p:val>
                                        </p:tav>
                                      </p:tavLst>
                                    </p:anim>
                                    <p:animEffect transition="in" filter="fade">
                                      <p:cBhvr>
                                        <p:cTn id="19" dur="1750"/>
                                        <p:tgtEl>
                                          <p:spTgt spid="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1750" fill="hold"/>
                                        <p:tgtEl>
                                          <p:spTgt spid="5"/>
                                        </p:tgtEl>
                                        <p:attrNameLst>
                                          <p:attrName>ppt_w</p:attrName>
                                        </p:attrNameLst>
                                      </p:cBhvr>
                                      <p:tavLst>
                                        <p:tav tm="0">
                                          <p:val>
                                            <p:fltVal val="0"/>
                                          </p:val>
                                        </p:tav>
                                        <p:tav tm="100000">
                                          <p:val>
                                            <p:strVal val="#ppt_w"/>
                                          </p:val>
                                        </p:tav>
                                      </p:tavLst>
                                    </p:anim>
                                    <p:anim calcmode="lin" valueType="num">
                                      <p:cBhvr>
                                        <p:cTn id="23" dur="1750" fill="hold"/>
                                        <p:tgtEl>
                                          <p:spTgt spid="5"/>
                                        </p:tgtEl>
                                        <p:attrNameLst>
                                          <p:attrName>ppt_h</p:attrName>
                                        </p:attrNameLst>
                                      </p:cBhvr>
                                      <p:tavLst>
                                        <p:tav tm="0">
                                          <p:val>
                                            <p:fltVal val="0"/>
                                          </p:val>
                                        </p:tav>
                                        <p:tav tm="100000">
                                          <p:val>
                                            <p:strVal val="#ppt_h"/>
                                          </p:val>
                                        </p:tav>
                                      </p:tavLst>
                                    </p:anim>
                                    <p:animEffect transition="in" filter="fade">
                                      <p:cBhvr>
                                        <p:cTn id="24" dur="175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750" fill="hold"/>
                                        <p:tgtEl>
                                          <p:spTgt spid="6"/>
                                        </p:tgtEl>
                                        <p:attrNameLst>
                                          <p:attrName>ppt_w</p:attrName>
                                        </p:attrNameLst>
                                      </p:cBhvr>
                                      <p:tavLst>
                                        <p:tav tm="0">
                                          <p:val>
                                            <p:fltVal val="0"/>
                                          </p:val>
                                        </p:tav>
                                        <p:tav tm="100000">
                                          <p:val>
                                            <p:strVal val="#ppt_w"/>
                                          </p:val>
                                        </p:tav>
                                      </p:tavLst>
                                    </p:anim>
                                    <p:anim calcmode="lin" valueType="num">
                                      <p:cBhvr>
                                        <p:cTn id="28" dur="1750" fill="hold"/>
                                        <p:tgtEl>
                                          <p:spTgt spid="6"/>
                                        </p:tgtEl>
                                        <p:attrNameLst>
                                          <p:attrName>ppt_h</p:attrName>
                                        </p:attrNameLst>
                                      </p:cBhvr>
                                      <p:tavLst>
                                        <p:tav tm="0">
                                          <p:val>
                                            <p:fltVal val="0"/>
                                          </p:val>
                                        </p:tav>
                                        <p:tav tm="100000">
                                          <p:val>
                                            <p:strVal val="#ppt_h"/>
                                          </p:val>
                                        </p:tav>
                                      </p:tavLst>
                                    </p:anim>
                                    <p:animEffect transition="in" filter="fade">
                                      <p:cBhvr>
                                        <p:cTn id="29" dur="175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1750" fill="hold"/>
                                        <p:tgtEl>
                                          <p:spTgt spid="7"/>
                                        </p:tgtEl>
                                        <p:attrNameLst>
                                          <p:attrName>ppt_w</p:attrName>
                                        </p:attrNameLst>
                                      </p:cBhvr>
                                      <p:tavLst>
                                        <p:tav tm="0">
                                          <p:val>
                                            <p:fltVal val="0"/>
                                          </p:val>
                                        </p:tav>
                                        <p:tav tm="100000">
                                          <p:val>
                                            <p:strVal val="#ppt_w"/>
                                          </p:val>
                                        </p:tav>
                                      </p:tavLst>
                                    </p:anim>
                                    <p:anim calcmode="lin" valueType="num">
                                      <p:cBhvr>
                                        <p:cTn id="33" dur="1750" fill="hold"/>
                                        <p:tgtEl>
                                          <p:spTgt spid="7"/>
                                        </p:tgtEl>
                                        <p:attrNameLst>
                                          <p:attrName>ppt_h</p:attrName>
                                        </p:attrNameLst>
                                      </p:cBhvr>
                                      <p:tavLst>
                                        <p:tav tm="0">
                                          <p:val>
                                            <p:fltVal val="0"/>
                                          </p:val>
                                        </p:tav>
                                        <p:tav tm="100000">
                                          <p:val>
                                            <p:strVal val="#ppt_h"/>
                                          </p:val>
                                        </p:tav>
                                      </p:tavLst>
                                    </p:anim>
                                    <p:animEffect transition="in" filter="fade">
                                      <p:cBhvr>
                                        <p:cTn id="34" dur="1750"/>
                                        <p:tgtEl>
                                          <p:spTgt spid="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750" fill="hold"/>
                                        <p:tgtEl>
                                          <p:spTgt spid="8"/>
                                        </p:tgtEl>
                                        <p:attrNameLst>
                                          <p:attrName>ppt_w</p:attrName>
                                        </p:attrNameLst>
                                      </p:cBhvr>
                                      <p:tavLst>
                                        <p:tav tm="0">
                                          <p:val>
                                            <p:fltVal val="0"/>
                                          </p:val>
                                        </p:tav>
                                        <p:tav tm="100000">
                                          <p:val>
                                            <p:strVal val="#ppt_w"/>
                                          </p:val>
                                        </p:tav>
                                      </p:tavLst>
                                    </p:anim>
                                    <p:anim calcmode="lin" valueType="num">
                                      <p:cBhvr>
                                        <p:cTn id="38" dur="1750" fill="hold"/>
                                        <p:tgtEl>
                                          <p:spTgt spid="8"/>
                                        </p:tgtEl>
                                        <p:attrNameLst>
                                          <p:attrName>ppt_h</p:attrName>
                                        </p:attrNameLst>
                                      </p:cBhvr>
                                      <p:tavLst>
                                        <p:tav tm="0">
                                          <p:val>
                                            <p:fltVal val="0"/>
                                          </p:val>
                                        </p:tav>
                                        <p:tav tm="100000">
                                          <p:val>
                                            <p:strVal val="#ppt_h"/>
                                          </p:val>
                                        </p:tav>
                                      </p:tavLst>
                                    </p:anim>
                                    <p:animEffect transition="in" filter="fade">
                                      <p:cBhvr>
                                        <p:cTn id="39" dur="1750"/>
                                        <p:tgtEl>
                                          <p:spTgt spid="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1750" fill="hold"/>
                                        <p:tgtEl>
                                          <p:spTgt spid="9"/>
                                        </p:tgtEl>
                                        <p:attrNameLst>
                                          <p:attrName>ppt_w</p:attrName>
                                        </p:attrNameLst>
                                      </p:cBhvr>
                                      <p:tavLst>
                                        <p:tav tm="0">
                                          <p:val>
                                            <p:fltVal val="0"/>
                                          </p:val>
                                        </p:tav>
                                        <p:tav tm="100000">
                                          <p:val>
                                            <p:strVal val="#ppt_w"/>
                                          </p:val>
                                        </p:tav>
                                      </p:tavLst>
                                    </p:anim>
                                    <p:anim calcmode="lin" valueType="num">
                                      <p:cBhvr>
                                        <p:cTn id="43" dur="1750" fill="hold"/>
                                        <p:tgtEl>
                                          <p:spTgt spid="9"/>
                                        </p:tgtEl>
                                        <p:attrNameLst>
                                          <p:attrName>ppt_h</p:attrName>
                                        </p:attrNameLst>
                                      </p:cBhvr>
                                      <p:tavLst>
                                        <p:tav tm="0">
                                          <p:val>
                                            <p:fltVal val="0"/>
                                          </p:val>
                                        </p:tav>
                                        <p:tav tm="100000">
                                          <p:val>
                                            <p:strVal val="#ppt_h"/>
                                          </p:val>
                                        </p:tav>
                                      </p:tavLst>
                                    </p:anim>
                                    <p:animEffect transition="in" filter="fade">
                                      <p:cBhvr>
                                        <p:cTn id="44" dur="1750"/>
                                        <p:tgtEl>
                                          <p:spTgt spid="9"/>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1750" fill="hold"/>
                                        <p:tgtEl>
                                          <p:spTgt spid="10"/>
                                        </p:tgtEl>
                                        <p:attrNameLst>
                                          <p:attrName>ppt_w</p:attrName>
                                        </p:attrNameLst>
                                      </p:cBhvr>
                                      <p:tavLst>
                                        <p:tav tm="0">
                                          <p:val>
                                            <p:fltVal val="0"/>
                                          </p:val>
                                        </p:tav>
                                        <p:tav tm="100000">
                                          <p:val>
                                            <p:strVal val="#ppt_w"/>
                                          </p:val>
                                        </p:tav>
                                      </p:tavLst>
                                    </p:anim>
                                    <p:anim calcmode="lin" valueType="num">
                                      <p:cBhvr>
                                        <p:cTn id="48" dur="1750" fill="hold"/>
                                        <p:tgtEl>
                                          <p:spTgt spid="10"/>
                                        </p:tgtEl>
                                        <p:attrNameLst>
                                          <p:attrName>ppt_h</p:attrName>
                                        </p:attrNameLst>
                                      </p:cBhvr>
                                      <p:tavLst>
                                        <p:tav tm="0">
                                          <p:val>
                                            <p:fltVal val="0"/>
                                          </p:val>
                                        </p:tav>
                                        <p:tav tm="100000">
                                          <p:val>
                                            <p:strVal val="#ppt_h"/>
                                          </p:val>
                                        </p:tav>
                                      </p:tavLst>
                                    </p:anim>
                                    <p:animEffect transition="in" filter="fade">
                                      <p:cBhvr>
                                        <p:cTn id="49" dur="1750"/>
                                        <p:tgtEl>
                                          <p:spTgt spid="1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1750" fill="hold"/>
                                        <p:tgtEl>
                                          <p:spTgt spid="11"/>
                                        </p:tgtEl>
                                        <p:attrNameLst>
                                          <p:attrName>ppt_w</p:attrName>
                                        </p:attrNameLst>
                                      </p:cBhvr>
                                      <p:tavLst>
                                        <p:tav tm="0">
                                          <p:val>
                                            <p:fltVal val="0"/>
                                          </p:val>
                                        </p:tav>
                                        <p:tav tm="100000">
                                          <p:val>
                                            <p:strVal val="#ppt_w"/>
                                          </p:val>
                                        </p:tav>
                                      </p:tavLst>
                                    </p:anim>
                                    <p:anim calcmode="lin" valueType="num">
                                      <p:cBhvr>
                                        <p:cTn id="53" dur="1750" fill="hold"/>
                                        <p:tgtEl>
                                          <p:spTgt spid="11"/>
                                        </p:tgtEl>
                                        <p:attrNameLst>
                                          <p:attrName>ppt_h</p:attrName>
                                        </p:attrNameLst>
                                      </p:cBhvr>
                                      <p:tavLst>
                                        <p:tav tm="0">
                                          <p:val>
                                            <p:fltVal val="0"/>
                                          </p:val>
                                        </p:tav>
                                        <p:tav tm="100000">
                                          <p:val>
                                            <p:strVal val="#ppt_h"/>
                                          </p:val>
                                        </p:tav>
                                      </p:tavLst>
                                    </p:anim>
                                    <p:animEffect transition="in" filter="fade">
                                      <p:cBhvr>
                                        <p:cTn id="54" dur="1750"/>
                                        <p:tgtEl>
                                          <p:spTgt spid="1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1750" fill="hold"/>
                                        <p:tgtEl>
                                          <p:spTgt spid="12"/>
                                        </p:tgtEl>
                                        <p:attrNameLst>
                                          <p:attrName>ppt_w</p:attrName>
                                        </p:attrNameLst>
                                      </p:cBhvr>
                                      <p:tavLst>
                                        <p:tav tm="0">
                                          <p:val>
                                            <p:fltVal val="0"/>
                                          </p:val>
                                        </p:tav>
                                        <p:tav tm="100000">
                                          <p:val>
                                            <p:strVal val="#ppt_w"/>
                                          </p:val>
                                        </p:tav>
                                      </p:tavLst>
                                    </p:anim>
                                    <p:anim calcmode="lin" valueType="num">
                                      <p:cBhvr>
                                        <p:cTn id="58" dur="1750" fill="hold"/>
                                        <p:tgtEl>
                                          <p:spTgt spid="12"/>
                                        </p:tgtEl>
                                        <p:attrNameLst>
                                          <p:attrName>ppt_h</p:attrName>
                                        </p:attrNameLst>
                                      </p:cBhvr>
                                      <p:tavLst>
                                        <p:tav tm="0">
                                          <p:val>
                                            <p:fltVal val="0"/>
                                          </p:val>
                                        </p:tav>
                                        <p:tav tm="100000">
                                          <p:val>
                                            <p:strVal val="#ppt_h"/>
                                          </p:val>
                                        </p:tav>
                                      </p:tavLst>
                                    </p:anim>
                                    <p:animEffect transition="in" filter="fade">
                                      <p:cBhvr>
                                        <p:cTn id="59" dur="1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اتخاذ القرار المبني على البيانات</a:t>
            </a:r>
          </a:p>
        </p:txBody>
      </p:sp>
      <p:sp>
        <p:nvSpPr>
          <p:cNvPr id="5" name="Rounded Rectangle 4"/>
          <p:cNvSpPr/>
          <p:nvPr/>
        </p:nvSpPr>
        <p:spPr>
          <a:xfrm>
            <a:off x="731520" y="1371600"/>
            <a:ext cx="10728655" cy="86868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914400" y="1463040"/>
            <a:ext cx="10362895" cy="400110"/>
          </a:xfrm>
          <a:prstGeom prst="rect">
            <a:avLst/>
          </a:prstGeom>
          <a:noFill/>
        </p:spPr>
        <p:txBody>
          <a:bodyPr wrap="square">
            <a:spAutoFit/>
          </a:bodyPr>
          <a:lstStyle/>
          <a:p>
            <a:pPr algn="r" rtl="1">
              <a:defRPr sz="1300" b="1">
                <a:solidFill>
                  <a:srgbClr val="0F2043"/>
                </a:solidFill>
              </a:defRPr>
            </a:pPr>
            <a:r>
              <a:rPr lang="ar-EG" sz="2000" noProof="1"/>
              <a:t>💾 البيانات (Data)   ───►   جمع الأرقام الحقيقية من الميدان والأدوات القياسية.</a:t>
            </a:r>
          </a:p>
        </p:txBody>
      </p:sp>
      <p:sp>
        <p:nvSpPr>
          <p:cNvPr id="7" name="Rounded Rectangle 6"/>
          <p:cNvSpPr/>
          <p:nvPr/>
        </p:nvSpPr>
        <p:spPr>
          <a:xfrm>
            <a:off x="731520" y="2331720"/>
            <a:ext cx="10728655" cy="86868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914400" y="2423160"/>
            <a:ext cx="10362895" cy="400110"/>
          </a:xfrm>
          <a:prstGeom prst="rect">
            <a:avLst/>
          </a:prstGeom>
          <a:noFill/>
        </p:spPr>
        <p:txBody>
          <a:bodyPr wrap="square">
            <a:spAutoFit/>
          </a:bodyPr>
          <a:lstStyle/>
          <a:p>
            <a:pPr algn="r" rtl="1">
              <a:defRPr sz="1300" b="1">
                <a:solidFill>
                  <a:srgbClr val="0F2043"/>
                </a:solidFill>
              </a:defRPr>
            </a:pPr>
            <a:r>
              <a:rPr lang="ar-EG" sz="2000" noProof="1"/>
              <a:t>🔍 التحليل (Analytics)   ───►   استخدام أدوات التحليل لاستخراج الفجوات والاتجاهات.</a:t>
            </a:r>
          </a:p>
        </p:txBody>
      </p:sp>
      <p:sp>
        <p:nvSpPr>
          <p:cNvPr id="9" name="Rounded Rectangle 8"/>
          <p:cNvSpPr/>
          <p:nvPr/>
        </p:nvSpPr>
        <p:spPr>
          <a:xfrm>
            <a:off x="731520" y="3291840"/>
            <a:ext cx="10728655" cy="86868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914400" y="3383280"/>
            <a:ext cx="10362895" cy="400110"/>
          </a:xfrm>
          <a:prstGeom prst="rect">
            <a:avLst/>
          </a:prstGeom>
          <a:noFill/>
        </p:spPr>
        <p:txBody>
          <a:bodyPr wrap="square">
            <a:spAutoFit/>
          </a:bodyPr>
          <a:lstStyle/>
          <a:p>
            <a:pPr algn="r" rtl="1">
              <a:defRPr sz="1300" b="1">
                <a:solidFill>
                  <a:srgbClr val="0F2043"/>
                </a:solidFill>
              </a:defRPr>
            </a:pPr>
            <a:r>
              <a:rPr lang="ar-EG" sz="2000" noProof="1"/>
              <a:t>💡 المعلومة (Insight)   ───►   فهم الأسباب الجذرية واستخلاص الرؤى الواضحة.</a:t>
            </a:r>
          </a:p>
        </p:txBody>
      </p:sp>
      <p:sp>
        <p:nvSpPr>
          <p:cNvPr id="11" name="Rounded Rectangle 10"/>
          <p:cNvSpPr/>
          <p:nvPr/>
        </p:nvSpPr>
        <p:spPr>
          <a:xfrm>
            <a:off x="731520" y="4251960"/>
            <a:ext cx="10728655" cy="868680"/>
          </a:xfrm>
          <a:prstGeom prst="roundRect">
            <a:avLst/>
          </a:prstGeom>
          <a:solidFill>
            <a:srgbClr val="F0F4F8"/>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914400" y="4343400"/>
            <a:ext cx="10362895" cy="400110"/>
          </a:xfrm>
          <a:prstGeom prst="rect">
            <a:avLst/>
          </a:prstGeom>
          <a:noFill/>
        </p:spPr>
        <p:txBody>
          <a:bodyPr wrap="square">
            <a:spAutoFit/>
          </a:bodyPr>
          <a:lstStyle/>
          <a:p>
            <a:pPr algn="r" rtl="1">
              <a:defRPr sz="1300" b="1">
                <a:solidFill>
                  <a:srgbClr val="0F2043"/>
                </a:solidFill>
              </a:defRPr>
            </a:pPr>
            <a:r>
              <a:rPr lang="ar-EG" sz="2000" noProof="1"/>
              <a:t>⚖️ القرار (Action)   ───►   صياغة قرارات تصحيحية وتوجيه الموارد بدقة.</a:t>
            </a:r>
          </a:p>
        </p:txBody>
      </p:sp>
      <p:sp>
        <p:nvSpPr>
          <p:cNvPr id="13" name="Rounded Rectangle 12"/>
          <p:cNvSpPr/>
          <p:nvPr/>
        </p:nvSpPr>
        <p:spPr>
          <a:xfrm>
            <a:off x="731520" y="5212080"/>
            <a:ext cx="10728655" cy="86868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914400" y="5303520"/>
            <a:ext cx="10362895" cy="400110"/>
          </a:xfrm>
          <a:prstGeom prst="rect">
            <a:avLst/>
          </a:prstGeom>
          <a:noFill/>
        </p:spPr>
        <p:txBody>
          <a:bodyPr wrap="square">
            <a:spAutoFit/>
          </a:bodyPr>
          <a:lstStyle/>
          <a:p>
            <a:pPr algn="r" rtl="1">
              <a:defRPr sz="1300" b="1">
                <a:solidFill>
                  <a:srgbClr val="107C41"/>
                </a:solidFill>
              </a:defRPr>
            </a:pPr>
            <a:r>
              <a:rPr lang="ar-EG" sz="2000" noProof="1"/>
              <a:t>🚀 التحسين (Impact)   ───►   متابعة الأثر المستدام وضمان رفع جودة المخرجات.</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2000"/>
                                        <p:tgtEl>
                                          <p:spTgt spid="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2000"/>
                                        <p:tgtEl>
                                          <p:spTgt spid="11"/>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heel(1)">
                                      <p:cBhvr>
                                        <p:cTn id="37" dur="2000"/>
                                        <p:tgtEl>
                                          <p:spTgt spid="12"/>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heel(1)">
                                      <p:cBhvr>
                                        <p:cTn id="40" dur="2000"/>
                                        <p:tgtEl>
                                          <p:spTgt spid="13"/>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heel(1)">
                                      <p:cBhvr>
                                        <p:cTn id="43"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P spid="13" grpId="0" animBg="1"/>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3" name="Rectangle 2"/>
          <p:cNvSpPr/>
          <p:nvPr/>
        </p:nvSpPr>
        <p:spPr>
          <a:xfrm>
            <a:off x="0" y="1005840"/>
            <a:ext cx="12191695" cy="54864"/>
          </a:xfrm>
          <a:prstGeom prst="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4" name="TextBox 3"/>
          <p:cNvSpPr txBox="1"/>
          <p:nvPr/>
        </p:nvSpPr>
        <p:spPr>
          <a:xfrm>
            <a:off x="731520" y="137160"/>
            <a:ext cx="10728655" cy="461665"/>
          </a:xfrm>
          <a:prstGeom prst="rect">
            <a:avLst/>
          </a:prstGeom>
          <a:noFill/>
        </p:spPr>
        <p:txBody>
          <a:bodyPr wrap="square">
            <a:spAutoFit/>
          </a:bodyPr>
          <a:lstStyle/>
          <a:p>
            <a:pPr algn="r">
              <a:defRPr sz="2400" b="1">
                <a:solidFill>
                  <a:srgbClr val="FFFFFF"/>
                </a:solidFill>
                <a:latin typeface="Arial"/>
              </a:defRPr>
            </a:pPr>
            <a:r>
              <a:rPr lang="ar-EG" noProof="1"/>
              <a:t>ملخص مرحلة التنفيذ والمتابعة</a:t>
            </a:r>
          </a:p>
        </p:txBody>
      </p:sp>
      <p:sp>
        <p:nvSpPr>
          <p:cNvPr id="5" name="Rounded Rectangle 4"/>
          <p:cNvSpPr/>
          <p:nvPr/>
        </p:nvSpPr>
        <p:spPr>
          <a:xfrm>
            <a:off x="457200" y="1463040"/>
            <a:ext cx="1536192" cy="109728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502920" y="1645920"/>
            <a:ext cx="1444752" cy="707886"/>
          </a:xfrm>
          <a:prstGeom prst="rect">
            <a:avLst/>
          </a:prstGeom>
          <a:noFill/>
        </p:spPr>
        <p:txBody>
          <a:bodyPr wrap="square">
            <a:spAutoFit/>
          </a:bodyPr>
          <a:lstStyle/>
          <a:p>
            <a:pPr algn="ctr" rtl="1">
              <a:defRPr sz="1100" b="1">
                <a:solidFill>
                  <a:srgbClr val="FFFFFF"/>
                </a:solidFill>
              </a:defRPr>
            </a:pPr>
            <a:r>
              <a:rPr lang="ar-EG" sz="2000" noProof="1"/>
              <a:t>7- التحسين المستمر</a:t>
            </a:r>
          </a:p>
        </p:txBody>
      </p:sp>
      <p:sp>
        <p:nvSpPr>
          <p:cNvPr id="7" name="Rounded Rectangle 6"/>
          <p:cNvSpPr/>
          <p:nvPr/>
        </p:nvSpPr>
        <p:spPr>
          <a:xfrm>
            <a:off x="2084832" y="1463040"/>
            <a:ext cx="1536192" cy="1097280"/>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8" name="TextBox 7"/>
          <p:cNvSpPr txBox="1"/>
          <p:nvPr/>
        </p:nvSpPr>
        <p:spPr>
          <a:xfrm>
            <a:off x="2130552" y="1645920"/>
            <a:ext cx="1444752" cy="400110"/>
          </a:xfrm>
          <a:prstGeom prst="rect">
            <a:avLst/>
          </a:prstGeom>
          <a:noFill/>
        </p:spPr>
        <p:txBody>
          <a:bodyPr wrap="square">
            <a:spAutoFit/>
          </a:bodyPr>
          <a:lstStyle/>
          <a:p>
            <a:pPr algn="ctr" rtl="1">
              <a:defRPr sz="1100" b="1">
                <a:solidFill>
                  <a:srgbClr val="FFFFFF"/>
                </a:solidFill>
              </a:defRPr>
            </a:pPr>
            <a:r>
              <a:rPr lang="ar-EG" sz="2000" noProof="1"/>
              <a:t>6- اتخاذ القرار</a:t>
            </a:r>
          </a:p>
        </p:txBody>
      </p:sp>
      <p:sp>
        <p:nvSpPr>
          <p:cNvPr id="9" name="Rounded Rectangle 8"/>
          <p:cNvSpPr/>
          <p:nvPr/>
        </p:nvSpPr>
        <p:spPr>
          <a:xfrm>
            <a:off x="3712464" y="1463040"/>
            <a:ext cx="1536192" cy="109728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1">
              <a:defRPr sz="1100" b="1">
                <a:solidFill>
                  <a:srgbClr val="FFFFFF"/>
                </a:solidFill>
              </a:defRPr>
            </a:pPr>
            <a:endParaRPr lang="ar-EG" noProof="1"/>
          </a:p>
        </p:txBody>
      </p:sp>
      <p:sp>
        <p:nvSpPr>
          <p:cNvPr id="10" name="TextBox 9"/>
          <p:cNvSpPr txBox="1"/>
          <p:nvPr/>
        </p:nvSpPr>
        <p:spPr>
          <a:xfrm>
            <a:off x="3758184" y="1645920"/>
            <a:ext cx="1444752" cy="707886"/>
          </a:xfrm>
          <a:prstGeom prst="rect">
            <a:avLst/>
          </a:prstGeom>
          <a:noFill/>
        </p:spPr>
        <p:txBody>
          <a:bodyPr wrap="square">
            <a:spAutoFit/>
          </a:bodyPr>
          <a:lstStyle/>
          <a:p>
            <a:pPr algn="ctr" rtl="1">
              <a:defRPr sz="1100" b="1">
                <a:solidFill>
                  <a:srgbClr val="FFFFFF"/>
                </a:solidFill>
              </a:defRPr>
            </a:pPr>
            <a:r>
              <a:rPr lang="ar-EG" sz="2000" noProof="1"/>
              <a:t>5- تحليل النتائج</a:t>
            </a:r>
          </a:p>
        </p:txBody>
      </p:sp>
      <p:sp>
        <p:nvSpPr>
          <p:cNvPr id="11" name="Rounded Rectangle 10"/>
          <p:cNvSpPr/>
          <p:nvPr/>
        </p:nvSpPr>
        <p:spPr>
          <a:xfrm>
            <a:off x="5340096" y="1463040"/>
            <a:ext cx="1536192" cy="1097280"/>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2" name="TextBox 11"/>
          <p:cNvSpPr txBox="1"/>
          <p:nvPr/>
        </p:nvSpPr>
        <p:spPr>
          <a:xfrm>
            <a:off x="5385816" y="1645920"/>
            <a:ext cx="1444752" cy="400110"/>
          </a:xfrm>
          <a:prstGeom prst="rect">
            <a:avLst/>
          </a:prstGeom>
          <a:noFill/>
        </p:spPr>
        <p:txBody>
          <a:bodyPr wrap="square">
            <a:spAutoFit/>
          </a:bodyPr>
          <a:lstStyle/>
          <a:p>
            <a:pPr algn="ctr" rtl="1">
              <a:defRPr sz="1100" b="1">
                <a:solidFill>
                  <a:srgbClr val="FFFFFF"/>
                </a:solidFill>
              </a:defRPr>
            </a:pPr>
            <a:r>
              <a:rPr lang="ar-EG" sz="2000" noProof="1"/>
              <a:t>4. قياس الأداء</a:t>
            </a:r>
          </a:p>
        </p:txBody>
      </p:sp>
      <p:sp>
        <p:nvSpPr>
          <p:cNvPr id="13" name="Rounded Rectangle 12"/>
          <p:cNvSpPr/>
          <p:nvPr/>
        </p:nvSpPr>
        <p:spPr>
          <a:xfrm>
            <a:off x="6967728" y="1463040"/>
            <a:ext cx="1536192" cy="109728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7013448" y="1645920"/>
            <a:ext cx="1444752" cy="400110"/>
          </a:xfrm>
          <a:prstGeom prst="rect">
            <a:avLst/>
          </a:prstGeom>
          <a:noFill/>
        </p:spPr>
        <p:txBody>
          <a:bodyPr wrap="square">
            <a:spAutoFit/>
          </a:bodyPr>
          <a:lstStyle/>
          <a:p>
            <a:pPr algn="ctr" rtl="1">
              <a:defRPr sz="1100" b="1">
                <a:solidFill>
                  <a:srgbClr val="FFFFFF"/>
                </a:solidFill>
              </a:defRPr>
            </a:pPr>
            <a:r>
              <a:rPr lang="ar-EG" sz="2000" noProof="1"/>
              <a:t>3- المتابعة</a:t>
            </a:r>
          </a:p>
        </p:txBody>
      </p:sp>
      <p:sp>
        <p:nvSpPr>
          <p:cNvPr id="15" name="Rounded Rectangle 14"/>
          <p:cNvSpPr/>
          <p:nvPr/>
        </p:nvSpPr>
        <p:spPr>
          <a:xfrm>
            <a:off x="8595360" y="1463040"/>
            <a:ext cx="1536192" cy="1097280"/>
          </a:xfrm>
          <a:prstGeom prst="roundRect">
            <a:avLst/>
          </a:prstGeom>
          <a:solidFill>
            <a:srgbClr val="107C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6" name="TextBox 15"/>
          <p:cNvSpPr txBox="1"/>
          <p:nvPr/>
        </p:nvSpPr>
        <p:spPr>
          <a:xfrm>
            <a:off x="8549640" y="1674465"/>
            <a:ext cx="1466088" cy="707886"/>
          </a:xfrm>
          <a:prstGeom prst="rect">
            <a:avLst/>
          </a:prstGeom>
          <a:noFill/>
        </p:spPr>
        <p:txBody>
          <a:bodyPr wrap="square">
            <a:spAutoFit/>
          </a:bodyPr>
          <a:lstStyle/>
          <a:p>
            <a:pPr algn="ctr" rtl="1">
              <a:defRPr sz="1100" b="1">
                <a:solidFill>
                  <a:srgbClr val="FFFFFF"/>
                </a:solidFill>
              </a:defRPr>
            </a:pPr>
            <a:r>
              <a:rPr lang="ar-EG" sz="2000" noProof="1"/>
              <a:t>2- تنفيذ المبادرات</a:t>
            </a:r>
          </a:p>
        </p:txBody>
      </p:sp>
      <p:sp>
        <p:nvSpPr>
          <p:cNvPr id="17" name="Rounded Rectangle 16"/>
          <p:cNvSpPr/>
          <p:nvPr/>
        </p:nvSpPr>
        <p:spPr>
          <a:xfrm>
            <a:off x="10222992" y="1463040"/>
            <a:ext cx="1536192" cy="1097280"/>
          </a:xfrm>
          <a:prstGeom prst="roundRect">
            <a:avLst/>
          </a:prstGeom>
          <a:solidFill>
            <a:srgbClr val="0F20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8" name="TextBox 17"/>
          <p:cNvSpPr txBox="1"/>
          <p:nvPr/>
        </p:nvSpPr>
        <p:spPr>
          <a:xfrm>
            <a:off x="10268712" y="1645920"/>
            <a:ext cx="1444752" cy="1015663"/>
          </a:xfrm>
          <a:prstGeom prst="rect">
            <a:avLst/>
          </a:prstGeom>
          <a:noFill/>
        </p:spPr>
        <p:txBody>
          <a:bodyPr wrap="square">
            <a:spAutoFit/>
          </a:bodyPr>
          <a:lstStyle/>
          <a:p>
            <a:pPr algn="ctr" rtl="1">
              <a:defRPr sz="1100" b="1">
                <a:solidFill>
                  <a:srgbClr val="FFFFFF"/>
                </a:solidFill>
              </a:defRPr>
            </a:pPr>
            <a:r>
              <a:rPr lang="ar-EG" sz="2000" noProof="1"/>
              <a:t>1- إعداد الخطة</a:t>
            </a:r>
          </a:p>
          <a:p>
            <a:pPr algn="r" rtl="1">
              <a:defRPr sz="1100" b="1">
                <a:solidFill>
                  <a:srgbClr val="FFFFFF"/>
                </a:solidFill>
              </a:defRPr>
            </a:pPr>
            <a:endParaRPr lang="ar-EG" sz="2000" noProof="1"/>
          </a:p>
        </p:txBody>
      </p:sp>
      <p:sp>
        <p:nvSpPr>
          <p:cNvPr id="19" name="Rounded Rectangle 18"/>
          <p:cNvSpPr/>
          <p:nvPr/>
        </p:nvSpPr>
        <p:spPr>
          <a:xfrm>
            <a:off x="731672" y="3017520"/>
            <a:ext cx="10728655" cy="2926080"/>
          </a:xfrm>
          <a:prstGeom prst="roundRect">
            <a:avLst/>
          </a:prstGeom>
          <a:solidFill>
            <a:srgbClr val="F0F4F8"/>
          </a:solidFill>
          <a:ln w="12700">
            <a:solidFill>
              <a:srgbClr val="107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0" name="TextBox 19"/>
          <p:cNvSpPr txBox="1"/>
          <p:nvPr/>
        </p:nvSpPr>
        <p:spPr>
          <a:xfrm>
            <a:off x="914400" y="3200400"/>
            <a:ext cx="10362895" cy="1908215"/>
          </a:xfrm>
          <a:prstGeom prst="rect">
            <a:avLst/>
          </a:prstGeom>
          <a:noFill/>
        </p:spPr>
        <p:txBody>
          <a:bodyPr wrap="square">
            <a:spAutoFit/>
          </a:bodyPr>
          <a:lstStyle/>
          <a:p>
            <a:pPr algn="just" rtl="1">
              <a:spcBef>
                <a:spcPts val="1200"/>
              </a:spcBef>
              <a:spcAft>
                <a:spcPts val="1200"/>
              </a:spcAft>
              <a:defRPr sz="1800" b="1">
                <a:solidFill>
                  <a:srgbClr val="0F2043"/>
                </a:solidFill>
              </a:defRPr>
            </a:pPr>
            <a:r>
              <a:rPr lang="ar-EG" sz="2600" noProof="1"/>
              <a:t>🌟 الخاتمة التنفيذية لمحور التنفيذ والمتابعة:</a:t>
            </a:r>
          </a:p>
          <a:p>
            <a:pPr algn="just" rtl="1">
              <a:spcBef>
                <a:spcPts val="1200"/>
              </a:spcBef>
              <a:spcAft>
                <a:spcPts val="1200"/>
              </a:spcAft>
            </a:pPr>
            <a:r>
              <a:rPr lang="ar-EG" sz="2400" noProof="1"/>
              <a:t>«</a:t>
            </a:r>
            <a:r>
              <a:rPr lang="ar-EG" sz="2400" b="1" noProof="1"/>
              <a:t>إن التزامنا بتطبيق هذه المنظومة المحكمة للمتابعة والقياس يضمن تحول خطة التحسين المدرسية من مجرد وثيقة نظرية إلى واقع عملي ملموس، ينعكس مباشرة على تجويد نواتج التعلم واستدامة الأداء المدرسي المتميز وفق أعلى معايير هيئة تقويم التعليم والتدريب.»</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2000"/>
                                        <p:tgtEl>
                                          <p:spTgt spid="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2000"/>
                                        <p:tgtEl>
                                          <p:spTgt spid="11"/>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heel(1)">
                                      <p:cBhvr>
                                        <p:cTn id="37" dur="2000"/>
                                        <p:tgtEl>
                                          <p:spTgt spid="12"/>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heel(1)">
                                      <p:cBhvr>
                                        <p:cTn id="40" dur="2000"/>
                                        <p:tgtEl>
                                          <p:spTgt spid="13"/>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heel(1)">
                                      <p:cBhvr>
                                        <p:cTn id="43" dur="2000"/>
                                        <p:tgtEl>
                                          <p:spTgt spid="14"/>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heel(1)">
                                      <p:cBhvr>
                                        <p:cTn id="49" dur="2000"/>
                                        <p:tgtEl>
                                          <p:spTgt spid="16"/>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heel(1)">
                                      <p:cBhvr>
                                        <p:cTn id="52" dur="2000"/>
                                        <p:tgtEl>
                                          <p:spTgt spid="17"/>
                                        </p:tgtEl>
                                      </p:cBhvr>
                                    </p:animEffect>
                                  </p:childTnLst>
                                </p:cTn>
                              </p:par>
                              <p:par>
                                <p:cTn id="53" presetID="21" presetClass="entr" presetSubtype="1"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heel(1)">
                                      <p:cBhvr>
                                        <p:cTn id="55" dur="2000"/>
                                        <p:tgtEl>
                                          <p:spTgt spid="18"/>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heel(1)">
                                      <p:cBhvr>
                                        <p:cTn id="58" dur="2000"/>
                                        <p:tgtEl>
                                          <p:spTgt spid="19"/>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heel(1)">
                                      <p:cBhvr>
                                        <p:cTn id="61"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P spid="6" grpId="0"/>
      <p:bldP spid="7" grpId="0" animBg="1"/>
      <p:bldP spid="8" grpId="0"/>
      <p:bldP spid="9" grpId="0" animBg="1"/>
      <p:bldP spid="10" grpId="0"/>
      <p:bldP spid="11" grpId="0" animBg="1"/>
      <p:bldP spid="12" grpId="0"/>
      <p:bldP spid="13" grpId="0" animBg="1"/>
      <p:bldP spid="14" grpId="0"/>
      <p:bldP spid="15" grpId="0" animBg="1"/>
      <p:bldP spid="16" grpId="0"/>
      <p:bldP spid="17" grpId="0" animBg="1"/>
      <p:bldP spid="18" grpId="0"/>
      <p:bldP spid="19" grpId="0" animBg="1"/>
      <p:bldP spid="2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descr="image.png">
            <a:extLst>
              <a:ext uri="{FF2B5EF4-FFF2-40B4-BE49-F238E27FC236}">
                <a16:creationId xmlns:a16="http://schemas.microsoft.com/office/drawing/2014/main" id="{0F4DB5F6-EA96-02DA-3543-A671D08D34A7}"/>
              </a:ext>
            </a:extLst>
          </p:cNvPr>
          <p:cNvPicPr>
            <a:picLocks noChangeAspect="1"/>
          </p:cNvPicPr>
          <p:nvPr/>
        </p:nvPicPr>
        <p:blipFill>
          <a:blip r:embed="rId2"/>
          <a:stretch>
            <a:fillRect/>
          </a:stretch>
        </p:blipFill>
        <p:spPr>
          <a:xfrm>
            <a:off x="0" y="0"/>
            <a:ext cx="12192000" cy="6858000"/>
          </a:xfrm>
          <a:prstGeom prst="rect">
            <a:avLst/>
          </a:prstGeom>
        </p:spPr>
      </p:pic>
      <p:sp>
        <p:nvSpPr>
          <p:cNvPr id="5" name="مربع نص 4">
            <a:extLst>
              <a:ext uri="{FF2B5EF4-FFF2-40B4-BE49-F238E27FC236}">
                <a16:creationId xmlns:a16="http://schemas.microsoft.com/office/drawing/2014/main" id="{FD76046C-60DB-663A-FC19-BB503E154FA7}"/>
              </a:ext>
            </a:extLst>
          </p:cNvPr>
          <p:cNvSpPr txBox="1"/>
          <p:nvPr/>
        </p:nvSpPr>
        <p:spPr>
          <a:xfrm>
            <a:off x="2994284" y="2871334"/>
            <a:ext cx="7453859" cy="769441"/>
          </a:xfrm>
          <a:prstGeom prst="rect">
            <a:avLst/>
          </a:prstGeom>
          <a:noFill/>
        </p:spPr>
        <p:txBody>
          <a:bodyPr wrap="square">
            <a:spAutoFit/>
          </a:bodyPr>
          <a:lstStyle/>
          <a:p>
            <a:pPr algn="ctr" rtl="1">
              <a:defRPr sz="2800" b="1">
                <a:solidFill>
                  <a:srgbClr val="102C57"/>
                </a:solidFill>
                <a:latin typeface="Arial"/>
              </a:defRPr>
            </a:pPr>
            <a:r>
              <a:rPr lang="ar-EG" sz="4400" noProof="1">
                <a:solidFill>
                  <a:schemeClr val="bg1"/>
                </a:solidFill>
              </a:rPr>
              <a:t>التحسين ثقافة وليست مشروعًا مؤقتًا</a:t>
            </a:r>
          </a:p>
        </p:txBody>
      </p:sp>
    </p:spTree>
    <p:extLst>
      <p:ext uri="{BB962C8B-B14F-4D97-AF65-F5344CB8AC3E}">
        <p14:creationId xmlns:p14="http://schemas.microsoft.com/office/powerpoint/2010/main" val="28898910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عوامل نجاح خطة التحسين</a:t>
            </a:r>
          </a:p>
        </p:txBody>
      </p:sp>
      <p:sp>
        <p:nvSpPr>
          <p:cNvPr id="3" name="Oval 2"/>
          <p:cNvSpPr/>
          <p:nvPr/>
        </p:nvSpPr>
        <p:spPr>
          <a:xfrm>
            <a:off x="4723790" y="2971800"/>
            <a:ext cx="2743200" cy="1645920"/>
          </a:xfrm>
          <a:prstGeom prst="ellipse">
            <a:avLst/>
          </a:prstGeom>
          <a:solidFill>
            <a:srgbClr val="102C57"/>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rPr lang="ar-EG" sz="2400" noProof="1"/>
              <a:t>خطة تحسين</a:t>
            </a:r>
            <a:br>
              <a:rPr lang="ar-EG" sz="2400" noProof="1"/>
            </a:br>
            <a:r>
              <a:rPr lang="ar-EG" sz="2400" noProof="1"/>
              <a:t>قائمة على الأثر</a:t>
            </a:r>
          </a:p>
        </p:txBody>
      </p:sp>
      <p:sp>
        <p:nvSpPr>
          <p:cNvPr id="4" name="Rounded Rectangle 3"/>
          <p:cNvSpPr/>
          <p:nvPr/>
        </p:nvSpPr>
        <p:spPr>
          <a:xfrm>
            <a:off x="731520" y="1645920"/>
            <a:ext cx="3383280" cy="128016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rgbClr val="002060"/>
                </a:solidFill>
              </a:rPr>
              <a:t>👑 قيادة داعمة</a:t>
            </a:r>
          </a:p>
          <a:p>
            <a:pPr algn="r" rtl="1">
              <a:defRPr sz="1200">
                <a:solidFill>
                  <a:srgbClr val="1E293B"/>
                </a:solidFill>
              </a:defRPr>
            </a:pPr>
            <a:r>
              <a:rPr lang="ar-EG" sz="2000" b="1" noProof="1">
                <a:solidFill>
                  <a:schemeClr val="tx1"/>
                </a:solidFill>
              </a:rPr>
              <a:t>تمكين الفريق وتوفير الموارد</a:t>
            </a:r>
          </a:p>
        </p:txBody>
      </p:sp>
      <p:sp>
        <p:nvSpPr>
          <p:cNvPr id="5" name="Rounded Rectangle 4"/>
          <p:cNvSpPr/>
          <p:nvPr/>
        </p:nvSpPr>
        <p:spPr>
          <a:xfrm>
            <a:off x="4389120" y="1371600"/>
            <a:ext cx="3383280" cy="128016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102C57"/>
                </a:solidFill>
              </a:defRPr>
            </a:pPr>
            <a:r>
              <a:rPr lang="ar-EG" sz="2000" noProof="1">
                <a:solidFill>
                  <a:srgbClr val="002060"/>
                </a:solidFill>
              </a:rPr>
              <a:t>👥 فريق عمل فعال</a:t>
            </a:r>
          </a:p>
          <a:p>
            <a:pPr algn="ctr" rtl="1">
              <a:defRPr sz="1200">
                <a:solidFill>
                  <a:srgbClr val="1E293B"/>
                </a:solidFill>
              </a:defRPr>
            </a:pPr>
            <a:r>
              <a:rPr lang="ar-EG" sz="2000" b="1" noProof="1">
                <a:solidFill>
                  <a:schemeClr val="tx1"/>
                </a:solidFill>
              </a:rPr>
              <a:t>توزيع واضح للمسؤوليات والتكامل</a:t>
            </a:r>
          </a:p>
        </p:txBody>
      </p:sp>
      <p:sp>
        <p:nvSpPr>
          <p:cNvPr id="6" name="Rounded Rectangle 5"/>
          <p:cNvSpPr/>
          <p:nvPr/>
        </p:nvSpPr>
        <p:spPr>
          <a:xfrm>
            <a:off x="8046720" y="1645920"/>
            <a:ext cx="3383280" cy="128016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102C57"/>
                </a:solidFill>
              </a:defRPr>
            </a:pPr>
            <a:r>
              <a:rPr lang="ar-EG" sz="2000" noProof="1">
                <a:solidFill>
                  <a:srgbClr val="002060"/>
                </a:solidFill>
              </a:rPr>
              <a:t>🎯 أهداف واضحة</a:t>
            </a:r>
          </a:p>
          <a:p>
            <a:pPr algn="ctr" rtl="1">
              <a:defRPr sz="1200">
                <a:solidFill>
                  <a:srgbClr val="1E293B"/>
                </a:solidFill>
              </a:defRPr>
            </a:pPr>
            <a:r>
              <a:rPr lang="ar-EG" sz="2000" b="1" noProof="1">
                <a:solidFill>
                  <a:schemeClr val="tx1"/>
                </a:solidFill>
              </a:rPr>
              <a:t>محددة، قابلة للقياس وموجهة للنتائج</a:t>
            </a:r>
          </a:p>
        </p:txBody>
      </p:sp>
      <p:sp>
        <p:nvSpPr>
          <p:cNvPr id="7" name="Rounded Rectangle 6"/>
          <p:cNvSpPr/>
          <p:nvPr/>
        </p:nvSpPr>
        <p:spPr>
          <a:xfrm>
            <a:off x="731520" y="4754880"/>
            <a:ext cx="3383280" cy="128016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noProof="1">
                <a:solidFill>
                  <a:srgbClr val="002060"/>
                </a:solidFill>
              </a:rPr>
              <a:t>📊 </a:t>
            </a:r>
            <a:r>
              <a:rPr lang="ar-EG" sz="2000" noProof="1">
                <a:solidFill>
                  <a:srgbClr val="002060"/>
                </a:solidFill>
              </a:rPr>
              <a:t>بيانات دقيقة</a:t>
            </a:r>
          </a:p>
          <a:p>
            <a:pPr algn="r" rtl="1">
              <a:defRPr sz="1200">
                <a:solidFill>
                  <a:srgbClr val="1E293B"/>
                </a:solidFill>
              </a:defRPr>
            </a:pPr>
            <a:r>
              <a:rPr lang="ar-EG" sz="2000" b="1" noProof="1">
                <a:solidFill>
                  <a:schemeClr val="tx1"/>
                </a:solidFill>
              </a:rPr>
              <a:t>شواهد فعلية تعكس الواقع الميداني</a:t>
            </a:r>
          </a:p>
        </p:txBody>
      </p:sp>
      <p:sp>
        <p:nvSpPr>
          <p:cNvPr id="8" name="Rounded Rectangle 7"/>
          <p:cNvSpPr/>
          <p:nvPr/>
        </p:nvSpPr>
        <p:spPr>
          <a:xfrm>
            <a:off x="4389120" y="5029200"/>
            <a:ext cx="3383280" cy="128016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102C57"/>
                </a:solidFill>
              </a:defRPr>
            </a:pPr>
            <a:r>
              <a:rPr lang="ar-EG" noProof="1">
                <a:solidFill>
                  <a:srgbClr val="002060"/>
                </a:solidFill>
              </a:rPr>
              <a:t>🔍 </a:t>
            </a:r>
            <a:r>
              <a:rPr lang="ar-EG" sz="2000" noProof="1">
                <a:solidFill>
                  <a:srgbClr val="002060"/>
                </a:solidFill>
              </a:rPr>
              <a:t>متابعة مستمرة</a:t>
            </a:r>
          </a:p>
          <a:p>
            <a:pPr algn="ctr" rtl="1">
              <a:defRPr sz="1200">
                <a:solidFill>
                  <a:srgbClr val="1E293B"/>
                </a:solidFill>
              </a:defRPr>
            </a:pPr>
            <a:r>
              <a:rPr lang="ar-EG" sz="2000" b="1" noProof="1">
                <a:solidFill>
                  <a:schemeClr val="tx1"/>
                </a:solidFill>
              </a:rPr>
              <a:t>مؤشرات قياس أداء وأدوات تحقق</a:t>
            </a:r>
          </a:p>
        </p:txBody>
      </p:sp>
      <p:sp>
        <p:nvSpPr>
          <p:cNvPr id="9" name="Rounded Rectangle 8"/>
          <p:cNvSpPr/>
          <p:nvPr/>
        </p:nvSpPr>
        <p:spPr>
          <a:xfrm>
            <a:off x="8046720" y="4754880"/>
            <a:ext cx="3383280" cy="128016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rgbClr val="002060"/>
                </a:solidFill>
              </a:rPr>
              <a:t>🤝 مشاركة المجتمع</a:t>
            </a:r>
          </a:p>
          <a:p>
            <a:pPr algn="r" rtl="1">
              <a:defRPr sz="1200">
                <a:solidFill>
                  <a:srgbClr val="1E293B"/>
                </a:solidFill>
              </a:defRPr>
            </a:pPr>
            <a:r>
              <a:rPr lang="ar-EG" sz="2000" b="1" noProof="1">
                <a:solidFill>
                  <a:schemeClr val="tx1"/>
                </a:solidFill>
              </a:rPr>
              <a:t>إدماج أولياء الأمور والشركاء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0-#ppt_w/2"/>
                                          </p:val>
                                        </p:tav>
                                        <p:tav tm="100000">
                                          <p:val>
                                            <p:strVal val="#ppt_x"/>
                                          </p:val>
                                        </p:tav>
                                      </p:tavLst>
                                    </p:anim>
                                    <p:anim calcmode="lin" valueType="num">
                                      <p:cBhvr additive="base">
                                        <p:cTn id="8" dur="1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0-#ppt_w/2"/>
                                          </p:val>
                                        </p:tav>
                                        <p:tav tm="100000">
                                          <p:val>
                                            <p:strVal val="#ppt_x"/>
                                          </p:val>
                                        </p:tav>
                                      </p:tavLst>
                                    </p:anim>
                                    <p:anim calcmode="lin" valueType="num">
                                      <p:cBhvr additive="base">
                                        <p:cTn id="12" dur="175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0-#ppt_w/2"/>
                                          </p:val>
                                        </p:tav>
                                        <p:tav tm="100000">
                                          <p:val>
                                            <p:strVal val="#ppt_x"/>
                                          </p:val>
                                        </p:tav>
                                      </p:tavLst>
                                    </p:anim>
                                    <p:anim calcmode="lin" valueType="num">
                                      <p:cBhvr additive="base">
                                        <p:cTn id="16" dur="175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0-#ppt_w/2"/>
                                          </p:val>
                                        </p:tav>
                                        <p:tav tm="100000">
                                          <p:val>
                                            <p:strVal val="#ppt_x"/>
                                          </p:val>
                                        </p:tav>
                                      </p:tavLst>
                                    </p:anim>
                                    <p:anim calcmode="lin" valueType="num">
                                      <p:cBhvr additive="base">
                                        <p:cTn id="20" dur="175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0-#ppt_w/2"/>
                                          </p:val>
                                        </p:tav>
                                        <p:tav tm="100000">
                                          <p:val>
                                            <p:strVal val="#ppt_x"/>
                                          </p:val>
                                        </p:tav>
                                      </p:tavLst>
                                    </p:anim>
                                    <p:anim calcmode="lin" valueType="num">
                                      <p:cBhvr additive="base">
                                        <p:cTn id="24" dur="175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0-#ppt_w/2"/>
                                          </p:val>
                                        </p:tav>
                                        <p:tav tm="100000">
                                          <p:val>
                                            <p:strVal val="#ppt_x"/>
                                          </p:val>
                                        </p:tav>
                                      </p:tavLst>
                                    </p:anim>
                                    <p:anim calcmode="lin" valueType="num">
                                      <p:cBhvr additive="base">
                                        <p:cTn id="28" dur="175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750" fill="hold"/>
                                        <p:tgtEl>
                                          <p:spTgt spid="8"/>
                                        </p:tgtEl>
                                        <p:attrNameLst>
                                          <p:attrName>ppt_x</p:attrName>
                                        </p:attrNameLst>
                                      </p:cBhvr>
                                      <p:tavLst>
                                        <p:tav tm="0">
                                          <p:val>
                                            <p:strVal val="0-#ppt_w/2"/>
                                          </p:val>
                                        </p:tav>
                                        <p:tav tm="100000">
                                          <p:val>
                                            <p:strVal val="#ppt_x"/>
                                          </p:val>
                                        </p:tav>
                                      </p:tavLst>
                                    </p:anim>
                                    <p:anim calcmode="lin" valueType="num">
                                      <p:cBhvr additive="base">
                                        <p:cTn id="32" dur="1750" fill="hold"/>
                                        <p:tgtEl>
                                          <p:spTgt spid="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750" fill="hold"/>
                                        <p:tgtEl>
                                          <p:spTgt spid="9"/>
                                        </p:tgtEl>
                                        <p:attrNameLst>
                                          <p:attrName>ppt_x</p:attrName>
                                        </p:attrNameLst>
                                      </p:cBhvr>
                                      <p:tavLst>
                                        <p:tav tm="0">
                                          <p:val>
                                            <p:strVal val="0-#ppt_w/2"/>
                                          </p:val>
                                        </p:tav>
                                        <p:tav tm="100000">
                                          <p:val>
                                            <p:strVal val="#ppt_x"/>
                                          </p:val>
                                        </p:tav>
                                      </p:tavLst>
                                    </p:anim>
                                    <p:anim calcmode="lin" valueType="num">
                                      <p:cBhvr additive="base">
                                        <p:cTn id="36" dur="1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45720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أدوار فريق التحسين المدرسي</a:t>
            </a:r>
          </a:p>
        </p:txBody>
      </p:sp>
      <p:sp>
        <p:nvSpPr>
          <p:cNvPr id="3" name="Rectangle 2"/>
          <p:cNvSpPr/>
          <p:nvPr/>
        </p:nvSpPr>
        <p:spPr>
          <a:xfrm>
            <a:off x="1371600" y="1371600"/>
            <a:ext cx="9448495" cy="822960"/>
          </a:xfrm>
          <a:prstGeom prst="rect">
            <a:avLst/>
          </a:prstGeom>
          <a:solidFill>
            <a:srgbClr val="F8FAFC"/>
          </a:solidFill>
          <a:ln w="25400">
            <a:solidFill>
              <a:srgbClr val="102C5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E293B"/>
                </a:solidFill>
              </a:defRPr>
            </a:pPr>
            <a:r>
              <a:rPr lang="ar-EG" sz="2000" noProof="1">
                <a:solidFill>
                  <a:schemeClr val="tx1"/>
                </a:solidFill>
              </a:rPr>
              <a:t>🟦 مدير المدرسة :  التوجيه الاستراتيجي، التمكين، واعتماد الخطط</a:t>
            </a:r>
          </a:p>
        </p:txBody>
      </p:sp>
      <p:sp>
        <p:nvSpPr>
          <p:cNvPr id="4" name="Rectangle 3"/>
          <p:cNvSpPr/>
          <p:nvPr/>
        </p:nvSpPr>
        <p:spPr>
          <a:xfrm>
            <a:off x="1371600" y="2377440"/>
            <a:ext cx="9448495" cy="822960"/>
          </a:xfrm>
          <a:prstGeom prst="rect">
            <a:avLst/>
          </a:prstGeom>
          <a:solidFill>
            <a:srgbClr val="F8FAFC"/>
          </a:solidFill>
          <a:ln w="25400">
            <a:solidFill>
              <a:srgbClr val="3559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E293B"/>
                </a:solidFill>
              </a:defRPr>
            </a:pPr>
            <a:r>
              <a:rPr lang="ar-EG" sz="2000" noProof="1">
                <a:solidFill>
                  <a:schemeClr val="tx1"/>
                </a:solidFill>
              </a:rPr>
              <a:t>🔷 فريق الجودة :  التحليل الفني، المتابعة، وقياس المؤشرات</a:t>
            </a:r>
          </a:p>
        </p:txBody>
      </p:sp>
      <p:sp>
        <p:nvSpPr>
          <p:cNvPr id="5" name="Rectangle 4"/>
          <p:cNvSpPr/>
          <p:nvPr/>
        </p:nvSpPr>
        <p:spPr>
          <a:xfrm>
            <a:off x="1371600" y="3383280"/>
            <a:ext cx="9448495" cy="822960"/>
          </a:xfrm>
          <a:prstGeom prst="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E293B"/>
                </a:solidFill>
              </a:defRPr>
            </a:pPr>
            <a:r>
              <a:rPr lang="ar-EG" sz="2000" noProof="1">
                <a:solidFill>
                  <a:schemeClr val="tx1"/>
                </a:solidFill>
              </a:rPr>
              <a:t>🟩 المعلمون :  التنفيذ الميداني، ابتكار المبادرات، ونقل الأثر للصف</a:t>
            </a:r>
          </a:p>
        </p:txBody>
      </p:sp>
      <p:sp>
        <p:nvSpPr>
          <p:cNvPr id="6" name="Rectangle 5"/>
          <p:cNvSpPr/>
          <p:nvPr/>
        </p:nvSpPr>
        <p:spPr>
          <a:xfrm>
            <a:off x="1371600" y="4389120"/>
            <a:ext cx="9448495" cy="822960"/>
          </a:xfrm>
          <a:prstGeom prst="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E293B"/>
                </a:solidFill>
              </a:defRPr>
            </a:pPr>
            <a:r>
              <a:rPr lang="ar-EG" sz="2000" noProof="1">
                <a:solidFill>
                  <a:schemeClr val="tx1"/>
                </a:solidFill>
              </a:rPr>
              <a:t>🟢 الطلاب :  التفاعل، المشاركة النشطة، تقديم التغذية الراجعة</a:t>
            </a:r>
          </a:p>
        </p:txBody>
      </p:sp>
      <p:sp>
        <p:nvSpPr>
          <p:cNvPr id="7" name="Rectangle 6"/>
          <p:cNvSpPr/>
          <p:nvPr/>
        </p:nvSpPr>
        <p:spPr>
          <a:xfrm>
            <a:off x="1371600" y="5394960"/>
            <a:ext cx="9448495" cy="822960"/>
          </a:xfrm>
          <a:prstGeom prst="rect">
            <a:avLst/>
          </a:prstGeom>
          <a:solidFill>
            <a:srgbClr val="F8FAFC"/>
          </a:solidFill>
          <a:ln w="25400">
            <a:solidFill>
              <a:srgbClr val="94A3B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E293B"/>
                </a:solidFill>
              </a:defRPr>
            </a:pPr>
            <a:r>
              <a:rPr lang="ar-EG" sz="2000" noProof="1">
                <a:solidFill>
                  <a:schemeClr val="tx1"/>
                </a:solidFill>
              </a:rPr>
              <a:t>⚪ الشركاء والدعم :  رعاية المبادرات، تقديم الخبرة، والمشاركة المجتمعية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fill="hold"/>
                                        <p:tgtEl>
                                          <p:spTgt spid="2"/>
                                        </p:tgtEl>
                                        <p:attrNameLst>
                                          <p:attrName>ppt_x</p:attrName>
                                        </p:attrNameLst>
                                      </p:cBhvr>
                                      <p:tavLst>
                                        <p:tav tm="0">
                                          <p:val>
                                            <p:strVal val="#ppt_x"/>
                                          </p:val>
                                        </p:tav>
                                        <p:tav tm="100000">
                                          <p:val>
                                            <p:strVal val="#ppt_x"/>
                                          </p:val>
                                        </p:tav>
                                      </p:tavLst>
                                    </p:anim>
                                    <p:anim calcmode="lin" valueType="num">
                                      <p:cBhvr additive="base">
                                        <p:cTn id="8" dur="17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fill="hold"/>
                                        <p:tgtEl>
                                          <p:spTgt spid="3"/>
                                        </p:tgtEl>
                                        <p:attrNameLst>
                                          <p:attrName>ppt_x</p:attrName>
                                        </p:attrNameLst>
                                      </p:cBhvr>
                                      <p:tavLst>
                                        <p:tav tm="0">
                                          <p:val>
                                            <p:strVal val="#ppt_x"/>
                                          </p:val>
                                        </p:tav>
                                        <p:tav tm="100000">
                                          <p:val>
                                            <p:strVal val="#ppt_x"/>
                                          </p:val>
                                        </p:tav>
                                      </p:tavLst>
                                    </p:anim>
                                    <p:anim calcmode="lin" valueType="num">
                                      <p:cBhvr additive="base">
                                        <p:cTn id="12" dur="1750" fill="hold"/>
                                        <p:tgtEl>
                                          <p:spTgt spid="3"/>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fill="hold"/>
                                        <p:tgtEl>
                                          <p:spTgt spid="4"/>
                                        </p:tgtEl>
                                        <p:attrNameLst>
                                          <p:attrName>ppt_x</p:attrName>
                                        </p:attrNameLst>
                                      </p:cBhvr>
                                      <p:tavLst>
                                        <p:tav tm="0">
                                          <p:val>
                                            <p:strVal val="#ppt_x"/>
                                          </p:val>
                                        </p:tav>
                                        <p:tav tm="100000">
                                          <p:val>
                                            <p:strVal val="#ppt_x"/>
                                          </p:val>
                                        </p:tav>
                                      </p:tavLst>
                                    </p:anim>
                                    <p:anim calcmode="lin" valueType="num">
                                      <p:cBhvr additive="base">
                                        <p:cTn id="16" dur="1750" fill="hold"/>
                                        <p:tgtEl>
                                          <p:spTgt spid="4"/>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fill="hold"/>
                                        <p:tgtEl>
                                          <p:spTgt spid="5"/>
                                        </p:tgtEl>
                                        <p:attrNameLst>
                                          <p:attrName>ppt_x</p:attrName>
                                        </p:attrNameLst>
                                      </p:cBhvr>
                                      <p:tavLst>
                                        <p:tav tm="0">
                                          <p:val>
                                            <p:strVal val="#ppt_x"/>
                                          </p:val>
                                        </p:tav>
                                        <p:tav tm="100000">
                                          <p:val>
                                            <p:strVal val="#ppt_x"/>
                                          </p:val>
                                        </p:tav>
                                      </p:tavLst>
                                    </p:anim>
                                    <p:anim calcmode="lin" valueType="num">
                                      <p:cBhvr additive="base">
                                        <p:cTn id="20" dur="1750" fill="hold"/>
                                        <p:tgtEl>
                                          <p:spTgt spid="5"/>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fill="hold"/>
                                        <p:tgtEl>
                                          <p:spTgt spid="6"/>
                                        </p:tgtEl>
                                        <p:attrNameLst>
                                          <p:attrName>ppt_x</p:attrName>
                                        </p:attrNameLst>
                                      </p:cBhvr>
                                      <p:tavLst>
                                        <p:tav tm="0">
                                          <p:val>
                                            <p:strVal val="#ppt_x"/>
                                          </p:val>
                                        </p:tav>
                                        <p:tav tm="100000">
                                          <p:val>
                                            <p:strVal val="#ppt_x"/>
                                          </p:val>
                                        </p:tav>
                                      </p:tavLst>
                                    </p:anim>
                                    <p:anim calcmode="lin" valueType="num">
                                      <p:cBhvr additive="base">
                                        <p:cTn id="24" dur="1750" fill="hold"/>
                                        <p:tgtEl>
                                          <p:spTgt spid="6"/>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fill="hold"/>
                                        <p:tgtEl>
                                          <p:spTgt spid="7"/>
                                        </p:tgtEl>
                                        <p:attrNameLst>
                                          <p:attrName>ppt_x</p:attrName>
                                        </p:attrNameLst>
                                      </p:cBhvr>
                                      <p:tavLst>
                                        <p:tav tm="0">
                                          <p:val>
                                            <p:strVal val="#ppt_x"/>
                                          </p:val>
                                        </p:tav>
                                        <p:tav tm="100000">
                                          <p:val>
                                            <p:strVal val="#ppt_x"/>
                                          </p:val>
                                        </p:tav>
                                      </p:tavLst>
                                    </p:anim>
                                    <p:anim calcmode="lin" valueType="num">
                                      <p:cBhvr additive="base">
                                        <p:cTn id="28" dur="175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9272" y="57406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أخطاء شائعة في خطط التحسين</a:t>
            </a:r>
          </a:p>
        </p:txBody>
      </p:sp>
      <p:sp>
        <p:nvSpPr>
          <p:cNvPr id="3" name="Rounded Rectangle 2"/>
          <p:cNvSpPr/>
          <p:nvPr/>
        </p:nvSpPr>
        <p:spPr>
          <a:xfrm>
            <a:off x="731520" y="1645920"/>
            <a:ext cx="3383280" cy="182880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E11D48"/>
                </a:solidFill>
              </a:defRPr>
            </a:pPr>
            <a:r>
              <a:rPr lang="ar-EG" sz="2400" noProof="1">
                <a:solidFill>
                  <a:srgbClr val="FF0000"/>
                </a:solidFill>
              </a:rPr>
              <a:t>⚠️</a:t>
            </a:r>
            <a:r>
              <a:rPr lang="ar-EG" noProof="1">
                <a:solidFill>
                  <a:srgbClr val="FF0000"/>
                </a:solidFill>
              </a:rPr>
              <a:t> </a:t>
            </a:r>
            <a:r>
              <a:rPr lang="ar-EG" sz="2400" noProof="1">
                <a:solidFill>
                  <a:srgbClr val="FF0000"/>
                </a:solidFill>
              </a:rPr>
              <a:t>زحمة الأنشطة</a:t>
            </a:r>
          </a:p>
          <a:p>
            <a:pPr algn="ctr" rtl="1">
              <a:defRPr sz="1300">
                <a:solidFill>
                  <a:srgbClr val="1E293B"/>
                </a:solidFill>
              </a:defRPr>
            </a:pPr>
            <a:r>
              <a:rPr lang="ar-EG" sz="2000" b="1" noProof="1">
                <a:solidFill>
                  <a:schemeClr val="tx1"/>
                </a:solidFill>
              </a:rPr>
              <a:t>التركيز على كثرة الأنشطة دون النظر لأثرها الفعلي</a:t>
            </a:r>
            <a:r>
              <a:rPr lang="ar-EG" sz="1200" b="1" noProof="1">
                <a:solidFill>
                  <a:schemeClr val="tx1"/>
                </a:solidFill>
              </a:rPr>
              <a:t>.</a:t>
            </a:r>
          </a:p>
        </p:txBody>
      </p:sp>
      <p:sp>
        <p:nvSpPr>
          <p:cNvPr id="4" name="Rounded Rectangle 3"/>
          <p:cNvSpPr/>
          <p:nvPr/>
        </p:nvSpPr>
        <p:spPr>
          <a:xfrm>
            <a:off x="4389120" y="1645920"/>
            <a:ext cx="3383280" cy="182880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E11D48"/>
                </a:solidFill>
              </a:defRPr>
            </a:pPr>
            <a:r>
              <a:rPr lang="ar-EG" sz="2400" noProof="1">
                <a:solidFill>
                  <a:srgbClr val="FF0000"/>
                </a:solidFill>
              </a:rPr>
              <a:t>⚠️</a:t>
            </a:r>
            <a:r>
              <a:rPr lang="ar-EG" noProof="1">
                <a:solidFill>
                  <a:srgbClr val="FF0000"/>
                </a:solidFill>
              </a:rPr>
              <a:t> </a:t>
            </a:r>
            <a:r>
              <a:rPr lang="ar-EG" sz="2400" noProof="1">
                <a:solidFill>
                  <a:srgbClr val="FF0000"/>
                </a:solidFill>
              </a:rPr>
              <a:t>التشخيص القشري</a:t>
            </a:r>
          </a:p>
          <a:p>
            <a:pPr algn="ctr" rtl="1">
              <a:defRPr sz="1300">
                <a:solidFill>
                  <a:srgbClr val="1E293B"/>
                </a:solidFill>
              </a:defRPr>
            </a:pPr>
            <a:r>
              <a:rPr lang="ar-EG" sz="2000" b="1" noProof="1">
                <a:solidFill>
                  <a:schemeClr val="tx1"/>
                </a:solidFill>
              </a:rPr>
              <a:t>إغفال تحليل السبب الجذر للمشكلة والتعامل مع الأعراض فقط</a:t>
            </a:r>
            <a:r>
              <a:rPr lang="ar-EG" sz="1200" noProof="1">
                <a:solidFill>
                  <a:schemeClr val="tx1"/>
                </a:solidFill>
              </a:rPr>
              <a:t>.</a:t>
            </a:r>
          </a:p>
        </p:txBody>
      </p:sp>
      <p:sp>
        <p:nvSpPr>
          <p:cNvPr id="5" name="Rounded Rectangle 4"/>
          <p:cNvSpPr/>
          <p:nvPr/>
        </p:nvSpPr>
        <p:spPr>
          <a:xfrm>
            <a:off x="8076895" y="1645920"/>
            <a:ext cx="3383280" cy="182880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E11D48"/>
                </a:solidFill>
              </a:defRPr>
            </a:pPr>
            <a:r>
              <a:rPr lang="ar-EG" sz="2400" noProof="1">
                <a:solidFill>
                  <a:srgbClr val="FF0000"/>
                </a:solidFill>
              </a:rPr>
              <a:t>⚠️</a:t>
            </a:r>
            <a:r>
              <a:rPr lang="ar-EG" noProof="1">
                <a:solidFill>
                  <a:srgbClr val="FF0000"/>
                </a:solidFill>
              </a:rPr>
              <a:t> </a:t>
            </a:r>
            <a:r>
              <a:rPr lang="ar-EG" sz="2400" noProof="1">
                <a:solidFill>
                  <a:srgbClr val="FF0000"/>
                </a:solidFill>
              </a:rPr>
              <a:t>ضبابية الأهداف</a:t>
            </a:r>
          </a:p>
          <a:p>
            <a:pPr algn="r" rtl="1">
              <a:defRPr sz="1300">
                <a:solidFill>
                  <a:srgbClr val="1E293B"/>
                </a:solidFill>
              </a:defRPr>
            </a:pPr>
            <a:r>
              <a:rPr lang="ar-EG" sz="2000" b="1" noProof="1">
                <a:solidFill>
                  <a:schemeClr val="tx1"/>
                </a:solidFill>
              </a:rPr>
              <a:t>صياغة أهداف إنشائية غير قابلة للقياس أو التحقق</a:t>
            </a:r>
            <a:r>
              <a:rPr lang="ar-EG" sz="1200" b="1" noProof="1">
                <a:solidFill>
                  <a:schemeClr val="tx1"/>
                </a:solidFill>
              </a:rPr>
              <a:t>.</a:t>
            </a:r>
          </a:p>
        </p:txBody>
      </p:sp>
      <p:sp>
        <p:nvSpPr>
          <p:cNvPr id="6" name="Rounded Rectangle 5"/>
          <p:cNvSpPr/>
          <p:nvPr/>
        </p:nvSpPr>
        <p:spPr>
          <a:xfrm>
            <a:off x="2560320" y="3931920"/>
            <a:ext cx="3383280" cy="182880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E11D48"/>
                </a:solidFill>
              </a:defRPr>
            </a:pPr>
            <a:r>
              <a:rPr lang="ar-EG" sz="2400" noProof="1">
                <a:solidFill>
                  <a:srgbClr val="FF0000"/>
                </a:solidFill>
              </a:rPr>
              <a:t>⚠️</a:t>
            </a:r>
            <a:r>
              <a:rPr lang="ar-EG" noProof="1">
                <a:solidFill>
                  <a:srgbClr val="FF0000"/>
                </a:solidFill>
              </a:rPr>
              <a:t> </a:t>
            </a:r>
            <a:r>
              <a:rPr lang="ar-EG" sz="2400" noProof="1">
                <a:solidFill>
                  <a:srgbClr val="FF0000"/>
                </a:solidFill>
              </a:rPr>
              <a:t>مبادرات معزولة</a:t>
            </a:r>
          </a:p>
          <a:p>
            <a:pPr algn="r" rtl="1">
              <a:defRPr sz="1300">
                <a:solidFill>
                  <a:srgbClr val="1E293B"/>
                </a:solidFill>
              </a:defRPr>
            </a:pPr>
            <a:r>
              <a:rPr lang="ar-EG" sz="2000" b="1" noProof="1">
                <a:solidFill>
                  <a:schemeClr val="tx1"/>
                </a:solidFill>
              </a:rPr>
              <a:t>تنفيذ مبادرات لا ترتبط بمؤشرات التقويم الوطني</a:t>
            </a:r>
            <a:r>
              <a:rPr lang="ar-EG" sz="1200" noProof="1">
                <a:solidFill>
                  <a:schemeClr val="tx1"/>
                </a:solidFill>
              </a:rPr>
              <a:t>.</a:t>
            </a:r>
          </a:p>
        </p:txBody>
      </p:sp>
      <p:sp>
        <p:nvSpPr>
          <p:cNvPr id="7" name="Rounded Rectangle 6"/>
          <p:cNvSpPr/>
          <p:nvPr/>
        </p:nvSpPr>
        <p:spPr>
          <a:xfrm>
            <a:off x="6217920" y="3931920"/>
            <a:ext cx="3383280" cy="1828800"/>
          </a:xfrm>
          <a:prstGeom prst="roundRect">
            <a:avLst/>
          </a:prstGeom>
          <a:solidFill>
            <a:srgbClr val="FEF2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600" b="1">
                <a:solidFill>
                  <a:srgbClr val="E11D48"/>
                </a:solidFill>
              </a:defRPr>
            </a:pPr>
            <a:r>
              <a:rPr lang="ar-EG" sz="2400" noProof="1">
                <a:solidFill>
                  <a:srgbClr val="FF0000"/>
                </a:solidFill>
              </a:rPr>
              <a:t>⚠️</a:t>
            </a:r>
            <a:r>
              <a:rPr lang="ar-EG" noProof="1">
                <a:solidFill>
                  <a:srgbClr val="FF0000"/>
                </a:solidFill>
              </a:rPr>
              <a:t> </a:t>
            </a:r>
            <a:r>
              <a:rPr lang="ar-EG" sz="2400" noProof="1">
                <a:solidFill>
                  <a:srgbClr val="FF0000"/>
                </a:solidFill>
              </a:rPr>
              <a:t>المتابعة غياب التتبع</a:t>
            </a:r>
          </a:p>
          <a:p>
            <a:pPr algn="ctr" rtl="1">
              <a:defRPr sz="1300">
                <a:solidFill>
                  <a:srgbClr val="1E293B"/>
                </a:solidFill>
              </a:defRPr>
            </a:pPr>
            <a:r>
              <a:rPr lang="ar-EG" sz="2000" b="1" noProof="1">
                <a:solidFill>
                  <a:schemeClr val="tx1"/>
                </a:solidFill>
              </a:rPr>
              <a:t>وضع الخطة في الأدراج وإغفال الدورية</a:t>
            </a:r>
            <a:r>
              <a:rPr lang="ar-EG" sz="1200" b="1" noProof="1">
                <a:solidFill>
                  <a:schemeClr val="tx1"/>
                </a:solidFill>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plus(in)">
                                      <p:cBhvr>
                                        <p:cTn id="7" dur="2000"/>
                                        <p:tgtEl>
                                          <p:spTgt spid="2"/>
                                        </p:tgtEl>
                                      </p:cBhvr>
                                    </p:animEffect>
                                  </p:childTnLst>
                                </p:cTn>
                              </p:par>
                              <p:par>
                                <p:cTn id="8" presetID="13"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plus(in)">
                                      <p:cBhvr>
                                        <p:cTn id="10" dur="2000"/>
                                        <p:tgtEl>
                                          <p:spTgt spid="3"/>
                                        </p:tgtEl>
                                      </p:cBhvr>
                                    </p:animEffect>
                                  </p:childTnLst>
                                </p:cTn>
                              </p:par>
                              <p:par>
                                <p:cTn id="11" presetID="13"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plus(in)">
                                      <p:cBhvr>
                                        <p:cTn id="13" dur="2000"/>
                                        <p:tgtEl>
                                          <p:spTgt spid="4"/>
                                        </p:tgtEl>
                                      </p:cBhvr>
                                    </p:animEffect>
                                  </p:childTnLst>
                                </p:cTn>
                              </p:par>
                              <p:par>
                                <p:cTn id="14" presetID="13" presetClass="entr" presetSubtype="16"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plus(in)">
                                      <p:cBhvr>
                                        <p:cTn id="16" dur="2000"/>
                                        <p:tgtEl>
                                          <p:spTgt spid="5"/>
                                        </p:tgtEl>
                                      </p:cBhvr>
                                    </p:animEffect>
                                  </p:childTnLst>
                                </p:cTn>
                              </p:par>
                              <p:par>
                                <p:cTn id="17" presetID="13" presetClass="entr" presetSubtype="1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plus(in)">
                                      <p:cBhvr>
                                        <p:cTn id="19" dur="2000"/>
                                        <p:tgtEl>
                                          <p:spTgt spid="6"/>
                                        </p:tgtEl>
                                      </p:cBhvr>
                                    </p:animEffect>
                                  </p:childTnLst>
                                </p:cTn>
                              </p:par>
                              <p:par>
                                <p:cTn id="20" presetID="1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plus(in)">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5" y="54105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كيف نجعل المبادرات أكثر تأثيراً؟</a:t>
            </a:r>
          </a:p>
        </p:txBody>
      </p:sp>
      <p:sp>
        <p:nvSpPr>
          <p:cNvPr id="3" name="Rectangle 2"/>
          <p:cNvSpPr/>
          <p:nvPr/>
        </p:nvSpPr>
        <p:spPr>
          <a:xfrm>
            <a:off x="1523390" y="1371600"/>
            <a:ext cx="9144000" cy="822960"/>
          </a:xfrm>
          <a:prstGeom prst="rect">
            <a:avLst/>
          </a:prstGeom>
          <a:solidFill>
            <a:srgbClr val="10B981"/>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FFFFFF"/>
                </a:solidFill>
              </a:defRPr>
            </a:pPr>
            <a:r>
              <a:rPr lang="ar-EG" sz="2000" noProof="1"/>
              <a:t>الدرجة 5 (القمة) 🌟 : مبادرة مستدامة (تتحول إلى ثقافة وممارسات مؤسسية)</a:t>
            </a:r>
          </a:p>
        </p:txBody>
      </p:sp>
      <p:sp>
        <p:nvSpPr>
          <p:cNvPr id="4" name="Rectangle 3"/>
          <p:cNvSpPr/>
          <p:nvPr/>
        </p:nvSpPr>
        <p:spPr>
          <a:xfrm>
            <a:off x="1523390" y="2286000"/>
            <a:ext cx="9144000" cy="822960"/>
          </a:xfrm>
          <a:prstGeom prst="rect">
            <a:avLst/>
          </a:prstGeom>
          <a:solidFill>
            <a:srgbClr val="10B981"/>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FFFFFF"/>
                </a:solidFill>
              </a:defRPr>
            </a:pPr>
            <a:r>
              <a:rPr lang="ar-EG" sz="2000" noProof="1"/>
              <a:t>الدرجة 4 : مبادرة تقاس نتائجها (مقترنة بأدوات تقويم دقيقة)</a:t>
            </a:r>
          </a:p>
        </p:txBody>
      </p:sp>
      <p:sp>
        <p:nvSpPr>
          <p:cNvPr id="5" name="Rectangle 4"/>
          <p:cNvSpPr/>
          <p:nvPr/>
        </p:nvSpPr>
        <p:spPr>
          <a:xfrm>
            <a:off x="1523390" y="3200400"/>
            <a:ext cx="9144000" cy="822960"/>
          </a:xfrm>
          <a:prstGeom prst="rect">
            <a:avLst/>
          </a:prstGeom>
          <a:solidFill>
            <a:srgbClr val="35598E"/>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FFFFFF"/>
                </a:solidFill>
              </a:defRPr>
            </a:pPr>
            <a:r>
              <a:rPr lang="ar-EG" sz="2000" noProof="1"/>
              <a:t>الدرجة 3 : مبادرة مبنية على بيانات (تنطلق من فجوة مثبتة بالأرقام)</a:t>
            </a:r>
          </a:p>
        </p:txBody>
      </p:sp>
      <p:sp>
        <p:nvSpPr>
          <p:cNvPr id="6" name="Rectangle 5"/>
          <p:cNvSpPr/>
          <p:nvPr/>
        </p:nvSpPr>
        <p:spPr>
          <a:xfrm>
            <a:off x="1523390" y="4114800"/>
            <a:ext cx="9144000" cy="822960"/>
          </a:xfrm>
          <a:prstGeom prst="rect">
            <a:avLst/>
          </a:prstGeom>
          <a:solidFill>
            <a:srgbClr val="35598E"/>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FFFFFF"/>
                </a:solidFill>
              </a:defRPr>
            </a:pPr>
            <a:r>
              <a:rPr lang="ar-EG" sz="2000" noProof="1"/>
              <a:t>الدرجة 2 : مبادرة مرتبطة بمؤشر (تخدم ناتجاً محدداً في معايير التقويم)</a:t>
            </a:r>
          </a:p>
        </p:txBody>
      </p:sp>
      <p:sp>
        <p:nvSpPr>
          <p:cNvPr id="7" name="Rectangle 6"/>
          <p:cNvSpPr/>
          <p:nvPr/>
        </p:nvSpPr>
        <p:spPr>
          <a:xfrm>
            <a:off x="1523390" y="5029200"/>
            <a:ext cx="9144000" cy="822960"/>
          </a:xfrm>
          <a:prstGeom prst="rect">
            <a:avLst/>
          </a:prstGeom>
          <a:solidFill>
            <a:srgbClr val="94A3B8"/>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500" b="1">
                <a:solidFill>
                  <a:srgbClr val="FFFFFF"/>
                </a:solidFill>
              </a:defRPr>
            </a:pPr>
            <a:r>
              <a:rPr lang="ar-EG" sz="2000" noProof="1"/>
              <a:t>الدرجة 1 (القاعدة) : مبادرة عادية (نشاط تقليدي بلا قياس)</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fltVal val="0"/>
                                          </p:val>
                                        </p:tav>
                                        <p:tav tm="100000">
                                          <p:val>
                                            <p:strVal val="#ppt_h"/>
                                          </p:val>
                                        </p:tav>
                                      </p:tavLst>
                                    </p:anim>
                                    <p:anim calcmode="lin" valueType="num">
                                      <p:cBhvr>
                                        <p:cTn id="9" dur="1750" fill="hold"/>
                                        <p:tgtEl>
                                          <p:spTgt spid="2"/>
                                        </p:tgtEl>
                                        <p:attrNameLst>
                                          <p:attrName>style.rotation</p:attrName>
                                        </p:attrNameLst>
                                      </p:cBhvr>
                                      <p:tavLst>
                                        <p:tav tm="0">
                                          <p:val>
                                            <p:fltVal val="90"/>
                                          </p:val>
                                        </p:tav>
                                        <p:tav tm="100000">
                                          <p:val>
                                            <p:fltVal val="0"/>
                                          </p:val>
                                        </p:tav>
                                      </p:tavLst>
                                    </p:anim>
                                    <p:animEffect transition="in" filter="fade">
                                      <p:cBhvr>
                                        <p:cTn id="10" dur="175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750" fill="hold"/>
                                        <p:tgtEl>
                                          <p:spTgt spid="3"/>
                                        </p:tgtEl>
                                        <p:attrNameLst>
                                          <p:attrName>ppt_w</p:attrName>
                                        </p:attrNameLst>
                                      </p:cBhvr>
                                      <p:tavLst>
                                        <p:tav tm="0">
                                          <p:val>
                                            <p:fltVal val="0"/>
                                          </p:val>
                                        </p:tav>
                                        <p:tav tm="100000">
                                          <p:val>
                                            <p:strVal val="#ppt_w"/>
                                          </p:val>
                                        </p:tav>
                                      </p:tavLst>
                                    </p:anim>
                                    <p:anim calcmode="lin" valueType="num">
                                      <p:cBhvr>
                                        <p:cTn id="14" dur="1750" fill="hold"/>
                                        <p:tgtEl>
                                          <p:spTgt spid="3"/>
                                        </p:tgtEl>
                                        <p:attrNameLst>
                                          <p:attrName>ppt_h</p:attrName>
                                        </p:attrNameLst>
                                      </p:cBhvr>
                                      <p:tavLst>
                                        <p:tav tm="0">
                                          <p:val>
                                            <p:fltVal val="0"/>
                                          </p:val>
                                        </p:tav>
                                        <p:tav tm="100000">
                                          <p:val>
                                            <p:strVal val="#ppt_h"/>
                                          </p:val>
                                        </p:tav>
                                      </p:tavLst>
                                    </p:anim>
                                    <p:anim calcmode="lin" valueType="num">
                                      <p:cBhvr>
                                        <p:cTn id="15" dur="1750" fill="hold"/>
                                        <p:tgtEl>
                                          <p:spTgt spid="3"/>
                                        </p:tgtEl>
                                        <p:attrNameLst>
                                          <p:attrName>style.rotation</p:attrName>
                                        </p:attrNameLst>
                                      </p:cBhvr>
                                      <p:tavLst>
                                        <p:tav tm="0">
                                          <p:val>
                                            <p:fltVal val="90"/>
                                          </p:val>
                                        </p:tav>
                                        <p:tav tm="100000">
                                          <p:val>
                                            <p:fltVal val="0"/>
                                          </p:val>
                                        </p:tav>
                                      </p:tavLst>
                                    </p:anim>
                                    <p:animEffect transition="in" filter="fade">
                                      <p:cBhvr>
                                        <p:cTn id="16" dur="1750"/>
                                        <p:tgtEl>
                                          <p:spTgt spid="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750" fill="hold"/>
                                        <p:tgtEl>
                                          <p:spTgt spid="4"/>
                                        </p:tgtEl>
                                        <p:attrNameLst>
                                          <p:attrName>ppt_w</p:attrName>
                                        </p:attrNameLst>
                                      </p:cBhvr>
                                      <p:tavLst>
                                        <p:tav tm="0">
                                          <p:val>
                                            <p:fltVal val="0"/>
                                          </p:val>
                                        </p:tav>
                                        <p:tav tm="100000">
                                          <p:val>
                                            <p:strVal val="#ppt_w"/>
                                          </p:val>
                                        </p:tav>
                                      </p:tavLst>
                                    </p:anim>
                                    <p:anim calcmode="lin" valueType="num">
                                      <p:cBhvr>
                                        <p:cTn id="20" dur="1750" fill="hold"/>
                                        <p:tgtEl>
                                          <p:spTgt spid="4"/>
                                        </p:tgtEl>
                                        <p:attrNameLst>
                                          <p:attrName>ppt_h</p:attrName>
                                        </p:attrNameLst>
                                      </p:cBhvr>
                                      <p:tavLst>
                                        <p:tav tm="0">
                                          <p:val>
                                            <p:fltVal val="0"/>
                                          </p:val>
                                        </p:tav>
                                        <p:tav tm="100000">
                                          <p:val>
                                            <p:strVal val="#ppt_h"/>
                                          </p:val>
                                        </p:tav>
                                      </p:tavLst>
                                    </p:anim>
                                    <p:anim calcmode="lin" valueType="num">
                                      <p:cBhvr>
                                        <p:cTn id="21" dur="1750" fill="hold"/>
                                        <p:tgtEl>
                                          <p:spTgt spid="4"/>
                                        </p:tgtEl>
                                        <p:attrNameLst>
                                          <p:attrName>style.rotation</p:attrName>
                                        </p:attrNameLst>
                                      </p:cBhvr>
                                      <p:tavLst>
                                        <p:tav tm="0">
                                          <p:val>
                                            <p:fltVal val="90"/>
                                          </p:val>
                                        </p:tav>
                                        <p:tav tm="100000">
                                          <p:val>
                                            <p:fltVal val="0"/>
                                          </p:val>
                                        </p:tav>
                                      </p:tavLst>
                                    </p:anim>
                                    <p:animEffect transition="in" filter="fade">
                                      <p:cBhvr>
                                        <p:cTn id="22" dur="1750"/>
                                        <p:tgtEl>
                                          <p:spTgt spid="4"/>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750" fill="hold"/>
                                        <p:tgtEl>
                                          <p:spTgt spid="5"/>
                                        </p:tgtEl>
                                        <p:attrNameLst>
                                          <p:attrName>ppt_w</p:attrName>
                                        </p:attrNameLst>
                                      </p:cBhvr>
                                      <p:tavLst>
                                        <p:tav tm="0">
                                          <p:val>
                                            <p:fltVal val="0"/>
                                          </p:val>
                                        </p:tav>
                                        <p:tav tm="100000">
                                          <p:val>
                                            <p:strVal val="#ppt_w"/>
                                          </p:val>
                                        </p:tav>
                                      </p:tavLst>
                                    </p:anim>
                                    <p:anim calcmode="lin" valueType="num">
                                      <p:cBhvr>
                                        <p:cTn id="26" dur="1750" fill="hold"/>
                                        <p:tgtEl>
                                          <p:spTgt spid="5"/>
                                        </p:tgtEl>
                                        <p:attrNameLst>
                                          <p:attrName>ppt_h</p:attrName>
                                        </p:attrNameLst>
                                      </p:cBhvr>
                                      <p:tavLst>
                                        <p:tav tm="0">
                                          <p:val>
                                            <p:fltVal val="0"/>
                                          </p:val>
                                        </p:tav>
                                        <p:tav tm="100000">
                                          <p:val>
                                            <p:strVal val="#ppt_h"/>
                                          </p:val>
                                        </p:tav>
                                      </p:tavLst>
                                    </p:anim>
                                    <p:anim calcmode="lin" valueType="num">
                                      <p:cBhvr>
                                        <p:cTn id="27" dur="1750" fill="hold"/>
                                        <p:tgtEl>
                                          <p:spTgt spid="5"/>
                                        </p:tgtEl>
                                        <p:attrNameLst>
                                          <p:attrName>style.rotation</p:attrName>
                                        </p:attrNameLst>
                                      </p:cBhvr>
                                      <p:tavLst>
                                        <p:tav tm="0">
                                          <p:val>
                                            <p:fltVal val="90"/>
                                          </p:val>
                                        </p:tav>
                                        <p:tav tm="100000">
                                          <p:val>
                                            <p:fltVal val="0"/>
                                          </p:val>
                                        </p:tav>
                                      </p:tavLst>
                                    </p:anim>
                                    <p:animEffect transition="in" filter="fade">
                                      <p:cBhvr>
                                        <p:cTn id="28" dur="1750"/>
                                        <p:tgtEl>
                                          <p:spTgt spid="5"/>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1750" fill="hold"/>
                                        <p:tgtEl>
                                          <p:spTgt spid="6"/>
                                        </p:tgtEl>
                                        <p:attrNameLst>
                                          <p:attrName>ppt_w</p:attrName>
                                        </p:attrNameLst>
                                      </p:cBhvr>
                                      <p:tavLst>
                                        <p:tav tm="0">
                                          <p:val>
                                            <p:fltVal val="0"/>
                                          </p:val>
                                        </p:tav>
                                        <p:tav tm="100000">
                                          <p:val>
                                            <p:strVal val="#ppt_w"/>
                                          </p:val>
                                        </p:tav>
                                      </p:tavLst>
                                    </p:anim>
                                    <p:anim calcmode="lin" valueType="num">
                                      <p:cBhvr>
                                        <p:cTn id="32" dur="1750" fill="hold"/>
                                        <p:tgtEl>
                                          <p:spTgt spid="6"/>
                                        </p:tgtEl>
                                        <p:attrNameLst>
                                          <p:attrName>ppt_h</p:attrName>
                                        </p:attrNameLst>
                                      </p:cBhvr>
                                      <p:tavLst>
                                        <p:tav tm="0">
                                          <p:val>
                                            <p:fltVal val="0"/>
                                          </p:val>
                                        </p:tav>
                                        <p:tav tm="100000">
                                          <p:val>
                                            <p:strVal val="#ppt_h"/>
                                          </p:val>
                                        </p:tav>
                                      </p:tavLst>
                                    </p:anim>
                                    <p:anim calcmode="lin" valueType="num">
                                      <p:cBhvr>
                                        <p:cTn id="33" dur="1750" fill="hold"/>
                                        <p:tgtEl>
                                          <p:spTgt spid="6"/>
                                        </p:tgtEl>
                                        <p:attrNameLst>
                                          <p:attrName>style.rotation</p:attrName>
                                        </p:attrNameLst>
                                      </p:cBhvr>
                                      <p:tavLst>
                                        <p:tav tm="0">
                                          <p:val>
                                            <p:fltVal val="90"/>
                                          </p:val>
                                        </p:tav>
                                        <p:tav tm="100000">
                                          <p:val>
                                            <p:fltVal val="0"/>
                                          </p:val>
                                        </p:tav>
                                      </p:tavLst>
                                    </p:anim>
                                    <p:animEffect transition="in" filter="fade">
                                      <p:cBhvr>
                                        <p:cTn id="34" dur="1750"/>
                                        <p:tgtEl>
                                          <p:spTgt spid="6"/>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1750" fill="hold"/>
                                        <p:tgtEl>
                                          <p:spTgt spid="7"/>
                                        </p:tgtEl>
                                        <p:attrNameLst>
                                          <p:attrName>ppt_w</p:attrName>
                                        </p:attrNameLst>
                                      </p:cBhvr>
                                      <p:tavLst>
                                        <p:tav tm="0">
                                          <p:val>
                                            <p:fltVal val="0"/>
                                          </p:val>
                                        </p:tav>
                                        <p:tav tm="100000">
                                          <p:val>
                                            <p:strVal val="#ppt_w"/>
                                          </p:val>
                                        </p:tav>
                                      </p:tavLst>
                                    </p:anim>
                                    <p:anim calcmode="lin" valueType="num">
                                      <p:cBhvr>
                                        <p:cTn id="38" dur="1750" fill="hold"/>
                                        <p:tgtEl>
                                          <p:spTgt spid="7"/>
                                        </p:tgtEl>
                                        <p:attrNameLst>
                                          <p:attrName>ppt_h</p:attrName>
                                        </p:attrNameLst>
                                      </p:cBhvr>
                                      <p:tavLst>
                                        <p:tav tm="0">
                                          <p:val>
                                            <p:fltVal val="0"/>
                                          </p:val>
                                        </p:tav>
                                        <p:tav tm="100000">
                                          <p:val>
                                            <p:strVal val="#ppt_h"/>
                                          </p:val>
                                        </p:tav>
                                      </p:tavLst>
                                    </p:anim>
                                    <p:anim calcmode="lin" valueType="num">
                                      <p:cBhvr>
                                        <p:cTn id="39" dur="1750" fill="hold"/>
                                        <p:tgtEl>
                                          <p:spTgt spid="7"/>
                                        </p:tgtEl>
                                        <p:attrNameLst>
                                          <p:attrName>style.rotation</p:attrName>
                                        </p:attrNameLst>
                                      </p:cBhvr>
                                      <p:tavLst>
                                        <p:tav tm="0">
                                          <p:val>
                                            <p:fltVal val="90"/>
                                          </p:val>
                                        </p:tav>
                                        <p:tav tm="100000">
                                          <p:val>
                                            <p:fltVal val="0"/>
                                          </p:val>
                                        </p:tav>
                                      </p:tavLst>
                                    </p:anim>
                                    <p:animEffect transition="in" filter="fade">
                                      <p:cBhvr>
                                        <p:cTn id="40" dur="1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6091" y="71881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دراسة حالة تطبيقية</a:t>
            </a:r>
          </a:p>
        </p:txBody>
      </p:sp>
      <p:sp>
        <p:nvSpPr>
          <p:cNvPr id="3" name="Rounded Rectangle 2"/>
          <p:cNvSpPr/>
          <p:nvPr/>
        </p:nvSpPr>
        <p:spPr>
          <a:xfrm>
            <a:off x="6217920" y="1645920"/>
            <a:ext cx="5212080" cy="4572000"/>
          </a:xfrm>
          <a:prstGeom prst="roundRect">
            <a:avLst/>
          </a:prstGeom>
          <a:solidFill>
            <a:srgbClr val="F8FAFC"/>
          </a:solidFill>
          <a:ln>
            <a:solidFill>
              <a:srgbClr val="102C5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102C57"/>
                </a:solidFill>
              </a:defRPr>
            </a:pPr>
            <a:r>
              <a:rPr lang="ar-EG" sz="2400" noProof="1">
                <a:solidFill>
                  <a:srgbClr val="002060"/>
                </a:solidFill>
              </a:rPr>
              <a:t>📊 المعطيات الاستراتيجية</a:t>
            </a:r>
            <a:br>
              <a:rPr lang="ar-EG" sz="2400" noProof="1">
                <a:solidFill>
                  <a:srgbClr val="002060"/>
                </a:solidFill>
              </a:rPr>
            </a:br>
            <a:endParaRPr lang="ar-EG" sz="2400" noProof="1">
              <a:solidFill>
                <a:srgbClr val="002060"/>
              </a:solidFill>
            </a:endParaRPr>
          </a:p>
          <a:p>
            <a:pPr algn="ctr" rtl="1">
              <a:defRPr sz="1500">
                <a:solidFill>
                  <a:srgbClr val="1E293B"/>
                </a:solidFill>
              </a:defRPr>
            </a:pPr>
            <a:r>
              <a:rPr lang="ar-EG" sz="2000" noProof="1">
                <a:solidFill>
                  <a:schemeClr val="tx1"/>
                </a:solidFill>
              </a:rPr>
              <a:t>🎯 المؤشر: تفعيل استراتيجيات التقويم الصفي</a:t>
            </a:r>
            <a:br>
              <a:rPr lang="ar-EG" sz="2000" noProof="1">
                <a:solidFill>
                  <a:schemeClr val="tx1"/>
                </a:solidFill>
              </a:rPr>
            </a:br>
            <a:br>
              <a:rPr lang="ar-EG" sz="2000" noProof="1">
                <a:solidFill>
                  <a:schemeClr val="tx1"/>
                </a:solidFill>
              </a:rPr>
            </a:br>
            <a:r>
              <a:rPr lang="ar-EG" sz="2000" noProof="1">
                <a:solidFill>
                  <a:schemeClr val="tx1"/>
                </a:solidFill>
              </a:rPr>
              <a:t>📉 الوضع الحالي: 46% (مستوى: التهيئة 🔴)</a:t>
            </a:r>
            <a:br>
              <a:rPr lang="ar-EG" sz="2000" noProof="1">
                <a:solidFill>
                  <a:schemeClr val="tx1"/>
                </a:solidFill>
              </a:rPr>
            </a:br>
            <a:br>
              <a:rPr lang="ar-EG" sz="2000" noProof="1">
                <a:solidFill>
                  <a:schemeClr val="tx1"/>
                </a:solidFill>
              </a:rPr>
            </a:br>
            <a:r>
              <a:rPr lang="ar-EG" sz="2000" noProof="1">
                <a:solidFill>
                  <a:schemeClr val="tx1"/>
                </a:solidFill>
              </a:rPr>
              <a:t>📈 المستهدف: 90% (مستوى: التميز 🟢)</a:t>
            </a:r>
            <a:br>
              <a:rPr lang="ar-EG" sz="2000" noProof="1">
                <a:solidFill>
                  <a:schemeClr val="tx1"/>
                </a:solidFill>
              </a:rPr>
            </a:br>
            <a:br>
              <a:rPr lang="ar-EG" sz="2000" noProof="1">
                <a:solidFill>
                  <a:schemeClr val="tx1"/>
                </a:solidFill>
              </a:rPr>
            </a:br>
            <a:r>
              <a:rPr lang="ar-EG" sz="2000" noProof="1">
                <a:solidFill>
                  <a:schemeClr val="tx1"/>
                </a:solidFill>
              </a:rPr>
              <a:t>📏 مقدار الفجوة: 44%</a:t>
            </a:r>
          </a:p>
        </p:txBody>
      </p:sp>
      <p:sp>
        <p:nvSpPr>
          <p:cNvPr id="4" name="Rounded Rectangle 3"/>
          <p:cNvSpPr/>
          <p:nvPr/>
        </p:nvSpPr>
        <p:spPr>
          <a:xfrm>
            <a:off x="731520" y="1645920"/>
            <a:ext cx="5212080" cy="4572000"/>
          </a:xfrm>
          <a:prstGeom prst="roundRect">
            <a:avLst/>
          </a:prstGeom>
          <a:solidFill>
            <a:srgbClr val="F8FAFC"/>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800" b="1">
                <a:solidFill>
                  <a:srgbClr val="10B981"/>
                </a:solidFill>
              </a:defRPr>
            </a:pPr>
            <a:r>
              <a:rPr lang="ar-EG" sz="2400" noProof="1">
                <a:solidFill>
                  <a:srgbClr val="00B050"/>
                </a:solidFill>
              </a:rPr>
              <a:t>❓ التحدي والتحليل (مساحة العمل)</a:t>
            </a:r>
            <a:br>
              <a:rPr lang="ar-EG" sz="2400" noProof="1">
                <a:solidFill>
                  <a:srgbClr val="00B050"/>
                </a:solidFill>
              </a:rPr>
            </a:br>
            <a:endParaRPr lang="ar-EG" sz="2400" noProof="1">
              <a:solidFill>
                <a:srgbClr val="00B050"/>
              </a:solidFill>
            </a:endParaRPr>
          </a:p>
          <a:p>
            <a:pPr algn="ctr" rtl="1">
              <a:defRPr sz="1600">
                <a:solidFill>
                  <a:srgbClr val="1E293B"/>
                </a:solidFill>
              </a:defRPr>
            </a:pPr>
            <a:r>
              <a:rPr lang="ar-EG" sz="2000" noProof="1">
                <a:solidFill>
                  <a:schemeClr val="tx1"/>
                </a:solidFill>
              </a:rPr>
              <a:t>❓ ما الأسباب المحتملة للانخفاض؟</a:t>
            </a:r>
            <a:br>
              <a:rPr lang="ar-EG" sz="2000" noProof="1">
                <a:solidFill>
                  <a:schemeClr val="tx1"/>
                </a:solidFill>
              </a:rPr>
            </a:br>
            <a:br>
              <a:rPr lang="ar-EG" sz="2000" noProof="1">
                <a:solidFill>
                  <a:schemeClr val="tx1"/>
                </a:solidFill>
              </a:rPr>
            </a:br>
            <a:r>
              <a:rPr lang="ar-EG" sz="2000" noProof="1">
                <a:solidFill>
                  <a:schemeClr val="tx1"/>
                </a:solidFill>
              </a:rPr>
              <a:t>❓ ما نوع المبادرة الكفيلة بغلق هذه الفجوة؟</a:t>
            </a:r>
            <a:br>
              <a:rPr lang="ar-EG" sz="2000" noProof="1">
                <a:solidFill>
                  <a:schemeClr val="tx1"/>
                </a:solidFill>
              </a:rPr>
            </a:br>
            <a:br>
              <a:rPr lang="ar-EG" sz="2000" noProof="1">
                <a:solidFill>
                  <a:schemeClr val="tx1"/>
                </a:solidFill>
              </a:rPr>
            </a:br>
            <a:r>
              <a:rPr lang="ar-EG" sz="2000" noProof="1">
                <a:solidFill>
                  <a:schemeClr val="tx1"/>
                </a:solidFill>
              </a:rPr>
              <a:t>❓ كيف نضمن استدامة التحسن؟</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circle(in)">
                                      <p:cBhvr>
                                        <p:cTn id="10" dur="2000"/>
                                        <p:tgtEl>
                                          <p:spTgt spid="3"/>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8091" y="1038497"/>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نشاط ورشة العمل: بناء خطة التحسين (⏱️ 20 دقيقة)</a:t>
            </a:r>
          </a:p>
        </p:txBody>
      </p:sp>
      <p:sp>
        <p:nvSpPr>
          <p:cNvPr id="3" name="Rounded Rectangle 2"/>
          <p:cNvSpPr/>
          <p:nvPr/>
        </p:nvSpPr>
        <p:spPr>
          <a:xfrm>
            <a:off x="9759598" y="1974669"/>
            <a:ext cx="2220188" cy="38404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102C57"/>
                </a:solidFill>
              </a:defRPr>
            </a:pPr>
            <a:r>
              <a:rPr lang="ar-EG" sz="2000" noProof="1">
                <a:solidFill>
                  <a:srgbClr val="002060"/>
                </a:solidFill>
              </a:rPr>
              <a:t>1- تحديد الفجوة </a:t>
            </a:r>
          </a:p>
          <a:p>
            <a:pPr algn="ctr" rtl="1">
              <a:defRPr sz="1400" b="1">
                <a:solidFill>
                  <a:srgbClr val="102C57"/>
                </a:solidFill>
              </a:defRPr>
            </a:pPr>
            <a:r>
              <a:rPr lang="ar-EG" sz="2000" noProof="1">
                <a:solidFill>
                  <a:srgbClr val="002060"/>
                </a:solidFill>
              </a:rPr>
              <a:t>🎯</a:t>
            </a:r>
          </a:p>
          <a:p>
            <a:pPr algn="ctr" rtl="1"/>
            <a:br>
              <a:rPr lang="ar-EG" sz="2000" noProof="1">
                <a:solidFill>
                  <a:schemeClr val="tx1"/>
                </a:solidFill>
              </a:rPr>
            </a:br>
            <a:r>
              <a:rPr lang="ar-EG" sz="2000" noProof="1">
                <a:solidFill>
                  <a:schemeClr val="tx1"/>
                </a:solidFill>
              </a:rPr>
              <a:t>النسبة الحالية - المستهدفة</a:t>
            </a:r>
          </a:p>
        </p:txBody>
      </p:sp>
      <p:sp>
        <p:nvSpPr>
          <p:cNvPr id="4" name="Rounded Rectangle 3"/>
          <p:cNvSpPr/>
          <p:nvPr/>
        </p:nvSpPr>
        <p:spPr>
          <a:xfrm>
            <a:off x="7344640" y="1974669"/>
            <a:ext cx="2220188" cy="38404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102C57"/>
                </a:solidFill>
              </a:defRPr>
            </a:pPr>
            <a:r>
              <a:rPr lang="ar-EG" sz="2000" noProof="1">
                <a:solidFill>
                  <a:srgbClr val="002060"/>
                </a:solidFill>
              </a:rPr>
              <a:t>2- السبب الجذر </a:t>
            </a:r>
          </a:p>
          <a:p>
            <a:pPr algn="ctr" rtl="1">
              <a:defRPr sz="1400" b="1">
                <a:solidFill>
                  <a:srgbClr val="102C57"/>
                </a:solidFill>
              </a:defRPr>
            </a:pPr>
            <a:r>
              <a:rPr lang="ar-EG" sz="2000" noProof="1">
                <a:solidFill>
                  <a:srgbClr val="002060"/>
                </a:solidFill>
              </a:rPr>
              <a:t>🔍</a:t>
            </a:r>
          </a:p>
          <a:p>
            <a:pPr algn="ctr" rtl="1"/>
            <a:br>
              <a:rPr lang="ar-EG" sz="2000" noProof="1">
                <a:solidFill>
                  <a:schemeClr val="tx1"/>
                </a:solidFill>
              </a:rPr>
            </a:br>
            <a:r>
              <a:rPr lang="ar-EG" sz="2000" noProof="1">
                <a:solidFill>
                  <a:schemeClr val="tx1"/>
                </a:solidFill>
              </a:rPr>
              <a:t>استخدام 5 سبب</a:t>
            </a:r>
          </a:p>
          <a:p>
            <a:pPr algn="ctr" rtl="1"/>
            <a:r>
              <a:rPr lang="ar-EG" sz="2000" noProof="1">
                <a:solidFill>
                  <a:schemeClr val="tx1"/>
                </a:solidFill>
              </a:rPr>
              <a:t>     ونتيجة</a:t>
            </a:r>
          </a:p>
        </p:txBody>
      </p:sp>
      <p:sp>
        <p:nvSpPr>
          <p:cNvPr id="5" name="Rounded Rectangle 4"/>
          <p:cNvSpPr/>
          <p:nvPr/>
        </p:nvSpPr>
        <p:spPr>
          <a:xfrm>
            <a:off x="5026844" y="1976846"/>
            <a:ext cx="2220188" cy="38404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102C57"/>
                </a:solidFill>
              </a:defRPr>
            </a:pPr>
            <a:r>
              <a:rPr lang="ar-EG" sz="2000" noProof="1">
                <a:solidFill>
                  <a:srgbClr val="002060"/>
                </a:solidFill>
              </a:rPr>
              <a:t>3- المبادرة المقترحة 💡</a:t>
            </a:r>
          </a:p>
          <a:p>
            <a:pPr algn="ctr" rtl="1"/>
            <a:br>
              <a:rPr lang="ar-EG" sz="2000" noProof="1">
                <a:solidFill>
                  <a:schemeClr val="tx1"/>
                </a:solidFill>
              </a:rPr>
            </a:br>
            <a:r>
              <a:rPr lang="ar-EG" sz="2000" noProof="1">
                <a:solidFill>
                  <a:schemeClr val="tx1"/>
                </a:solidFill>
              </a:rPr>
              <a:t>عنوان المبادرة وآلية التنفيذ</a:t>
            </a:r>
          </a:p>
        </p:txBody>
      </p:sp>
      <p:sp>
        <p:nvSpPr>
          <p:cNvPr id="6" name="Rounded Rectangle 5"/>
          <p:cNvSpPr/>
          <p:nvPr/>
        </p:nvSpPr>
        <p:spPr>
          <a:xfrm>
            <a:off x="2709048" y="1976846"/>
            <a:ext cx="2220188" cy="38404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102C57"/>
                </a:solidFill>
              </a:defRPr>
            </a:pPr>
            <a:r>
              <a:rPr lang="ar-EG" sz="2000" noProof="1">
                <a:solidFill>
                  <a:srgbClr val="002060"/>
                </a:solidFill>
              </a:rPr>
              <a:t>4- المسؤول والإطار ⏳</a:t>
            </a:r>
          </a:p>
          <a:p>
            <a:pPr algn="ctr" rtl="1"/>
            <a:br>
              <a:rPr lang="ar-EG" sz="2000" noProof="1">
                <a:solidFill>
                  <a:schemeClr val="tx1"/>
                </a:solidFill>
              </a:rPr>
            </a:br>
            <a:r>
              <a:rPr lang="ar-EG" sz="2000" noProof="1">
                <a:solidFill>
                  <a:schemeClr val="tx1"/>
                </a:solidFill>
              </a:rPr>
              <a:t>منفذ المبادرة والمدى الزمني</a:t>
            </a:r>
          </a:p>
        </p:txBody>
      </p:sp>
      <p:sp>
        <p:nvSpPr>
          <p:cNvPr id="7" name="Rounded Rectangle 6"/>
          <p:cNvSpPr/>
          <p:nvPr/>
        </p:nvSpPr>
        <p:spPr>
          <a:xfrm>
            <a:off x="135481" y="1976846"/>
            <a:ext cx="2378797" cy="38404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102C57"/>
                </a:solidFill>
              </a:defRPr>
            </a:pPr>
            <a:r>
              <a:rPr lang="ar-EG" sz="2000" noProof="1">
                <a:solidFill>
                  <a:srgbClr val="002060"/>
                </a:solidFill>
              </a:rPr>
              <a:t>5- مؤشر النجاح </a:t>
            </a:r>
          </a:p>
          <a:p>
            <a:pPr algn="ctr" rtl="1">
              <a:defRPr sz="1400" b="1">
                <a:solidFill>
                  <a:srgbClr val="102C57"/>
                </a:solidFill>
              </a:defRPr>
            </a:pPr>
            <a:r>
              <a:rPr lang="ar-EG" sz="2000" noProof="1">
                <a:solidFill>
                  <a:srgbClr val="002060"/>
                </a:solidFill>
              </a:rPr>
              <a:t>📊</a:t>
            </a:r>
          </a:p>
          <a:p>
            <a:pPr algn="ctr" rtl="1"/>
            <a:endParaRPr lang="ar-EG" sz="2000" noProof="1">
              <a:solidFill>
                <a:schemeClr val="tx1"/>
              </a:solidFill>
            </a:endParaRPr>
          </a:p>
          <a:p>
            <a:pPr algn="ctr" rtl="1"/>
            <a:r>
              <a:rPr lang="ar-EG" sz="2000" noProof="1">
                <a:solidFill>
                  <a:schemeClr val="tx1"/>
                </a:solidFill>
              </a:rPr>
              <a:t>كيف نقيس نجاح الأثر؟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75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750" accel="50000" fill="hold">
                                          <p:stCondLst>
                                            <p:cond delay="750"/>
                                          </p:stCondLst>
                                        </p:cTn>
                                        <p:tgtEl>
                                          <p:spTgt spid="2"/>
                                        </p:tgtEl>
                                        <p:attrNameLst>
                                          <p:attrName>ppt_w</p:attrName>
                                        </p:attrNameLst>
                                      </p:cBhvr>
                                      <p:tavLst>
                                        <p:tav tm="0">
                                          <p:val>
                                            <p:strVal val="#ppt_w*.05"/>
                                          </p:val>
                                        </p:tav>
                                        <p:tav tm="100000">
                                          <p:val>
                                            <p:strVal val="#ppt_w"/>
                                          </p:val>
                                        </p:tav>
                                      </p:tavLst>
                                    </p:anim>
                                    <p:anim calcmode="lin" valueType="num">
                                      <p:cBhvr>
                                        <p:cTn id="10" dur="1500" fill="hold"/>
                                        <p:tgtEl>
                                          <p:spTgt spid="2"/>
                                        </p:tgtEl>
                                        <p:attrNameLst>
                                          <p:attrName>ppt_h</p:attrName>
                                        </p:attrNameLst>
                                      </p:cBhvr>
                                      <p:tavLst>
                                        <p:tav tm="0">
                                          <p:val>
                                            <p:strVal val="#ppt_h"/>
                                          </p:val>
                                        </p:tav>
                                        <p:tav tm="100000">
                                          <p:val>
                                            <p:strVal val="#ppt_h"/>
                                          </p:val>
                                        </p:tav>
                                      </p:tavLst>
                                    </p:anim>
                                    <p:anim calcmode="lin" valueType="num">
                                      <p:cBhvr>
                                        <p:cTn id="11" dur="75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75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750" accel="50000" fill="hold">
                                          <p:stCondLst>
                                            <p:cond delay="750"/>
                                          </p:stCondLst>
                                        </p:cTn>
                                        <p:tgtEl>
                                          <p:spTgt spid="2"/>
                                        </p:tgtEl>
                                        <p:attrNameLst>
                                          <p:attrName>ppt_y</p:attrName>
                                        </p:attrNameLst>
                                      </p:cBhvr>
                                      <p:tavLst>
                                        <p:tav tm="0">
                                          <p:val>
                                            <p:strVal val="#ppt_y+.1"/>
                                          </p:val>
                                        </p:tav>
                                        <p:tav tm="100000">
                                          <p:val>
                                            <p:strVal val="#ppt_y"/>
                                          </p:val>
                                        </p:tav>
                                      </p:tavLst>
                                    </p:anim>
                                    <p:animEffect transition="in" filter="fade">
                                      <p:cBhvr>
                                        <p:cTn id="14" dur="1500" decel="50000">
                                          <p:stCondLst>
                                            <p:cond delay="0"/>
                                          </p:stCondLst>
                                        </p:cTn>
                                        <p:tgtEl>
                                          <p:spTgt spid="2"/>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750"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18" dur="750"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19" dur="750" accel="50000" fill="hold">
                                          <p:stCondLst>
                                            <p:cond delay="750"/>
                                          </p:stCondLst>
                                        </p:cTn>
                                        <p:tgtEl>
                                          <p:spTgt spid="3"/>
                                        </p:tgtEl>
                                        <p:attrNameLst>
                                          <p:attrName>ppt_w</p:attrName>
                                        </p:attrNameLst>
                                      </p:cBhvr>
                                      <p:tavLst>
                                        <p:tav tm="0">
                                          <p:val>
                                            <p:strVal val="#ppt_w*.05"/>
                                          </p:val>
                                        </p:tav>
                                        <p:tav tm="100000">
                                          <p:val>
                                            <p:strVal val="#ppt_w"/>
                                          </p:val>
                                        </p:tav>
                                      </p:tavLst>
                                    </p:anim>
                                    <p:anim calcmode="lin" valueType="num">
                                      <p:cBhvr>
                                        <p:cTn id="20" dur="1500" fill="hold"/>
                                        <p:tgtEl>
                                          <p:spTgt spid="3"/>
                                        </p:tgtEl>
                                        <p:attrNameLst>
                                          <p:attrName>ppt_h</p:attrName>
                                        </p:attrNameLst>
                                      </p:cBhvr>
                                      <p:tavLst>
                                        <p:tav tm="0">
                                          <p:val>
                                            <p:strVal val="#ppt_h"/>
                                          </p:val>
                                        </p:tav>
                                        <p:tav tm="100000">
                                          <p:val>
                                            <p:strVal val="#ppt_h"/>
                                          </p:val>
                                        </p:tav>
                                      </p:tavLst>
                                    </p:anim>
                                    <p:anim calcmode="lin" valueType="num">
                                      <p:cBhvr>
                                        <p:cTn id="21" dur="750"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22" dur="750"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23" dur="750" accel="50000" fill="hold">
                                          <p:stCondLst>
                                            <p:cond delay="750"/>
                                          </p:stCondLst>
                                        </p:cTn>
                                        <p:tgtEl>
                                          <p:spTgt spid="3"/>
                                        </p:tgtEl>
                                        <p:attrNameLst>
                                          <p:attrName>ppt_y</p:attrName>
                                        </p:attrNameLst>
                                      </p:cBhvr>
                                      <p:tavLst>
                                        <p:tav tm="0">
                                          <p:val>
                                            <p:strVal val="#ppt_y+.1"/>
                                          </p:val>
                                        </p:tav>
                                        <p:tav tm="100000">
                                          <p:val>
                                            <p:strVal val="#ppt_y"/>
                                          </p:val>
                                        </p:tav>
                                      </p:tavLst>
                                    </p:anim>
                                    <p:animEffect transition="in" filter="fade">
                                      <p:cBhvr>
                                        <p:cTn id="24" dur="1500" decel="50000">
                                          <p:stCondLst>
                                            <p:cond delay="0"/>
                                          </p:stCondLst>
                                        </p:cTn>
                                        <p:tgtEl>
                                          <p:spTgt spid="3"/>
                                        </p:tgtEl>
                                      </p:cBhvr>
                                    </p:animEffect>
                                  </p:childTnLst>
                                </p:cTn>
                              </p:par>
                              <p:par>
                                <p:cTn id="25" presetID="25"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75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28" dur="75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29" dur="750" accel="50000" fill="hold">
                                          <p:stCondLst>
                                            <p:cond delay="750"/>
                                          </p:stCondLst>
                                        </p:cTn>
                                        <p:tgtEl>
                                          <p:spTgt spid="4"/>
                                        </p:tgtEl>
                                        <p:attrNameLst>
                                          <p:attrName>ppt_w</p:attrName>
                                        </p:attrNameLst>
                                      </p:cBhvr>
                                      <p:tavLst>
                                        <p:tav tm="0">
                                          <p:val>
                                            <p:strVal val="#ppt_w*.05"/>
                                          </p:val>
                                        </p:tav>
                                        <p:tav tm="100000">
                                          <p:val>
                                            <p:strVal val="#ppt_w"/>
                                          </p:val>
                                        </p:tav>
                                      </p:tavLst>
                                    </p:anim>
                                    <p:anim calcmode="lin" valueType="num">
                                      <p:cBhvr>
                                        <p:cTn id="30" dur="1500" fill="hold"/>
                                        <p:tgtEl>
                                          <p:spTgt spid="4"/>
                                        </p:tgtEl>
                                        <p:attrNameLst>
                                          <p:attrName>ppt_h</p:attrName>
                                        </p:attrNameLst>
                                      </p:cBhvr>
                                      <p:tavLst>
                                        <p:tav tm="0">
                                          <p:val>
                                            <p:strVal val="#ppt_h"/>
                                          </p:val>
                                        </p:tav>
                                        <p:tav tm="100000">
                                          <p:val>
                                            <p:strVal val="#ppt_h"/>
                                          </p:val>
                                        </p:tav>
                                      </p:tavLst>
                                    </p:anim>
                                    <p:anim calcmode="lin" valueType="num">
                                      <p:cBhvr>
                                        <p:cTn id="31" dur="75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32" dur="75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33" dur="750" accel="50000" fill="hold">
                                          <p:stCondLst>
                                            <p:cond delay="750"/>
                                          </p:stCondLst>
                                        </p:cTn>
                                        <p:tgtEl>
                                          <p:spTgt spid="4"/>
                                        </p:tgtEl>
                                        <p:attrNameLst>
                                          <p:attrName>ppt_y</p:attrName>
                                        </p:attrNameLst>
                                      </p:cBhvr>
                                      <p:tavLst>
                                        <p:tav tm="0">
                                          <p:val>
                                            <p:strVal val="#ppt_y+.1"/>
                                          </p:val>
                                        </p:tav>
                                        <p:tav tm="100000">
                                          <p:val>
                                            <p:strVal val="#ppt_y"/>
                                          </p:val>
                                        </p:tav>
                                      </p:tavLst>
                                    </p:anim>
                                    <p:animEffect transition="in" filter="fade">
                                      <p:cBhvr>
                                        <p:cTn id="34" dur="1500" decel="50000">
                                          <p:stCondLst>
                                            <p:cond delay="0"/>
                                          </p:stCondLst>
                                        </p:cTn>
                                        <p:tgtEl>
                                          <p:spTgt spid="4"/>
                                        </p:tgtEl>
                                      </p:cBhvr>
                                    </p:animEffect>
                                  </p:childTnLst>
                                </p:cTn>
                              </p:par>
                              <p:par>
                                <p:cTn id="35" presetID="25"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750"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38" dur="750"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39" dur="750" accel="50000" fill="hold">
                                          <p:stCondLst>
                                            <p:cond delay="750"/>
                                          </p:stCondLst>
                                        </p:cTn>
                                        <p:tgtEl>
                                          <p:spTgt spid="5"/>
                                        </p:tgtEl>
                                        <p:attrNameLst>
                                          <p:attrName>ppt_w</p:attrName>
                                        </p:attrNameLst>
                                      </p:cBhvr>
                                      <p:tavLst>
                                        <p:tav tm="0">
                                          <p:val>
                                            <p:strVal val="#ppt_w*.05"/>
                                          </p:val>
                                        </p:tav>
                                        <p:tav tm="100000">
                                          <p:val>
                                            <p:strVal val="#ppt_w"/>
                                          </p:val>
                                        </p:tav>
                                      </p:tavLst>
                                    </p:anim>
                                    <p:anim calcmode="lin" valueType="num">
                                      <p:cBhvr>
                                        <p:cTn id="40" dur="1500" fill="hold"/>
                                        <p:tgtEl>
                                          <p:spTgt spid="5"/>
                                        </p:tgtEl>
                                        <p:attrNameLst>
                                          <p:attrName>ppt_h</p:attrName>
                                        </p:attrNameLst>
                                      </p:cBhvr>
                                      <p:tavLst>
                                        <p:tav tm="0">
                                          <p:val>
                                            <p:strVal val="#ppt_h"/>
                                          </p:val>
                                        </p:tav>
                                        <p:tav tm="100000">
                                          <p:val>
                                            <p:strVal val="#ppt_h"/>
                                          </p:val>
                                        </p:tav>
                                      </p:tavLst>
                                    </p:anim>
                                    <p:anim calcmode="lin" valueType="num">
                                      <p:cBhvr>
                                        <p:cTn id="41" dur="750"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42" dur="750"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43" dur="750" accel="50000" fill="hold">
                                          <p:stCondLst>
                                            <p:cond delay="750"/>
                                          </p:stCondLst>
                                        </p:cTn>
                                        <p:tgtEl>
                                          <p:spTgt spid="5"/>
                                        </p:tgtEl>
                                        <p:attrNameLst>
                                          <p:attrName>ppt_y</p:attrName>
                                        </p:attrNameLst>
                                      </p:cBhvr>
                                      <p:tavLst>
                                        <p:tav tm="0">
                                          <p:val>
                                            <p:strVal val="#ppt_y+.1"/>
                                          </p:val>
                                        </p:tav>
                                        <p:tav tm="100000">
                                          <p:val>
                                            <p:strVal val="#ppt_y"/>
                                          </p:val>
                                        </p:tav>
                                      </p:tavLst>
                                    </p:anim>
                                    <p:animEffect transition="in" filter="fade">
                                      <p:cBhvr>
                                        <p:cTn id="44" dur="1500" decel="50000">
                                          <p:stCondLst>
                                            <p:cond delay="0"/>
                                          </p:stCondLst>
                                        </p:cTn>
                                        <p:tgtEl>
                                          <p:spTgt spid="5"/>
                                        </p:tgtEl>
                                      </p:cBhvr>
                                    </p:animEffect>
                                  </p:childTnLst>
                                </p:cTn>
                              </p:par>
                              <p:par>
                                <p:cTn id="45" presetID="25"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p:cTn id="47" dur="75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48" dur="75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49" dur="750" accel="50000" fill="hold">
                                          <p:stCondLst>
                                            <p:cond delay="750"/>
                                          </p:stCondLst>
                                        </p:cTn>
                                        <p:tgtEl>
                                          <p:spTgt spid="6"/>
                                        </p:tgtEl>
                                        <p:attrNameLst>
                                          <p:attrName>ppt_w</p:attrName>
                                        </p:attrNameLst>
                                      </p:cBhvr>
                                      <p:tavLst>
                                        <p:tav tm="0">
                                          <p:val>
                                            <p:strVal val="#ppt_w*.05"/>
                                          </p:val>
                                        </p:tav>
                                        <p:tav tm="100000">
                                          <p:val>
                                            <p:strVal val="#ppt_w"/>
                                          </p:val>
                                        </p:tav>
                                      </p:tavLst>
                                    </p:anim>
                                    <p:anim calcmode="lin" valueType="num">
                                      <p:cBhvr>
                                        <p:cTn id="50" dur="1500" fill="hold"/>
                                        <p:tgtEl>
                                          <p:spTgt spid="6"/>
                                        </p:tgtEl>
                                        <p:attrNameLst>
                                          <p:attrName>ppt_h</p:attrName>
                                        </p:attrNameLst>
                                      </p:cBhvr>
                                      <p:tavLst>
                                        <p:tav tm="0">
                                          <p:val>
                                            <p:strVal val="#ppt_h"/>
                                          </p:val>
                                        </p:tav>
                                        <p:tav tm="100000">
                                          <p:val>
                                            <p:strVal val="#ppt_h"/>
                                          </p:val>
                                        </p:tav>
                                      </p:tavLst>
                                    </p:anim>
                                    <p:anim calcmode="lin" valueType="num">
                                      <p:cBhvr>
                                        <p:cTn id="51" dur="75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52" dur="75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53" dur="750" accel="50000" fill="hold">
                                          <p:stCondLst>
                                            <p:cond delay="750"/>
                                          </p:stCondLst>
                                        </p:cTn>
                                        <p:tgtEl>
                                          <p:spTgt spid="6"/>
                                        </p:tgtEl>
                                        <p:attrNameLst>
                                          <p:attrName>ppt_y</p:attrName>
                                        </p:attrNameLst>
                                      </p:cBhvr>
                                      <p:tavLst>
                                        <p:tav tm="0">
                                          <p:val>
                                            <p:strVal val="#ppt_y+.1"/>
                                          </p:val>
                                        </p:tav>
                                        <p:tav tm="100000">
                                          <p:val>
                                            <p:strVal val="#ppt_y"/>
                                          </p:val>
                                        </p:tav>
                                      </p:tavLst>
                                    </p:anim>
                                    <p:animEffect transition="in" filter="fade">
                                      <p:cBhvr>
                                        <p:cTn id="54" dur="1500" decel="50000">
                                          <p:stCondLst>
                                            <p:cond delay="0"/>
                                          </p:stCondLst>
                                        </p:cTn>
                                        <p:tgtEl>
                                          <p:spTgt spid="6"/>
                                        </p:tgtEl>
                                      </p:cBhvr>
                                    </p:animEffect>
                                  </p:childTnLst>
                                </p:cTn>
                              </p:par>
                              <p:par>
                                <p:cTn id="55" presetID="25"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p:cTn id="57" dur="75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58" dur="75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59" dur="750" accel="50000" fill="hold">
                                          <p:stCondLst>
                                            <p:cond delay="750"/>
                                          </p:stCondLst>
                                        </p:cTn>
                                        <p:tgtEl>
                                          <p:spTgt spid="7"/>
                                        </p:tgtEl>
                                        <p:attrNameLst>
                                          <p:attrName>ppt_w</p:attrName>
                                        </p:attrNameLst>
                                      </p:cBhvr>
                                      <p:tavLst>
                                        <p:tav tm="0">
                                          <p:val>
                                            <p:strVal val="#ppt_w*.05"/>
                                          </p:val>
                                        </p:tav>
                                        <p:tav tm="100000">
                                          <p:val>
                                            <p:strVal val="#ppt_w"/>
                                          </p:val>
                                        </p:tav>
                                      </p:tavLst>
                                    </p:anim>
                                    <p:anim calcmode="lin" valueType="num">
                                      <p:cBhvr>
                                        <p:cTn id="60" dur="1500" fill="hold"/>
                                        <p:tgtEl>
                                          <p:spTgt spid="7"/>
                                        </p:tgtEl>
                                        <p:attrNameLst>
                                          <p:attrName>ppt_h</p:attrName>
                                        </p:attrNameLst>
                                      </p:cBhvr>
                                      <p:tavLst>
                                        <p:tav tm="0">
                                          <p:val>
                                            <p:strVal val="#ppt_h"/>
                                          </p:val>
                                        </p:tav>
                                        <p:tav tm="100000">
                                          <p:val>
                                            <p:strVal val="#ppt_h"/>
                                          </p:val>
                                        </p:tav>
                                      </p:tavLst>
                                    </p:anim>
                                    <p:anim calcmode="lin" valueType="num">
                                      <p:cBhvr>
                                        <p:cTn id="61" dur="75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62" dur="75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63" dur="750" accel="50000" fill="hold">
                                          <p:stCondLst>
                                            <p:cond delay="750"/>
                                          </p:stCondLst>
                                        </p:cTn>
                                        <p:tgtEl>
                                          <p:spTgt spid="7"/>
                                        </p:tgtEl>
                                        <p:attrNameLst>
                                          <p:attrName>ppt_y</p:attrName>
                                        </p:attrNameLst>
                                      </p:cBhvr>
                                      <p:tavLst>
                                        <p:tav tm="0">
                                          <p:val>
                                            <p:strVal val="#ppt_y+.1"/>
                                          </p:val>
                                        </p:tav>
                                        <p:tav tm="100000">
                                          <p:val>
                                            <p:strVal val="#ppt_y"/>
                                          </p:val>
                                        </p:tav>
                                      </p:tavLst>
                                    </p:anim>
                                    <p:animEffect transition="in" filter="fade">
                                      <p:cBhvr>
                                        <p:cTn id="64" dur="1500" decel="50000">
                                          <p:stCondLst>
                                            <p:cond delay="0"/>
                                          </p:stCondLst>
                                        </p:cTn>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1345" y="1240972"/>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نموذج عمل الفريق (خطوات التنفيذ)</a:t>
            </a:r>
          </a:p>
        </p:txBody>
      </p:sp>
      <p:sp>
        <p:nvSpPr>
          <p:cNvPr id="3" name="Rounded Rectangle 2"/>
          <p:cNvSpPr/>
          <p:nvPr/>
        </p:nvSpPr>
        <p:spPr>
          <a:xfrm>
            <a:off x="9530080" y="2286000"/>
            <a:ext cx="1993392" cy="3200400"/>
          </a:xfrm>
          <a:prstGeom prst="roundRect">
            <a:avLst/>
          </a:prstGeom>
          <a:solidFill>
            <a:srgbClr val="102C57"/>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FFFFFF"/>
                </a:solidFill>
              </a:defRPr>
            </a:pPr>
            <a:r>
              <a:rPr lang="ar-EG" sz="2000" noProof="1"/>
              <a:t>📊 1. تحليل البيانات</a:t>
            </a:r>
          </a:p>
          <a:p>
            <a:pPr algn="ctr" rtl="1"/>
            <a:br>
              <a:rPr lang="ar-EG" sz="2000" noProof="1"/>
            </a:br>
            <a:r>
              <a:rPr lang="ar-EG" sz="2000" noProof="1"/>
              <a:t>قراءة نتائج التقويم وشواهد المؤشر</a:t>
            </a:r>
          </a:p>
        </p:txBody>
      </p:sp>
      <p:sp>
        <p:nvSpPr>
          <p:cNvPr id="4" name="Rounded Rectangle 3"/>
          <p:cNvSpPr/>
          <p:nvPr/>
        </p:nvSpPr>
        <p:spPr>
          <a:xfrm>
            <a:off x="7337552" y="2286000"/>
            <a:ext cx="1993392" cy="3200400"/>
          </a:xfrm>
          <a:prstGeom prst="roundRect">
            <a:avLst/>
          </a:prstGeom>
          <a:solidFill>
            <a:srgbClr val="102C57"/>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FFFFFF"/>
                </a:solidFill>
              </a:defRPr>
            </a:pPr>
            <a:r>
              <a:rPr lang="ar-EG" sz="2000" noProof="1"/>
              <a:t>🎯 2. تحديد</a:t>
            </a:r>
          </a:p>
          <a:p>
            <a:pPr algn="ctr" rtl="1">
              <a:defRPr sz="1400" b="1">
                <a:solidFill>
                  <a:srgbClr val="FFFFFF"/>
                </a:solidFill>
              </a:defRPr>
            </a:pPr>
            <a:r>
              <a:rPr lang="ar-EG" sz="2000" noProof="1"/>
              <a:t>  المشكلة</a:t>
            </a:r>
          </a:p>
          <a:p>
            <a:pPr algn="ctr" rtl="1"/>
            <a:br>
              <a:rPr lang="ar-EG" sz="2000" noProof="1"/>
            </a:br>
            <a:r>
              <a:rPr lang="ar-EG" sz="2000" noProof="1"/>
              <a:t>صياغة الفجوة بدقة ودون تعميم</a:t>
            </a:r>
          </a:p>
        </p:txBody>
      </p:sp>
      <p:sp>
        <p:nvSpPr>
          <p:cNvPr id="5" name="Rounded Rectangle 4"/>
          <p:cNvSpPr/>
          <p:nvPr/>
        </p:nvSpPr>
        <p:spPr>
          <a:xfrm>
            <a:off x="5084064" y="2286000"/>
            <a:ext cx="1993392" cy="3200400"/>
          </a:xfrm>
          <a:prstGeom prst="roundRect">
            <a:avLst/>
          </a:prstGeom>
          <a:solidFill>
            <a:srgbClr val="102C57"/>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FFFFFF"/>
                </a:solidFill>
              </a:defRPr>
            </a:pPr>
            <a:r>
              <a:rPr lang="ar-EG" noProof="1"/>
              <a:t>🔬</a:t>
            </a:r>
            <a:r>
              <a:rPr lang="ar-EG" sz="2000" noProof="1"/>
              <a:t> 3. تحليل</a:t>
            </a:r>
          </a:p>
          <a:p>
            <a:pPr algn="ctr" rtl="1">
              <a:defRPr sz="1400" b="1">
                <a:solidFill>
                  <a:srgbClr val="FFFFFF"/>
                </a:solidFill>
              </a:defRPr>
            </a:pPr>
            <a:r>
              <a:rPr lang="ar-EG" sz="2000" noProof="1"/>
              <a:t>    الأسباب</a:t>
            </a:r>
          </a:p>
          <a:p>
            <a:pPr algn="ctr" rtl="1"/>
            <a:br>
              <a:rPr lang="ar-EG" sz="2000" noProof="1"/>
            </a:br>
            <a:r>
              <a:rPr lang="ar-EG" sz="2000" noProof="1"/>
              <a:t>الوصول للأسباب الجذرية)</a:t>
            </a:r>
          </a:p>
        </p:txBody>
      </p:sp>
      <p:sp>
        <p:nvSpPr>
          <p:cNvPr id="6" name="Rounded Rectangle 5"/>
          <p:cNvSpPr/>
          <p:nvPr/>
        </p:nvSpPr>
        <p:spPr>
          <a:xfrm>
            <a:off x="2861056" y="2286000"/>
            <a:ext cx="1993392" cy="3200400"/>
          </a:xfrm>
          <a:prstGeom prst="roundRect">
            <a:avLst/>
          </a:prstGeom>
          <a:solidFill>
            <a:srgbClr val="102C57"/>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FFFFFF"/>
                </a:solidFill>
              </a:defRPr>
            </a:pPr>
            <a:r>
              <a:rPr lang="ar-EG" sz="2000" noProof="1"/>
              <a:t>🚀 4. تصميم</a:t>
            </a:r>
          </a:p>
          <a:p>
            <a:pPr algn="ctr" rtl="1">
              <a:defRPr sz="1400" b="1">
                <a:solidFill>
                  <a:srgbClr val="FFFFFF"/>
                </a:solidFill>
              </a:defRPr>
            </a:pPr>
            <a:r>
              <a:rPr lang="ar-EG" sz="2000" noProof="1"/>
              <a:t>   المبادرة</a:t>
            </a:r>
          </a:p>
          <a:p>
            <a:pPr algn="ctr" rtl="1"/>
            <a:br>
              <a:rPr lang="ar-EG" sz="2000" noProof="1"/>
            </a:br>
            <a:r>
              <a:rPr lang="ar-EG" sz="2000" noProof="1"/>
              <a:t>وضع أنشطة نوعية موجهة للسبب</a:t>
            </a:r>
          </a:p>
        </p:txBody>
      </p:sp>
      <p:sp>
        <p:nvSpPr>
          <p:cNvPr id="7" name="Rounded Rectangle 6"/>
          <p:cNvSpPr/>
          <p:nvPr/>
        </p:nvSpPr>
        <p:spPr>
          <a:xfrm>
            <a:off x="638048" y="2286000"/>
            <a:ext cx="1993392" cy="3200400"/>
          </a:xfrm>
          <a:prstGeom prst="roundRect">
            <a:avLst/>
          </a:prstGeom>
          <a:solidFill>
            <a:srgbClr val="102C57"/>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rtl="1">
              <a:defRPr sz="1400" b="1">
                <a:solidFill>
                  <a:srgbClr val="FFFFFF"/>
                </a:solidFill>
              </a:defRPr>
            </a:pPr>
            <a:r>
              <a:rPr lang="ar-EG" sz="2000" noProof="1"/>
              <a:t>📏 5. مؤشرات </a:t>
            </a:r>
          </a:p>
          <a:p>
            <a:pPr algn="ctr" rtl="1">
              <a:defRPr sz="1400" b="1">
                <a:solidFill>
                  <a:srgbClr val="FFFFFF"/>
                </a:solidFill>
              </a:defRPr>
            </a:pPr>
            <a:r>
              <a:rPr lang="ar-EG" sz="2000" noProof="1"/>
              <a:t>    النجاح</a:t>
            </a:r>
          </a:p>
          <a:p>
            <a:pPr algn="ctr" rtl="1"/>
            <a:br>
              <a:rPr lang="ar-EG" sz="2000" noProof="1"/>
            </a:br>
            <a:r>
              <a:rPr lang="ar-EG" sz="2000" noProof="1"/>
              <a:t>وضع أدوات قياس واضحة ومرحلية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500" fill="hold"/>
                                        <p:tgtEl>
                                          <p:spTgt spid="2"/>
                                        </p:tgtEl>
                                        <p:attrNameLst>
                                          <p:attrName>ppt_w</p:attrName>
                                        </p:attrNameLst>
                                      </p:cBhvr>
                                      <p:tavLst>
                                        <p:tav tm="0">
                                          <p:val>
                                            <p:fltVal val="0"/>
                                          </p:val>
                                        </p:tav>
                                        <p:tav tm="100000">
                                          <p:val>
                                            <p:strVal val="#ppt_w"/>
                                          </p:val>
                                        </p:tav>
                                      </p:tavLst>
                                    </p:anim>
                                    <p:anim calcmode="lin" valueType="num">
                                      <p:cBhvr>
                                        <p:cTn id="8" dur="1500" fill="hold"/>
                                        <p:tgtEl>
                                          <p:spTgt spid="2"/>
                                        </p:tgtEl>
                                        <p:attrNameLst>
                                          <p:attrName>ppt_h</p:attrName>
                                        </p:attrNameLst>
                                      </p:cBhvr>
                                      <p:tavLst>
                                        <p:tav tm="0">
                                          <p:val>
                                            <p:fltVal val="0"/>
                                          </p:val>
                                        </p:tav>
                                        <p:tav tm="100000">
                                          <p:val>
                                            <p:strVal val="#ppt_h"/>
                                          </p:val>
                                        </p:tav>
                                      </p:tavLst>
                                    </p:anim>
                                    <p:anim calcmode="lin" valueType="num">
                                      <p:cBhvr>
                                        <p:cTn id="9" dur="1500" fill="hold"/>
                                        <p:tgtEl>
                                          <p:spTgt spid="2"/>
                                        </p:tgtEl>
                                        <p:attrNameLst>
                                          <p:attrName>style.rotation</p:attrName>
                                        </p:attrNameLst>
                                      </p:cBhvr>
                                      <p:tavLst>
                                        <p:tav tm="0">
                                          <p:val>
                                            <p:fltVal val="90"/>
                                          </p:val>
                                        </p:tav>
                                        <p:tav tm="100000">
                                          <p:val>
                                            <p:fltVal val="0"/>
                                          </p:val>
                                        </p:tav>
                                      </p:tavLst>
                                    </p:anim>
                                    <p:animEffect transition="in" filter="fade">
                                      <p:cBhvr>
                                        <p:cTn id="10" dur="150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500" fill="hold"/>
                                        <p:tgtEl>
                                          <p:spTgt spid="3"/>
                                        </p:tgtEl>
                                        <p:attrNameLst>
                                          <p:attrName>ppt_w</p:attrName>
                                        </p:attrNameLst>
                                      </p:cBhvr>
                                      <p:tavLst>
                                        <p:tav tm="0">
                                          <p:val>
                                            <p:fltVal val="0"/>
                                          </p:val>
                                        </p:tav>
                                        <p:tav tm="100000">
                                          <p:val>
                                            <p:strVal val="#ppt_w"/>
                                          </p:val>
                                        </p:tav>
                                      </p:tavLst>
                                    </p:anim>
                                    <p:anim calcmode="lin" valueType="num">
                                      <p:cBhvr>
                                        <p:cTn id="14" dur="1500" fill="hold"/>
                                        <p:tgtEl>
                                          <p:spTgt spid="3"/>
                                        </p:tgtEl>
                                        <p:attrNameLst>
                                          <p:attrName>ppt_h</p:attrName>
                                        </p:attrNameLst>
                                      </p:cBhvr>
                                      <p:tavLst>
                                        <p:tav tm="0">
                                          <p:val>
                                            <p:fltVal val="0"/>
                                          </p:val>
                                        </p:tav>
                                        <p:tav tm="100000">
                                          <p:val>
                                            <p:strVal val="#ppt_h"/>
                                          </p:val>
                                        </p:tav>
                                      </p:tavLst>
                                    </p:anim>
                                    <p:anim calcmode="lin" valueType="num">
                                      <p:cBhvr>
                                        <p:cTn id="15" dur="1500" fill="hold"/>
                                        <p:tgtEl>
                                          <p:spTgt spid="3"/>
                                        </p:tgtEl>
                                        <p:attrNameLst>
                                          <p:attrName>style.rotation</p:attrName>
                                        </p:attrNameLst>
                                      </p:cBhvr>
                                      <p:tavLst>
                                        <p:tav tm="0">
                                          <p:val>
                                            <p:fltVal val="90"/>
                                          </p:val>
                                        </p:tav>
                                        <p:tav tm="100000">
                                          <p:val>
                                            <p:fltVal val="0"/>
                                          </p:val>
                                        </p:tav>
                                      </p:tavLst>
                                    </p:anim>
                                    <p:animEffect transition="in" filter="fade">
                                      <p:cBhvr>
                                        <p:cTn id="16" dur="1500"/>
                                        <p:tgtEl>
                                          <p:spTgt spid="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500" fill="hold"/>
                                        <p:tgtEl>
                                          <p:spTgt spid="4"/>
                                        </p:tgtEl>
                                        <p:attrNameLst>
                                          <p:attrName>ppt_w</p:attrName>
                                        </p:attrNameLst>
                                      </p:cBhvr>
                                      <p:tavLst>
                                        <p:tav tm="0">
                                          <p:val>
                                            <p:fltVal val="0"/>
                                          </p:val>
                                        </p:tav>
                                        <p:tav tm="100000">
                                          <p:val>
                                            <p:strVal val="#ppt_w"/>
                                          </p:val>
                                        </p:tav>
                                      </p:tavLst>
                                    </p:anim>
                                    <p:anim calcmode="lin" valueType="num">
                                      <p:cBhvr>
                                        <p:cTn id="20" dur="1500" fill="hold"/>
                                        <p:tgtEl>
                                          <p:spTgt spid="4"/>
                                        </p:tgtEl>
                                        <p:attrNameLst>
                                          <p:attrName>ppt_h</p:attrName>
                                        </p:attrNameLst>
                                      </p:cBhvr>
                                      <p:tavLst>
                                        <p:tav tm="0">
                                          <p:val>
                                            <p:fltVal val="0"/>
                                          </p:val>
                                        </p:tav>
                                        <p:tav tm="100000">
                                          <p:val>
                                            <p:strVal val="#ppt_h"/>
                                          </p:val>
                                        </p:tav>
                                      </p:tavLst>
                                    </p:anim>
                                    <p:anim calcmode="lin" valueType="num">
                                      <p:cBhvr>
                                        <p:cTn id="21" dur="1500" fill="hold"/>
                                        <p:tgtEl>
                                          <p:spTgt spid="4"/>
                                        </p:tgtEl>
                                        <p:attrNameLst>
                                          <p:attrName>style.rotation</p:attrName>
                                        </p:attrNameLst>
                                      </p:cBhvr>
                                      <p:tavLst>
                                        <p:tav tm="0">
                                          <p:val>
                                            <p:fltVal val="90"/>
                                          </p:val>
                                        </p:tav>
                                        <p:tav tm="100000">
                                          <p:val>
                                            <p:fltVal val="0"/>
                                          </p:val>
                                        </p:tav>
                                      </p:tavLst>
                                    </p:anim>
                                    <p:animEffect transition="in" filter="fade">
                                      <p:cBhvr>
                                        <p:cTn id="22" dur="1500"/>
                                        <p:tgtEl>
                                          <p:spTgt spid="4"/>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500" fill="hold"/>
                                        <p:tgtEl>
                                          <p:spTgt spid="5"/>
                                        </p:tgtEl>
                                        <p:attrNameLst>
                                          <p:attrName>ppt_w</p:attrName>
                                        </p:attrNameLst>
                                      </p:cBhvr>
                                      <p:tavLst>
                                        <p:tav tm="0">
                                          <p:val>
                                            <p:fltVal val="0"/>
                                          </p:val>
                                        </p:tav>
                                        <p:tav tm="100000">
                                          <p:val>
                                            <p:strVal val="#ppt_w"/>
                                          </p:val>
                                        </p:tav>
                                      </p:tavLst>
                                    </p:anim>
                                    <p:anim calcmode="lin" valueType="num">
                                      <p:cBhvr>
                                        <p:cTn id="26" dur="1500" fill="hold"/>
                                        <p:tgtEl>
                                          <p:spTgt spid="5"/>
                                        </p:tgtEl>
                                        <p:attrNameLst>
                                          <p:attrName>ppt_h</p:attrName>
                                        </p:attrNameLst>
                                      </p:cBhvr>
                                      <p:tavLst>
                                        <p:tav tm="0">
                                          <p:val>
                                            <p:fltVal val="0"/>
                                          </p:val>
                                        </p:tav>
                                        <p:tav tm="100000">
                                          <p:val>
                                            <p:strVal val="#ppt_h"/>
                                          </p:val>
                                        </p:tav>
                                      </p:tavLst>
                                    </p:anim>
                                    <p:anim calcmode="lin" valueType="num">
                                      <p:cBhvr>
                                        <p:cTn id="27" dur="1500" fill="hold"/>
                                        <p:tgtEl>
                                          <p:spTgt spid="5"/>
                                        </p:tgtEl>
                                        <p:attrNameLst>
                                          <p:attrName>style.rotation</p:attrName>
                                        </p:attrNameLst>
                                      </p:cBhvr>
                                      <p:tavLst>
                                        <p:tav tm="0">
                                          <p:val>
                                            <p:fltVal val="90"/>
                                          </p:val>
                                        </p:tav>
                                        <p:tav tm="100000">
                                          <p:val>
                                            <p:fltVal val="0"/>
                                          </p:val>
                                        </p:tav>
                                      </p:tavLst>
                                    </p:anim>
                                    <p:animEffect transition="in" filter="fade">
                                      <p:cBhvr>
                                        <p:cTn id="28" dur="1500"/>
                                        <p:tgtEl>
                                          <p:spTgt spid="5"/>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1500" fill="hold"/>
                                        <p:tgtEl>
                                          <p:spTgt spid="6"/>
                                        </p:tgtEl>
                                        <p:attrNameLst>
                                          <p:attrName>ppt_w</p:attrName>
                                        </p:attrNameLst>
                                      </p:cBhvr>
                                      <p:tavLst>
                                        <p:tav tm="0">
                                          <p:val>
                                            <p:fltVal val="0"/>
                                          </p:val>
                                        </p:tav>
                                        <p:tav tm="100000">
                                          <p:val>
                                            <p:strVal val="#ppt_w"/>
                                          </p:val>
                                        </p:tav>
                                      </p:tavLst>
                                    </p:anim>
                                    <p:anim calcmode="lin" valueType="num">
                                      <p:cBhvr>
                                        <p:cTn id="32" dur="1500" fill="hold"/>
                                        <p:tgtEl>
                                          <p:spTgt spid="6"/>
                                        </p:tgtEl>
                                        <p:attrNameLst>
                                          <p:attrName>ppt_h</p:attrName>
                                        </p:attrNameLst>
                                      </p:cBhvr>
                                      <p:tavLst>
                                        <p:tav tm="0">
                                          <p:val>
                                            <p:fltVal val="0"/>
                                          </p:val>
                                        </p:tav>
                                        <p:tav tm="100000">
                                          <p:val>
                                            <p:strVal val="#ppt_h"/>
                                          </p:val>
                                        </p:tav>
                                      </p:tavLst>
                                    </p:anim>
                                    <p:anim calcmode="lin" valueType="num">
                                      <p:cBhvr>
                                        <p:cTn id="33" dur="1500" fill="hold"/>
                                        <p:tgtEl>
                                          <p:spTgt spid="6"/>
                                        </p:tgtEl>
                                        <p:attrNameLst>
                                          <p:attrName>style.rotation</p:attrName>
                                        </p:attrNameLst>
                                      </p:cBhvr>
                                      <p:tavLst>
                                        <p:tav tm="0">
                                          <p:val>
                                            <p:fltVal val="90"/>
                                          </p:val>
                                        </p:tav>
                                        <p:tav tm="100000">
                                          <p:val>
                                            <p:fltVal val="0"/>
                                          </p:val>
                                        </p:tav>
                                      </p:tavLst>
                                    </p:anim>
                                    <p:animEffect transition="in" filter="fade">
                                      <p:cBhvr>
                                        <p:cTn id="34" dur="1500"/>
                                        <p:tgtEl>
                                          <p:spTgt spid="6"/>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1500" fill="hold"/>
                                        <p:tgtEl>
                                          <p:spTgt spid="7"/>
                                        </p:tgtEl>
                                        <p:attrNameLst>
                                          <p:attrName>ppt_w</p:attrName>
                                        </p:attrNameLst>
                                      </p:cBhvr>
                                      <p:tavLst>
                                        <p:tav tm="0">
                                          <p:val>
                                            <p:fltVal val="0"/>
                                          </p:val>
                                        </p:tav>
                                        <p:tav tm="100000">
                                          <p:val>
                                            <p:strVal val="#ppt_w"/>
                                          </p:val>
                                        </p:tav>
                                      </p:tavLst>
                                    </p:anim>
                                    <p:anim calcmode="lin" valueType="num">
                                      <p:cBhvr>
                                        <p:cTn id="38" dur="1500" fill="hold"/>
                                        <p:tgtEl>
                                          <p:spTgt spid="7"/>
                                        </p:tgtEl>
                                        <p:attrNameLst>
                                          <p:attrName>ppt_h</p:attrName>
                                        </p:attrNameLst>
                                      </p:cBhvr>
                                      <p:tavLst>
                                        <p:tav tm="0">
                                          <p:val>
                                            <p:fltVal val="0"/>
                                          </p:val>
                                        </p:tav>
                                        <p:tav tm="100000">
                                          <p:val>
                                            <p:strVal val="#ppt_h"/>
                                          </p:val>
                                        </p:tav>
                                      </p:tavLst>
                                    </p:anim>
                                    <p:anim calcmode="lin" valueType="num">
                                      <p:cBhvr>
                                        <p:cTn id="39" dur="1500" fill="hold"/>
                                        <p:tgtEl>
                                          <p:spTgt spid="7"/>
                                        </p:tgtEl>
                                        <p:attrNameLst>
                                          <p:attrName>style.rotation</p:attrName>
                                        </p:attrNameLst>
                                      </p:cBhvr>
                                      <p:tavLst>
                                        <p:tav tm="0">
                                          <p:val>
                                            <p:fltVal val="90"/>
                                          </p:val>
                                        </p:tav>
                                        <p:tav tm="100000">
                                          <p:val>
                                            <p:fltVal val="0"/>
                                          </p:val>
                                        </p:tav>
                                      </p:tavLst>
                                    </p:anim>
                                    <p:animEffect transition="in" filter="fade">
                                      <p:cBhvr>
                                        <p:cTn id="40"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عرض ومناقشة خطط التحسين (🎙️ 5 دقائق لكل فريق)</a:t>
            </a:r>
          </a:p>
        </p:txBody>
      </p:sp>
      <p:sp>
        <p:nvSpPr>
          <p:cNvPr id="3" name="Rectangle 2"/>
          <p:cNvSpPr/>
          <p:nvPr/>
        </p:nvSpPr>
        <p:spPr>
          <a:xfrm>
            <a:off x="1371600" y="1371600"/>
            <a:ext cx="9448495" cy="822960"/>
          </a:xfrm>
          <a:prstGeom prst="rect">
            <a:avLst/>
          </a:prstGeom>
          <a:solidFill>
            <a:srgbClr val="F8FAFC"/>
          </a:solidFill>
          <a:ln>
            <a:solidFill>
              <a:srgbClr val="3559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02C57"/>
                </a:solidFill>
              </a:defRPr>
            </a:pPr>
            <a:r>
              <a:rPr lang="ar-EG" sz="2000" noProof="1">
                <a:solidFill>
                  <a:schemeClr val="tx1"/>
                </a:solidFill>
              </a:rPr>
              <a:t>⏱️ الدقيقة 1  |  عرض المشكلة والفجوة الرقمية</a:t>
            </a:r>
          </a:p>
        </p:txBody>
      </p:sp>
      <p:sp>
        <p:nvSpPr>
          <p:cNvPr id="4" name="Rectangle 3"/>
          <p:cNvSpPr/>
          <p:nvPr/>
        </p:nvSpPr>
        <p:spPr>
          <a:xfrm>
            <a:off x="1371600" y="2377440"/>
            <a:ext cx="9448495" cy="822960"/>
          </a:xfrm>
          <a:prstGeom prst="rect">
            <a:avLst/>
          </a:prstGeom>
          <a:solidFill>
            <a:srgbClr val="F8FAFC"/>
          </a:solidFill>
          <a:ln>
            <a:solidFill>
              <a:srgbClr val="3559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02C57"/>
                </a:solidFill>
              </a:defRPr>
            </a:pPr>
            <a:r>
              <a:rPr lang="ar-EG" sz="2000" b="1" noProof="1">
                <a:solidFill>
                  <a:schemeClr val="tx1"/>
                </a:solidFill>
              </a:rPr>
              <a:t>⏱️ الدقيقة 2  |  الأسباب </a:t>
            </a:r>
            <a:r>
              <a:rPr lang="ar-EG" sz="2000" noProof="1">
                <a:solidFill>
                  <a:schemeClr val="tx1"/>
                </a:solidFill>
              </a:rPr>
              <a:t>الجذرية التي تم استخراجها</a:t>
            </a:r>
          </a:p>
        </p:txBody>
      </p:sp>
      <p:sp>
        <p:nvSpPr>
          <p:cNvPr id="5" name="Rectangle 4"/>
          <p:cNvSpPr/>
          <p:nvPr/>
        </p:nvSpPr>
        <p:spPr>
          <a:xfrm>
            <a:off x="1371600" y="3383280"/>
            <a:ext cx="9448495" cy="822960"/>
          </a:xfrm>
          <a:prstGeom prst="rect">
            <a:avLst/>
          </a:prstGeom>
          <a:solidFill>
            <a:srgbClr val="F8FAFC"/>
          </a:solidFill>
          <a:ln>
            <a:solidFill>
              <a:srgbClr val="3559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02C57"/>
                </a:solidFill>
              </a:defRPr>
            </a:pPr>
            <a:r>
              <a:rPr lang="ar-EG" sz="2000" noProof="1">
                <a:solidFill>
                  <a:schemeClr val="tx1"/>
                </a:solidFill>
              </a:rPr>
              <a:t>⏱️ الدقيقة 3  |  المبادرة النوعية وآلية تنفيذها</a:t>
            </a:r>
          </a:p>
        </p:txBody>
      </p:sp>
      <p:sp>
        <p:nvSpPr>
          <p:cNvPr id="6" name="Rectangle 5"/>
          <p:cNvSpPr/>
          <p:nvPr/>
        </p:nvSpPr>
        <p:spPr>
          <a:xfrm>
            <a:off x="1371600" y="4389120"/>
            <a:ext cx="9448495" cy="822960"/>
          </a:xfrm>
          <a:prstGeom prst="rect">
            <a:avLst/>
          </a:prstGeom>
          <a:solidFill>
            <a:srgbClr val="F8FAFC"/>
          </a:solidFill>
          <a:ln>
            <a:solidFill>
              <a:srgbClr val="3559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600" b="1">
                <a:solidFill>
                  <a:srgbClr val="102C57"/>
                </a:solidFill>
              </a:defRPr>
            </a:pPr>
            <a:r>
              <a:rPr lang="ar-EG" sz="2000" noProof="1">
                <a:solidFill>
                  <a:schemeClr val="tx1"/>
                </a:solidFill>
              </a:rPr>
              <a:t>⏱️ الدقيقة 4  |  مؤشرات القياس وضمان الاستدامة</a:t>
            </a:r>
          </a:p>
        </p:txBody>
      </p:sp>
      <p:sp>
        <p:nvSpPr>
          <p:cNvPr id="7" name="Rectangle 6"/>
          <p:cNvSpPr/>
          <p:nvPr/>
        </p:nvSpPr>
        <p:spPr>
          <a:xfrm>
            <a:off x="1371600" y="5394960"/>
            <a:ext cx="9448495" cy="822960"/>
          </a:xfrm>
          <a:prstGeom prst="rect">
            <a:avLst/>
          </a:prstGeom>
          <a:solidFill>
            <a:srgbClr val="F8FAFC"/>
          </a:solidFill>
          <a:ln>
            <a:solidFill>
              <a:srgbClr val="35598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a:defRPr sz="1600" b="1">
                <a:solidFill>
                  <a:srgbClr val="102C57"/>
                </a:solidFill>
              </a:defRPr>
            </a:pPr>
            <a:r>
              <a:rPr lang="ar-EG" sz="2000" noProof="1">
                <a:solidFill>
                  <a:schemeClr val="tx1"/>
                </a:solidFill>
              </a:rPr>
              <a:t>⏱️ الدقيقة 5  |  التغذية الراجعة من باقي الفرق والمدرب</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750"/>
                                        <p:tgtEl>
                                          <p:spTgt spid="2"/>
                                        </p:tgtEl>
                                        <p:attrNameLst>
                                          <p:attrName>ppt_y</p:attrName>
                                        </p:attrNameLst>
                                      </p:cBhvr>
                                      <p:tavLst>
                                        <p:tav tm="0">
                                          <p:val>
                                            <p:strVal val="#ppt_y+#ppt_h*1.125000"/>
                                          </p:val>
                                        </p:tav>
                                        <p:tav tm="100000">
                                          <p:val>
                                            <p:strVal val="#ppt_y"/>
                                          </p:val>
                                        </p:tav>
                                      </p:tavLst>
                                    </p:anim>
                                    <p:animEffect transition="in" filter="wipe(up)">
                                      <p:cBhvr>
                                        <p:cTn id="8" dur="1750"/>
                                        <p:tgtEl>
                                          <p:spTgt spid="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750"/>
                                        <p:tgtEl>
                                          <p:spTgt spid="3"/>
                                        </p:tgtEl>
                                        <p:attrNameLst>
                                          <p:attrName>ppt_y</p:attrName>
                                        </p:attrNameLst>
                                      </p:cBhvr>
                                      <p:tavLst>
                                        <p:tav tm="0">
                                          <p:val>
                                            <p:strVal val="#ppt_y+#ppt_h*1.125000"/>
                                          </p:val>
                                        </p:tav>
                                        <p:tav tm="100000">
                                          <p:val>
                                            <p:strVal val="#ppt_y"/>
                                          </p:val>
                                        </p:tav>
                                      </p:tavLst>
                                    </p:anim>
                                    <p:animEffect transition="in" filter="wipe(up)">
                                      <p:cBhvr>
                                        <p:cTn id="12" dur="1750"/>
                                        <p:tgtEl>
                                          <p:spTgt spid="3"/>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750"/>
                                        <p:tgtEl>
                                          <p:spTgt spid="4"/>
                                        </p:tgtEl>
                                        <p:attrNameLst>
                                          <p:attrName>ppt_y</p:attrName>
                                        </p:attrNameLst>
                                      </p:cBhvr>
                                      <p:tavLst>
                                        <p:tav tm="0">
                                          <p:val>
                                            <p:strVal val="#ppt_y+#ppt_h*1.125000"/>
                                          </p:val>
                                        </p:tav>
                                        <p:tav tm="100000">
                                          <p:val>
                                            <p:strVal val="#ppt_y"/>
                                          </p:val>
                                        </p:tav>
                                      </p:tavLst>
                                    </p:anim>
                                    <p:animEffect transition="in" filter="wipe(up)">
                                      <p:cBhvr>
                                        <p:cTn id="16" dur="1750"/>
                                        <p:tgtEl>
                                          <p:spTgt spid="4"/>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750"/>
                                        <p:tgtEl>
                                          <p:spTgt spid="5"/>
                                        </p:tgtEl>
                                        <p:attrNameLst>
                                          <p:attrName>ppt_y</p:attrName>
                                        </p:attrNameLst>
                                      </p:cBhvr>
                                      <p:tavLst>
                                        <p:tav tm="0">
                                          <p:val>
                                            <p:strVal val="#ppt_y+#ppt_h*1.125000"/>
                                          </p:val>
                                        </p:tav>
                                        <p:tav tm="100000">
                                          <p:val>
                                            <p:strVal val="#ppt_y"/>
                                          </p:val>
                                        </p:tav>
                                      </p:tavLst>
                                    </p:anim>
                                    <p:animEffect transition="in" filter="wipe(up)">
                                      <p:cBhvr>
                                        <p:cTn id="20" dur="1750"/>
                                        <p:tgtEl>
                                          <p:spTgt spid="5"/>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750"/>
                                        <p:tgtEl>
                                          <p:spTgt spid="6"/>
                                        </p:tgtEl>
                                        <p:attrNameLst>
                                          <p:attrName>ppt_y</p:attrName>
                                        </p:attrNameLst>
                                      </p:cBhvr>
                                      <p:tavLst>
                                        <p:tav tm="0">
                                          <p:val>
                                            <p:strVal val="#ppt_y+#ppt_h*1.125000"/>
                                          </p:val>
                                        </p:tav>
                                        <p:tav tm="100000">
                                          <p:val>
                                            <p:strVal val="#ppt_y"/>
                                          </p:val>
                                        </p:tav>
                                      </p:tavLst>
                                    </p:anim>
                                    <p:animEffect transition="in" filter="wipe(up)">
                                      <p:cBhvr>
                                        <p:cTn id="24" dur="1750"/>
                                        <p:tgtEl>
                                          <p:spTgt spid="6"/>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750"/>
                                        <p:tgtEl>
                                          <p:spTgt spid="7"/>
                                        </p:tgtEl>
                                        <p:attrNameLst>
                                          <p:attrName>ppt_y</p:attrName>
                                        </p:attrNameLst>
                                      </p:cBhvr>
                                      <p:tavLst>
                                        <p:tav tm="0">
                                          <p:val>
                                            <p:strVal val="#ppt_y+#ppt_h*1.125000"/>
                                          </p:val>
                                        </p:tav>
                                        <p:tav tm="100000">
                                          <p:val>
                                            <p:strVal val="#ppt_y"/>
                                          </p:val>
                                        </p:tav>
                                      </p:tavLst>
                                    </p:anim>
                                    <p:animEffect transition="in" filter="wipe(up)">
                                      <p:cBhvr>
                                        <p:cTn id="28" dur="1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457200"/>
            <a:ext cx="10728655" cy="523220"/>
          </a:xfrm>
          <a:prstGeom prst="rect">
            <a:avLst/>
          </a:prstGeom>
          <a:noFill/>
        </p:spPr>
        <p:txBody>
          <a:bodyPr wrap="square">
            <a:spAutoFit/>
          </a:bodyPr>
          <a:lstStyle/>
          <a:p>
            <a:pPr algn="r">
              <a:defRPr sz="2800" b="1">
                <a:solidFill>
                  <a:srgbClr val="102C57"/>
                </a:solidFill>
                <a:latin typeface="Arial"/>
              </a:defRPr>
            </a:pPr>
            <a:r>
              <a:rPr lang="ar-EG" noProof="1">
                <a:solidFill>
                  <a:schemeClr val="bg1"/>
                </a:solidFill>
              </a:rPr>
              <a:t>دروس مستفادة من التطبيق</a:t>
            </a:r>
          </a:p>
        </p:txBody>
      </p:sp>
      <p:sp>
        <p:nvSpPr>
          <p:cNvPr id="3" name="Rounded Rectangle 2"/>
          <p:cNvSpPr/>
          <p:nvPr/>
        </p:nvSpPr>
        <p:spPr>
          <a:xfrm>
            <a:off x="1371600" y="1371600"/>
            <a:ext cx="9448495" cy="868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chemeClr val="tx1"/>
                </a:solidFill>
              </a:rPr>
              <a:t>🔍 الواقع أولاً : التحسين الناجح يبدأ من فهم دقيق للواقع لا الهروب منه.</a:t>
            </a:r>
          </a:p>
        </p:txBody>
      </p:sp>
      <p:sp>
        <p:nvSpPr>
          <p:cNvPr id="4" name="Rounded Rectangle 3"/>
          <p:cNvSpPr/>
          <p:nvPr/>
        </p:nvSpPr>
        <p:spPr>
          <a:xfrm>
            <a:off x="1371600" y="2377440"/>
            <a:ext cx="9448495" cy="868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chemeClr val="tx1"/>
                </a:solidFill>
              </a:rPr>
              <a:t>📊 البيانات قاطعة : البيانات الموثوقة هي المحرك الوحيد للقرارات الرشيدة.</a:t>
            </a:r>
          </a:p>
        </p:txBody>
      </p:sp>
      <p:sp>
        <p:nvSpPr>
          <p:cNvPr id="5" name="Rounded Rectangle 4"/>
          <p:cNvSpPr/>
          <p:nvPr/>
        </p:nvSpPr>
        <p:spPr>
          <a:xfrm>
            <a:off x="1371600" y="3383280"/>
            <a:ext cx="9448495" cy="868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chemeClr val="tx1"/>
                </a:solidFill>
              </a:rPr>
              <a:t>💡 النوعية لا الكمية : المبادرات المحددة ذات الأثر تعادل عشرات الأنشطة التقليدية.</a:t>
            </a:r>
          </a:p>
        </p:txBody>
      </p:sp>
      <p:sp>
        <p:nvSpPr>
          <p:cNvPr id="6" name="Rounded Rectangle 5"/>
          <p:cNvSpPr/>
          <p:nvPr/>
        </p:nvSpPr>
        <p:spPr>
          <a:xfrm>
            <a:off x="1371600" y="4389120"/>
            <a:ext cx="9448495" cy="868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chemeClr val="tx1"/>
                </a:solidFill>
              </a:rPr>
              <a:t>🛡️ القياس ضمانة : ما لا يمكن قياسه لا يمكن إدارته ولا تحسينه.</a:t>
            </a:r>
          </a:p>
        </p:txBody>
      </p:sp>
      <p:sp>
        <p:nvSpPr>
          <p:cNvPr id="7" name="Rounded Rectangle 6"/>
          <p:cNvSpPr/>
          <p:nvPr/>
        </p:nvSpPr>
        <p:spPr>
          <a:xfrm>
            <a:off x="1371600" y="5394960"/>
            <a:ext cx="9448495" cy="86868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r" rtl="1">
              <a:defRPr sz="1500" b="1">
                <a:solidFill>
                  <a:srgbClr val="102C57"/>
                </a:solidFill>
              </a:defRPr>
            </a:pPr>
            <a:r>
              <a:rPr lang="ar-EG" sz="2000" noProof="1">
                <a:solidFill>
                  <a:schemeClr val="tx1"/>
                </a:solidFill>
              </a:rPr>
              <a:t>🏆 التميز مسار : التميز المدرسي ليس محطة وصول، بل رحلة تطوير مستمرة.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750" fill="hold"/>
                                        <p:tgtEl>
                                          <p:spTgt spid="2"/>
                                        </p:tgtEl>
                                        <p:attrNameLst>
                                          <p:attrName>ppt_w</p:attrName>
                                        </p:attrNameLst>
                                      </p:cBhvr>
                                      <p:tavLst>
                                        <p:tav tm="0">
                                          <p:val>
                                            <p:fltVal val="0"/>
                                          </p:val>
                                        </p:tav>
                                        <p:tav tm="100000">
                                          <p:val>
                                            <p:strVal val="#ppt_w"/>
                                          </p:val>
                                        </p:tav>
                                      </p:tavLst>
                                    </p:anim>
                                    <p:anim calcmode="lin" valueType="num">
                                      <p:cBhvr>
                                        <p:cTn id="8" dur="1750" fill="hold"/>
                                        <p:tgtEl>
                                          <p:spTgt spid="2"/>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750" fill="hold"/>
                                        <p:tgtEl>
                                          <p:spTgt spid="3"/>
                                        </p:tgtEl>
                                        <p:attrNameLst>
                                          <p:attrName>ppt_w</p:attrName>
                                        </p:attrNameLst>
                                      </p:cBhvr>
                                      <p:tavLst>
                                        <p:tav tm="0">
                                          <p:val>
                                            <p:fltVal val="0"/>
                                          </p:val>
                                        </p:tav>
                                        <p:tav tm="100000">
                                          <p:val>
                                            <p:strVal val="#ppt_w"/>
                                          </p:val>
                                        </p:tav>
                                      </p:tavLst>
                                    </p:anim>
                                    <p:anim calcmode="lin" valueType="num">
                                      <p:cBhvr>
                                        <p:cTn id="12" dur="1750" fill="hold"/>
                                        <p:tgtEl>
                                          <p:spTgt spid="3"/>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750" fill="hold"/>
                                        <p:tgtEl>
                                          <p:spTgt spid="4"/>
                                        </p:tgtEl>
                                        <p:attrNameLst>
                                          <p:attrName>ppt_w</p:attrName>
                                        </p:attrNameLst>
                                      </p:cBhvr>
                                      <p:tavLst>
                                        <p:tav tm="0">
                                          <p:val>
                                            <p:fltVal val="0"/>
                                          </p:val>
                                        </p:tav>
                                        <p:tav tm="100000">
                                          <p:val>
                                            <p:strVal val="#ppt_w"/>
                                          </p:val>
                                        </p:tav>
                                      </p:tavLst>
                                    </p:anim>
                                    <p:anim calcmode="lin" valueType="num">
                                      <p:cBhvr>
                                        <p:cTn id="16" dur="1750" fill="hold"/>
                                        <p:tgtEl>
                                          <p:spTgt spid="4"/>
                                        </p:tgtEl>
                                        <p:attrNameLst>
                                          <p:attrName>ppt_h</p:attrName>
                                        </p:attrNameLst>
                                      </p:cBhvr>
                                      <p:tavLst>
                                        <p:tav tm="0">
                                          <p:val>
                                            <p:strVal val="#ppt_h"/>
                                          </p:val>
                                        </p:tav>
                                        <p:tav tm="100000">
                                          <p:val>
                                            <p:strVal val="#ppt_h"/>
                                          </p:val>
                                        </p:tav>
                                      </p:tavLst>
                                    </p:anim>
                                  </p:childTnLst>
                                </p:cTn>
                              </p:par>
                              <p:par>
                                <p:cTn id="17" presetID="17" presetClass="entr" presetSubtype="1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750" fill="hold"/>
                                        <p:tgtEl>
                                          <p:spTgt spid="5"/>
                                        </p:tgtEl>
                                        <p:attrNameLst>
                                          <p:attrName>ppt_w</p:attrName>
                                        </p:attrNameLst>
                                      </p:cBhvr>
                                      <p:tavLst>
                                        <p:tav tm="0">
                                          <p:val>
                                            <p:fltVal val="0"/>
                                          </p:val>
                                        </p:tav>
                                        <p:tav tm="100000">
                                          <p:val>
                                            <p:strVal val="#ppt_w"/>
                                          </p:val>
                                        </p:tav>
                                      </p:tavLst>
                                    </p:anim>
                                    <p:anim calcmode="lin" valueType="num">
                                      <p:cBhvr>
                                        <p:cTn id="20" dur="1750" fill="hold"/>
                                        <p:tgtEl>
                                          <p:spTgt spid="5"/>
                                        </p:tgtEl>
                                        <p:attrNameLst>
                                          <p:attrName>ppt_h</p:attrName>
                                        </p:attrNameLst>
                                      </p:cBhvr>
                                      <p:tavLst>
                                        <p:tav tm="0">
                                          <p:val>
                                            <p:strVal val="#ppt_h"/>
                                          </p:val>
                                        </p:tav>
                                        <p:tav tm="100000">
                                          <p:val>
                                            <p:strVal val="#ppt_h"/>
                                          </p:val>
                                        </p:tav>
                                      </p:tavLst>
                                    </p:anim>
                                  </p:childTnLst>
                                </p:cTn>
                              </p:par>
                              <p:par>
                                <p:cTn id="21" presetID="17" presetClass="entr" presetSubtype="1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750" fill="hold"/>
                                        <p:tgtEl>
                                          <p:spTgt spid="6"/>
                                        </p:tgtEl>
                                        <p:attrNameLst>
                                          <p:attrName>ppt_w</p:attrName>
                                        </p:attrNameLst>
                                      </p:cBhvr>
                                      <p:tavLst>
                                        <p:tav tm="0">
                                          <p:val>
                                            <p:fltVal val="0"/>
                                          </p:val>
                                        </p:tav>
                                        <p:tav tm="100000">
                                          <p:val>
                                            <p:strVal val="#ppt_w"/>
                                          </p:val>
                                        </p:tav>
                                      </p:tavLst>
                                    </p:anim>
                                    <p:anim calcmode="lin" valueType="num">
                                      <p:cBhvr>
                                        <p:cTn id="24" dur="1750" fill="hold"/>
                                        <p:tgtEl>
                                          <p:spTgt spid="6"/>
                                        </p:tgtEl>
                                        <p:attrNameLst>
                                          <p:attrName>ppt_h</p:attrName>
                                        </p:attrNameLst>
                                      </p:cBhvr>
                                      <p:tavLst>
                                        <p:tav tm="0">
                                          <p:val>
                                            <p:strVal val="#ppt_h"/>
                                          </p:val>
                                        </p:tav>
                                        <p:tav tm="100000">
                                          <p:val>
                                            <p:strVal val="#ppt_h"/>
                                          </p:val>
                                        </p:tav>
                                      </p:tavLst>
                                    </p:anim>
                                  </p:childTnLst>
                                </p:cTn>
                              </p:par>
                              <p:par>
                                <p:cTn id="25" presetID="17" presetClass="entr" presetSubtype="1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1750" fill="hold"/>
                                        <p:tgtEl>
                                          <p:spTgt spid="7"/>
                                        </p:tgtEl>
                                        <p:attrNameLst>
                                          <p:attrName>ppt_w</p:attrName>
                                        </p:attrNameLst>
                                      </p:cBhvr>
                                      <p:tavLst>
                                        <p:tav tm="0">
                                          <p:val>
                                            <p:fltVal val="0"/>
                                          </p:val>
                                        </p:tav>
                                        <p:tav tm="100000">
                                          <p:val>
                                            <p:strVal val="#ppt_w"/>
                                          </p:val>
                                        </p:tav>
                                      </p:tavLst>
                                    </p:anim>
                                    <p:anim calcmode="lin" valueType="num">
                                      <p:cBhvr>
                                        <p:cTn id="28" dur="175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F41D-A5FF-37DE-C89E-B06777A52AA5}"/>
            </a:ext>
          </a:extLst>
        </p:cNvPr>
        <p:cNvGrpSpPr/>
        <p:nvPr/>
      </p:nvGrpSpPr>
      <p:grpSpPr>
        <a:xfrm>
          <a:off x="0" y="0"/>
          <a:ext cx="0" cy="0"/>
          <a:chOff x="0" y="0"/>
          <a:chExt cx="0" cy="0"/>
        </a:xfrm>
      </p:grpSpPr>
      <p:pic>
        <p:nvPicPr>
          <p:cNvPr id="3" name="Picture 1" descr="image.png">
            <a:extLst>
              <a:ext uri="{FF2B5EF4-FFF2-40B4-BE49-F238E27FC236}">
                <a16:creationId xmlns:a16="http://schemas.microsoft.com/office/drawing/2014/main" id="{34B9A7E0-54D1-289B-34F7-5511FA42D72B}"/>
              </a:ext>
            </a:extLst>
          </p:cNvPr>
          <p:cNvPicPr>
            <a:picLocks noChangeAspect="1"/>
          </p:cNvPicPr>
          <p:nvPr/>
        </p:nvPicPr>
        <p:blipFill>
          <a:blip r:embed="rId2"/>
          <a:stretch>
            <a:fillRect/>
          </a:stretch>
        </p:blipFill>
        <p:spPr>
          <a:xfrm>
            <a:off x="0" y="0"/>
            <a:ext cx="12192000" cy="6858000"/>
          </a:xfrm>
          <a:prstGeom prst="rect">
            <a:avLst/>
          </a:prstGeom>
        </p:spPr>
      </p:pic>
      <p:sp>
        <p:nvSpPr>
          <p:cNvPr id="5" name="مربع نص 4">
            <a:extLst>
              <a:ext uri="{FF2B5EF4-FFF2-40B4-BE49-F238E27FC236}">
                <a16:creationId xmlns:a16="http://schemas.microsoft.com/office/drawing/2014/main" id="{56958511-4EDE-B7BA-6C9A-3ED37DDB36B0}"/>
              </a:ext>
            </a:extLst>
          </p:cNvPr>
          <p:cNvSpPr txBox="1"/>
          <p:nvPr/>
        </p:nvSpPr>
        <p:spPr>
          <a:xfrm>
            <a:off x="2709804" y="2871334"/>
            <a:ext cx="7453859" cy="769441"/>
          </a:xfrm>
          <a:prstGeom prst="rect">
            <a:avLst/>
          </a:prstGeom>
          <a:noFill/>
        </p:spPr>
        <p:txBody>
          <a:bodyPr wrap="square">
            <a:spAutoFit/>
          </a:bodyPr>
          <a:lstStyle/>
          <a:p>
            <a:pPr algn="ctr" rtl="1">
              <a:defRPr sz="2800" b="1">
                <a:solidFill>
                  <a:srgbClr val="102C57"/>
                </a:solidFill>
                <a:latin typeface="Arial"/>
              </a:defRPr>
            </a:pPr>
            <a:r>
              <a:rPr lang="ar-EG" sz="4400" noProof="1">
                <a:solidFill>
                  <a:schemeClr val="bg1"/>
                </a:solidFill>
              </a:rPr>
              <a:t>من التحسين إلى التميز</a:t>
            </a:r>
          </a:p>
        </p:txBody>
      </p:sp>
    </p:spTree>
    <p:extLst>
      <p:ext uri="{BB962C8B-B14F-4D97-AF65-F5344CB8AC3E}">
        <p14:creationId xmlns:p14="http://schemas.microsoft.com/office/powerpoint/2010/main" val="2843316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1390" y="1086131"/>
            <a:ext cx="10728655" cy="584775"/>
          </a:xfrm>
          <a:prstGeom prst="rect">
            <a:avLst/>
          </a:prstGeom>
          <a:noFill/>
        </p:spPr>
        <p:txBody>
          <a:bodyPr wrap="square">
            <a:spAutoFit/>
          </a:bodyPr>
          <a:lstStyle/>
          <a:p>
            <a:pPr algn="r">
              <a:defRPr sz="2400" b="1">
                <a:solidFill>
                  <a:srgbClr val="1A2530"/>
                </a:solidFill>
              </a:defRPr>
            </a:pPr>
            <a:r>
              <a:rPr lang="ar-EG" sz="3200" noProof="1">
                <a:solidFill>
                  <a:schemeClr val="bg1"/>
                </a:solidFill>
              </a:rPr>
              <a:t>من التحسين إلى التميز المؤسسي</a:t>
            </a:r>
          </a:p>
        </p:txBody>
      </p:sp>
      <p:sp>
        <p:nvSpPr>
          <p:cNvPr id="4" name="Rectangle 3"/>
          <p:cNvSpPr/>
          <p:nvPr/>
        </p:nvSpPr>
        <p:spPr>
          <a:xfrm>
            <a:off x="8823960" y="2011680"/>
            <a:ext cx="2560320" cy="3840480"/>
          </a:xfrm>
          <a:prstGeom prst="rect">
            <a:avLst/>
          </a:prstGeom>
          <a:solidFill>
            <a:srgbClr val="F5F7FA"/>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Rectangle 4"/>
          <p:cNvSpPr/>
          <p:nvPr/>
        </p:nvSpPr>
        <p:spPr>
          <a:xfrm>
            <a:off x="8823960" y="2011680"/>
            <a:ext cx="2560320" cy="731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9215095" y="2121515"/>
            <a:ext cx="1778051" cy="461665"/>
          </a:xfrm>
          <a:prstGeom prst="rect">
            <a:avLst/>
          </a:prstGeom>
          <a:noFill/>
        </p:spPr>
        <p:txBody>
          <a:bodyPr wrap="none">
            <a:spAutoFit/>
          </a:bodyPr>
          <a:lstStyle/>
          <a:p>
            <a:pPr algn="ctr" rtl="1">
              <a:defRPr sz="1400" b="1">
                <a:solidFill>
                  <a:srgbClr val="FFFFFF"/>
                </a:solidFill>
              </a:defRPr>
            </a:pPr>
            <a:r>
              <a:rPr lang="ar-EG" sz="2400" noProof="1"/>
              <a:t>1. تحسين الأداء</a:t>
            </a:r>
          </a:p>
        </p:txBody>
      </p:sp>
      <p:sp>
        <p:nvSpPr>
          <p:cNvPr id="7" name="TextBox 6"/>
          <p:cNvSpPr txBox="1"/>
          <p:nvPr/>
        </p:nvSpPr>
        <p:spPr>
          <a:xfrm>
            <a:off x="8961120" y="2926080"/>
            <a:ext cx="2286000" cy="2062103"/>
          </a:xfrm>
          <a:prstGeom prst="rect">
            <a:avLst/>
          </a:prstGeom>
          <a:noFill/>
        </p:spPr>
        <p:txBody>
          <a:bodyPr wrap="square">
            <a:spAutoFit/>
          </a:bodyPr>
          <a:lstStyle/>
          <a:p>
            <a:pPr algn="ctr" rtl="1">
              <a:defRPr sz="1200">
                <a:solidFill>
                  <a:srgbClr val="2C3E50"/>
                </a:solidFill>
              </a:defRPr>
            </a:pPr>
            <a:r>
              <a:rPr lang="ar-EG" sz="3200" b="1" noProof="1"/>
              <a:t>معالجة جوانب الضعف ورأب الفجوات التشغيلية</a:t>
            </a:r>
            <a:r>
              <a:rPr lang="ar-EG" noProof="1"/>
              <a:t>.</a:t>
            </a:r>
          </a:p>
        </p:txBody>
      </p:sp>
      <p:sp>
        <p:nvSpPr>
          <p:cNvPr id="8" name="Rectangle 7"/>
          <p:cNvSpPr/>
          <p:nvPr/>
        </p:nvSpPr>
        <p:spPr>
          <a:xfrm>
            <a:off x="6126480" y="2011680"/>
            <a:ext cx="2560320" cy="384048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Rectangle 8"/>
          <p:cNvSpPr/>
          <p:nvPr/>
        </p:nvSpPr>
        <p:spPr>
          <a:xfrm>
            <a:off x="6126480" y="2011680"/>
            <a:ext cx="2560320" cy="7315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6640990" y="2121515"/>
            <a:ext cx="1585692" cy="461665"/>
          </a:xfrm>
          <a:prstGeom prst="rect">
            <a:avLst/>
          </a:prstGeom>
          <a:noFill/>
        </p:spPr>
        <p:txBody>
          <a:bodyPr wrap="none">
            <a:spAutoFit/>
          </a:bodyPr>
          <a:lstStyle/>
          <a:p>
            <a:pPr algn="ctr" rtl="1">
              <a:defRPr sz="1400" b="1">
                <a:solidFill>
                  <a:srgbClr val="FFFFFF"/>
                </a:solidFill>
              </a:defRPr>
            </a:pPr>
            <a:r>
              <a:rPr lang="ar-EG" sz="2400" noProof="1"/>
              <a:t>2. رفع الجودة</a:t>
            </a:r>
          </a:p>
        </p:txBody>
      </p:sp>
      <p:sp>
        <p:nvSpPr>
          <p:cNvPr id="11" name="TextBox 10"/>
          <p:cNvSpPr txBox="1"/>
          <p:nvPr/>
        </p:nvSpPr>
        <p:spPr>
          <a:xfrm>
            <a:off x="6145718" y="2853035"/>
            <a:ext cx="2541082" cy="1200329"/>
          </a:xfrm>
          <a:prstGeom prst="rect">
            <a:avLst/>
          </a:prstGeom>
          <a:noFill/>
        </p:spPr>
        <p:txBody>
          <a:bodyPr wrap="square">
            <a:spAutoFit/>
          </a:bodyPr>
          <a:lstStyle/>
          <a:p>
            <a:pPr algn="ctr" rtl="1">
              <a:defRPr sz="1200">
                <a:solidFill>
                  <a:srgbClr val="2C3E50"/>
                </a:solidFill>
              </a:defRPr>
            </a:pPr>
            <a:r>
              <a:rPr lang="ar-EG" sz="2400" b="1" noProof="1"/>
              <a:t>التأسيس لمعايير قياسية وتثبيت الممارسات الجيدة</a:t>
            </a:r>
            <a:r>
              <a:rPr lang="ar-EG" sz="2000" b="1" noProof="1"/>
              <a:t>.</a:t>
            </a:r>
          </a:p>
        </p:txBody>
      </p:sp>
      <p:sp>
        <p:nvSpPr>
          <p:cNvPr id="12" name="Rectangle 11"/>
          <p:cNvSpPr/>
          <p:nvPr/>
        </p:nvSpPr>
        <p:spPr>
          <a:xfrm>
            <a:off x="3429000" y="2011680"/>
            <a:ext cx="2560320" cy="384048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3" name="Rectangle 12"/>
          <p:cNvSpPr/>
          <p:nvPr/>
        </p:nvSpPr>
        <p:spPr>
          <a:xfrm>
            <a:off x="3429000" y="2011680"/>
            <a:ext cx="2560320" cy="7315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3836164" y="2121514"/>
            <a:ext cx="1745992" cy="461665"/>
          </a:xfrm>
          <a:prstGeom prst="rect">
            <a:avLst/>
          </a:prstGeom>
          <a:noFill/>
        </p:spPr>
        <p:txBody>
          <a:bodyPr wrap="none">
            <a:spAutoFit/>
          </a:bodyPr>
          <a:lstStyle/>
          <a:p>
            <a:pPr algn="ctr" rtl="1">
              <a:defRPr sz="1400" b="1">
                <a:solidFill>
                  <a:srgbClr val="FFFFFF"/>
                </a:solidFill>
              </a:defRPr>
            </a:pPr>
            <a:r>
              <a:rPr lang="ar-EG" sz="2400" noProof="1"/>
              <a:t>3. تحقيق التميز</a:t>
            </a:r>
          </a:p>
        </p:txBody>
      </p:sp>
      <p:sp>
        <p:nvSpPr>
          <p:cNvPr id="15" name="TextBox 14"/>
          <p:cNvSpPr txBox="1"/>
          <p:nvPr/>
        </p:nvSpPr>
        <p:spPr>
          <a:xfrm>
            <a:off x="3566160" y="2926080"/>
            <a:ext cx="2286000" cy="1200329"/>
          </a:xfrm>
          <a:prstGeom prst="rect">
            <a:avLst/>
          </a:prstGeom>
          <a:noFill/>
        </p:spPr>
        <p:txBody>
          <a:bodyPr wrap="square">
            <a:spAutoFit/>
          </a:bodyPr>
          <a:lstStyle/>
          <a:p>
            <a:pPr algn="ctr" rtl="1">
              <a:defRPr sz="1200">
                <a:solidFill>
                  <a:srgbClr val="2C3E50"/>
                </a:solidFill>
              </a:defRPr>
            </a:pPr>
            <a:r>
              <a:rPr lang="ar-EG" sz="2400" b="1" noProof="1"/>
              <a:t>تجاوز المستهدفات والمنافسة وفق المؤشرات</a:t>
            </a:r>
            <a:r>
              <a:rPr lang="ar-EG" noProof="1"/>
              <a:t>.</a:t>
            </a:r>
          </a:p>
        </p:txBody>
      </p:sp>
      <p:sp>
        <p:nvSpPr>
          <p:cNvPr id="16" name="Rectangle 15"/>
          <p:cNvSpPr/>
          <p:nvPr/>
        </p:nvSpPr>
        <p:spPr>
          <a:xfrm>
            <a:off x="731520" y="2011680"/>
            <a:ext cx="2560320" cy="3840480"/>
          </a:xfrm>
          <a:prstGeom prst="rect">
            <a:avLst/>
          </a:prstGeom>
          <a:solidFill>
            <a:srgbClr val="F5F7FA"/>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7" name="Rectangle 16"/>
          <p:cNvSpPr/>
          <p:nvPr/>
        </p:nvSpPr>
        <p:spPr>
          <a:xfrm>
            <a:off x="731520" y="2011680"/>
            <a:ext cx="2560320" cy="731520"/>
          </a:xfrm>
          <a:prstGeom prst="rect">
            <a:avLst/>
          </a:prstGeom>
          <a:solidFill>
            <a:srgbClr val="1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8" name="TextBox 17"/>
          <p:cNvSpPr txBox="1"/>
          <p:nvPr/>
        </p:nvSpPr>
        <p:spPr>
          <a:xfrm>
            <a:off x="934200" y="2146607"/>
            <a:ext cx="2220480" cy="461665"/>
          </a:xfrm>
          <a:prstGeom prst="rect">
            <a:avLst/>
          </a:prstGeom>
          <a:noFill/>
        </p:spPr>
        <p:txBody>
          <a:bodyPr wrap="none">
            <a:spAutoFit/>
          </a:bodyPr>
          <a:lstStyle/>
          <a:p>
            <a:pPr algn="ctr" rtl="1">
              <a:defRPr sz="1400" b="1">
                <a:solidFill>
                  <a:srgbClr val="FFFFFF"/>
                </a:solidFill>
              </a:defRPr>
            </a:pPr>
            <a:r>
              <a:rPr lang="ar-EG" sz="2400" noProof="1"/>
              <a:t>4. الابتكار المؤسسي</a:t>
            </a:r>
          </a:p>
        </p:txBody>
      </p:sp>
      <p:sp>
        <p:nvSpPr>
          <p:cNvPr id="19" name="TextBox 18"/>
          <p:cNvSpPr txBox="1"/>
          <p:nvPr/>
        </p:nvSpPr>
        <p:spPr>
          <a:xfrm>
            <a:off x="868680" y="2926080"/>
            <a:ext cx="2286000" cy="1200329"/>
          </a:xfrm>
          <a:prstGeom prst="rect">
            <a:avLst/>
          </a:prstGeom>
          <a:noFill/>
        </p:spPr>
        <p:txBody>
          <a:bodyPr wrap="square">
            <a:spAutoFit/>
          </a:bodyPr>
          <a:lstStyle/>
          <a:p>
            <a:pPr algn="l" rtl="1">
              <a:defRPr sz="1200">
                <a:solidFill>
                  <a:srgbClr val="2C3E50"/>
                </a:solidFill>
              </a:defRPr>
            </a:pPr>
            <a:r>
              <a:rPr lang="ar-EG" sz="2400" b="1" noProof="1"/>
              <a:t>إحداث نقلات نوعية واستباق المتغيرات بأساليب مبتكرة</a:t>
            </a:r>
            <a:r>
              <a:rPr lang="ar-EG" noProof="1"/>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750" fill="hold"/>
                                        <p:tgtEl>
                                          <p:spTgt spid="3"/>
                                        </p:tgtEl>
                                        <p:attrNameLst>
                                          <p:attrName>ppt_w</p:attrName>
                                        </p:attrNameLst>
                                      </p:cBhvr>
                                      <p:tavLst>
                                        <p:tav tm="0">
                                          <p:val>
                                            <p:fltVal val="0"/>
                                          </p:val>
                                        </p:tav>
                                        <p:tav tm="100000">
                                          <p:val>
                                            <p:strVal val="#ppt_w"/>
                                          </p:val>
                                        </p:tav>
                                      </p:tavLst>
                                    </p:anim>
                                    <p:anim calcmode="lin" valueType="num">
                                      <p:cBhvr>
                                        <p:cTn id="8" dur="1750" fill="hold"/>
                                        <p:tgtEl>
                                          <p:spTgt spid="3"/>
                                        </p:tgtEl>
                                        <p:attrNameLst>
                                          <p:attrName>ppt_h</p:attrName>
                                        </p:attrNameLst>
                                      </p:cBhvr>
                                      <p:tavLst>
                                        <p:tav tm="0">
                                          <p:val>
                                            <p:fltVal val="0"/>
                                          </p:val>
                                        </p:tav>
                                        <p:tav tm="100000">
                                          <p:val>
                                            <p:strVal val="#ppt_h"/>
                                          </p:val>
                                        </p:tav>
                                      </p:tavLst>
                                    </p:anim>
                                    <p:anim calcmode="lin" valueType="num">
                                      <p:cBhvr>
                                        <p:cTn id="9" dur="1750" fill="hold"/>
                                        <p:tgtEl>
                                          <p:spTgt spid="3"/>
                                        </p:tgtEl>
                                        <p:attrNameLst>
                                          <p:attrName>style.rotation</p:attrName>
                                        </p:attrNameLst>
                                      </p:cBhvr>
                                      <p:tavLst>
                                        <p:tav tm="0">
                                          <p:val>
                                            <p:fltVal val="90"/>
                                          </p:val>
                                        </p:tav>
                                        <p:tav tm="100000">
                                          <p:val>
                                            <p:fltVal val="0"/>
                                          </p:val>
                                        </p:tav>
                                      </p:tavLst>
                                    </p:anim>
                                    <p:animEffect transition="in" filter="fade">
                                      <p:cBhvr>
                                        <p:cTn id="10" dur="1750"/>
                                        <p:tgtEl>
                                          <p:spTgt spid="3"/>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750" fill="hold"/>
                                        <p:tgtEl>
                                          <p:spTgt spid="4"/>
                                        </p:tgtEl>
                                        <p:attrNameLst>
                                          <p:attrName>ppt_w</p:attrName>
                                        </p:attrNameLst>
                                      </p:cBhvr>
                                      <p:tavLst>
                                        <p:tav tm="0">
                                          <p:val>
                                            <p:fltVal val="0"/>
                                          </p:val>
                                        </p:tav>
                                        <p:tav tm="100000">
                                          <p:val>
                                            <p:strVal val="#ppt_w"/>
                                          </p:val>
                                        </p:tav>
                                      </p:tavLst>
                                    </p:anim>
                                    <p:anim calcmode="lin" valueType="num">
                                      <p:cBhvr>
                                        <p:cTn id="14" dur="1750" fill="hold"/>
                                        <p:tgtEl>
                                          <p:spTgt spid="4"/>
                                        </p:tgtEl>
                                        <p:attrNameLst>
                                          <p:attrName>ppt_h</p:attrName>
                                        </p:attrNameLst>
                                      </p:cBhvr>
                                      <p:tavLst>
                                        <p:tav tm="0">
                                          <p:val>
                                            <p:fltVal val="0"/>
                                          </p:val>
                                        </p:tav>
                                        <p:tav tm="100000">
                                          <p:val>
                                            <p:strVal val="#ppt_h"/>
                                          </p:val>
                                        </p:tav>
                                      </p:tavLst>
                                    </p:anim>
                                    <p:anim calcmode="lin" valueType="num">
                                      <p:cBhvr>
                                        <p:cTn id="15" dur="1750" fill="hold"/>
                                        <p:tgtEl>
                                          <p:spTgt spid="4"/>
                                        </p:tgtEl>
                                        <p:attrNameLst>
                                          <p:attrName>style.rotation</p:attrName>
                                        </p:attrNameLst>
                                      </p:cBhvr>
                                      <p:tavLst>
                                        <p:tav tm="0">
                                          <p:val>
                                            <p:fltVal val="90"/>
                                          </p:val>
                                        </p:tav>
                                        <p:tav tm="100000">
                                          <p:val>
                                            <p:fltVal val="0"/>
                                          </p:val>
                                        </p:tav>
                                      </p:tavLst>
                                    </p:anim>
                                    <p:animEffect transition="in" filter="fade">
                                      <p:cBhvr>
                                        <p:cTn id="16" dur="1750"/>
                                        <p:tgtEl>
                                          <p:spTgt spid="4"/>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750" fill="hold"/>
                                        <p:tgtEl>
                                          <p:spTgt spid="5"/>
                                        </p:tgtEl>
                                        <p:attrNameLst>
                                          <p:attrName>ppt_w</p:attrName>
                                        </p:attrNameLst>
                                      </p:cBhvr>
                                      <p:tavLst>
                                        <p:tav tm="0">
                                          <p:val>
                                            <p:fltVal val="0"/>
                                          </p:val>
                                        </p:tav>
                                        <p:tav tm="100000">
                                          <p:val>
                                            <p:strVal val="#ppt_w"/>
                                          </p:val>
                                        </p:tav>
                                      </p:tavLst>
                                    </p:anim>
                                    <p:anim calcmode="lin" valueType="num">
                                      <p:cBhvr>
                                        <p:cTn id="20" dur="1750" fill="hold"/>
                                        <p:tgtEl>
                                          <p:spTgt spid="5"/>
                                        </p:tgtEl>
                                        <p:attrNameLst>
                                          <p:attrName>ppt_h</p:attrName>
                                        </p:attrNameLst>
                                      </p:cBhvr>
                                      <p:tavLst>
                                        <p:tav tm="0">
                                          <p:val>
                                            <p:fltVal val="0"/>
                                          </p:val>
                                        </p:tav>
                                        <p:tav tm="100000">
                                          <p:val>
                                            <p:strVal val="#ppt_h"/>
                                          </p:val>
                                        </p:tav>
                                      </p:tavLst>
                                    </p:anim>
                                    <p:anim calcmode="lin" valueType="num">
                                      <p:cBhvr>
                                        <p:cTn id="21" dur="1750" fill="hold"/>
                                        <p:tgtEl>
                                          <p:spTgt spid="5"/>
                                        </p:tgtEl>
                                        <p:attrNameLst>
                                          <p:attrName>style.rotation</p:attrName>
                                        </p:attrNameLst>
                                      </p:cBhvr>
                                      <p:tavLst>
                                        <p:tav tm="0">
                                          <p:val>
                                            <p:fltVal val="90"/>
                                          </p:val>
                                        </p:tav>
                                        <p:tav tm="100000">
                                          <p:val>
                                            <p:fltVal val="0"/>
                                          </p:val>
                                        </p:tav>
                                      </p:tavLst>
                                    </p:anim>
                                    <p:animEffect transition="in" filter="fade">
                                      <p:cBhvr>
                                        <p:cTn id="22" dur="1750"/>
                                        <p:tgtEl>
                                          <p:spTgt spid="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750" fill="hold"/>
                                        <p:tgtEl>
                                          <p:spTgt spid="6"/>
                                        </p:tgtEl>
                                        <p:attrNameLst>
                                          <p:attrName>ppt_w</p:attrName>
                                        </p:attrNameLst>
                                      </p:cBhvr>
                                      <p:tavLst>
                                        <p:tav tm="0">
                                          <p:val>
                                            <p:fltVal val="0"/>
                                          </p:val>
                                        </p:tav>
                                        <p:tav tm="100000">
                                          <p:val>
                                            <p:strVal val="#ppt_w"/>
                                          </p:val>
                                        </p:tav>
                                      </p:tavLst>
                                    </p:anim>
                                    <p:anim calcmode="lin" valueType="num">
                                      <p:cBhvr>
                                        <p:cTn id="26" dur="1750" fill="hold"/>
                                        <p:tgtEl>
                                          <p:spTgt spid="6"/>
                                        </p:tgtEl>
                                        <p:attrNameLst>
                                          <p:attrName>ppt_h</p:attrName>
                                        </p:attrNameLst>
                                      </p:cBhvr>
                                      <p:tavLst>
                                        <p:tav tm="0">
                                          <p:val>
                                            <p:fltVal val="0"/>
                                          </p:val>
                                        </p:tav>
                                        <p:tav tm="100000">
                                          <p:val>
                                            <p:strVal val="#ppt_h"/>
                                          </p:val>
                                        </p:tav>
                                      </p:tavLst>
                                    </p:anim>
                                    <p:anim calcmode="lin" valueType="num">
                                      <p:cBhvr>
                                        <p:cTn id="27" dur="1750" fill="hold"/>
                                        <p:tgtEl>
                                          <p:spTgt spid="6"/>
                                        </p:tgtEl>
                                        <p:attrNameLst>
                                          <p:attrName>style.rotation</p:attrName>
                                        </p:attrNameLst>
                                      </p:cBhvr>
                                      <p:tavLst>
                                        <p:tav tm="0">
                                          <p:val>
                                            <p:fltVal val="90"/>
                                          </p:val>
                                        </p:tav>
                                        <p:tav tm="100000">
                                          <p:val>
                                            <p:fltVal val="0"/>
                                          </p:val>
                                        </p:tav>
                                      </p:tavLst>
                                    </p:anim>
                                    <p:animEffect transition="in" filter="fade">
                                      <p:cBhvr>
                                        <p:cTn id="28" dur="1750"/>
                                        <p:tgtEl>
                                          <p:spTgt spid="6"/>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750" fill="hold"/>
                                        <p:tgtEl>
                                          <p:spTgt spid="7"/>
                                        </p:tgtEl>
                                        <p:attrNameLst>
                                          <p:attrName>ppt_w</p:attrName>
                                        </p:attrNameLst>
                                      </p:cBhvr>
                                      <p:tavLst>
                                        <p:tav tm="0">
                                          <p:val>
                                            <p:fltVal val="0"/>
                                          </p:val>
                                        </p:tav>
                                        <p:tav tm="100000">
                                          <p:val>
                                            <p:strVal val="#ppt_w"/>
                                          </p:val>
                                        </p:tav>
                                      </p:tavLst>
                                    </p:anim>
                                    <p:anim calcmode="lin" valueType="num">
                                      <p:cBhvr>
                                        <p:cTn id="32" dur="1750" fill="hold"/>
                                        <p:tgtEl>
                                          <p:spTgt spid="7"/>
                                        </p:tgtEl>
                                        <p:attrNameLst>
                                          <p:attrName>ppt_h</p:attrName>
                                        </p:attrNameLst>
                                      </p:cBhvr>
                                      <p:tavLst>
                                        <p:tav tm="0">
                                          <p:val>
                                            <p:fltVal val="0"/>
                                          </p:val>
                                        </p:tav>
                                        <p:tav tm="100000">
                                          <p:val>
                                            <p:strVal val="#ppt_h"/>
                                          </p:val>
                                        </p:tav>
                                      </p:tavLst>
                                    </p:anim>
                                    <p:anim calcmode="lin" valueType="num">
                                      <p:cBhvr>
                                        <p:cTn id="33" dur="1750" fill="hold"/>
                                        <p:tgtEl>
                                          <p:spTgt spid="7"/>
                                        </p:tgtEl>
                                        <p:attrNameLst>
                                          <p:attrName>style.rotation</p:attrName>
                                        </p:attrNameLst>
                                      </p:cBhvr>
                                      <p:tavLst>
                                        <p:tav tm="0">
                                          <p:val>
                                            <p:fltVal val="90"/>
                                          </p:val>
                                        </p:tav>
                                        <p:tav tm="100000">
                                          <p:val>
                                            <p:fltVal val="0"/>
                                          </p:val>
                                        </p:tav>
                                      </p:tavLst>
                                    </p:anim>
                                    <p:animEffect transition="in" filter="fade">
                                      <p:cBhvr>
                                        <p:cTn id="34" dur="1750"/>
                                        <p:tgtEl>
                                          <p:spTgt spid="7"/>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750" fill="hold"/>
                                        <p:tgtEl>
                                          <p:spTgt spid="8"/>
                                        </p:tgtEl>
                                        <p:attrNameLst>
                                          <p:attrName>ppt_w</p:attrName>
                                        </p:attrNameLst>
                                      </p:cBhvr>
                                      <p:tavLst>
                                        <p:tav tm="0">
                                          <p:val>
                                            <p:fltVal val="0"/>
                                          </p:val>
                                        </p:tav>
                                        <p:tav tm="100000">
                                          <p:val>
                                            <p:strVal val="#ppt_w"/>
                                          </p:val>
                                        </p:tav>
                                      </p:tavLst>
                                    </p:anim>
                                    <p:anim calcmode="lin" valueType="num">
                                      <p:cBhvr>
                                        <p:cTn id="38" dur="1750" fill="hold"/>
                                        <p:tgtEl>
                                          <p:spTgt spid="8"/>
                                        </p:tgtEl>
                                        <p:attrNameLst>
                                          <p:attrName>ppt_h</p:attrName>
                                        </p:attrNameLst>
                                      </p:cBhvr>
                                      <p:tavLst>
                                        <p:tav tm="0">
                                          <p:val>
                                            <p:fltVal val="0"/>
                                          </p:val>
                                        </p:tav>
                                        <p:tav tm="100000">
                                          <p:val>
                                            <p:strVal val="#ppt_h"/>
                                          </p:val>
                                        </p:tav>
                                      </p:tavLst>
                                    </p:anim>
                                    <p:anim calcmode="lin" valueType="num">
                                      <p:cBhvr>
                                        <p:cTn id="39" dur="1750" fill="hold"/>
                                        <p:tgtEl>
                                          <p:spTgt spid="8"/>
                                        </p:tgtEl>
                                        <p:attrNameLst>
                                          <p:attrName>style.rotation</p:attrName>
                                        </p:attrNameLst>
                                      </p:cBhvr>
                                      <p:tavLst>
                                        <p:tav tm="0">
                                          <p:val>
                                            <p:fltVal val="90"/>
                                          </p:val>
                                        </p:tav>
                                        <p:tav tm="100000">
                                          <p:val>
                                            <p:fltVal val="0"/>
                                          </p:val>
                                        </p:tav>
                                      </p:tavLst>
                                    </p:anim>
                                    <p:animEffect transition="in" filter="fade">
                                      <p:cBhvr>
                                        <p:cTn id="40" dur="1750"/>
                                        <p:tgtEl>
                                          <p:spTgt spid="8"/>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1750" fill="hold"/>
                                        <p:tgtEl>
                                          <p:spTgt spid="9"/>
                                        </p:tgtEl>
                                        <p:attrNameLst>
                                          <p:attrName>ppt_w</p:attrName>
                                        </p:attrNameLst>
                                      </p:cBhvr>
                                      <p:tavLst>
                                        <p:tav tm="0">
                                          <p:val>
                                            <p:fltVal val="0"/>
                                          </p:val>
                                        </p:tav>
                                        <p:tav tm="100000">
                                          <p:val>
                                            <p:strVal val="#ppt_w"/>
                                          </p:val>
                                        </p:tav>
                                      </p:tavLst>
                                    </p:anim>
                                    <p:anim calcmode="lin" valueType="num">
                                      <p:cBhvr>
                                        <p:cTn id="44" dur="1750" fill="hold"/>
                                        <p:tgtEl>
                                          <p:spTgt spid="9"/>
                                        </p:tgtEl>
                                        <p:attrNameLst>
                                          <p:attrName>ppt_h</p:attrName>
                                        </p:attrNameLst>
                                      </p:cBhvr>
                                      <p:tavLst>
                                        <p:tav tm="0">
                                          <p:val>
                                            <p:fltVal val="0"/>
                                          </p:val>
                                        </p:tav>
                                        <p:tav tm="100000">
                                          <p:val>
                                            <p:strVal val="#ppt_h"/>
                                          </p:val>
                                        </p:tav>
                                      </p:tavLst>
                                    </p:anim>
                                    <p:anim calcmode="lin" valueType="num">
                                      <p:cBhvr>
                                        <p:cTn id="45" dur="1750" fill="hold"/>
                                        <p:tgtEl>
                                          <p:spTgt spid="9"/>
                                        </p:tgtEl>
                                        <p:attrNameLst>
                                          <p:attrName>style.rotation</p:attrName>
                                        </p:attrNameLst>
                                      </p:cBhvr>
                                      <p:tavLst>
                                        <p:tav tm="0">
                                          <p:val>
                                            <p:fltVal val="90"/>
                                          </p:val>
                                        </p:tav>
                                        <p:tav tm="100000">
                                          <p:val>
                                            <p:fltVal val="0"/>
                                          </p:val>
                                        </p:tav>
                                      </p:tavLst>
                                    </p:anim>
                                    <p:animEffect transition="in" filter="fade">
                                      <p:cBhvr>
                                        <p:cTn id="46" dur="1750"/>
                                        <p:tgtEl>
                                          <p:spTgt spid="9"/>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1750" fill="hold"/>
                                        <p:tgtEl>
                                          <p:spTgt spid="10"/>
                                        </p:tgtEl>
                                        <p:attrNameLst>
                                          <p:attrName>ppt_w</p:attrName>
                                        </p:attrNameLst>
                                      </p:cBhvr>
                                      <p:tavLst>
                                        <p:tav tm="0">
                                          <p:val>
                                            <p:fltVal val="0"/>
                                          </p:val>
                                        </p:tav>
                                        <p:tav tm="100000">
                                          <p:val>
                                            <p:strVal val="#ppt_w"/>
                                          </p:val>
                                        </p:tav>
                                      </p:tavLst>
                                    </p:anim>
                                    <p:anim calcmode="lin" valueType="num">
                                      <p:cBhvr>
                                        <p:cTn id="50" dur="1750" fill="hold"/>
                                        <p:tgtEl>
                                          <p:spTgt spid="10"/>
                                        </p:tgtEl>
                                        <p:attrNameLst>
                                          <p:attrName>ppt_h</p:attrName>
                                        </p:attrNameLst>
                                      </p:cBhvr>
                                      <p:tavLst>
                                        <p:tav tm="0">
                                          <p:val>
                                            <p:fltVal val="0"/>
                                          </p:val>
                                        </p:tav>
                                        <p:tav tm="100000">
                                          <p:val>
                                            <p:strVal val="#ppt_h"/>
                                          </p:val>
                                        </p:tav>
                                      </p:tavLst>
                                    </p:anim>
                                    <p:anim calcmode="lin" valueType="num">
                                      <p:cBhvr>
                                        <p:cTn id="51" dur="1750" fill="hold"/>
                                        <p:tgtEl>
                                          <p:spTgt spid="10"/>
                                        </p:tgtEl>
                                        <p:attrNameLst>
                                          <p:attrName>style.rotation</p:attrName>
                                        </p:attrNameLst>
                                      </p:cBhvr>
                                      <p:tavLst>
                                        <p:tav tm="0">
                                          <p:val>
                                            <p:fltVal val="90"/>
                                          </p:val>
                                        </p:tav>
                                        <p:tav tm="100000">
                                          <p:val>
                                            <p:fltVal val="0"/>
                                          </p:val>
                                        </p:tav>
                                      </p:tavLst>
                                    </p:anim>
                                    <p:animEffect transition="in" filter="fade">
                                      <p:cBhvr>
                                        <p:cTn id="52" dur="1750"/>
                                        <p:tgtEl>
                                          <p:spTgt spid="10"/>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p:cTn id="55" dur="1750" fill="hold"/>
                                        <p:tgtEl>
                                          <p:spTgt spid="11"/>
                                        </p:tgtEl>
                                        <p:attrNameLst>
                                          <p:attrName>ppt_w</p:attrName>
                                        </p:attrNameLst>
                                      </p:cBhvr>
                                      <p:tavLst>
                                        <p:tav tm="0">
                                          <p:val>
                                            <p:fltVal val="0"/>
                                          </p:val>
                                        </p:tav>
                                        <p:tav tm="100000">
                                          <p:val>
                                            <p:strVal val="#ppt_w"/>
                                          </p:val>
                                        </p:tav>
                                      </p:tavLst>
                                    </p:anim>
                                    <p:anim calcmode="lin" valueType="num">
                                      <p:cBhvr>
                                        <p:cTn id="56" dur="1750" fill="hold"/>
                                        <p:tgtEl>
                                          <p:spTgt spid="11"/>
                                        </p:tgtEl>
                                        <p:attrNameLst>
                                          <p:attrName>ppt_h</p:attrName>
                                        </p:attrNameLst>
                                      </p:cBhvr>
                                      <p:tavLst>
                                        <p:tav tm="0">
                                          <p:val>
                                            <p:fltVal val="0"/>
                                          </p:val>
                                        </p:tav>
                                        <p:tav tm="100000">
                                          <p:val>
                                            <p:strVal val="#ppt_h"/>
                                          </p:val>
                                        </p:tav>
                                      </p:tavLst>
                                    </p:anim>
                                    <p:anim calcmode="lin" valueType="num">
                                      <p:cBhvr>
                                        <p:cTn id="57" dur="1750" fill="hold"/>
                                        <p:tgtEl>
                                          <p:spTgt spid="11"/>
                                        </p:tgtEl>
                                        <p:attrNameLst>
                                          <p:attrName>style.rotation</p:attrName>
                                        </p:attrNameLst>
                                      </p:cBhvr>
                                      <p:tavLst>
                                        <p:tav tm="0">
                                          <p:val>
                                            <p:fltVal val="90"/>
                                          </p:val>
                                        </p:tav>
                                        <p:tav tm="100000">
                                          <p:val>
                                            <p:fltVal val="0"/>
                                          </p:val>
                                        </p:tav>
                                      </p:tavLst>
                                    </p:anim>
                                    <p:animEffect transition="in" filter="fade">
                                      <p:cBhvr>
                                        <p:cTn id="58" dur="1750"/>
                                        <p:tgtEl>
                                          <p:spTgt spid="11"/>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p:cTn id="61" dur="1750" fill="hold"/>
                                        <p:tgtEl>
                                          <p:spTgt spid="12"/>
                                        </p:tgtEl>
                                        <p:attrNameLst>
                                          <p:attrName>ppt_w</p:attrName>
                                        </p:attrNameLst>
                                      </p:cBhvr>
                                      <p:tavLst>
                                        <p:tav tm="0">
                                          <p:val>
                                            <p:fltVal val="0"/>
                                          </p:val>
                                        </p:tav>
                                        <p:tav tm="100000">
                                          <p:val>
                                            <p:strVal val="#ppt_w"/>
                                          </p:val>
                                        </p:tav>
                                      </p:tavLst>
                                    </p:anim>
                                    <p:anim calcmode="lin" valueType="num">
                                      <p:cBhvr>
                                        <p:cTn id="62" dur="1750" fill="hold"/>
                                        <p:tgtEl>
                                          <p:spTgt spid="12"/>
                                        </p:tgtEl>
                                        <p:attrNameLst>
                                          <p:attrName>ppt_h</p:attrName>
                                        </p:attrNameLst>
                                      </p:cBhvr>
                                      <p:tavLst>
                                        <p:tav tm="0">
                                          <p:val>
                                            <p:fltVal val="0"/>
                                          </p:val>
                                        </p:tav>
                                        <p:tav tm="100000">
                                          <p:val>
                                            <p:strVal val="#ppt_h"/>
                                          </p:val>
                                        </p:tav>
                                      </p:tavLst>
                                    </p:anim>
                                    <p:anim calcmode="lin" valueType="num">
                                      <p:cBhvr>
                                        <p:cTn id="63" dur="1750" fill="hold"/>
                                        <p:tgtEl>
                                          <p:spTgt spid="12"/>
                                        </p:tgtEl>
                                        <p:attrNameLst>
                                          <p:attrName>style.rotation</p:attrName>
                                        </p:attrNameLst>
                                      </p:cBhvr>
                                      <p:tavLst>
                                        <p:tav tm="0">
                                          <p:val>
                                            <p:fltVal val="90"/>
                                          </p:val>
                                        </p:tav>
                                        <p:tav tm="100000">
                                          <p:val>
                                            <p:fltVal val="0"/>
                                          </p:val>
                                        </p:tav>
                                      </p:tavLst>
                                    </p:anim>
                                    <p:animEffect transition="in" filter="fade">
                                      <p:cBhvr>
                                        <p:cTn id="64" dur="1750"/>
                                        <p:tgtEl>
                                          <p:spTgt spid="12"/>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1750" fill="hold"/>
                                        <p:tgtEl>
                                          <p:spTgt spid="13"/>
                                        </p:tgtEl>
                                        <p:attrNameLst>
                                          <p:attrName>ppt_w</p:attrName>
                                        </p:attrNameLst>
                                      </p:cBhvr>
                                      <p:tavLst>
                                        <p:tav tm="0">
                                          <p:val>
                                            <p:fltVal val="0"/>
                                          </p:val>
                                        </p:tav>
                                        <p:tav tm="100000">
                                          <p:val>
                                            <p:strVal val="#ppt_w"/>
                                          </p:val>
                                        </p:tav>
                                      </p:tavLst>
                                    </p:anim>
                                    <p:anim calcmode="lin" valueType="num">
                                      <p:cBhvr>
                                        <p:cTn id="68" dur="1750" fill="hold"/>
                                        <p:tgtEl>
                                          <p:spTgt spid="13"/>
                                        </p:tgtEl>
                                        <p:attrNameLst>
                                          <p:attrName>ppt_h</p:attrName>
                                        </p:attrNameLst>
                                      </p:cBhvr>
                                      <p:tavLst>
                                        <p:tav tm="0">
                                          <p:val>
                                            <p:fltVal val="0"/>
                                          </p:val>
                                        </p:tav>
                                        <p:tav tm="100000">
                                          <p:val>
                                            <p:strVal val="#ppt_h"/>
                                          </p:val>
                                        </p:tav>
                                      </p:tavLst>
                                    </p:anim>
                                    <p:anim calcmode="lin" valueType="num">
                                      <p:cBhvr>
                                        <p:cTn id="69" dur="1750" fill="hold"/>
                                        <p:tgtEl>
                                          <p:spTgt spid="13"/>
                                        </p:tgtEl>
                                        <p:attrNameLst>
                                          <p:attrName>style.rotation</p:attrName>
                                        </p:attrNameLst>
                                      </p:cBhvr>
                                      <p:tavLst>
                                        <p:tav tm="0">
                                          <p:val>
                                            <p:fltVal val="90"/>
                                          </p:val>
                                        </p:tav>
                                        <p:tav tm="100000">
                                          <p:val>
                                            <p:fltVal val="0"/>
                                          </p:val>
                                        </p:tav>
                                      </p:tavLst>
                                    </p:anim>
                                    <p:animEffect transition="in" filter="fade">
                                      <p:cBhvr>
                                        <p:cTn id="70" dur="1750"/>
                                        <p:tgtEl>
                                          <p:spTgt spid="13"/>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p:cTn id="73" dur="1750" fill="hold"/>
                                        <p:tgtEl>
                                          <p:spTgt spid="14"/>
                                        </p:tgtEl>
                                        <p:attrNameLst>
                                          <p:attrName>ppt_w</p:attrName>
                                        </p:attrNameLst>
                                      </p:cBhvr>
                                      <p:tavLst>
                                        <p:tav tm="0">
                                          <p:val>
                                            <p:fltVal val="0"/>
                                          </p:val>
                                        </p:tav>
                                        <p:tav tm="100000">
                                          <p:val>
                                            <p:strVal val="#ppt_w"/>
                                          </p:val>
                                        </p:tav>
                                      </p:tavLst>
                                    </p:anim>
                                    <p:anim calcmode="lin" valueType="num">
                                      <p:cBhvr>
                                        <p:cTn id="74" dur="1750" fill="hold"/>
                                        <p:tgtEl>
                                          <p:spTgt spid="14"/>
                                        </p:tgtEl>
                                        <p:attrNameLst>
                                          <p:attrName>ppt_h</p:attrName>
                                        </p:attrNameLst>
                                      </p:cBhvr>
                                      <p:tavLst>
                                        <p:tav tm="0">
                                          <p:val>
                                            <p:fltVal val="0"/>
                                          </p:val>
                                        </p:tav>
                                        <p:tav tm="100000">
                                          <p:val>
                                            <p:strVal val="#ppt_h"/>
                                          </p:val>
                                        </p:tav>
                                      </p:tavLst>
                                    </p:anim>
                                    <p:anim calcmode="lin" valueType="num">
                                      <p:cBhvr>
                                        <p:cTn id="75" dur="1750" fill="hold"/>
                                        <p:tgtEl>
                                          <p:spTgt spid="14"/>
                                        </p:tgtEl>
                                        <p:attrNameLst>
                                          <p:attrName>style.rotation</p:attrName>
                                        </p:attrNameLst>
                                      </p:cBhvr>
                                      <p:tavLst>
                                        <p:tav tm="0">
                                          <p:val>
                                            <p:fltVal val="90"/>
                                          </p:val>
                                        </p:tav>
                                        <p:tav tm="100000">
                                          <p:val>
                                            <p:fltVal val="0"/>
                                          </p:val>
                                        </p:tav>
                                      </p:tavLst>
                                    </p:anim>
                                    <p:animEffect transition="in" filter="fade">
                                      <p:cBhvr>
                                        <p:cTn id="76" dur="1750"/>
                                        <p:tgtEl>
                                          <p:spTgt spid="14"/>
                                        </p:tgtEl>
                                      </p:cBhvr>
                                    </p:animEffect>
                                  </p:childTnLst>
                                </p:cTn>
                              </p:par>
                              <p:par>
                                <p:cTn id="77" presetID="31" presetClass="entr" presetSubtype="0" fill="hold" grpId="0" nodeType="with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p:cTn id="79" dur="1750" fill="hold"/>
                                        <p:tgtEl>
                                          <p:spTgt spid="15"/>
                                        </p:tgtEl>
                                        <p:attrNameLst>
                                          <p:attrName>ppt_w</p:attrName>
                                        </p:attrNameLst>
                                      </p:cBhvr>
                                      <p:tavLst>
                                        <p:tav tm="0">
                                          <p:val>
                                            <p:fltVal val="0"/>
                                          </p:val>
                                        </p:tav>
                                        <p:tav tm="100000">
                                          <p:val>
                                            <p:strVal val="#ppt_w"/>
                                          </p:val>
                                        </p:tav>
                                      </p:tavLst>
                                    </p:anim>
                                    <p:anim calcmode="lin" valueType="num">
                                      <p:cBhvr>
                                        <p:cTn id="80" dur="1750" fill="hold"/>
                                        <p:tgtEl>
                                          <p:spTgt spid="15"/>
                                        </p:tgtEl>
                                        <p:attrNameLst>
                                          <p:attrName>ppt_h</p:attrName>
                                        </p:attrNameLst>
                                      </p:cBhvr>
                                      <p:tavLst>
                                        <p:tav tm="0">
                                          <p:val>
                                            <p:fltVal val="0"/>
                                          </p:val>
                                        </p:tav>
                                        <p:tav tm="100000">
                                          <p:val>
                                            <p:strVal val="#ppt_h"/>
                                          </p:val>
                                        </p:tav>
                                      </p:tavLst>
                                    </p:anim>
                                    <p:anim calcmode="lin" valueType="num">
                                      <p:cBhvr>
                                        <p:cTn id="81" dur="1750" fill="hold"/>
                                        <p:tgtEl>
                                          <p:spTgt spid="15"/>
                                        </p:tgtEl>
                                        <p:attrNameLst>
                                          <p:attrName>style.rotation</p:attrName>
                                        </p:attrNameLst>
                                      </p:cBhvr>
                                      <p:tavLst>
                                        <p:tav tm="0">
                                          <p:val>
                                            <p:fltVal val="90"/>
                                          </p:val>
                                        </p:tav>
                                        <p:tav tm="100000">
                                          <p:val>
                                            <p:fltVal val="0"/>
                                          </p:val>
                                        </p:tav>
                                      </p:tavLst>
                                    </p:anim>
                                    <p:animEffect transition="in" filter="fade">
                                      <p:cBhvr>
                                        <p:cTn id="82" dur="1750"/>
                                        <p:tgtEl>
                                          <p:spTgt spid="15"/>
                                        </p:tgtEl>
                                      </p:cBhvr>
                                    </p:animEffect>
                                  </p:childTnLst>
                                </p:cTn>
                              </p:par>
                              <p:par>
                                <p:cTn id="83" presetID="31" presetClass="entr" presetSubtype="0" fill="hold" grpId="0" nodeType="with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p:cTn id="85" dur="1750" fill="hold"/>
                                        <p:tgtEl>
                                          <p:spTgt spid="16"/>
                                        </p:tgtEl>
                                        <p:attrNameLst>
                                          <p:attrName>ppt_w</p:attrName>
                                        </p:attrNameLst>
                                      </p:cBhvr>
                                      <p:tavLst>
                                        <p:tav tm="0">
                                          <p:val>
                                            <p:fltVal val="0"/>
                                          </p:val>
                                        </p:tav>
                                        <p:tav tm="100000">
                                          <p:val>
                                            <p:strVal val="#ppt_w"/>
                                          </p:val>
                                        </p:tav>
                                      </p:tavLst>
                                    </p:anim>
                                    <p:anim calcmode="lin" valueType="num">
                                      <p:cBhvr>
                                        <p:cTn id="86" dur="1750" fill="hold"/>
                                        <p:tgtEl>
                                          <p:spTgt spid="16"/>
                                        </p:tgtEl>
                                        <p:attrNameLst>
                                          <p:attrName>ppt_h</p:attrName>
                                        </p:attrNameLst>
                                      </p:cBhvr>
                                      <p:tavLst>
                                        <p:tav tm="0">
                                          <p:val>
                                            <p:fltVal val="0"/>
                                          </p:val>
                                        </p:tav>
                                        <p:tav tm="100000">
                                          <p:val>
                                            <p:strVal val="#ppt_h"/>
                                          </p:val>
                                        </p:tav>
                                      </p:tavLst>
                                    </p:anim>
                                    <p:anim calcmode="lin" valueType="num">
                                      <p:cBhvr>
                                        <p:cTn id="87" dur="1750" fill="hold"/>
                                        <p:tgtEl>
                                          <p:spTgt spid="16"/>
                                        </p:tgtEl>
                                        <p:attrNameLst>
                                          <p:attrName>style.rotation</p:attrName>
                                        </p:attrNameLst>
                                      </p:cBhvr>
                                      <p:tavLst>
                                        <p:tav tm="0">
                                          <p:val>
                                            <p:fltVal val="90"/>
                                          </p:val>
                                        </p:tav>
                                        <p:tav tm="100000">
                                          <p:val>
                                            <p:fltVal val="0"/>
                                          </p:val>
                                        </p:tav>
                                      </p:tavLst>
                                    </p:anim>
                                    <p:animEffect transition="in" filter="fade">
                                      <p:cBhvr>
                                        <p:cTn id="88" dur="1750"/>
                                        <p:tgtEl>
                                          <p:spTgt spid="16"/>
                                        </p:tgtEl>
                                      </p:cBhvr>
                                    </p:animEffect>
                                  </p:childTnLst>
                                </p:cTn>
                              </p:par>
                              <p:par>
                                <p:cTn id="89" presetID="31" presetClass="entr" presetSubtype="0" fill="hold" grpId="0" nodeType="withEffect">
                                  <p:stCondLst>
                                    <p:cond delay="0"/>
                                  </p:stCondLst>
                                  <p:childTnLst>
                                    <p:set>
                                      <p:cBhvr>
                                        <p:cTn id="90" dur="1" fill="hold">
                                          <p:stCondLst>
                                            <p:cond delay="0"/>
                                          </p:stCondLst>
                                        </p:cTn>
                                        <p:tgtEl>
                                          <p:spTgt spid="17"/>
                                        </p:tgtEl>
                                        <p:attrNameLst>
                                          <p:attrName>style.visibility</p:attrName>
                                        </p:attrNameLst>
                                      </p:cBhvr>
                                      <p:to>
                                        <p:strVal val="visible"/>
                                      </p:to>
                                    </p:set>
                                    <p:anim calcmode="lin" valueType="num">
                                      <p:cBhvr>
                                        <p:cTn id="91" dur="1750" fill="hold"/>
                                        <p:tgtEl>
                                          <p:spTgt spid="17"/>
                                        </p:tgtEl>
                                        <p:attrNameLst>
                                          <p:attrName>ppt_w</p:attrName>
                                        </p:attrNameLst>
                                      </p:cBhvr>
                                      <p:tavLst>
                                        <p:tav tm="0">
                                          <p:val>
                                            <p:fltVal val="0"/>
                                          </p:val>
                                        </p:tav>
                                        <p:tav tm="100000">
                                          <p:val>
                                            <p:strVal val="#ppt_w"/>
                                          </p:val>
                                        </p:tav>
                                      </p:tavLst>
                                    </p:anim>
                                    <p:anim calcmode="lin" valueType="num">
                                      <p:cBhvr>
                                        <p:cTn id="92" dur="1750" fill="hold"/>
                                        <p:tgtEl>
                                          <p:spTgt spid="17"/>
                                        </p:tgtEl>
                                        <p:attrNameLst>
                                          <p:attrName>ppt_h</p:attrName>
                                        </p:attrNameLst>
                                      </p:cBhvr>
                                      <p:tavLst>
                                        <p:tav tm="0">
                                          <p:val>
                                            <p:fltVal val="0"/>
                                          </p:val>
                                        </p:tav>
                                        <p:tav tm="100000">
                                          <p:val>
                                            <p:strVal val="#ppt_h"/>
                                          </p:val>
                                        </p:tav>
                                      </p:tavLst>
                                    </p:anim>
                                    <p:anim calcmode="lin" valueType="num">
                                      <p:cBhvr>
                                        <p:cTn id="93" dur="1750" fill="hold"/>
                                        <p:tgtEl>
                                          <p:spTgt spid="17"/>
                                        </p:tgtEl>
                                        <p:attrNameLst>
                                          <p:attrName>style.rotation</p:attrName>
                                        </p:attrNameLst>
                                      </p:cBhvr>
                                      <p:tavLst>
                                        <p:tav tm="0">
                                          <p:val>
                                            <p:fltVal val="90"/>
                                          </p:val>
                                        </p:tav>
                                        <p:tav tm="100000">
                                          <p:val>
                                            <p:fltVal val="0"/>
                                          </p:val>
                                        </p:tav>
                                      </p:tavLst>
                                    </p:anim>
                                    <p:animEffect transition="in" filter="fade">
                                      <p:cBhvr>
                                        <p:cTn id="94" dur="1750"/>
                                        <p:tgtEl>
                                          <p:spTgt spid="17"/>
                                        </p:tgtEl>
                                      </p:cBhvr>
                                    </p:animEffect>
                                  </p:childTnLst>
                                </p:cTn>
                              </p:par>
                              <p:par>
                                <p:cTn id="95" presetID="31" presetClass="entr" presetSubtype="0" fill="hold" grpId="0" nodeType="withEffect">
                                  <p:stCondLst>
                                    <p:cond delay="0"/>
                                  </p:stCondLst>
                                  <p:childTnLst>
                                    <p:set>
                                      <p:cBhvr>
                                        <p:cTn id="96" dur="1" fill="hold">
                                          <p:stCondLst>
                                            <p:cond delay="0"/>
                                          </p:stCondLst>
                                        </p:cTn>
                                        <p:tgtEl>
                                          <p:spTgt spid="18"/>
                                        </p:tgtEl>
                                        <p:attrNameLst>
                                          <p:attrName>style.visibility</p:attrName>
                                        </p:attrNameLst>
                                      </p:cBhvr>
                                      <p:to>
                                        <p:strVal val="visible"/>
                                      </p:to>
                                    </p:set>
                                    <p:anim calcmode="lin" valueType="num">
                                      <p:cBhvr>
                                        <p:cTn id="97" dur="1750" fill="hold"/>
                                        <p:tgtEl>
                                          <p:spTgt spid="18"/>
                                        </p:tgtEl>
                                        <p:attrNameLst>
                                          <p:attrName>ppt_w</p:attrName>
                                        </p:attrNameLst>
                                      </p:cBhvr>
                                      <p:tavLst>
                                        <p:tav tm="0">
                                          <p:val>
                                            <p:fltVal val="0"/>
                                          </p:val>
                                        </p:tav>
                                        <p:tav tm="100000">
                                          <p:val>
                                            <p:strVal val="#ppt_w"/>
                                          </p:val>
                                        </p:tav>
                                      </p:tavLst>
                                    </p:anim>
                                    <p:anim calcmode="lin" valueType="num">
                                      <p:cBhvr>
                                        <p:cTn id="98" dur="1750" fill="hold"/>
                                        <p:tgtEl>
                                          <p:spTgt spid="18"/>
                                        </p:tgtEl>
                                        <p:attrNameLst>
                                          <p:attrName>ppt_h</p:attrName>
                                        </p:attrNameLst>
                                      </p:cBhvr>
                                      <p:tavLst>
                                        <p:tav tm="0">
                                          <p:val>
                                            <p:fltVal val="0"/>
                                          </p:val>
                                        </p:tav>
                                        <p:tav tm="100000">
                                          <p:val>
                                            <p:strVal val="#ppt_h"/>
                                          </p:val>
                                        </p:tav>
                                      </p:tavLst>
                                    </p:anim>
                                    <p:anim calcmode="lin" valueType="num">
                                      <p:cBhvr>
                                        <p:cTn id="99" dur="1750" fill="hold"/>
                                        <p:tgtEl>
                                          <p:spTgt spid="18"/>
                                        </p:tgtEl>
                                        <p:attrNameLst>
                                          <p:attrName>style.rotation</p:attrName>
                                        </p:attrNameLst>
                                      </p:cBhvr>
                                      <p:tavLst>
                                        <p:tav tm="0">
                                          <p:val>
                                            <p:fltVal val="90"/>
                                          </p:val>
                                        </p:tav>
                                        <p:tav tm="100000">
                                          <p:val>
                                            <p:fltVal val="0"/>
                                          </p:val>
                                        </p:tav>
                                      </p:tavLst>
                                    </p:anim>
                                    <p:animEffect transition="in" filter="fade">
                                      <p:cBhvr>
                                        <p:cTn id="100" dur="1750"/>
                                        <p:tgtEl>
                                          <p:spTgt spid="18"/>
                                        </p:tgtEl>
                                      </p:cBhvr>
                                    </p:animEffect>
                                  </p:childTnLst>
                                </p:cTn>
                              </p:par>
                              <p:par>
                                <p:cTn id="101" presetID="31" presetClass="entr" presetSubtype="0" fill="hold" grpId="0" nodeType="withEffect">
                                  <p:stCondLst>
                                    <p:cond delay="0"/>
                                  </p:stCondLst>
                                  <p:childTnLst>
                                    <p:set>
                                      <p:cBhvr>
                                        <p:cTn id="102" dur="1" fill="hold">
                                          <p:stCondLst>
                                            <p:cond delay="0"/>
                                          </p:stCondLst>
                                        </p:cTn>
                                        <p:tgtEl>
                                          <p:spTgt spid="19"/>
                                        </p:tgtEl>
                                        <p:attrNameLst>
                                          <p:attrName>style.visibility</p:attrName>
                                        </p:attrNameLst>
                                      </p:cBhvr>
                                      <p:to>
                                        <p:strVal val="visible"/>
                                      </p:to>
                                    </p:set>
                                    <p:anim calcmode="lin" valueType="num">
                                      <p:cBhvr>
                                        <p:cTn id="103" dur="1750" fill="hold"/>
                                        <p:tgtEl>
                                          <p:spTgt spid="19"/>
                                        </p:tgtEl>
                                        <p:attrNameLst>
                                          <p:attrName>ppt_w</p:attrName>
                                        </p:attrNameLst>
                                      </p:cBhvr>
                                      <p:tavLst>
                                        <p:tav tm="0">
                                          <p:val>
                                            <p:fltVal val="0"/>
                                          </p:val>
                                        </p:tav>
                                        <p:tav tm="100000">
                                          <p:val>
                                            <p:strVal val="#ppt_w"/>
                                          </p:val>
                                        </p:tav>
                                      </p:tavLst>
                                    </p:anim>
                                    <p:anim calcmode="lin" valueType="num">
                                      <p:cBhvr>
                                        <p:cTn id="104" dur="1750" fill="hold"/>
                                        <p:tgtEl>
                                          <p:spTgt spid="19"/>
                                        </p:tgtEl>
                                        <p:attrNameLst>
                                          <p:attrName>ppt_h</p:attrName>
                                        </p:attrNameLst>
                                      </p:cBhvr>
                                      <p:tavLst>
                                        <p:tav tm="0">
                                          <p:val>
                                            <p:fltVal val="0"/>
                                          </p:val>
                                        </p:tav>
                                        <p:tav tm="100000">
                                          <p:val>
                                            <p:strVal val="#ppt_h"/>
                                          </p:val>
                                        </p:tav>
                                      </p:tavLst>
                                    </p:anim>
                                    <p:anim calcmode="lin" valueType="num">
                                      <p:cBhvr>
                                        <p:cTn id="105" dur="1750" fill="hold"/>
                                        <p:tgtEl>
                                          <p:spTgt spid="19"/>
                                        </p:tgtEl>
                                        <p:attrNameLst>
                                          <p:attrName>style.rotation</p:attrName>
                                        </p:attrNameLst>
                                      </p:cBhvr>
                                      <p:tavLst>
                                        <p:tav tm="0">
                                          <p:val>
                                            <p:fltVal val="90"/>
                                          </p:val>
                                        </p:tav>
                                        <p:tav tm="100000">
                                          <p:val>
                                            <p:fltVal val="0"/>
                                          </p:val>
                                        </p:tav>
                                      </p:tavLst>
                                    </p:anim>
                                    <p:animEffect transition="in" filter="fade">
                                      <p:cBhvr>
                                        <p:cTn id="106" dur="17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9" grpId="0" animBg="1"/>
      <p:bldP spid="10" grpId="0"/>
      <p:bldP spid="11" grpId="0"/>
      <p:bldP spid="12" grpId="0" animBg="1"/>
      <p:bldP spid="13" grpId="0" animBg="1"/>
      <p:bldP spid="14" grpId="0"/>
      <p:bldP spid="15" grpId="0"/>
      <p:bldP spid="16" grpId="0" animBg="1"/>
      <p:bldP spid="17" grpId="0" animBg="1"/>
      <p:bldP spid="18" grpId="0"/>
      <p:bldP spid="1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594360"/>
            <a:ext cx="10728655" cy="584775"/>
          </a:xfrm>
          <a:prstGeom prst="rect">
            <a:avLst/>
          </a:prstGeom>
          <a:noFill/>
        </p:spPr>
        <p:txBody>
          <a:bodyPr wrap="square">
            <a:spAutoFit/>
          </a:bodyPr>
          <a:lstStyle/>
          <a:p>
            <a:pPr algn="r">
              <a:defRPr sz="2400" b="1">
                <a:solidFill>
                  <a:srgbClr val="1A2530"/>
                </a:solidFill>
              </a:defRPr>
            </a:pPr>
            <a:r>
              <a:rPr lang="ar-EG" sz="3200" noProof="1">
                <a:solidFill>
                  <a:schemeClr val="bg1"/>
                </a:solidFill>
              </a:rPr>
              <a:t>الاستدامة بعد تحقيق التحسين</a:t>
            </a:r>
          </a:p>
        </p:txBody>
      </p:sp>
      <p:sp>
        <p:nvSpPr>
          <p:cNvPr id="4" name="Rectangle 3"/>
          <p:cNvSpPr/>
          <p:nvPr/>
        </p:nvSpPr>
        <p:spPr>
          <a:xfrm>
            <a:off x="731520" y="1463040"/>
            <a:ext cx="10728655" cy="82296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Rectangle 4"/>
          <p:cNvSpPr/>
          <p:nvPr/>
        </p:nvSpPr>
        <p:spPr>
          <a:xfrm>
            <a:off x="8229600" y="1463040"/>
            <a:ext cx="3230575"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8293822" y="1663095"/>
            <a:ext cx="3102131" cy="461665"/>
          </a:xfrm>
          <a:prstGeom prst="rect">
            <a:avLst/>
          </a:prstGeom>
          <a:noFill/>
        </p:spPr>
        <p:txBody>
          <a:bodyPr wrap="none">
            <a:spAutoFit/>
          </a:bodyPr>
          <a:lstStyle/>
          <a:p>
            <a:pPr algn="ctr" rtl="1">
              <a:defRPr sz="1300" b="1">
                <a:solidFill>
                  <a:srgbClr val="FFFFFF"/>
                </a:solidFill>
              </a:defRPr>
            </a:pPr>
            <a:r>
              <a:rPr lang="ar-EG" sz="2400" noProof="1"/>
              <a:t>1- توثيق الممارسات الناجحة</a:t>
            </a:r>
          </a:p>
        </p:txBody>
      </p:sp>
      <p:sp>
        <p:nvSpPr>
          <p:cNvPr id="7" name="TextBox 6"/>
          <p:cNvSpPr txBox="1"/>
          <p:nvPr/>
        </p:nvSpPr>
        <p:spPr>
          <a:xfrm>
            <a:off x="3149600" y="1600200"/>
            <a:ext cx="4897120" cy="400110"/>
          </a:xfrm>
          <a:prstGeom prst="rect">
            <a:avLst/>
          </a:prstGeom>
          <a:noFill/>
        </p:spPr>
        <p:txBody>
          <a:bodyPr wrap="square">
            <a:spAutoFit/>
          </a:bodyPr>
          <a:lstStyle/>
          <a:p>
            <a:pPr algn="r">
              <a:defRPr sz="1200">
                <a:solidFill>
                  <a:srgbClr val="2C3E50"/>
                </a:solidFill>
              </a:defRPr>
            </a:pPr>
            <a:r>
              <a:rPr lang="ar-EG" sz="2000" b="1" noProof="1"/>
              <a:t>تحويل التجارب الفردية إلى أدلة إجرائية ومراجع موثقة.</a:t>
            </a:r>
          </a:p>
        </p:txBody>
      </p:sp>
      <p:sp>
        <p:nvSpPr>
          <p:cNvPr id="8" name="Rectangle 7"/>
          <p:cNvSpPr/>
          <p:nvPr/>
        </p:nvSpPr>
        <p:spPr>
          <a:xfrm>
            <a:off x="731520" y="2423160"/>
            <a:ext cx="10728655" cy="82296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Rectangle 8"/>
          <p:cNvSpPr/>
          <p:nvPr/>
        </p:nvSpPr>
        <p:spPr>
          <a:xfrm>
            <a:off x="8229600" y="2423160"/>
            <a:ext cx="3230575" cy="8229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8975899" y="2590014"/>
            <a:ext cx="1737976" cy="461665"/>
          </a:xfrm>
          <a:prstGeom prst="rect">
            <a:avLst/>
          </a:prstGeom>
          <a:noFill/>
        </p:spPr>
        <p:txBody>
          <a:bodyPr wrap="none">
            <a:spAutoFit/>
          </a:bodyPr>
          <a:lstStyle/>
          <a:p>
            <a:pPr algn="ctr" rtl="1">
              <a:defRPr sz="1300" b="1">
                <a:solidFill>
                  <a:srgbClr val="FFFFFF"/>
                </a:solidFill>
              </a:defRPr>
            </a:pPr>
            <a:r>
              <a:rPr lang="ar-EG" sz="2400" noProof="1"/>
              <a:t>2- نقل الخبرات</a:t>
            </a:r>
          </a:p>
        </p:txBody>
      </p:sp>
      <p:sp>
        <p:nvSpPr>
          <p:cNvPr id="11" name="TextBox 10"/>
          <p:cNvSpPr txBox="1"/>
          <p:nvPr/>
        </p:nvSpPr>
        <p:spPr>
          <a:xfrm>
            <a:off x="3068321" y="2560320"/>
            <a:ext cx="4978399" cy="400110"/>
          </a:xfrm>
          <a:prstGeom prst="rect">
            <a:avLst/>
          </a:prstGeom>
          <a:noFill/>
        </p:spPr>
        <p:txBody>
          <a:bodyPr wrap="square">
            <a:spAutoFit/>
          </a:bodyPr>
          <a:lstStyle/>
          <a:p>
            <a:pPr algn="r">
              <a:defRPr sz="1200">
                <a:solidFill>
                  <a:srgbClr val="2C3E50"/>
                </a:solidFill>
              </a:defRPr>
            </a:pPr>
            <a:r>
              <a:rPr lang="ar-EG" sz="2000" b="1" noProof="1"/>
              <a:t>تفعيل مجتمعات التعلم المهنية وتناقل المعرفة بين الكوادر.</a:t>
            </a:r>
          </a:p>
        </p:txBody>
      </p:sp>
      <p:sp>
        <p:nvSpPr>
          <p:cNvPr id="12" name="Rectangle 11"/>
          <p:cNvSpPr/>
          <p:nvPr/>
        </p:nvSpPr>
        <p:spPr>
          <a:xfrm>
            <a:off x="731520" y="3383280"/>
            <a:ext cx="10728655" cy="82296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3" name="Rectangle 12"/>
          <p:cNvSpPr/>
          <p:nvPr/>
        </p:nvSpPr>
        <p:spPr>
          <a:xfrm>
            <a:off x="8229600" y="3383280"/>
            <a:ext cx="3230575"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8982321" y="3563927"/>
            <a:ext cx="1758816" cy="461665"/>
          </a:xfrm>
          <a:prstGeom prst="rect">
            <a:avLst/>
          </a:prstGeom>
          <a:noFill/>
        </p:spPr>
        <p:txBody>
          <a:bodyPr wrap="none">
            <a:spAutoFit/>
          </a:bodyPr>
          <a:lstStyle/>
          <a:p>
            <a:pPr algn="ctr" rtl="1">
              <a:defRPr sz="1300" b="1">
                <a:solidFill>
                  <a:srgbClr val="FFFFFF"/>
                </a:solidFill>
              </a:defRPr>
            </a:pPr>
            <a:r>
              <a:rPr lang="ar-EG" sz="2400" noProof="1"/>
              <a:t>3- بناء القدرات</a:t>
            </a:r>
          </a:p>
        </p:txBody>
      </p:sp>
      <p:sp>
        <p:nvSpPr>
          <p:cNvPr id="15" name="TextBox 14"/>
          <p:cNvSpPr txBox="1"/>
          <p:nvPr/>
        </p:nvSpPr>
        <p:spPr>
          <a:xfrm>
            <a:off x="3068321" y="3520440"/>
            <a:ext cx="4978400" cy="400110"/>
          </a:xfrm>
          <a:prstGeom prst="rect">
            <a:avLst/>
          </a:prstGeom>
          <a:noFill/>
        </p:spPr>
        <p:txBody>
          <a:bodyPr wrap="square">
            <a:spAutoFit/>
          </a:bodyPr>
          <a:lstStyle/>
          <a:p>
            <a:pPr algn="r">
              <a:defRPr sz="1200">
                <a:solidFill>
                  <a:srgbClr val="2C3E50"/>
                </a:solidFill>
              </a:defRPr>
            </a:pPr>
            <a:r>
              <a:rPr lang="ar-EG" sz="2000" b="1" noProof="1"/>
              <a:t>الاستثمار المستمر في التطوير المهني لمنسوبي المدرسة.</a:t>
            </a:r>
          </a:p>
        </p:txBody>
      </p:sp>
      <p:sp>
        <p:nvSpPr>
          <p:cNvPr id="16" name="Rectangle 15"/>
          <p:cNvSpPr/>
          <p:nvPr/>
        </p:nvSpPr>
        <p:spPr>
          <a:xfrm>
            <a:off x="731520" y="4343400"/>
            <a:ext cx="10728655" cy="82296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7" name="Rectangle 16"/>
          <p:cNvSpPr/>
          <p:nvPr/>
        </p:nvSpPr>
        <p:spPr>
          <a:xfrm>
            <a:off x="8229600" y="4343400"/>
            <a:ext cx="3230575" cy="8229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8" name="TextBox 17"/>
          <p:cNvSpPr txBox="1"/>
          <p:nvPr/>
        </p:nvSpPr>
        <p:spPr>
          <a:xfrm>
            <a:off x="8721031" y="4554825"/>
            <a:ext cx="2281395" cy="461665"/>
          </a:xfrm>
          <a:prstGeom prst="rect">
            <a:avLst/>
          </a:prstGeom>
          <a:noFill/>
        </p:spPr>
        <p:txBody>
          <a:bodyPr wrap="none">
            <a:spAutoFit/>
          </a:bodyPr>
          <a:lstStyle/>
          <a:p>
            <a:pPr algn="ctr" rtl="1">
              <a:defRPr sz="1300" b="1">
                <a:solidFill>
                  <a:srgbClr val="FFFFFF"/>
                </a:solidFill>
              </a:defRPr>
            </a:pPr>
            <a:r>
              <a:rPr lang="ar-EG" sz="2400" noProof="1"/>
              <a:t>4- المتابعة المستمرة</a:t>
            </a:r>
          </a:p>
        </p:txBody>
      </p:sp>
      <p:sp>
        <p:nvSpPr>
          <p:cNvPr id="19" name="TextBox 18"/>
          <p:cNvSpPr txBox="1"/>
          <p:nvPr/>
        </p:nvSpPr>
        <p:spPr>
          <a:xfrm>
            <a:off x="3575625" y="4480560"/>
            <a:ext cx="4471096" cy="400110"/>
          </a:xfrm>
          <a:prstGeom prst="rect">
            <a:avLst/>
          </a:prstGeom>
          <a:noFill/>
        </p:spPr>
        <p:txBody>
          <a:bodyPr wrap="square">
            <a:spAutoFit/>
          </a:bodyPr>
          <a:lstStyle/>
          <a:p>
            <a:pPr algn="r">
              <a:defRPr sz="1200">
                <a:solidFill>
                  <a:srgbClr val="2C3E50"/>
                </a:solidFill>
              </a:defRPr>
            </a:pPr>
            <a:r>
              <a:rPr lang="ar-EG" sz="2000" b="1" noProof="1"/>
              <a:t>استخدام مؤشرات أداء ذكية لضمان عدم التراجع.</a:t>
            </a:r>
          </a:p>
        </p:txBody>
      </p:sp>
      <p:sp>
        <p:nvSpPr>
          <p:cNvPr id="20" name="Rectangle 19"/>
          <p:cNvSpPr/>
          <p:nvPr/>
        </p:nvSpPr>
        <p:spPr>
          <a:xfrm>
            <a:off x="731520" y="5303520"/>
            <a:ext cx="10728655" cy="82296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1" name="Rectangle 20"/>
          <p:cNvSpPr/>
          <p:nvPr/>
        </p:nvSpPr>
        <p:spPr>
          <a:xfrm>
            <a:off x="8229600" y="5303520"/>
            <a:ext cx="3230575"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22" name="TextBox 21"/>
          <p:cNvSpPr txBox="1"/>
          <p:nvPr/>
        </p:nvSpPr>
        <p:spPr>
          <a:xfrm>
            <a:off x="8801172" y="5303520"/>
            <a:ext cx="2087431" cy="461665"/>
          </a:xfrm>
          <a:prstGeom prst="rect">
            <a:avLst/>
          </a:prstGeom>
          <a:noFill/>
        </p:spPr>
        <p:txBody>
          <a:bodyPr wrap="none">
            <a:spAutoFit/>
          </a:bodyPr>
          <a:lstStyle/>
          <a:p>
            <a:pPr algn="ctr" rtl="1">
              <a:defRPr sz="1300" b="1">
                <a:solidFill>
                  <a:srgbClr val="FFFFFF"/>
                </a:solidFill>
              </a:defRPr>
            </a:pPr>
            <a:r>
              <a:rPr lang="ar-EG" sz="2400" noProof="1"/>
              <a:t>5- التطوير الدوري</a:t>
            </a:r>
          </a:p>
        </p:txBody>
      </p:sp>
      <p:sp>
        <p:nvSpPr>
          <p:cNvPr id="23" name="TextBox 22"/>
          <p:cNvSpPr txBox="1"/>
          <p:nvPr/>
        </p:nvSpPr>
        <p:spPr>
          <a:xfrm>
            <a:off x="3149600" y="5440680"/>
            <a:ext cx="4897120" cy="400110"/>
          </a:xfrm>
          <a:prstGeom prst="rect">
            <a:avLst/>
          </a:prstGeom>
          <a:noFill/>
        </p:spPr>
        <p:txBody>
          <a:bodyPr wrap="square">
            <a:spAutoFit/>
          </a:bodyPr>
          <a:lstStyle/>
          <a:p>
            <a:pPr algn="r">
              <a:defRPr sz="1200">
                <a:solidFill>
                  <a:srgbClr val="2C3E50"/>
                </a:solidFill>
              </a:defRPr>
            </a:pPr>
            <a:r>
              <a:rPr lang="ar-EG" sz="2000" b="1" noProof="1"/>
              <a:t>مراجعة وتحديث خطط العمل بمرونة وفق المستجدات.</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750" fill="hold"/>
                                        <p:tgtEl>
                                          <p:spTgt spid="3"/>
                                        </p:tgtEl>
                                        <p:attrNameLst>
                                          <p:attrName>ppt_w</p:attrName>
                                        </p:attrNameLst>
                                      </p:cBhvr>
                                      <p:tavLst>
                                        <p:tav tm="0">
                                          <p:val>
                                            <p:fltVal val="0"/>
                                          </p:val>
                                        </p:tav>
                                        <p:tav tm="100000">
                                          <p:val>
                                            <p:strVal val="#ppt_w"/>
                                          </p:val>
                                        </p:tav>
                                      </p:tavLst>
                                    </p:anim>
                                    <p:anim calcmode="lin" valueType="num">
                                      <p:cBhvr>
                                        <p:cTn id="8" dur="1750" fill="hold"/>
                                        <p:tgtEl>
                                          <p:spTgt spid="3"/>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750" fill="hold"/>
                                        <p:tgtEl>
                                          <p:spTgt spid="4"/>
                                        </p:tgtEl>
                                        <p:attrNameLst>
                                          <p:attrName>ppt_w</p:attrName>
                                        </p:attrNameLst>
                                      </p:cBhvr>
                                      <p:tavLst>
                                        <p:tav tm="0">
                                          <p:val>
                                            <p:fltVal val="0"/>
                                          </p:val>
                                        </p:tav>
                                        <p:tav tm="100000">
                                          <p:val>
                                            <p:strVal val="#ppt_w"/>
                                          </p:val>
                                        </p:tav>
                                      </p:tavLst>
                                    </p:anim>
                                    <p:anim calcmode="lin" valueType="num">
                                      <p:cBhvr>
                                        <p:cTn id="12" dur="1750" fill="hold"/>
                                        <p:tgtEl>
                                          <p:spTgt spid="4"/>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750" fill="hold"/>
                                        <p:tgtEl>
                                          <p:spTgt spid="5"/>
                                        </p:tgtEl>
                                        <p:attrNameLst>
                                          <p:attrName>ppt_w</p:attrName>
                                        </p:attrNameLst>
                                      </p:cBhvr>
                                      <p:tavLst>
                                        <p:tav tm="0">
                                          <p:val>
                                            <p:fltVal val="0"/>
                                          </p:val>
                                        </p:tav>
                                        <p:tav tm="100000">
                                          <p:val>
                                            <p:strVal val="#ppt_w"/>
                                          </p:val>
                                        </p:tav>
                                      </p:tavLst>
                                    </p:anim>
                                    <p:anim calcmode="lin" valueType="num">
                                      <p:cBhvr>
                                        <p:cTn id="16" dur="1750" fill="hold"/>
                                        <p:tgtEl>
                                          <p:spTgt spid="5"/>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750" fill="hold"/>
                                        <p:tgtEl>
                                          <p:spTgt spid="6"/>
                                        </p:tgtEl>
                                        <p:attrNameLst>
                                          <p:attrName>ppt_w</p:attrName>
                                        </p:attrNameLst>
                                      </p:cBhvr>
                                      <p:tavLst>
                                        <p:tav tm="0">
                                          <p:val>
                                            <p:fltVal val="0"/>
                                          </p:val>
                                        </p:tav>
                                        <p:tav tm="100000">
                                          <p:val>
                                            <p:strVal val="#ppt_w"/>
                                          </p:val>
                                        </p:tav>
                                      </p:tavLst>
                                    </p:anim>
                                    <p:anim calcmode="lin" valueType="num">
                                      <p:cBhvr>
                                        <p:cTn id="20" dur="1750" fill="hold"/>
                                        <p:tgtEl>
                                          <p:spTgt spid="6"/>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750" fill="hold"/>
                                        <p:tgtEl>
                                          <p:spTgt spid="7"/>
                                        </p:tgtEl>
                                        <p:attrNameLst>
                                          <p:attrName>ppt_w</p:attrName>
                                        </p:attrNameLst>
                                      </p:cBhvr>
                                      <p:tavLst>
                                        <p:tav tm="0">
                                          <p:val>
                                            <p:fltVal val="0"/>
                                          </p:val>
                                        </p:tav>
                                        <p:tav tm="100000">
                                          <p:val>
                                            <p:strVal val="#ppt_w"/>
                                          </p:val>
                                        </p:tav>
                                      </p:tavLst>
                                    </p:anim>
                                    <p:anim calcmode="lin" valueType="num">
                                      <p:cBhvr>
                                        <p:cTn id="24" dur="1750" fill="hold"/>
                                        <p:tgtEl>
                                          <p:spTgt spid="7"/>
                                        </p:tgtEl>
                                        <p:attrNameLst>
                                          <p:attrName>ppt_h</p:attrName>
                                        </p:attrNameLst>
                                      </p:cBhvr>
                                      <p:tavLst>
                                        <p:tav tm="0">
                                          <p:val>
                                            <p:fltVal val="0"/>
                                          </p:val>
                                        </p:tav>
                                        <p:tav tm="100000">
                                          <p:val>
                                            <p:strVal val="#ppt_h"/>
                                          </p:val>
                                        </p:tav>
                                      </p:tavLst>
                                    </p:anim>
                                  </p:childTnLst>
                                </p:cTn>
                              </p:par>
                              <p:par>
                                <p:cTn id="25" presetID="2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1750" fill="hold"/>
                                        <p:tgtEl>
                                          <p:spTgt spid="8"/>
                                        </p:tgtEl>
                                        <p:attrNameLst>
                                          <p:attrName>ppt_w</p:attrName>
                                        </p:attrNameLst>
                                      </p:cBhvr>
                                      <p:tavLst>
                                        <p:tav tm="0">
                                          <p:val>
                                            <p:fltVal val="0"/>
                                          </p:val>
                                        </p:tav>
                                        <p:tav tm="100000">
                                          <p:val>
                                            <p:strVal val="#ppt_w"/>
                                          </p:val>
                                        </p:tav>
                                      </p:tavLst>
                                    </p:anim>
                                    <p:anim calcmode="lin" valueType="num">
                                      <p:cBhvr>
                                        <p:cTn id="28" dur="1750" fill="hold"/>
                                        <p:tgtEl>
                                          <p:spTgt spid="8"/>
                                        </p:tgtEl>
                                        <p:attrNameLst>
                                          <p:attrName>ppt_h</p:attrName>
                                        </p:attrNameLst>
                                      </p:cBhvr>
                                      <p:tavLst>
                                        <p:tav tm="0">
                                          <p:val>
                                            <p:fltVal val="0"/>
                                          </p:val>
                                        </p:tav>
                                        <p:tav tm="100000">
                                          <p:val>
                                            <p:strVal val="#ppt_h"/>
                                          </p:val>
                                        </p:tav>
                                      </p:tavLst>
                                    </p:anim>
                                  </p:childTnLst>
                                </p:cTn>
                              </p:par>
                              <p:par>
                                <p:cTn id="29" presetID="23" presetClass="entr" presetSubtype="16"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750" fill="hold"/>
                                        <p:tgtEl>
                                          <p:spTgt spid="9"/>
                                        </p:tgtEl>
                                        <p:attrNameLst>
                                          <p:attrName>ppt_w</p:attrName>
                                        </p:attrNameLst>
                                      </p:cBhvr>
                                      <p:tavLst>
                                        <p:tav tm="0">
                                          <p:val>
                                            <p:fltVal val="0"/>
                                          </p:val>
                                        </p:tav>
                                        <p:tav tm="100000">
                                          <p:val>
                                            <p:strVal val="#ppt_w"/>
                                          </p:val>
                                        </p:tav>
                                      </p:tavLst>
                                    </p:anim>
                                    <p:anim calcmode="lin" valueType="num">
                                      <p:cBhvr>
                                        <p:cTn id="32" dur="1750" fill="hold"/>
                                        <p:tgtEl>
                                          <p:spTgt spid="9"/>
                                        </p:tgtEl>
                                        <p:attrNameLst>
                                          <p:attrName>ppt_h</p:attrName>
                                        </p:attrNameLst>
                                      </p:cBhvr>
                                      <p:tavLst>
                                        <p:tav tm="0">
                                          <p:val>
                                            <p:fltVal val="0"/>
                                          </p:val>
                                        </p:tav>
                                        <p:tav tm="100000">
                                          <p:val>
                                            <p:strVal val="#ppt_h"/>
                                          </p:val>
                                        </p:tav>
                                      </p:tavLst>
                                    </p:anim>
                                  </p:childTnLst>
                                </p:cTn>
                              </p:par>
                              <p:par>
                                <p:cTn id="33" presetID="23" presetClass="entr" presetSubtype="16"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750" fill="hold"/>
                                        <p:tgtEl>
                                          <p:spTgt spid="10"/>
                                        </p:tgtEl>
                                        <p:attrNameLst>
                                          <p:attrName>ppt_w</p:attrName>
                                        </p:attrNameLst>
                                      </p:cBhvr>
                                      <p:tavLst>
                                        <p:tav tm="0">
                                          <p:val>
                                            <p:fltVal val="0"/>
                                          </p:val>
                                        </p:tav>
                                        <p:tav tm="100000">
                                          <p:val>
                                            <p:strVal val="#ppt_w"/>
                                          </p:val>
                                        </p:tav>
                                      </p:tavLst>
                                    </p:anim>
                                    <p:anim calcmode="lin" valueType="num">
                                      <p:cBhvr>
                                        <p:cTn id="36" dur="1750" fill="hold"/>
                                        <p:tgtEl>
                                          <p:spTgt spid="10"/>
                                        </p:tgtEl>
                                        <p:attrNameLst>
                                          <p:attrName>ppt_h</p:attrName>
                                        </p:attrNameLst>
                                      </p:cBhvr>
                                      <p:tavLst>
                                        <p:tav tm="0">
                                          <p:val>
                                            <p:fltVal val="0"/>
                                          </p:val>
                                        </p:tav>
                                        <p:tav tm="100000">
                                          <p:val>
                                            <p:strVal val="#ppt_h"/>
                                          </p:val>
                                        </p:tav>
                                      </p:tavLst>
                                    </p:anim>
                                  </p:childTnLst>
                                </p:cTn>
                              </p:par>
                              <p:par>
                                <p:cTn id="37" presetID="23" presetClass="entr" presetSubtype="16"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1750" fill="hold"/>
                                        <p:tgtEl>
                                          <p:spTgt spid="11"/>
                                        </p:tgtEl>
                                        <p:attrNameLst>
                                          <p:attrName>ppt_w</p:attrName>
                                        </p:attrNameLst>
                                      </p:cBhvr>
                                      <p:tavLst>
                                        <p:tav tm="0">
                                          <p:val>
                                            <p:fltVal val="0"/>
                                          </p:val>
                                        </p:tav>
                                        <p:tav tm="100000">
                                          <p:val>
                                            <p:strVal val="#ppt_w"/>
                                          </p:val>
                                        </p:tav>
                                      </p:tavLst>
                                    </p:anim>
                                    <p:anim calcmode="lin" valueType="num">
                                      <p:cBhvr>
                                        <p:cTn id="40" dur="1750" fill="hold"/>
                                        <p:tgtEl>
                                          <p:spTgt spid="11"/>
                                        </p:tgtEl>
                                        <p:attrNameLst>
                                          <p:attrName>ppt_h</p:attrName>
                                        </p:attrNameLst>
                                      </p:cBhvr>
                                      <p:tavLst>
                                        <p:tav tm="0">
                                          <p:val>
                                            <p:fltVal val="0"/>
                                          </p:val>
                                        </p:tav>
                                        <p:tav tm="100000">
                                          <p:val>
                                            <p:strVal val="#ppt_h"/>
                                          </p:val>
                                        </p:tav>
                                      </p:tavLst>
                                    </p:anim>
                                  </p:childTnLst>
                                </p:cTn>
                              </p:par>
                              <p:par>
                                <p:cTn id="41" presetID="23" presetClass="entr" presetSubtype="16"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750" fill="hold"/>
                                        <p:tgtEl>
                                          <p:spTgt spid="12"/>
                                        </p:tgtEl>
                                        <p:attrNameLst>
                                          <p:attrName>ppt_w</p:attrName>
                                        </p:attrNameLst>
                                      </p:cBhvr>
                                      <p:tavLst>
                                        <p:tav tm="0">
                                          <p:val>
                                            <p:fltVal val="0"/>
                                          </p:val>
                                        </p:tav>
                                        <p:tav tm="100000">
                                          <p:val>
                                            <p:strVal val="#ppt_w"/>
                                          </p:val>
                                        </p:tav>
                                      </p:tavLst>
                                    </p:anim>
                                    <p:anim calcmode="lin" valueType="num">
                                      <p:cBhvr>
                                        <p:cTn id="44" dur="1750" fill="hold"/>
                                        <p:tgtEl>
                                          <p:spTgt spid="12"/>
                                        </p:tgtEl>
                                        <p:attrNameLst>
                                          <p:attrName>ppt_h</p:attrName>
                                        </p:attrNameLst>
                                      </p:cBhvr>
                                      <p:tavLst>
                                        <p:tav tm="0">
                                          <p:val>
                                            <p:fltVal val="0"/>
                                          </p:val>
                                        </p:tav>
                                        <p:tav tm="100000">
                                          <p:val>
                                            <p:strVal val="#ppt_h"/>
                                          </p:val>
                                        </p:tav>
                                      </p:tavLst>
                                    </p:anim>
                                  </p:childTnLst>
                                </p:cTn>
                              </p:par>
                              <p:par>
                                <p:cTn id="45" presetID="23" presetClass="entr" presetSubtype="16"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1750" fill="hold"/>
                                        <p:tgtEl>
                                          <p:spTgt spid="13"/>
                                        </p:tgtEl>
                                        <p:attrNameLst>
                                          <p:attrName>ppt_w</p:attrName>
                                        </p:attrNameLst>
                                      </p:cBhvr>
                                      <p:tavLst>
                                        <p:tav tm="0">
                                          <p:val>
                                            <p:fltVal val="0"/>
                                          </p:val>
                                        </p:tav>
                                        <p:tav tm="100000">
                                          <p:val>
                                            <p:strVal val="#ppt_w"/>
                                          </p:val>
                                        </p:tav>
                                      </p:tavLst>
                                    </p:anim>
                                    <p:anim calcmode="lin" valueType="num">
                                      <p:cBhvr>
                                        <p:cTn id="48" dur="1750" fill="hold"/>
                                        <p:tgtEl>
                                          <p:spTgt spid="13"/>
                                        </p:tgtEl>
                                        <p:attrNameLst>
                                          <p:attrName>ppt_h</p:attrName>
                                        </p:attrNameLst>
                                      </p:cBhvr>
                                      <p:tavLst>
                                        <p:tav tm="0">
                                          <p:val>
                                            <p:fltVal val="0"/>
                                          </p:val>
                                        </p:tav>
                                        <p:tav tm="100000">
                                          <p:val>
                                            <p:strVal val="#ppt_h"/>
                                          </p:val>
                                        </p:tav>
                                      </p:tavLst>
                                    </p:anim>
                                  </p:childTnLst>
                                </p:cTn>
                              </p:par>
                              <p:par>
                                <p:cTn id="49" presetID="23" presetClass="entr" presetSubtype="16"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1750" fill="hold"/>
                                        <p:tgtEl>
                                          <p:spTgt spid="14"/>
                                        </p:tgtEl>
                                        <p:attrNameLst>
                                          <p:attrName>ppt_w</p:attrName>
                                        </p:attrNameLst>
                                      </p:cBhvr>
                                      <p:tavLst>
                                        <p:tav tm="0">
                                          <p:val>
                                            <p:fltVal val="0"/>
                                          </p:val>
                                        </p:tav>
                                        <p:tav tm="100000">
                                          <p:val>
                                            <p:strVal val="#ppt_w"/>
                                          </p:val>
                                        </p:tav>
                                      </p:tavLst>
                                    </p:anim>
                                    <p:anim calcmode="lin" valueType="num">
                                      <p:cBhvr>
                                        <p:cTn id="52" dur="1750" fill="hold"/>
                                        <p:tgtEl>
                                          <p:spTgt spid="14"/>
                                        </p:tgtEl>
                                        <p:attrNameLst>
                                          <p:attrName>ppt_h</p:attrName>
                                        </p:attrNameLst>
                                      </p:cBhvr>
                                      <p:tavLst>
                                        <p:tav tm="0">
                                          <p:val>
                                            <p:fltVal val="0"/>
                                          </p:val>
                                        </p:tav>
                                        <p:tav tm="100000">
                                          <p:val>
                                            <p:strVal val="#ppt_h"/>
                                          </p:val>
                                        </p:tav>
                                      </p:tavLst>
                                    </p:anim>
                                  </p:childTnLst>
                                </p:cTn>
                              </p:par>
                              <p:par>
                                <p:cTn id="53" presetID="23" presetClass="entr" presetSubtype="16"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1750" fill="hold"/>
                                        <p:tgtEl>
                                          <p:spTgt spid="15"/>
                                        </p:tgtEl>
                                        <p:attrNameLst>
                                          <p:attrName>ppt_w</p:attrName>
                                        </p:attrNameLst>
                                      </p:cBhvr>
                                      <p:tavLst>
                                        <p:tav tm="0">
                                          <p:val>
                                            <p:fltVal val="0"/>
                                          </p:val>
                                        </p:tav>
                                        <p:tav tm="100000">
                                          <p:val>
                                            <p:strVal val="#ppt_w"/>
                                          </p:val>
                                        </p:tav>
                                      </p:tavLst>
                                    </p:anim>
                                    <p:anim calcmode="lin" valueType="num">
                                      <p:cBhvr>
                                        <p:cTn id="56" dur="1750" fill="hold"/>
                                        <p:tgtEl>
                                          <p:spTgt spid="15"/>
                                        </p:tgtEl>
                                        <p:attrNameLst>
                                          <p:attrName>ppt_h</p:attrName>
                                        </p:attrNameLst>
                                      </p:cBhvr>
                                      <p:tavLst>
                                        <p:tav tm="0">
                                          <p:val>
                                            <p:fltVal val="0"/>
                                          </p:val>
                                        </p:tav>
                                        <p:tav tm="100000">
                                          <p:val>
                                            <p:strVal val="#ppt_h"/>
                                          </p:val>
                                        </p:tav>
                                      </p:tavLst>
                                    </p:anim>
                                  </p:childTnLst>
                                </p:cTn>
                              </p:par>
                              <p:par>
                                <p:cTn id="57" presetID="23" presetClass="entr" presetSubtype="16"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p:cTn id="59" dur="1750" fill="hold"/>
                                        <p:tgtEl>
                                          <p:spTgt spid="16"/>
                                        </p:tgtEl>
                                        <p:attrNameLst>
                                          <p:attrName>ppt_w</p:attrName>
                                        </p:attrNameLst>
                                      </p:cBhvr>
                                      <p:tavLst>
                                        <p:tav tm="0">
                                          <p:val>
                                            <p:fltVal val="0"/>
                                          </p:val>
                                        </p:tav>
                                        <p:tav tm="100000">
                                          <p:val>
                                            <p:strVal val="#ppt_w"/>
                                          </p:val>
                                        </p:tav>
                                      </p:tavLst>
                                    </p:anim>
                                    <p:anim calcmode="lin" valueType="num">
                                      <p:cBhvr>
                                        <p:cTn id="60" dur="1750" fill="hold"/>
                                        <p:tgtEl>
                                          <p:spTgt spid="16"/>
                                        </p:tgtEl>
                                        <p:attrNameLst>
                                          <p:attrName>ppt_h</p:attrName>
                                        </p:attrNameLst>
                                      </p:cBhvr>
                                      <p:tavLst>
                                        <p:tav tm="0">
                                          <p:val>
                                            <p:fltVal val="0"/>
                                          </p:val>
                                        </p:tav>
                                        <p:tav tm="100000">
                                          <p:val>
                                            <p:strVal val="#ppt_h"/>
                                          </p:val>
                                        </p:tav>
                                      </p:tavLst>
                                    </p:anim>
                                  </p:childTnLst>
                                </p:cTn>
                              </p:par>
                              <p:par>
                                <p:cTn id="61" presetID="23" presetClass="entr" presetSubtype="16"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p:cTn id="63" dur="1750" fill="hold"/>
                                        <p:tgtEl>
                                          <p:spTgt spid="17"/>
                                        </p:tgtEl>
                                        <p:attrNameLst>
                                          <p:attrName>ppt_w</p:attrName>
                                        </p:attrNameLst>
                                      </p:cBhvr>
                                      <p:tavLst>
                                        <p:tav tm="0">
                                          <p:val>
                                            <p:fltVal val="0"/>
                                          </p:val>
                                        </p:tav>
                                        <p:tav tm="100000">
                                          <p:val>
                                            <p:strVal val="#ppt_w"/>
                                          </p:val>
                                        </p:tav>
                                      </p:tavLst>
                                    </p:anim>
                                    <p:anim calcmode="lin" valueType="num">
                                      <p:cBhvr>
                                        <p:cTn id="64" dur="1750" fill="hold"/>
                                        <p:tgtEl>
                                          <p:spTgt spid="17"/>
                                        </p:tgtEl>
                                        <p:attrNameLst>
                                          <p:attrName>ppt_h</p:attrName>
                                        </p:attrNameLst>
                                      </p:cBhvr>
                                      <p:tavLst>
                                        <p:tav tm="0">
                                          <p:val>
                                            <p:fltVal val="0"/>
                                          </p:val>
                                        </p:tav>
                                        <p:tav tm="100000">
                                          <p:val>
                                            <p:strVal val="#ppt_h"/>
                                          </p:val>
                                        </p:tav>
                                      </p:tavLst>
                                    </p:anim>
                                  </p:childTnLst>
                                </p:cTn>
                              </p:par>
                              <p:par>
                                <p:cTn id="65" presetID="23" presetClass="entr" presetSubtype="16"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1750" fill="hold"/>
                                        <p:tgtEl>
                                          <p:spTgt spid="18"/>
                                        </p:tgtEl>
                                        <p:attrNameLst>
                                          <p:attrName>ppt_w</p:attrName>
                                        </p:attrNameLst>
                                      </p:cBhvr>
                                      <p:tavLst>
                                        <p:tav tm="0">
                                          <p:val>
                                            <p:fltVal val="0"/>
                                          </p:val>
                                        </p:tav>
                                        <p:tav tm="100000">
                                          <p:val>
                                            <p:strVal val="#ppt_w"/>
                                          </p:val>
                                        </p:tav>
                                      </p:tavLst>
                                    </p:anim>
                                    <p:anim calcmode="lin" valueType="num">
                                      <p:cBhvr>
                                        <p:cTn id="68" dur="1750" fill="hold"/>
                                        <p:tgtEl>
                                          <p:spTgt spid="18"/>
                                        </p:tgtEl>
                                        <p:attrNameLst>
                                          <p:attrName>ppt_h</p:attrName>
                                        </p:attrNameLst>
                                      </p:cBhvr>
                                      <p:tavLst>
                                        <p:tav tm="0">
                                          <p:val>
                                            <p:fltVal val="0"/>
                                          </p:val>
                                        </p:tav>
                                        <p:tav tm="100000">
                                          <p:val>
                                            <p:strVal val="#ppt_h"/>
                                          </p:val>
                                        </p:tav>
                                      </p:tavLst>
                                    </p:anim>
                                  </p:childTnLst>
                                </p:cTn>
                              </p:par>
                              <p:par>
                                <p:cTn id="69" presetID="23" presetClass="entr" presetSubtype="16"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p:cTn id="71" dur="1750" fill="hold"/>
                                        <p:tgtEl>
                                          <p:spTgt spid="19"/>
                                        </p:tgtEl>
                                        <p:attrNameLst>
                                          <p:attrName>ppt_w</p:attrName>
                                        </p:attrNameLst>
                                      </p:cBhvr>
                                      <p:tavLst>
                                        <p:tav tm="0">
                                          <p:val>
                                            <p:fltVal val="0"/>
                                          </p:val>
                                        </p:tav>
                                        <p:tav tm="100000">
                                          <p:val>
                                            <p:strVal val="#ppt_w"/>
                                          </p:val>
                                        </p:tav>
                                      </p:tavLst>
                                    </p:anim>
                                    <p:anim calcmode="lin" valueType="num">
                                      <p:cBhvr>
                                        <p:cTn id="72" dur="1750" fill="hold"/>
                                        <p:tgtEl>
                                          <p:spTgt spid="19"/>
                                        </p:tgtEl>
                                        <p:attrNameLst>
                                          <p:attrName>ppt_h</p:attrName>
                                        </p:attrNameLst>
                                      </p:cBhvr>
                                      <p:tavLst>
                                        <p:tav tm="0">
                                          <p:val>
                                            <p:fltVal val="0"/>
                                          </p:val>
                                        </p:tav>
                                        <p:tav tm="100000">
                                          <p:val>
                                            <p:strVal val="#ppt_h"/>
                                          </p:val>
                                        </p:tav>
                                      </p:tavLst>
                                    </p:anim>
                                  </p:childTnLst>
                                </p:cTn>
                              </p:par>
                              <p:par>
                                <p:cTn id="73" presetID="23" presetClass="entr" presetSubtype="16"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p:cTn id="75" dur="1750" fill="hold"/>
                                        <p:tgtEl>
                                          <p:spTgt spid="20"/>
                                        </p:tgtEl>
                                        <p:attrNameLst>
                                          <p:attrName>ppt_w</p:attrName>
                                        </p:attrNameLst>
                                      </p:cBhvr>
                                      <p:tavLst>
                                        <p:tav tm="0">
                                          <p:val>
                                            <p:fltVal val="0"/>
                                          </p:val>
                                        </p:tav>
                                        <p:tav tm="100000">
                                          <p:val>
                                            <p:strVal val="#ppt_w"/>
                                          </p:val>
                                        </p:tav>
                                      </p:tavLst>
                                    </p:anim>
                                    <p:anim calcmode="lin" valueType="num">
                                      <p:cBhvr>
                                        <p:cTn id="76" dur="1750" fill="hold"/>
                                        <p:tgtEl>
                                          <p:spTgt spid="20"/>
                                        </p:tgtEl>
                                        <p:attrNameLst>
                                          <p:attrName>ppt_h</p:attrName>
                                        </p:attrNameLst>
                                      </p:cBhvr>
                                      <p:tavLst>
                                        <p:tav tm="0">
                                          <p:val>
                                            <p:fltVal val="0"/>
                                          </p:val>
                                        </p:tav>
                                        <p:tav tm="100000">
                                          <p:val>
                                            <p:strVal val="#ppt_h"/>
                                          </p:val>
                                        </p:tav>
                                      </p:tavLst>
                                    </p:anim>
                                  </p:childTnLst>
                                </p:cTn>
                              </p:par>
                              <p:par>
                                <p:cTn id="77" presetID="23" presetClass="entr" presetSubtype="16"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p:cTn id="79" dur="1750" fill="hold"/>
                                        <p:tgtEl>
                                          <p:spTgt spid="21"/>
                                        </p:tgtEl>
                                        <p:attrNameLst>
                                          <p:attrName>ppt_w</p:attrName>
                                        </p:attrNameLst>
                                      </p:cBhvr>
                                      <p:tavLst>
                                        <p:tav tm="0">
                                          <p:val>
                                            <p:fltVal val="0"/>
                                          </p:val>
                                        </p:tav>
                                        <p:tav tm="100000">
                                          <p:val>
                                            <p:strVal val="#ppt_w"/>
                                          </p:val>
                                        </p:tav>
                                      </p:tavLst>
                                    </p:anim>
                                    <p:anim calcmode="lin" valueType="num">
                                      <p:cBhvr>
                                        <p:cTn id="80" dur="1750" fill="hold"/>
                                        <p:tgtEl>
                                          <p:spTgt spid="21"/>
                                        </p:tgtEl>
                                        <p:attrNameLst>
                                          <p:attrName>ppt_h</p:attrName>
                                        </p:attrNameLst>
                                      </p:cBhvr>
                                      <p:tavLst>
                                        <p:tav tm="0">
                                          <p:val>
                                            <p:fltVal val="0"/>
                                          </p:val>
                                        </p:tav>
                                        <p:tav tm="100000">
                                          <p:val>
                                            <p:strVal val="#ppt_h"/>
                                          </p:val>
                                        </p:tav>
                                      </p:tavLst>
                                    </p:anim>
                                  </p:childTnLst>
                                </p:cTn>
                              </p:par>
                              <p:par>
                                <p:cTn id="81" presetID="23" presetClass="entr" presetSubtype="16"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p:cTn id="83" dur="1750" fill="hold"/>
                                        <p:tgtEl>
                                          <p:spTgt spid="22"/>
                                        </p:tgtEl>
                                        <p:attrNameLst>
                                          <p:attrName>ppt_w</p:attrName>
                                        </p:attrNameLst>
                                      </p:cBhvr>
                                      <p:tavLst>
                                        <p:tav tm="0">
                                          <p:val>
                                            <p:fltVal val="0"/>
                                          </p:val>
                                        </p:tav>
                                        <p:tav tm="100000">
                                          <p:val>
                                            <p:strVal val="#ppt_w"/>
                                          </p:val>
                                        </p:tav>
                                      </p:tavLst>
                                    </p:anim>
                                    <p:anim calcmode="lin" valueType="num">
                                      <p:cBhvr>
                                        <p:cTn id="84" dur="1750" fill="hold"/>
                                        <p:tgtEl>
                                          <p:spTgt spid="22"/>
                                        </p:tgtEl>
                                        <p:attrNameLst>
                                          <p:attrName>ppt_h</p:attrName>
                                        </p:attrNameLst>
                                      </p:cBhvr>
                                      <p:tavLst>
                                        <p:tav tm="0">
                                          <p:val>
                                            <p:fltVal val="0"/>
                                          </p:val>
                                        </p:tav>
                                        <p:tav tm="100000">
                                          <p:val>
                                            <p:strVal val="#ppt_h"/>
                                          </p:val>
                                        </p:tav>
                                      </p:tavLst>
                                    </p:anim>
                                  </p:childTnLst>
                                </p:cTn>
                              </p:par>
                              <p:par>
                                <p:cTn id="85" presetID="23" presetClass="entr" presetSubtype="16"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p:cTn id="87" dur="1750" fill="hold"/>
                                        <p:tgtEl>
                                          <p:spTgt spid="23"/>
                                        </p:tgtEl>
                                        <p:attrNameLst>
                                          <p:attrName>ppt_w</p:attrName>
                                        </p:attrNameLst>
                                      </p:cBhvr>
                                      <p:tavLst>
                                        <p:tav tm="0">
                                          <p:val>
                                            <p:fltVal val="0"/>
                                          </p:val>
                                        </p:tav>
                                        <p:tav tm="100000">
                                          <p:val>
                                            <p:strVal val="#ppt_w"/>
                                          </p:val>
                                        </p:tav>
                                      </p:tavLst>
                                    </p:anim>
                                    <p:anim calcmode="lin" valueType="num">
                                      <p:cBhvr>
                                        <p:cTn id="88" dur="1750" fill="hold"/>
                                        <p:tgtEl>
                                          <p:spTgt spid="2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9" grpId="0" animBg="1"/>
      <p:bldP spid="10" grpId="0"/>
      <p:bldP spid="11" grpId="0"/>
      <p:bldP spid="12" grpId="0" animBg="1"/>
      <p:bldP spid="13" grpId="0" animBg="1"/>
      <p:bldP spid="14" grpId="0"/>
      <p:bldP spid="15" grpId="0"/>
      <p:bldP spid="16" grpId="0" animBg="1"/>
      <p:bldP spid="17" grpId="0" animBg="1"/>
      <p:bldP spid="18" grpId="0"/>
      <p:bldP spid="19" grpId="0"/>
      <p:bldP spid="20" grpId="0" animBg="1"/>
      <p:bldP spid="21" grpId="0" animBg="1"/>
      <p:bldP spid="22" grpId="0"/>
      <p:bldP spid="2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875832"/>
            <a:ext cx="10728655" cy="523220"/>
          </a:xfrm>
          <a:prstGeom prst="rect">
            <a:avLst/>
          </a:prstGeom>
          <a:noFill/>
        </p:spPr>
        <p:txBody>
          <a:bodyPr wrap="square">
            <a:spAutoFit/>
          </a:bodyPr>
          <a:lstStyle/>
          <a:p>
            <a:pPr algn="r">
              <a:defRPr sz="2400" b="1">
                <a:solidFill>
                  <a:srgbClr val="1A2530"/>
                </a:solidFill>
              </a:defRPr>
            </a:pPr>
            <a:r>
              <a:rPr lang="ar-EG" sz="2800" noProof="1">
                <a:solidFill>
                  <a:schemeClr val="bg1"/>
                </a:solidFill>
              </a:rPr>
              <a:t>التحسين المستدام والابتكار</a:t>
            </a:r>
          </a:p>
        </p:txBody>
      </p:sp>
      <p:sp>
        <p:nvSpPr>
          <p:cNvPr id="4" name="Rectangle 3"/>
          <p:cNvSpPr/>
          <p:nvPr/>
        </p:nvSpPr>
        <p:spPr>
          <a:xfrm>
            <a:off x="6217920" y="1645920"/>
            <a:ext cx="5242255" cy="43891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Rectangle 4"/>
          <p:cNvSpPr/>
          <p:nvPr/>
        </p:nvSpPr>
        <p:spPr>
          <a:xfrm>
            <a:off x="6217920" y="1645920"/>
            <a:ext cx="5242255" cy="7315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6371769" y="1845975"/>
            <a:ext cx="4934557" cy="400110"/>
          </a:xfrm>
          <a:prstGeom prst="rect">
            <a:avLst/>
          </a:prstGeom>
          <a:noFill/>
        </p:spPr>
        <p:txBody>
          <a:bodyPr wrap="none">
            <a:spAutoFit/>
          </a:bodyPr>
          <a:lstStyle/>
          <a:p>
            <a:pPr algn="ctr" rtl="1">
              <a:defRPr sz="1500" b="1">
                <a:solidFill>
                  <a:srgbClr val="FFFFFF"/>
                </a:solidFill>
              </a:defRPr>
            </a:pPr>
            <a:r>
              <a:rPr lang="ar-EG" sz="2000" noProof="1"/>
              <a:t>📈 التحسين المستمر (Continuous Improvement)</a:t>
            </a:r>
          </a:p>
        </p:txBody>
      </p:sp>
      <p:sp>
        <p:nvSpPr>
          <p:cNvPr id="7" name="TextBox 6"/>
          <p:cNvSpPr txBox="1"/>
          <p:nvPr/>
        </p:nvSpPr>
        <p:spPr>
          <a:xfrm>
            <a:off x="6400800" y="2560320"/>
            <a:ext cx="4876495" cy="2862322"/>
          </a:xfrm>
          <a:prstGeom prst="rect">
            <a:avLst/>
          </a:prstGeom>
          <a:noFill/>
        </p:spPr>
        <p:txBody>
          <a:bodyPr wrap="square">
            <a:spAutoFit/>
          </a:bodyPr>
          <a:lstStyle/>
          <a:p>
            <a:pPr algn="r" rtl="1"/>
            <a:endParaRPr lang="ar-EG" sz="2000" b="1" noProof="1"/>
          </a:p>
          <a:p>
            <a:pPr algn="r" rtl="1">
              <a:defRPr sz="1300">
                <a:solidFill>
                  <a:srgbClr val="2C3E50"/>
                </a:solidFill>
              </a:defRPr>
            </a:pPr>
            <a:r>
              <a:rPr lang="ar-EG" sz="2000" b="1" noProof="1"/>
              <a:t>• التركيز: تطوير وإتقان الأداء والعمليات الحالية.</a:t>
            </a:r>
            <a:br>
              <a:rPr lang="ar-EG" sz="2000" b="1" noProof="1"/>
            </a:br>
            <a:endParaRPr lang="ar-EG" sz="2000" b="1" noProof="1"/>
          </a:p>
          <a:p>
            <a:pPr algn="r" rtl="1">
              <a:defRPr sz="1300">
                <a:solidFill>
                  <a:srgbClr val="2C3E50"/>
                </a:solidFill>
              </a:defRPr>
            </a:pPr>
            <a:r>
              <a:rPr lang="ar-EG" sz="2000" b="1" noProof="1"/>
              <a:t>• النهج: تغيير تدريجي ومتراكم (Incremental).</a:t>
            </a:r>
            <a:br>
              <a:rPr lang="ar-EG" sz="2000" b="1" noProof="1"/>
            </a:br>
            <a:endParaRPr lang="ar-EG" sz="2000" b="1" noProof="1"/>
          </a:p>
          <a:p>
            <a:pPr algn="r" rtl="1">
              <a:defRPr sz="1300">
                <a:solidFill>
                  <a:srgbClr val="2C3E50"/>
                </a:solidFill>
              </a:defRPr>
            </a:pPr>
            <a:r>
              <a:rPr lang="ar-EG" sz="2000" b="1" noProof="1"/>
              <a:t>• الهدف: رفع الكفاءة والحد من الأخطاء والهدر.</a:t>
            </a:r>
            <a:br>
              <a:rPr lang="ar-EG" sz="2000" b="1" noProof="1"/>
            </a:br>
            <a:endParaRPr lang="ar-EG" sz="2000" b="1" noProof="1"/>
          </a:p>
          <a:p>
            <a:pPr algn="r">
              <a:defRPr sz="1300">
                <a:solidFill>
                  <a:srgbClr val="2C3E50"/>
                </a:solidFill>
              </a:defRPr>
            </a:pPr>
            <a:r>
              <a:rPr lang="ar-EG" sz="2000" b="1" noProof="1"/>
              <a:t>• المخاطرة: منخفضة ومسيطر عليها بآليات محددة.</a:t>
            </a:r>
            <a:br>
              <a:rPr lang="ar-EG" sz="2000" b="1" noProof="1"/>
            </a:br>
            <a:endParaRPr lang="ar-EG" sz="2000" b="1" noProof="1"/>
          </a:p>
        </p:txBody>
      </p:sp>
      <p:sp>
        <p:nvSpPr>
          <p:cNvPr id="8" name="Rectangle 7"/>
          <p:cNvSpPr/>
          <p:nvPr/>
        </p:nvSpPr>
        <p:spPr>
          <a:xfrm>
            <a:off x="731520" y="1645920"/>
            <a:ext cx="5242255" cy="4389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Rectangle 8"/>
          <p:cNvSpPr/>
          <p:nvPr/>
        </p:nvSpPr>
        <p:spPr>
          <a:xfrm>
            <a:off x="731520" y="1645920"/>
            <a:ext cx="5242255" cy="7315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731520" y="1851349"/>
            <a:ext cx="4996041" cy="400110"/>
          </a:xfrm>
          <a:prstGeom prst="rect">
            <a:avLst/>
          </a:prstGeom>
          <a:noFill/>
        </p:spPr>
        <p:txBody>
          <a:bodyPr wrap="square">
            <a:spAutoFit/>
          </a:bodyPr>
          <a:lstStyle/>
          <a:p>
            <a:pPr algn="r" rtl="1">
              <a:defRPr sz="1500" b="1">
                <a:solidFill>
                  <a:srgbClr val="FFFFFF"/>
                </a:solidFill>
              </a:defRPr>
            </a:pPr>
            <a:r>
              <a:rPr lang="ar-EG" sz="2000" noProof="1"/>
              <a:t>💡 الابتكار المؤسسي (Institutional Innovation)</a:t>
            </a:r>
          </a:p>
        </p:txBody>
      </p:sp>
      <p:sp>
        <p:nvSpPr>
          <p:cNvPr id="11" name="TextBox 10"/>
          <p:cNvSpPr txBox="1"/>
          <p:nvPr/>
        </p:nvSpPr>
        <p:spPr>
          <a:xfrm>
            <a:off x="914400" y="2560320"/>
            <a:ext cx="4876495" cy="2831544"/>
          </a:xfrm>
          <a:prstGeom prst="rect">
            <a:avLst/>
          </a:prstGeom>
          <a:noFill/>
        </p:spPr>
        <p:txBody>
          <a:bodyPr wrap="square">
            <a:spAutoFit/>
          </a:bodyPr>
          <a:lstStyle/>
          <a:p>
            <a:endParaRPr lang="ar-EG" noProof="1"/>
          </a:p>
          <a:p>
            <a:pPr algn="r" rtl="1">
              <a:defRPr sz="1300">
                <a:solidFill>
                  <a:srgbClr val="2C3E50"/>
                </a:solidFill>
              </a:defRPr>
            </a:pPr>
            <a:r>
              <a:rPr lang="ar-EG" noProof="1"/>
              <a:t>• </a:t>
            </a:r>
            <a:r>
              <a:rPr lang="ar-EG" b="1" noProof="1"/>
              <a:t>التركيز: خلق طرق </a:t>
            </a:r>
            <a:r>
              <a:rPr lang="ar-EG" sz="2000" b="1" noProof="1"/>
              <a:t>جديدة وصناعة قيمة غير مسبوقة.</a:t>
            </a:r>
            <a:br>
              <a:rPr lang="ar-EG" sz="2000" b="1" noProof="1"/>
            </a:br>
            <a:endParaRPr lang="ar-EG" sz="2000" b="1" noProof="1"/>
          </a:p>
          <a:p>
            <a:pPr algn="r" rtl="1">
              <a:defRPr sz="1300">
                <a:solidFill>
                  <a:srgbClr val="2C3E50"/>
                </a:solidFill>
              </a:defRPr>
            </a:pPr>
            <a:r>
              <a:rPr lang="ar-EG" sz="2000" b="1" noProof="1"/>
              <a:t>• النهج: قفزات نوعية وتحول جذري (Disruptive).</a:t>
            </a:r>
            <a:br>
              <a:rPr lang="ar-EG" sz="2000" b="1" noProof="1"/>
            </a:br>
            <a:endParaRPr lang="ar-EG" sz="2000" b="1" noProof="1"/>
          </a:p>
          <a:p>
            <a:pPr algn="r" rtl="1">
              <a:defRPr sz="1300">
                <a:solidFill>
                  <a:srgbClr val="2C3E50"/>
                </a:solidFill>
              </a:defRPr>
            </a:pPr>
            <a:r>
              <a:rPr lang="ar-EG" sz="2000" b="1" noProof="1"/>
              <a:t>• الهدف: إعادة تعريف التميز وتقديم حلول سباقة.</a:t>
            </a:r>
            <a:br>
              <a:rPr lang="ar-EG" sz="2000" b="1" noProof="1"/>
            </a:br>
            <a:endParaRPr lang="ar-EG" sz="2000" b="1" noProof="1"/>
          </a:p>
          <a:p>
            <a:pPr algn="r" rtl="1">
              <a:defRPr sz="1300">
                <a:solidFill>
                  <a:srgbClr val="2C3E50"/>
                </a:solidFill>
              </a:defRPr>
            </a:pPr>
            <a:r>
              <a:rPr lang="ar-EG" sz="2000" b="1" noProof="1"/>
              <a:t>• المخاطرة: أعلى وتتطلب بيئة تجريب آمنة.</a:t>
            </a:r>
            <a:br>
              <a:rPr lang="ar-EG" sz="2000" b="1" noProof="1"/>
            </a:br>
            <a:endParaRPr lang="ar-EG" sz="2000" b="1" noProof="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750" fill="hold"/>
                                        <p:tgtEl>
                                          <p:spTgt spid="3"/>
                                        </p:tgtEl>
                                        <p:attrNameLst>
                                          <p:attrName>ppt_w</p:attrName>
                                        </p:attrNameLst>
                                      </p:cBhvr>
                                      <p:tavLst>
                                        <p:tav tm="0">
                                          <p:val>
                                            <p:fltVal val="0"/>
                                          </p:val>
                                        </p:tav>
                                        <p:tav tm="100000">
                                          <p:val>
                                            <p:strVal val="#ppt_w"/>
                                          </p:val>
                                        </p:tav>
                                      </p:tavLst>
                                    </p:anim>
                                    <p:anim calcmode="lin" valueType="num">
                                      <p:cBhvr>
                                        <p:cTn id="8" dur="1750" fill="hold"/>
                                        <p:tgtEl>
                                          <p:spTgt spid="3"/>
                                        </p:tgtEl>
                                        <p:attrNameLst>
                                          <p:attrName>ppt_h</p:attrName>
                                        </p:attrNameLst>
                                      </p:cBhvr>
                                      <p:tavLst>
                                        <p:tav tm="0">
                                          <p:val>
                                            <p:fltVal val="0"/>
                                          </p:val>
                                        </p:tav>
                                        <p:tav tm="100000">
                                          <p:val>
                                            <p:strVal val="#ppt_h"/>
                                          </p:val>
                                        </p:tav>
                                      </p:tavLst>
                                    </p:anim>
                                    <p:anim calcmode="lin" valueType="num">
                                      <p:cBhvr>
                                        <p:cTn id="9" dur="1750" fill="hold"/>
                                        <p:tgtEl>
                                          <p:spTgt spid="3"/>
                                        </p:tgtEl>
                                        <p:attrNameLst>
                                          <p:attrName>style.rotation</p:attrName>
                                        </p:attrNameLst>
                                      </p:cBhvr>
                                      <p:tavLst>
                                        <p:tav tm="0">
                                          <p:val>
                                            <p:fltVal val="90"/>
                                          </p:val>
                                        </p:tav>
                                        <p:tav tm="100000">
                                          <p:val>
                                            <p:fltVal val="0"/>
                                          </p:val>
                                        </p:tav>
                                      </p:tavLst>
                                    </p:anim>
                                    <p:animEffect transition="in" filter="fade">
                                      <p:cBhvr>
                                        <p:cTn id="10" dur="1750"/>
                                        <p:tgtEl>
                                          <p:spTgt spid="3"/>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750" fill="hold"/>
                                        <p:tgtEl>
                                          <p:spTgt spid="4"/>
                                        </p:tgtEl>
                                        <p:attrNameLst>
                                          <p:attrName>ppt_w</p:attrName>
                                        </p:attrNameLst>
                                      </p:cBhvr>
                                      <p:tavLst>
                                        <p:tav tm="0">
                                          <p:val>
                                            <p:fltVal val="0"/>
                                          </p:val>
                                        </p:tav>
                                        <p:tav tm="100000">
                                          <p:val>
                                            <p:strVal val="#ppt_w"/>
                                          </p:val>
                                        </p:tav>
                                      </p:tavLst>
                                    </p:anim>
                                    <p:anim calcmode="lin" valueType="num">
                                      <p:cBhvr>
                                        <p:cTn id="14" dur="1750" fill="hold"/>
                                        <p:tgtEl>
                                          <p:spTgt spid="4"/>
                                        </p:tgtEl>
                                        <p:attrNameLst>
                                          <p:attrName>ppt_h</p:attrName>
                                        </p:attrNameLst>
                                      </p:cBhvr>
                                      <p:tavLst>
                                        <p:tav tm="0">
                                          <p:val>
                                            <p:fltVal val="0"/>
                                          </p:val>
                                        </p:tav>
                                        <p:tav tm="100000">
                                          <p:val>
                                            <p:strVal val="#ppt_h"/>
                                          </p:val>
                                        </p:tav>
                                      </p:tavLst>
                                    </p:anim>
                                    <p:anim calcmode="lin" valueType="num">
                                      <p:cBhvr>
                                        <p:cTn id="15" dur="1750" fill="hold"/>
                                        <p:tgtEl>
                                          <p:spTgt spid="4"/>
                                        </p:tgtEl>
                                        <p:attrNameLst>
                                          <p:attrName>style.rotation</p:attrName>
                                        </p:attrNameLst>
                                      </p:cBhvr>
                                      <p:tavLst>
                                        <p:tav tm="0">
                                          <p:val>
                                            <p:fltVal val="90"/>
                                          </p:val>
                                        </p:tav>
                                        <p:tav tm="100000">
                                          <p:val>
                                            <p:fltVal val="0"/>
                                          </p:val>
                                        </p:tav>
                                      </p:tavLst>
                                    </p:anim>
                                    <p:animEffect transition="in" filter="fade">
                                      <p:cBhvr>
                                        <p:cTn id="16" dur="1750"/>
                                        <p:tgtEl>
                                          <p:spTgt spid="4"/>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750" fill="hold"/>
                                        <p:tgtEl>
                                          <p:spTgt spid="5"/>
                                        </p:tgtEl>
                                        <p:attrNameLst>
                                          <p:attrName>ppt_w</p:attrName>
                                        </p:attrNameLst>
                                      </p:cBhvr>
                                      <p:tavLst>
                                        <p:tav tm="0">
                                          <p:val>
                                            <p:fltVal val="0"/>
                                          </p:val>
                                        </p:tav>
                                        <p:tav tm="100000">
                                          <p:val>
                                            <p:strVal val="#ppt_w"/>
                                          </p:val>
                                        </p:tav>
                                      </p:tavLst>
                                    </p:anim>
                                    <p:anim calcmode="lin" valueType="num">
                                      <p:cBhvr>
                                        <p:cTn id="20" dur="1750" fill="hold"/>
                                        <p:tgtEl>
                                          <p:spTgt spid="5"/>
                                        </p:tgtEl>
                                        <p:attrNameLst>
                                          <p:attrName>ppt_h</p:attrName>
                                        </p:attrNameLst>
                                      </p:cBhvr>
                                      <p:tavLst>
                                        <p:tav tm="0">
                                          <p:val>
                                            <p:fltVal val="0"/>
                                          </p:val>
                                        </p:tav>
                                        <p:tav tm="100000">
                                          <p:val>
                                            <p:strVal val="#ppt_h"/>
                                          </p:val>
                                        </p:tav>
                                      </p:tavLst>
                                    </p:anim>
                                    <p:anim calcmode="lin" valueType="num">
                                      <p:cBhvr>
                                        <p:cTn id="21" dur="1750" fill="hold"/>
                                        <p:tgtEl>
                                          <p:spTgt spid="5"/>
                                        </p:tgtEl>
                                        <p:attrNameLst>
                                          <p:attrName>style.rotation</p:attrName>
                                        </p:attrNameLst>
                                      </p:cBhvr>
                                      <p:tavLst>
                                        <p:tav tm="0">
                                          <p:val>
                                            <p:fltVal val="90"/>
                                          </p:val>
                                        </p:tav>
                                        <p:tav tm="100000">
                                          <p:val>
                                            <p:fltVal val="0"/>
                                          </p:val>
                                        </p:tav>
                                      </p:tavLst>
                                    </p:anim>
                                    <p:animEffect transition="in" filter="fade">
                                      <p:cBhvr>
                                        <p:cTn id="22" dur="1750"/>
                                        <p:tgtEl>
                                          <p:spTgt spid="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1750" fill="hold"/>
                                        <p:tgtEl>
                                          <p:spTgt spid="6"/>
                                        </p:tgtEl>
                                        <p:attrNameLst>
                                          <p:attrName>ppt_w</p:attrName>
                                        </p:attrNameLst>
                                      </p:cBhvr>
                                      <p:tavLst>
                                        <p:tav tm="0">
                                          <p:val>
                                            <p:fltVal val="0"/>
                                          </p:val>
                                        </p:tav>
                                        <p:tav tm="100000">
                                          <p:val>
                                            <p:strVal val="#ppt_w"/>
                                          </p:val>
                                        </p:tav>
                                      </p:tavLst>
                                    </p:anim>
                                    <p:anim calcmode="lin" valueType="num">
                                      <p:cBhvr>
                                        <p:cTn id="26" dur="1750" fill="hold"/>
                                        <p:tgtEl>
                                          <p:spTgt spid="6"/>
                                        </p:tgtEl>
                                        <p:attrNameLst>
                                          <p:attrName>ppt_h</p:attrName>
                                        </p:attrNameLst>
                                      </p:cBhvr>
                                      <p:tavLst>
                                        <p:tav tm="0">
                                          <p:val>
                                            <p:fltVal val="0"/>
                                          </p:val>
                                        </p:tav>
                                        <p:tav tm="100000">
                                          <p:val>
                                            <p:strVal val="#ppt_h"/>
                                          </p:val>
                                        </p:tav>
                                      </p:tavLst>
                                    </p:anim>
                                    <p:anim calcmode="lin" valueType="num">
                                      <p:cBhvr>
                                        <p:cTn id="27" dur="1750" fill="hold"/>
                                        <p:tgtEl>
                                          <p:spTgt spid="6"/>
                                        </p:tgtEl>
                                        <p:attrNameLst>
                                          <p:attrName>style.rotation</p:attrName>
                                        </p:attrNameLst>
                                      </p:cBhvr>
                                      <p:tavLst>
                                        <p:tav tm="0">
                                          <p:val>
                                            <p:fltVal val="90"/>
                                          </p:val>
                                        </p:tav>
                                        <p:tav tm="100000">
                                          <p:val>
                                            <p:fltVal val="0"/>
                                          </p:val>
                                        </p:tav>
                                      </p:tavLst>
                                    </p:anim>
                                    <p:animEffect transition="in" filter="fade">
                                      <p:cBhvr>
                                        <p:cTn id="28" dur="1750"/>
                                        <p:tgtEl>
                                          <p:spTgt spid="6"/>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750" fill="hold"/>
                                        <p:tgtEl>
                                          <p:spTgt spid="7"/>
                                        </p:tgtEl>
                                        <p:attrNameLst>
                                          <p:attrName>ppt_w</p:attrName>
                                        </p:attrNameLst>
                                      </p:cBhvr>
                                      <p:tavLst>
                                        <p:tav tm="0">
                                          <p:val>
                                            <p:fltVal val="0"/>
                                          </p:val>
                                        </p:tav>
                                        <p:tav tm="100000">
                                          <p:val>
                                            <p:strVal val="#ppt_w"/>
                                          </p:val>
                                        </p:tav>
                                      </p:tavLst>
                                    </p:anim>
                                    <p:anim calcmode="lin" valueType="num">
                                      <p:cBhvr>
                                        <p:cTn id="32" dur="1750" fill="hold"/>
                                        <p:tgtEl>
                                          <p:spTgt spid="7"/>
                                        </p:tgtEl>
                                        <p:attrNameLst>
                                          <p:attrName>ppt_h</p:attrName>
                                        </p:attrNameLst>
                                      </p:cBhvr>
                                      <p:tavLst>
                                        <p:tav tm="0">
                                          <p:val>
                                            <p:fltVal val="0"/>
                                          </p:val>
                                        </p:tav>
                                        <p:tav tm="100000">
                                          <p:val>
                                            <p:strVal val="#ppt_h"/>
                                          </p:val>
                                        </p:tav>
                                      </p:tavLst>
                                    </p:anim>
                                    <p:anim calcmode="lin" valueType="num">
                                      <p:cBhvr>
                                        <p:cTn id="33" dur="1750" fill="hold"/>
                                        <p:tgtEl>
                                          <p:spTgt spid="7"/>
                                        </p:tgtEl>
                                        <p:attrNameLst>
                                          <p:attrName>style.rotation</p:attrName>
                                        </p:attrNameLst>
                                      </p:cBhvr>
                                      <p:tavLst>
                                        <p:tav tm="0">
                                          <p:val>
                                            <p:fltVal val="90"/>
                                          </p:val>
                                        </p:tav>
                                        <p:tav tm="100000">
                                          <p:val>
                                            <p:fltVal val="0"/>
                                          </p:val>
                                        </p:tav>
                                      </p:tavLst>
                                    </p:anim>
                                    <p:animEffect transition="in" filter="fade">
                                      <p:cBhvr>
                                        <p:cTn id="34" dur="1750"/>
                                        <p:tgtEl>
                                          <p:spTgt spid="7"/>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750" fill="hold"/>
                                        <p:tgtEl>
                                          <p:spTgt spid="8"/>
                                        </p:tgtEl>
                                        <p:attrNameLst>
                                          <p:attrName>ppt_w</p:attrName>
                                        </p:attrNameLst>
                                      </p:cBhvr>
                                      <p:tavLst>
                                        <p:tav tm="0">
                                          <p:val>
                                            <p:fltVal val="0"/>
                                          </p:val>
                                        </p:tav>
                                        <p:tav tm="100000">
                                          <p:val>
                                            <p:strVal val="#ppt_w"/>
                                          </p:val>
                                        </p:tav>
                                      </p:tavLst>
                                    </p:anim>
                                    <p:anim calcmode="lin" valueType="num">
                                      <p:cBhvr>
                                        <p:cTn id="38" dur="1750" fill="hold"/>
                                        <p:tgtEl>
                                          <p:spTgt spid="8"/>
                                        </p:tgtEl>
                                        <p:attrNameLst>
                                          <p:attrName>ppt_h</p:attrName>
                                        </p:attrNameLst>
                                      </p:cBhvr>
                                      <p:tavLst>
                                        <p:tav tm="0">
                                          <p:val>
                                            <p:fltVal val="0"/>
                                          </p:val>
                                        </p:tav>
                                        <p:tav tm="100000">
                                          <p:val>
                                            <p:strVal val="#ppt_h"/>
                                          </p:val>
                                        </p:tav>
                                      </p:tavLst>
                                    </p:anim>
                                    <p:anim calcmode="lin" valueType="num">
                                      <p:cBhvr>
                                        <p:cTn id="39" dur="1750" fill="hold"/>
                                        <p:tgtEl>
                                          <p:spTgt spid="8"/>
                                        </p:tgtEl>
                                        <p:attrNameLst>
                                          <p:attrName>style.rotation</p:attrName>
                                        </p:attrNameLst>
                                      </p:cBhvr>
                                      <p:tavLst>
                                        <p:tav tm="0">
                                          <p:val>
                                            <p:fltVal val="90"/>
                                          </p:val>
                                        </p:tav>
                                        <p:tav tm="100000">
                                          <p:val>
                                            <p:fltVal val="0"/>
                                          </p:val>
                                        </p:tav>
                                      </p:tavLst>
                                    </p:anim>
                                    <p:animEffect transition="in" filter="fade">
                                      <p:cBhvr>
                                        <p:cTn id="40" dur="1750"/>
                                        <p:tgtEl>
                                          <p:spTgt spid="8"/>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1750" fill="hold"/>
                                        <p:tgtEl>
                                          <p:spTgt spid="9"/>
                                        </p:tgtEl>
                                        <p:attrNameLst>
                                          <p:attrName>ppt_w</p:attrName>
                                        </p:attrNameLst>
                                      </p:cBhvr>
                                      <p:tavLst>
                                        <p:tav tm="0">
                                          <p:val>
                                            <p:fltVal val="0"/>
                                          </p:val>
                                        </p:tav>
                                        <p:tav tm="100000">
                                          <p:val>
                                            <p:strVal val="#ppt_w"/>
                                          </p:val>
                                        </p:tav>
                                      </p:tavLst>
                                    </p:anim>
                                    <p:anim calcmode="lin" valueType="num">
                                      <p:cBhvr>
                                        <p:cTn id="44" dur="1750" fill="hold"/>
                                        <p:tgtEl>
                                          <p:spTgt spid="9"/>
                                        </p:tgtEl>
                                        <p:attrNameLst>
                                          <p:attrName>ppt_h</p:attrName>
                                        </p:attrNameLst>
                                      </p:cBhvr>
                                      <p:tavLst>
                                        <p:tav tm="0">
                                          <p:val>
                                            <p:fltVal val="0"/>
                                          </p:val>
                                        </p:tav>
                                        <p:tav tm="100000">
                                          <p:val>
                                            <p:strVal val="#ppt_h"/>
                                          </p:val>
                                        </p:tav>
                                      </p:tavLst>
                                    </p:anim>
                                    <p:anim calcmode="lin" valueType="num">
                                      <p:cBhvr>
                                        <p:cTn id="45" dur="1750" fill="hold"/>
                                        <p:tgtEl>
                                          <p:spTgt spid="9"/>
                                        </p:tgtEl>
                                        <p:attrNameLst>
                                          <p:attrName>style.rotation</p:attrName>
                                        </p:attrNameLst>
                                      </p:cBhvr>
                                      <p:tavLst>
                                        <p:tav tm="0">
                                          <p:val>
                                            <p:fltVal val="90"/>
                                          </p:val>
                                        </p:tav>
                                        <p:tav tm="100000">
                                          <p:val>
                                            <p:fltVal val="0"/>
                                          </p:val>
                                        </p:tav>
                                      </p:tavLst>
                                    </p:anim>
                                    <p:animEffect transition="in" filter="fade">
                                      <p:cBhvr>
                                        <p:cTn id="46" dur="1750"/>
                                        <p:tgtEl>
                                          <p:spTgt spid="9"/>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1750" fill="hold"/>
                                        <p:tgtEl>
                                          <p:spTgt spid="10"/>
                                        </p:tgtEl>
                                        <p:attrNameLst>
                                          <p:attrName>ppt_w</p:attrName>
                                        </p:attrNameLst>
                                      </p:cBhvr>
                                      <p:tavLst>
                                        <p:tav tm="0">
                                          <p:val>
                                            <p:fltVal val="0"/>
                                          </p:val>
                                        </p:tav>
                                        <p:tav tm="100000">
                                          <p:val>
                                            <p:strVal val="#ppt_w"/>
                                          </p:val>
                                        </p:tav>
                                      </p:tavLst>
                                    </p:anim>
                                    <p:anim calcmode="lin" valueType="num">
                                      <p:cBhvr>
                                        <p:cTn id="50" dur="1750" fill="hold"/>
                                        <p:tgtEl>
                                          <p:spTgt spid="10"/>
                                        </p:tgtEl>
                                        <p:attrNameLst>
                                          <p:attrName>ppt_h</p:attrName>
                                        </p:attrNameLst>
                                      </p:cBhvr>
                                      <p:tavLst>
                                        <p:tav tm="0">
                                          <p:val>
                                            <p:fltVal val="0"/>
                                          </p:val>
                                        </p:tav>
                                        <p:tav tm="100000">
                                          <p:val>
                                            <p:strVal val="#ppt_h"/>
                                          </p:val>
                                        </p:tav>
                                      </p:tavLst>
                                    </p:anim>
                                    <p:anim calcmode="lin" valueType="num">
                                      <p:cBhvr>
                                        <p:cTn id="51" dur="1750" fill="hold"/>
                                        <p:tgtEl>
                                          <p:spTgt spid="10"/>
                                        </p:tgtEl>
                                        <p:attrNameLst>
                                          <p:attrName>style.rotation</p:attrName>
                                        </p:attrNameLst>
                                      </p:cBhvr>
                                      <p:tavLst>
                                        <p:tav tm="0">
                                          <p:val>
                                            <p:fltVal val="90"/>
                                          </p:val>
                                        </p:tav>
                                        <p:tav tm="100000">
                                          <p:val>
                                            <p:fltVal val="0"/>
                                          </p:val>
                                        </p:tav>
                                      </p:tavLst>
                                    </p:anim>
                                    <p:animEffect transition="in" filter="fade">
                                      <p:cBhvr>
                                        <p:cTn id="52" dur="1750"/>
                                        <p:tgtEl>
                                          <p:spTgt spid="10"/>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p:cTn id="55" dur="1750" fill="hold"/>
                                        <p:tgtEl>
                                          <p:spTgt spid="11"/>
                                        </p:tgtEl>
                                        <p:attrNameLst>
                                          <p:attrName>ppt_w</p:attrName>
                                        </p:attrNameLst>
                                      </p:cBhvr>
                                      <p:tavLst>
                                        <p:tav tm="0">
                                          <p:val>
                                            <p:fltVal val="0"/>
                                          </p:val>
                                        </p:tav>
                                        <p:tav tm="100000">
                                          <p:val>
                                            <p:strVal val="#ppt_w"/>
                                          </p:val>
                                        </p:tav>
                                      </p:tavLst>
                                    </p:anim>
                                    <p:anim calcmode="lin" valueType="num">
                                      <p:cBhvr>
                                        <p:cTn id="56" dur="1750" fill="hold"/>
                                        <p:tgtEl>
                                          <p:spTgt spid="11"/>
                                        </p:tgtEl>
                                        <p:attrNameLst>
                                          <p:attrName>ppt_h</p:attrName>
                                        </p:attrNameLst>
                                      </p:cBhvr>
                                      <p:tavLst>
                                        <p:tav tm="0">
                                          <p:val>
                                            <p:fltVal val="0"/>
                                          </p:val>
                                        </p:tav>
                                        <p:tav tm="100000">
                                          <p:val>
                                            <p:strVal val="#ppt_h"/>
                                          </p:val>
                                        </p:tav>
                                      </p:tavLst>
                                    </p:anim>
                                    <p:anim calcmode="lin" valueType="num">
                                      <p:cBhvr>
                                        <p:cTn id="57" dur="1750" fill="hold"/>
                                        <p:tgtEl>
                                          <p:spTgt spid="11"/>
                                        </p:tgtEl>
                                        <p:attrNameLst>
                                          <p:attrName>style.rotation</p:attrName>
                                        </p:attrNameLst>
                                      </p:cBhvr>
                                      <p:tavLst>
                                        <p:tav tm="0">
                                          <p:val>
                                            <p:fltVal val="90"/>
                                          </p:val>
                                        </p:tav>
                                        <p:tav tm="100000">
                                          <p:val>
                                            <p:fltVal val="0"/>
                                          </p:val>
                                        </p:tav>
                                      </p:tavLst>
                                    </p:anim>
                                    <p:animEffect transition="in" filter="fade">
                                      <p:cBhvr>
                                        <p:cTn id="58" dur="1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9" grpId="0" animBg="1"/>
      <p:bldP spid="10" grpId="0"/>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594360"/>
            <a:ext cx="10728655" cy="461665"/>
          </a:xfrm>
          <a:prstGeom prst="rect">
            <a:avLst/>
          </a:prstGeom>
          <a:noFill/>
        </p:spPr>
        <p:txBody>
          <a:bodyPr wrap="square">
            <a:spAutoFit/>
          </a:bodyPr>
          <a:lstStyle/>
          <a:p>
            <a:pPr algn="r" rtl="1">
              <a:defRPr sz="2400" b="1">
                <a:solidFill>
                  <a:srgbClr val="1A2530"/>
                </a:solidFill>
              </a:defRPr>
            </a:pPr>
            <a:r>
              <a:rPr lang="ar-EG" noProof="1">
                <a:solidFill>
                  <a:schemeClr val="bg1"/>
                </a:solidFill>
              </a:rPr>
              <a:t>نموذج المدرسة المتحسنة باستمرار (High-Performance School)</a:t>
            </a:r>
          </a:p>
        </p:txBody>
      </p:sp>
      <p:sp>
        <p:nvSpPr>
          <p:cNvPr id="4" name="Rectangle 3"/>
          <p:cNvSpPr/>
          <p:nvPr/>
        </p:nvSpPr>
        <p:spPr>
          <a:xfrm>
            <a:off x="8046720" y="1645920"/>
            <a:ext cx="3413455" cy="2103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TextBox 4"/>
          <p:cNvSpPr txBox="1"/>
          <p:nvPr/>
        </p:nvSpPr>
        <p:spPr>
          <a:xfrm>
            <a:off x="8229600" y="1828800"/>
            <a:ext cx="3047695" cy="1384995"/>
          </a:xfrm>
          <a:prstGeom prst="rect">
            <a:avLst/>
          </a:prstGeom>
          <a:noFill/>
        </p:spPr>
        <p:txBody>
          <a:bodyPr wrap="square">
            <a:spAutoFit/>
          </a:bodyPr>
          <a:lstStyle/>
          <a:p>
            <a:pPr lvl="1" algn="ctr" rtl="1">
              <a:defRPr sz="1600" b="1">
                <a:solidFill>
                  <a:srgbClr val="1A2530"/>
                </a:solidFill>
              </a:defRPr>
            </a:pPr>
            <a:r>
              <a:rPr lang="ar-EG" sz="2400" noProof="1"/>
              <a:t>🎯 تعتمد على البيانات</a:t>
            </a:r>
          </a:p>
          <a:p>
            <a:pPr lvl="1" algn="ctr" rtl="1"/>
            <a:br>
              <a:rPr lang="ar-EG" sz="2000" noProof="1"/>
            </a:br>
            <a:r>
              <a:rPr lang="ar-EG" sz="2000" noProof="1"/>
              <a:t>قراراتها مسببة ومبنية على الأدلة والتحليلات الدقيقة.</a:t>
            </a:r>
          </a:p>
        </p:txBody>
      </p:sp>
      <p:sp>
        <p:nvSpPr>
          <p:cNvPr id="6" name="Rectangle 5"/>
          <p:cNvSpPr/>
          <p:nvPr/>
        </p:nvSpPr>
        <p:spPr>
          <a:xfrm>
            <a:off x="4389120" y="1645920"/>
            <a:ext cx="3413455" cy="21031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7" name="TextBox 6"/>
          <p:cNvSpPr txBox="1"/>
          <p:nvPr/>
        </p:nvSpPr>
        <p:spPr>
          <a:xfrm>
            <a:off x="4572000" y="1828800"/>
            <a:ext cx="3047695" cy="1384995"/>
          </a:xfrm>
          <a:prstGeom prst="rect">
            <a:avLst/>
          </a:prstGeom>
          <a:noFill/>
        </p:spPr>
        <p:txBody>
          <a:bodyPr wrap="square">
            <a:spAutoFit/>
          </a:bodyPr>
          <a:lstStyle/>
          <a:p>
            <a:pPr algn="ctr" rtl="1">
              <a:defRPr sz="1600" b="1">
                <a:solidFill>
                  <a:srgbClr val="1A2530"/>
                </a:solidFill>
              </a:defRPr>
            </a:pPr>
            <a:r>
              <a:rPr lang="ar-EG" sz="2400" noProof="1"/>
              <a:t>🎯 تطور ممارساتها</a:t>
            </a:r>
          </a:p>
          <a:p>
            <a:pPr algn="ctr" rtl="1"/>
            <a:br>
              <a:rPr lang="ar-EG" sz="2000" noProof="1"/>
            </a:br>
            <a:r>
              <a:rPr lang="ar-EG" sz="2000" noProof="1"/>
              <a:t>تراجع وتحدث آليات التدريس والإدارة بانتظام.</a:t>
            </a:r>
          </a:p>
        </p:txBody>
      </p:sp>
      <p:sp>
        <p:nvSpPr>
          <p:cNvPr id="8" name="Rectangle 7"/>
          <p:cNvSpPr/>
          <p:nvPr/>
        </p:nvSpPr>
        <p:spPr>
          <a:xfrm>
            <a:off x="731520" y="1645920"/>
            <a:ext cx="3413455" cy="2103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TextBox 8"/>
          <p:cNvSpPr txBox="1"/>
          <p:nvPr/>
        </p:nvSpPr>
        <p:spPr>
          <a:xfrm>
            <a:off x="914400" y="1828800"/>
            <a:ext cx="3047695" cy="1384995"/>
          </a:xfrm>
          <a:prstGeom prst="rect">
            <a:avLst/>
          </a:prstGeom>
          <a:noFill/>
        </p:spPr>
        <p:txBody>
          <a:bodyPr wrap="square">
            <a:spAutoFit/>
          </a:bodyPr>
          <a:lstStyle/>
          <a:p>
            <a:pPr algn="ctr" rtl="1">
              <a:defRPr sz="1600" b="1">
                <a:solidFill>
                  <a:srgbClr val="1A2530"/>
                </a:solidFill>
              </a:defRPr>
            </a:pPr>
            <a:r>
              <a:rPr lang="ar-EG" sz="2400" noProof="1"/>
              <a:t>🎯 تشارك المعرفة</a:t>
            </a:r>
          </a:p>
          <a:p>
            <a:pPr algn="ctr" rtl="1"/>
            <a:br>
              <a:rPr lang="ar-EG" sz="2000" noProof="1"/>
            </a:br>
            <a:r>
              <a:rPr lang="ar-EG" sz="2000" noProof="1"/>
              <a:t>الانفتاح على التجارب الناجحة ونقل الممارسات داخلياً وخارجياً.</a:t>
            </a:r>
          </a:p>
        </p:txBody>
      </p:sp>
      <p:sp>
        <p:nvSpPr>
          <p:cNvPr id="10" name="Rectangle 9"/>
          <p:cNvSpPr/>
          <p:nvPr/>
        </p:nvSpPr>
        <p:spPr>
          <a:xfrm>
            <a:off x="6217920" y="4023360"/>
            <a:ext cx="5242255" cy="21031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1" name="TextBox 10"/>
          <p:cNvSpPr txBox="1"/>
          <p:nvPr/>
        </p:nvSpPr>
        <p:spPr>
          <a:xfrm>
            <a:off x="6400800" y="4206240"/>
            <a:ext cx="4876495" cy="1384995"/>
          </a:xfrm>
          <a:prstGeom prst="rect">
            <a:avLst/>
          </a:prstGeom>
          <a:noFill/>
        </p:spPr>
        <p:txBody>
          <a:bodyPr wrap="square">
            <a:spAutoFit/>
          </a:bodyPr>
          <a:lstStyle/>
          <a:p>
            <a:pPr algn="ctr" rtl="1">
              <a:defRPr sz="1600" b="1">
                <a:solidFill>
                  <a:srgbClr val="1A2530"/>
                </a:solidFill>
              </a:defRPr>
            </a:pPr>
            <a:r>
              <a:rPr lang="ar-EG" sz="2400" noProof="1"/>
              <a:t>🎯 تقيس أثرها</a:t>
            </a:r>
          </a:p>
          <a:p>
            <a:pPr algn="ctr" rtl="1"/>
            <a:br>
              <a:rPr lang="ar-EG" sz="2000" noProof="1"/>
            </a:br>
            <a:r>
              <a:rPr lang="ar-EG" sz="2000" noProof="1"/>
              <a:t>لا تكتفي بإنهاء الأنشطة بل تقيس مدى تحقق مخرجات التعلم.</a:t>
            </a:r>
          </a:p>
        </p:txBody>
      </p:sp>
      <p:sp>
        <p:nvSpPr>
          <p:cNvPr id="12" name="Rectangle 11"/>
          <p:cNvSpPr/>
          <p:nvPr/>
        </p:nvSpPr>
        <p:spPr>
          <a:xfrm>
            <a:off x="731520" y="4023360"/>
            <a:ext cx="5242255" cy="2103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3" name="TextBox 12"/>
          <p:cNvSpPr txBox="1"/>
          <p:nvPr/>
        </p:nvSpPr>
        <p:spPr>
          <a:xfrm>
            <a:off x="914400" y="4206240"/>
            <a:ext cx="4876495" cy="1077218"/>
          </a:xfrm>
          <a:prstGeom prst="rect">
            <a:avLst/>
          </a:prstGeom>
          <a:noFill/>
        </p:spPr>
        <p:txBody>
          <a:bodyPr wrap="square">
            <a:spAutoFit/>
          </a:bodyPr>
          <a:lstStyle/>
          <a:p>
            <a:pPr algn="ctr" rtl="1">
              <a:defRPr sz="1600" b="1">
                <a:solidFill>
                  <a:srgbClr val="1A2530"/>
                </a:solidFill>
              </a:defRPr>
            </a:pPr>
            <a:r>
              <a:rPr lang="ar-EG" sz="2400" noProof="1"/>
              <a:t>🎯 تشجع الإبداع</a:t>
            </a:r>
          </a:p>
          <a:p>
            <a:pPr algn="ctr" rtl="1"/>
            <a:br>
              <a:rPr lang="ar-EG" sz="2000" noProof="1"/>
            </a:br>
            <a:r>
              <a:rPr lang="ar-EG" sz="2000" noProof="1"/>
              <a:t>توفر بيئة آمنة للتجريب والمبادرات المبتكرة.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style.rotation</p:attrName>
                                        </p:attrNameLst>
                                      </p:cBhvr>
                                      <p:tavLst>
                                        <p:tav tm="0">
                                          <p:val>
                                            <p:fltVal val="720"/>
                                          </p:val>
                                        </p:tav>
                                        <p:tav tm="100000">
                                          <p:val>
                                            <p:fltVal val="0"/>
                                          </p:val>
                                        </p:tav>
                                      </p:tavLst>
                                    </p:anim>
                                    <p:anim calcmode="lin" valueType="num">
                                      <p:cBhvr>
                                        <p:cTn id="9" dur="2000" fill="hold"/>
                                        <p:tgtEl>
                                          <p:spTgt spid="3"/>
                                        </p:tgtEl>
                                        <p:attrNameLst>
                                          <p:attrName>ppt_h</p:attrName>
                                        </p:attrNameLst>
                                      </p:cBhvr>
                                      <p:tavLst>
                                        <p:tav tm="0">
                                          <p:val>
                                            <p:fltVal val="0"/>
                                          </p:val>
                                        </p:tav>
                                        <p:tav tm="100000">
                                          <p:val>
                                            <p:strVal val="#ppt_h"/>
                                          </p:val>
                                        </p:tav>
                                      </p:tavLst>
                                    </p:anim>
                                    <p:anim calcmode="lin" valueType="num">
                                      <p:cBhvr>
                                        <p:cTn id="10" dur="2000" fill="hold"/>
                                        <p:tgtEl>
                                          <p:spTgt spid="3"/>
                                        </p:tgtEl>
                                        <p:attrNameLst>
                                          <p:attrName>ppt_w</p:attrName>
                                        </p:attrNameLst>
                                      </p:cBhvr>
                                      <p:tavLst>
                                        <p:tav tm="0">
                                          <p:val>
                                            <p:fltVal val="0"/>
                                          </p:val>
                                        </p:tav>
                                        <p:tav tm="100000">
                                          <p:val>
                                            <p:strVal val="#ppt_w"/>
                                          </p:val>
                                        </p:tav>
                                      </p:tavLst>
                                    </p:anim>
                                  </p:childTnLst>
                                </p:cTn>
                              </p:par>
                              <p:par>
                                <p:cTn id="11" presetID="35"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2000"/>
                                        <p:tgtEl>
                                          <p:spTgt spid="4"/>
                                        </p:tgtEl>
                                      </p:cBhvr>
                                    </p:animEffect>
                                    <p:anim calcmode="lin" valueType="num">
                                      <p:cBhvr>
                                        <p:cTn id="14" dur="2000" fill="hold"/>
                                        <p:tgtEl>
                                          <p:spTgt spid="4"/>
                                        </p:tgtEl>
                                        <p:attrNameLst>
                                          <p:attrName>style.rotation</p:attrName>
                                        </p:attrNameLst>
                                      </p:cBhvr>
                                      <p:tavLst>
                                        <p:tav tm="0">
                                          <p:val>
                                            <p:fltVal val="720"/>
                                          </p:val>
                                        </p:tav>
                                        <p:tav tm="100000">
                                          <p:val>
                                            <p:fltVal val="0"/>
                                          </p:val>
                                        </p:tav>
                                      </p:tavLst>
                                    </p:anim>
                                    <p:anim calcmode="lin" valueType="num">
                                      <p:cBhvr>
                                        <p:cTn id="15" dur="2000" fill="hold"/>
                                        <p:tgtEl>
                                          <p:spTgt spid="4"/>
                                        </p:tgtEl>
                                        <p:attrNameLst>
                                          <p:attrName>ppt_h</p:attrName>
                                        </p:attrNameLst>
                                      </p:cBhvr>
                                      <p:tavLst>
                                        <p:tav tm="0">
                                          <p:val>
                                            <p:fltVal val="0"/>
                                          </p:val>
                                        </p:tav>
                                        <p:tav tm="100000">
                                          <p:val>
                                            <p:strVal val="#ppt_h"/>
                                          </p:val>
                                        </p:tav>
                                      </p:tavLst>
                                    </p:anim>
                                    <p:anim calcmode="lin" valueType="num">
                                      <p:cBhvr>
                                        <p:cTn id="16" dur="2000" fill="hold"/>
                                        <p:tgtEl>
                                          <p:spTgt spid="4"/>
                                        </p:tgtEl>
                                        <p:attrNameLst>
                                          <p:attrName>ppt_w</p:attrName>
                                        </p:attrNameLst>
                                      </p:cBhvr>
                                      <p:tavLst>
                                        <p:tav tm="0">
                                          <p:val>
                                            <p:fltVal val="0"/>
                                          </p:val>
                                        </p:tav>
                                        <p:tav tm="100000">
                                          <p:val>
                                            <p:strVal val="#ppt_w"/>
                                          </p:val>
                                        </p:tav>
                                      </p:tavLst>
                                    </p:anim>
                                  </p:childTnLst>
                                </p:cTn>
                              </p:par>
                              <p:par>
                                <p:cTn id="17" presetID="35"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000"/>
                                        <p:tgtEl>
                                          <p:spTgt spid="5"/>
                                        </p:tgtEl>
                                      </p:cBhvr>
                                    </p:animEffect>
                                    <p:anim calcmode="lin" valueType="num">
                                      <p:cBhvr>
                                        <p:cTn id="20" dur="2000" fill="hold"/>
                                        <p:tgtEl>
                                          <p:spTgt spid="5"/>
                                        </p:tgtEl>
                                        <p:attrNameLst>
                                          <p:attrName>style.rotation</p:attrName>
                                        </p:attrNameLst>
                                      </p:cBhvr>
                                      <p:tavLst>
                                        <p:tav tm="0">
                                          <p:val>
                                            <p:fltVal val="720"/>
                                          </p:val>
                                        </p:tav>
                                        <p:tav tm="100000">
                                          <p:val>
                                            <p:fltVal val="0"/>
                                          </p:val>
                                        </p:tav>
                                      </p:tavLst>
                                    </p:anim>
                                    <p:anim calcmode="lin" valueType="num">
                                      <p:cBhvr>
                                        <p:cTn id="21" dur="2000" fill="hold"/>
                                        <p:tgtEl>
                                          <p:spTgt spid="5"/>
                                        </p:tgtEl>
                                        <p:attrNameLst>
                                          <p:attrName>ppt_h</p:attrName>
                                        </p:attrNameLst>
                                      </p:cBhvr>
                                      <p:tavLst>
                                        <p:tav tm="0">
                                          <p:val>
                                            <p:fltVal val="0"/>
                                          </p:val>
                                        </p:tav>
                                        <p:tav tm="100000">
                                          <p:val>
                                            <p:strVal val="#ppt_h"/>
                                          </p:val>
                                        </p:tav>
                                      </p:tavLst>
                                    </p:anim>
                                    <p:anim calcmode="lin" valueType="num">
                                      <p:cBhvr>
                                        <p:cTn id="22" dur="2000" fill="hold"/>
                                        <p:tgtEl>
                                          <p:spTgt spid="5"/>
                                        </p:tgtEl>
                                        <p:attrNameLst>
                                          <p:attrName>ppt_w</p:attrName>
                                        </p:attrNameLst>
                                      </p:cBhvr>
                                      <p:tavLst>
                                        <p:tav tm="0">
                                          <p:val>
                                            <p:fltVal val="0"/>
                                          </p:val>
                                        </p:tav>
                                        <p:tav tm="100000">
                                          <p:val>
                                            <p:strVal val="#ppt_w"/>
                                          </p:val>
                                        </p:tav>
                                      </p:tavLst>
                                    </p:anim>
                                  </p:childTnLst>
                                </p:cTn>
                              </p:par>
                              <p:par>
                                <p:cTn id="23" presetID="35"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2000"/>
                                        <p:tgtEl>
                                          <p:spTgt spid="6"/>
                                        </p:tgtEl>
                                      </p:cBhvr>
                                    </p:animEffect>
                                    <p:anim calcmode="lin" valueType="num">
                                      <p:cBhvr>
                                        <p:cTn id="26" dur="2000" fill="hold"/>
                                        <p:tgtEl>
                                          <p:spTgt spid="6"/>
                                        </p:tgtEl>
                                        <p:attrNameLst>
                                          <p:attrName>style.rotation</p:attrName>
                                        </p:attrNameLst>
                                      </p:cBhvr>
                                      <p:tavLst>
                                        <p:tav tm="0">
                                          <p:val>
                                            <p:fltVal val="720"/>
                                          </p:val>
                                        </p:tav>
                                        <p:tav tm="100000">
                                          <p:val>
                                            <p:fltVal val="0"/>
                                          </p:val>
                                        </p:tav>
                                      </p:tavLst>
                                    </p:anim>
                                    <p:anim calcmode="lin" valueType="num">
                                      <p:cBhvr>
                                        <p:cTn id="27" dur="2000" fill="hold"/>
                                        <p:tgtEl>
                                          <p:spTgt spid="6"/>
                                        </p:tgtEl>
                                        <p:attrNameLst>
                                          <p:attrName>ppt_h</p:attrName>
                                        </p:attrNameLst>
                                      </p:cBhvr>
                                      <p:tavLst>
                                        <p:tav tm="0">
                                          <p:val>
                                            <p:fltVal val="0"/>
                                          </p:val>
                                        </p:tav>
                                        <p:tav tm="100000">
                                          <p:val>
                                            <p:strVal val="#ppt_h"/>
                                          </p:val>
                                        </p:tav>
                                      </p:tavLst>
                                    </p:anim>
                                    <p:anim calcmode="lin" valueType="num">
                                      <p:cBhvr>
                                        <p:cTn id="28" dur="2000" fill="hold"/>
                                        <p:tgtEl>
                                          <p:spTgt spid="6"/>
                                        </p:tgtEl>
                                        <p:attrNameLst>
                                          <p:attrName>ppt_w</p:attrName>
                                        </p:attrNameLst>
                                      </p:cBhvr>
                                      <p:tavLst>
                                        <p:tav tm="0">
                                          <p:val>
                                            <p:fltVal val="0"/>
                                          </p:val>
                                        </p:tav>
                                        <p:tav tm="100000">
                                          <p:val>
                                            <p:strVal val="#ppt_w"/>
                                          </p:val>
                                        </p:tav>
                                      </p:tavLst>
                                    </p:anim>
                                  </p:childTnLst>
                                </p:cTn>
                              </p:par>
                              <p:par>
                                <p:cTn id="29" presetID="35"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2000"/>
                                        <p:tgtEl>
                                          <p:spTgt spid="7"/>
                                        </p:tgtEl>
                                      </p:cBhvr>
                                    </p:animEffect>
                                    <p:anim calcmode="lin" valueType="num">
                                      <p:cBhvr>
                                        <p:cTn id="32" dur="2000" fill="hold"/>
                                        <p:tgtEl>
                                          <p:spTgt spid="7"/>
                                        </p:tgtEl>
                                        <p:attrNameLst>
                                          <p:attrName>style.rotation</p:attrName>
                                        </p:attrNameLst>
                                      </p:cBhvr>
                                      <p:tavLst>
                                        <p:tav tm="0">
                                          <p:val>
                                            <p:fltVal val="720"/>
                                          </p:val>
                                        </p:tav>
                                        <p:tav tm="100000">
                                          <p:val>
                                            <p:fltVal val="0"/>
                                          </p:val>
                                        </p:tav>
                                      </p:tavLst>
                                    </p:anim>
                                    <p:anim calcmode="lin" valueType="num">
                                      <p:cBhvr>
                                        <p:cTn id="33" dur="2000" fill="hold"/>
                                        <p:tgtEl>
                                          <p:spTgt spid="7"/>
                                        </p:tgtEl>
                                        <p:attrNameLst>
                                          <p:attrName>ppt_h</p:attrName>
                                        </p:attrNameLst>
                                      </p:cBhvr>
                                      <p:tavLst>
                                        <p:tav tm="0">
                                          <p:val>
                                            <p:fltVal val="0"/>
                                          </p:val>
                                        </p:tav>
                                        <p:tav tm="100000">
                                          <p:val>
                                            <p:strVal val="#ppt_h"/>
                                          </p:val>
                                        </p:tav>
                                      </p:tavLst>
                                    </p:anim>
                                    <p:anim calcmode="lin" valueType="num">
                                      <p:cBhvr>
                                        <p:cTn id="34" dur="2000" fill="hold"/>
                                        <p:tgtEl>
                                          <p:spTgt spid="7"/>
                                        </p:tgtEl>
                                        <p:attrNameLst>
                                          <p:attrName>ppt_w</p:attrName>
                                        </p:attrNameLst>
                                      </p:cBhvr>
                                      <p:tavLst>
                                        <p:tav tm="0">
                                          <p:val>
                                            <p:fltVal val="0"/>
                                          </p:val>
                                        </p:tav>
                                        <p:tav tm="100000">
                                          <p:val>
                                            <p:strVal val="#ppt_w"/>
                                          </p:val>
                                        </p:tav>
                                      </p:tavLst>
                                    </p:anim>
                                  </p:childTnLst>
                                </p:cTn>
                              </p:par>
                              <p:par>
                                <p:cTn id="35" presetID="35"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000"/>
                                        <p:tgtEl>
                                          <p:spTgt spid="8"/>
                                        </p:tgtEl>
                                      </p:cBhvr>
                                    </p:animEffect>
                                    <p:anim calcmode="lin" valueType="num">
                                      <p:cBhvr>
                                        <p:cTn id="38" dur="2000" fill="hold"/>
                                        <p:tgtEl>
                                          <p:spTgt spid="8"/>
                                        </p:tgtEl>
                                        <p:attrNameLst>
                                          <p:attrName>style.rotation</p:attrName>
                                        </p:attrNameLst>
                                      </p:cBhvr>
                                      <p:tavLst>
                                        <p:tav tm="0">
                                          <p:val>
                                            <p:fltVal val="720"/>
                                          </p:val>
                                        </p:tav>
                                        <p:tav tm="100000">
                                          <p:val>
                                            <p:fltVal val="0"/>
                                          </p:val>
                                        </p:tav>
                                      </p:tavLst>
                                    </p:anim>
                                    <p:anim calcmode="lin" valueType="num">
                                      <p:cBhvr>
                                        <p:cTn id="39" dur="2000" fill="hold"/>
                                        <p:tgtEl>
                                          <p:spTgt spid="8"/>
                                        </p:tgtEl>
                                        <p:attrNameLst>
                                          <p:attrName>ppt_h</p:attrName>
                                        </p:attrNameLst>
                                      </p:cBhvr>
                                      <p:tavLst>
                                        <p:tav tm="0">
                                          <p:val>
                                            <p:fltVal val="0"/>
                                          </p:val>
                                        </p:tav>
                                        <p:tav tm="100000">
                                          <p:val>
                                            <p:strVal val="#ppt_h"/>
                                          </p:val>
                                        </p:tav>
                                      </p:tavLst>
                                    </p:anim>
                                    <p:anim calcmode="lin" valueType="num">
                                      <p:cBhvr>
                                        <p:cTn id="40" dur="2000" fill="hold"/>
                                        <p:tgtEl>
                                          <p:spTgt spid="8"/>
                                        </p:tgtEl>
                                        <p:attrNameLst>
                                          <p:attrName>ppt_w</p:attrName>
                                        </p:attrNameLst>
                                      </p:cBhvr>
                                      <p:tavLst>
                                        <p:tav tm="0">
                                          <p:val>
                                            <p:fltVal val="0"/>
                                          </p:val>
                                        </p:tav>
                                        <p:tav tm="100000">
                                          <p:val>
                                            <p:strVal val="#ppt_w"/>
                                          </p:val>
                                        </p:tav>
                                      </p:tavLst>
                                    </p:anim>
                                  </p:childTnLst>
                                </p:cTn>
                              </p:par>
                              <p:par>
                                <p:cTn id="41" presetID="35"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2000"/>
                                        <p:tgtEl>
                                          <p:spTgt spid="9"/>
                                        </p:tgtEl>
                                      </p:cBhvr>
                                    </p:animEffect>
                                    <p:anim calcmode="lin" valueType="num">
                                      <p:cBhvr>
                                        <p:cTn id="44" dur="2000" fill="hold"/>
                                        <p:tgtEl>
                                          <p:spTgt spid="9"/>
                                        </p:tgtEl>
                                        <p:attrNameLst>
                                          <p:attrName>style.rotation</p:attrName>
                                        </p:attrNameLst>
                                      </p:cBhvr>
                                      <p:tavLst>
                                        <p:tav tm="0">
                                          <p:val>
                                            <p:fltVal val="720"/>
                                          </p:val>
                                        </p:tav>
                                        <p:tav tm="100000">
                                          <p:val>
                                            <p:fltVal val="0"/>
                                          </p:val>
                                        </p:tav>
                                      </p:tavLst>
                                    </p:anim>
                                    <p:anim calcmode="lin" valueType="num">
                                      <p:cBhvr>
                                        <p:cTn id="45" dur="2000" fill="hold"/>
                                        <p:tgtEl>
                                          <p:spTgt spid="9"/>
                                        </p:tgtEl>
                                        <p:attrNameLst>
                                          <p:attrName>ppt_h</p:attrName>
                                        </p:attrNameLst>
                                      </p:cBhvr>
                                      <p:tavLst>
                                        <p:tav tm="0">
                                          <p:val>
                                            <p:fltVal val="0"/>
                                          </p:val>
                                        </p:tav>
                                        <p:tav tm="100000">
                                          <p:val>
                                            <p:strVal val="#ppt_h"/>
                                          </p:val>
                                        </p:tav>
                                      </p:tavLst>
                                    </p:anim>
                                    <p:anim calcmode="lin" valueType="num">
                                      <p:cBhvr>
                                        <p:cTn id="46" dur="2000" fill="hold"/>
                                        <p:tgtEl>
                                          <p:spTgt spid="9"/>
                                        </p:tgtEl>
                                        <p:attrNameLst>
                                          <p:attrName>ppt_w</p:attrName>
                                        </p:attrNameLst>
                                      </p:cBhvr>
                                      <p:tavLst>
                                        <p:tav tm="0">
                                          <p:val>
                                            <p:fltVal val="0"/>
                                          </p:val>
                                        </p:tav>
                                        <p:tav tm="100000">
                                          <p:val>
                                            <p:strVal val="#ppt_w"/>
                                          </p:val>
                                        </p:tav>
                                      </p:tavLst>
                                    </p:anim>
                                  </p:childTnLst>
                                </p:cTn>
                              </p:par>
                              <p:par>
                                <p:cTn id="47" presetID="35"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2000"/>
                                        <p:tgtEl>
                                          <p:spTgt spid="10"/>
                                        </p:tgtEl>
                                      </p:cBhvr>
                                    </p:animEffect>
                                    <p:anim calcmode="lin" valueType="num">
                                      <p:cBhvr>
                                        <p:cTn id="50" dur="2000" fill="hold"/>
                                        <p:tgtEl>
                                          <p:spTgt spid="10"/>
                                        </p:tgtEl>
                                        <p:attrNameLst>
                                          <p:attrName>style.rotation</p:attrName>
                                        </p:attrNameLst>
                                      </p:cBhvr>
                                      <p:tavLst>
                                        <p:tav tm="0">
                                          <p:val>
                                            <p:fltVal val="720"/>
                                          </p:val>
                                        </p:tav>
                                        <p:tav tm="100000">
                                          <p:val>
                                            <p:fltVal val="0"/>
                                          </p:val>
                                        </p:tav>
                                      </p:tavLst>
                                    </p:anim>
                                    <p:anim calcmode="lin" valueType="num">
                                      <p:cBhvr>
                                        <p:cTn id="51" dur="2000" fill="hold"/>
                                        <p:tgtEl>
                                          <p:spTgt spid="10"/>
                                        </p:tgtEl>
                                        <p:attrNameLst>
                                          <p:attrName>ppt_h</p:attrName>
                                        </p:attrNameLst>
                                      </p:cBhvr>
                                      <p:tavLst>
                                        <p:tav tm="0">
                                          <p:val>
                                            <p:fltVal val="0"/>
                                          </p:val>
                                        </p:tav>
                                        <p:tav tm="100000">
                                          <p:val>
                                            <p:strVal val="#ppt_h"/>
                                          </p:val>
                                        </p:tav>
                                      </p:tavLst>
                                    </p:anim>
                                    <p:anim calcmode="lin" valueType="num">
                                      <p:cBhvr>
                                        <p:cTn id="52" dur="2000" fill="hold"/>
                                        <p:tgtEl>
                                          <p:spTgt spid="10"/>
                                        </p:tgtEl>
                                        <p:attrNameLst>
                                          <p:attrName>ppt_w</p:attrName>
                                        </p:attrNameLst>
                                      </p:cBhvr>
                                      <p:tavLst>
                                        <p:tav tm="0">
                                          <p:val>
                                            <p:fltVal val="0"/>
                                          </p:val>
                                        </p:tav>
                                        <p:tav tm="100000">
                                          <p:val>
                                            <p:strVal val="#ppt_w"/>
                                          </p:val>
                                        </p:tav>
                                      </p:tavLst>
                                    </p:anim>
                                  </p:childTnLst>
                                </p:cTn>
                              </p:par>
                              <p:par>
                                <p:cTn id="53" presetID="35"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2000"/>
                                        <p:tgtEl>
                                          <p:spTgt spid="11"/>
                                        </p:tgtEl>
                                      </p:cBhvr>
                                    </p:animEffect>
                                    <p:anim calcmode="lin" valueType="num">
                                      <p:cBhvr>
                                        <p:cTn id="56" dur="2000" fill="hold"/>
                                        <p:tgtEl>
                                          <p:spTgt spid="11"/>
                                        </p:tgtEl>
                                        <p:attrNameLst>
                                          <p:attrName>style.rotation</p:attrName>
                                        </p:attrNameLst>
                                      </p:cBhvr>
                                      <p:tavLst>
                                        <p:tav tm="0">
                                          <p:val>
                                            <p:fltVal val="720"/>
                                          </p:val>
                                        </p:tav>
                                        <p:tav tm="100000">
                                          <p:val>
                                            <p:fltVal val="0"/>
                                          </p:val>
                                        </p:tav>
                                      </p:tavLst>
                                    </p:anim>
                                    <p:anim calcmode="lin" valueType="num">
                                      <p:cBhvr>
                                        <p:cTn id="57" dur="2000" fill="hold"/>
                                        <p:tgtEl>
                                          <p:spTgt spid="11"/>
                                        </p:tgtEl>
                                        <p:attrNameLst>
                                          <p:attrName>ppt_h</p:attrName>
                                        </p:attrNameLst>
                                      </p:cBhvr>
                                      <p:tavLst>
                                        <p:tav tm="0">
                                          <p:val>
                                            <p:fltVal val="0"/>
                                          </p:val>
                                        </p:tav>
                                        <p:tav tm="100000">
                                          <p:val>
                                            <p:strVal val="#ppt_h"/>
                                          </p:val>
                                        </p:tav>
                                      </p:tavLst>
                                    </p:anim>
                                    <p:anim calcmode="lin" valueType="num">
                                      <p:cBhvr>
                                        <p:cTn id="58" dur="2000" fill="hold"/>
                                        <p:tgtEl>
                                          <p:spTgt spid="11"/>
                                        </p:tgtEl>
                                        <p:attrNameLst>
                                          <p:attrName>ppt_w</p:attrName>
                                        </p:attrNameLst>
                                      </p:cBhvr>
                                      <p:tavLst>
                                        <p:tav tm="0">
                                          <p:val>
                                            <p:fltVal val="0"/>
                                          </p:val>
                                        </p:tav>
                                        <p:tav tm="100000">
                                          <p:val>
                                            <p:strVal val="#ppt_w"/>
                                          </p:val>
                                        </p:tav>
                                      </p:tavLst>
                                    </p:anim>
                                  </p:childTnLst>
                                </p:cTn>
                              </p:par>
                              <p:par>
                                <p:cTn id="59" presetID="35"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2000"/>
                                        <p:tgtEl>
                                          <p:spTgt spid="12"/>
                                        </p:tgtEl>
                                      </p:cBhvr>
                                    </p:animEffect>
                                    <p:anim calcmode="lin" valueType="num">
                                      <p:cBhvr>
                                        <p:cTn id="62" dur="2000" fill="hold"/>
                                        <p:tgtEl>
                                          <p:spTgt spid="12"/>
                                        </p:tgtEl>
                                        <p:attrNameLst>
                                          <p:attrName>style.rotation</p:attrName>
                                        </p:attrNameLst>
                                      </p:cBhvr>
                                      <p:tavLst>
                                        <p:tav tm="0">
                                          <p:val>
                                            <p:fltVal val="720"/>
                                          </p:val>
                                        </p:tav>
                                        <p:tav tm="100000">
                                          <p:val>
                                            <p:fltVal val="0"/>
                                          </p:val>
                                        </p:tav>
                                      </p:tavLst>
                                    </p:anim>
                                    <p:anim calcmode="lin" valueType="num">
                                      <p:cBhvr>
                                        <p:cTn id="63" dur="2000" fill="hold"/>
                                        <p:tgtEl>
                                          <p:spTgt spid="12"/>
                                        </p:tgtEl>
                                        <p:attrNameLst>
                                          <p:attrName>ppt_h</p:attrName>
                                        </p:attrNameLst>
                                      </p:cBhvr>
                                      <p:tavLst>
                                        <p:tav tm="0">
                                          <p:val>
                                            <p:fltVal val="0"/>
                                          </p:val>
                                        </p:tav>
                                        <p:tav tm="100000">
                                          <p:val>
                                            <p:strVal val="#ppt_h"/>
                                          </p:val>
                                        </p:tav>
                                      </p:tavLst>
                                    </p:anim>
                                    <p:anim calcmode="lin" valueType="num">
                                      <p:cBhvr>
                                        <p:cTn id="64" dur="2000" fill="hold"/>
                                        <p:tgtEl>
                                          <p:spTgt spid="12"/>
                                        </p:tgtEl>
                                        <p:attrNameLst>
                                          <p:attrName>ppt_w</p:attrName>
                                        </p:attrNameLst>
                                      </p:cBhvr>
                                      <p:tavLst>
                                        <p:tav tm="0">
                                          <p:val>
                                            <p:fltVal val="0"/>
                                          </p:val>
                                        </p:tav>
                                        <p:tav tm="100000">
                                          <p:val>
                                            <p:strVal val="#ppt_w"/>
                                          </p:val>
                                        </p:tav>
                                      </p:tavLst>
                                    </p:anim>
                                  </p:childTnLst>
                                </p:cTn>
                              </p:par>
                              <p:par>
                                <p:cTn id="65" presetID="35"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2000"/>
                                        <p:tgtEl>
                                          <p:spTgt spid="13"/>
                                        </p:tgtEl>
                                      </p:cBhvr>
                                    </p:animEffect>
                                    <p:anim calcmode="lin" valueType="num">
                                      <p:cBhvr>
                                        <p:cTn id="68" dur="2000" fill="hold"/>
                                        <p:tgtEl>
                                          <p:spTgt spid="13"/>
                                        </p:tgtEl>
                                        <p:attrNameLst>
                                          <p:attrName>style.rotation</p:attrName>
                                        </p:attrNameLst>
                                      </p:cBhvr>
                                      <p:tavLst>
                                        <p:tav tm="0">
                                          <p:val>
                                            <p:fltVal val="720"/>
                                          </p:val>
                                        </p:tav>
                                        <p:tav tm="100000">
                                          <p:val>
                                            <p:fltVal val="0"/>
                                          </p:val>
                                        </p:tav>
                                      </p:tavLst>
                                    </p:anim>
                                    <p:anim calcmode="lin" valueType="num">
                                      <p:cBhvr>
                                        <p:cTn id="69" dur="2000" fill="hold"/>
                                        <p:tgtEl>
                                          <p:spTgt spid="13"/>
                                        </p:tgtEl>
                                        <p:attrNameLst>
                                          <p:attrName>ppt_h</p:attrName>
                                        </p:attrNameLst>
                                      </p:cBhvr>
                                      <p:tavLst>
                                        <p:tav tm="0">
                                          <p:val>
                                            <p:fltVal val="0"/>
                                          </p:val>
                                        </p:tav>
                                        <p:tav tm="100000">
                                          <p:val>
                                            <p:strVal val="#ppt_h"/>
                                          </p:val>
                                        </p:tav>
                                      </p:tavLst>
                                    </p:anim>
                                    <p:anim calcmode="lin" valueType="num">
                                      <p:cBhvr>
                                        <p:cTn id="70" dur="2000" fill="hold"/>
                                        <p:tgtEl>
                                          <p:spTgt spid="13"/>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p:bldP spid="8" grpId="0" animBg="1"/>
      <p:bldP spid="9" grpId="0"/>
      <p:bldP spid="10" grpId="0" animBg="1"/>
      <p:bldP spid="11" grpId="0"/>
      <p:bldP spid="12" grpId="0" animBg="1"/>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810250"/>
            <a:ext cx="10728655" cy="461665"/>
          </a:xfrm>
          <a:prstGeom prst="rect">
            <a:avLst/>
          </a:prstGeom>
          <a:noFill/>
        </p:spPr>
        <p:txBody>
          <a:bodyPr wrap="square">
            <a:spAutoFit/>
          </a:bodyPr>
          <a:lstStyle/>
          <a:p>
            <a:pPr algn="r" rtl="1">
              <a:defRPr sz="2400" b="1">
                <a:solidFill>
                  <a:srgbClr val="1A2530"/>
                </a:solidFill>
              </a:defRPr>
            </a:pPr>
            <a:r>
              <a:rPr lang="ar-EG" noProof="1">
                <a:solidFill>
                  <a:schemeClr val="bg1"/>
                </a:solidFill>
              </a:rPr>
              <a:t>خطة العمل الشخصية للمشارك (Personal Commitment Canvas)</a:t>
            </a:r>
          </a:p>
        </p:txBody>
      </p:sp>
      <p:sp>
        <p:nvSpPr>
          <p:cNvPr id="4" name="Rectangle 3"/>
          <p:cNvSpPr/>
          <p:nvPr/>
        </p:nvSpPr>
        <p:spPr>
          <a:xfrm>
            <a:off x="6217920" y="1645920"/>
            <a:ext cx="5242255" cy="2103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TextBox 4"/>
          <p:cNvSpPr txBox="1"/>
          <p:nvPr/>
        </p:nvSpPr>
        <p:spPr>
          <a:xfrm>
            <a:off x="6400800" y="1828800"/>
            <a:ext cx="4876495" cy="1323439"/>
          </a:xfrm>
          <a:prstGeom prst="rect">
            <a:avLst/>
          </a:prstGeom>
          <a:noFill/>
        </p:spPr>
        <p:txBody>
          <a:bodyPr wrap="square">
            <a:spAutoFit/>
          </a:bodyPr>
          <a:lstStyle/>
          <a:p>
            <a:pPr algn="r" rtl="1">
              <a:defRPr sz="1600" b="1">
                <a:solidFill>
                  <a:srgbClr val="16A085"/>
                </a:solidFill>
              </a:defRPr>
            </a:pPr>
            <a:r>
              <a:rPr lang="ar-EG" noProof="1"/>
              <a:t>🟢 </a:t>
            </a:r>
            <a:r>
              <a:rPr lang="ar-EG" sz="2000" noProof="1"/>
              <a:t>سأبدأ بـ:</a:t>
            </a:r>
          </a:p>
          <a:p>
            <a:pPr algn="r" rtl="1"/>
            <a:br>
              <a:rPr lang="ar-EG" sz="2000" b="1" noProof="1"/>
            </a:br>
            <a:r>
              <a:rPr lang="ar-EG" sz="2000" b="1" noProof="1"/>
              <a:t>ممارسات وإجراءات جديدة سأقوم بإدخالها فوراً إلى بيئة العمل.</a:t>
            </a:r>
          </a:p>
        </p:txBody>
      </p:sp>
      <p:sp>
        <p:nvSpPr>
          <p:cNvPr id="6" name="Rectangle 5"/>
          <p:cNvSpPr/>
          <p:nvPr/>
        </p:nvSpPr>
        <p:spPr>
          <a:xfrm>
            <a:off x="731520" y="1645920"/>
            <a:ext cx="5242255" cy="21031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7" name="TextBox 6"/>
          <p:cNvSpPr txBox="1"/>
          <p:nvPr/>
        </p:nvSpPr>
        <p:spPr>
          <a:xfrm>
            <a:off x="914400" y="1828800"/>
            <a:ext cx="4876495" cy="1015663"/>
          </a:xfrm>
          <a:prstGeom prst="rect">
            <a:avLst/>
          </a:prstGeom>
          <a:noFill/>
        </p:spPr>
        <p:txBody>
          <a:bodyPr wrap="square">
            <a:spAutoFit/>
          </a:bodyPr>
          <a:lstStyle/>
          <a:p>
            <a:pPr algn="r" rtl="1">
              <a:defRPr sz="1600" b="1">
                <a:solidFill>
                  <a:srgbClr val="2980B9"/>
                </a:solidFill>
              </a:defRPr>
            </a:pPr>
            <a:r>
              <a:rPr lang="ar-EG" noProof="1"/>
              <a:t>🔵 </a:t>
            </a:r>
            <a:r>
              <a:rPr lang="ar-EG" sz="2000" noProof="1"/>
              <a:t>سأطور:</a:t>
            </a:r>
          </a:p>
          <a:p>
            <a:pPr algn="r" rtl="1"/>
            <a:br>
              <a:rPr lang="ar-EG" sz="2000" b="1" noProof="1"/>
            </a:br>
            <a:r>
              <a:rPr lang="ar-EG" sz="2000" b="1" noProof="1"/>
              <a:t>مهارات وآليات قائمة تحتاج إلى رفع كفاءة وتحديث</a:t>
            </a:r>
            <a:r>
              <a:rPr lang="ar-EG" b="1" noProof="1"/>
              <a:t>.</a:t>
            </a:r>
          </a:p>
        </p:txBody>
      </p:sp>
      <p:sp>
        <p:nvSpPr>
          <p:cNvPr id="8" name="Rectangle 7"/>
          <p:cNvSpPr/>
          <p:nvPr/>
        </p:nvSpPr>
        <p:spPr>
          <a:xfrm>
            <a:off x="6217920" y="3931920"/>
            <a:ext cx="5242255" cy="2103120"/>
          </a:xfrm>
          <a:prstGeom prst="rect">
            <a:avLst/>
          </a:prstGeom>
          <a:solidFill>
            <a:srgbClr val="F5F7FA"/>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TextBox 8"/>
          <p:cNvSpPr txBox="1"/>
          <p:nvPr/>
        </p:nvSpPr>
        <p:spPr>
          <a:xfrm>
            <a:off x="6400800" y="4114800"/>
            <a:ext cx="4876495" cy="1015663"/>
          </a:xfrm>
          <a:prstGeom prst="rect">
            <a:avLst/>
          </a:prstGeom>
          <a:noFill/>
        </p:spPr>
        <p:txBody>
          <a:bodyPr wrap="square">
            <a:spAutoFit/>
          </a:bodyPr>
          <a:lstStyle/>
          <a:p>
            <a:pPr algn="r" rtl="1">
              <a:defRPr sz="1600" b="1">
                <a:solidFill>
                  <a:srgbClr val="C0392B"/>
                </a:solidFill>
              </a:defRPr>
            </a:pPr>
            <a:r>
              <a:rPr lang="ar-EG" noProof="1"/>
              <a:t>🔴 سأتوقف </a:t>
            </a:r>
            <a:r>
              <a:rPr lang="ar-EG" sz="2000" noProof="1"/>
              <a:t>عن:</a:t>
            </a:r>
          </a:p>
          <a:p>
            <a:pPr algn="r" rtl="1"/>
            <a:br>
              <a:rPr lang="ar-EG" sz="2000" b="1" noProof="1"/>
            </a:br>
            <a:r>
              <a:rPr lang="ar-EG" sz="2000" b="1" noProof="1"/>
              <a:t>عادات أو ممارسات تقليدية أثبتت البيانات عدم جدواها</a:t>
            </a:r>
            <a:r>
              <a:rPr lang="ar-EG" b="1" noProof="1"/>
              <a:t>.</a:t>
            </a:r>
          </a:p>
        </p:txBody>
      </p:sp>
      <p:sp>
        <p:nvSpPr>
          <p:cNvPr id="10" name="Rectangle 9"/>
          <p:cNvSpPr/>
          <p:nvPr/>
        </p:nvSpPr>
        <p:spPr>
          <a:xfrm>
            <a:off x="731520" y="3931920"/>
            <a:ext cx="5242255" cy="2103120"/>
          </a:xfrm>
          <a:prstGeom prst="rect">
            <a:avLst/>
          </a:prstGeom>
          <a:solidFill>
            <a:srgbClr val="F5F7FA"/>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1" name="TextBox 10"/>
          <p:cNvSpPr txBox="1"/>
          <p:nvPr/>
        </p:nvSpPr>
        <p:spPr>
          <a:xfrm>
            <a:off x="914400" y="4114800"/>
            <a:ext cx="4876495" cy="1015663"/>
          </a:xfrm>
          <a:prstGeom prst="rect">
            <a:avLst/>
          </a:prstGeom>
          <a:noFill/>
        </p:spPr>
        <p:txBody>
          <a:bodyPr wrap="square">
            <a:spAutoFit/>
          </a:bodyPr>
          <a:lstStyle/>
          <a:p>
            <a:pPr algn="r" rtl="1">
              <a:defRPr sz="1600" b="1">
                <a:solidFill>
                  <a:srgbClr val="1A2530"/>
                </a:solidFill>
              </a:defRPr>
            </a:pPr>
            <a:r>
              <a:rPr lang="ar-EG" noProof="1"/>
              <a:t>🎯 </a:t>
            </a:r>
            <a:r>
              <a:rPr lang="ar-EG" sz="2000" noProof="1"/>
              <a:t>سأقيس النجاح من خلال:</a:t>
            </a:r>
          </a:p>
          <a:p>
            <a:pPr algn="r" rtl="1">
              <a:defRPr sz="1600" b="1">
                <a:solidFill>
                  <a:srgbClr val="1A2530"/>
                </a:solidFill>
              </a:defRPr>
            </a:pPr>
            <a:br>
              <a:rPr lang="ar-EG" sz="2000" b="1" noProof="1"/>
            </a:br>
            <a:r>
              <a:rPr lang="ar-EG" sz="2000" b="1" noProof="1"/>
              <a:t>مؤشرات إنجاز وشواهد أداء محددة وقابلة للتحقق</a:t>
            </a:r>
            <a:r>
              <a:rPr lang="ar-EG" b="1" noProof="1"/>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circle(in)">
                                      <p:cBhvr>
                                        <p:cTn id="10" dur="2000"/>
                                        <p:tgtEl>
                                          <p:spTgt spid="4"/>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circle(in)">
                                      <p:cBhvr>
                                        <p:cTn id="16" dur="2000"/>
                                        <p:tgtEl>
                                          <p:spTgt spid="6"/>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circle(in)">
                                      <p:cBhvr>
                                        <p:cTn id="25" dur="2000"/>
                                        <p:tgtEl>
                                          <p:spTgt spid="9"/>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circle(in)">
                                      <p:cBhvr>
                                        <p:cTn id="28" dur="2000"/>
                                        <p:tgtEl>
                                          <p:spTgt spid="10"/>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circle(in)">
                                      <p:cBhvr>
                                        <p:cTn id="3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p:bldP spid="8" grpId="0" animBg="1"/>
      <p:bldP spid="9" grpId="0"/>
      <p:bldP spid="10" grpId="0" animBg="1"/>
      <p:bldP spid="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594360"/>
            <a:ext cx="10728655" cy="461665"/>
          </a:xfrm>
          <a:prstGeom prst="rect">
            <a:avLst/>
          </a:prstGeom>
          <a:noFill/>
        </p:spPr>
        <p:txBody>
          <a:bodyPr wrap="square">
            <a:spAutoFit/>
          </a:bodyPr>
          <a:lstStyle/>
          <a:p>
            <a:pPr algn="r" rtl="1">
              <a:defRPr sz="2400" b="1">
                <a:solidFill>
                  <a:srgbClr val="1A2530"/>
                </a:solidFill>
              </a:defRPr>
            </a:pPr>
            <a:r>
              <a:rPr lang="ar-EG" noProof="1">
                <a:solidFill>
                  <a:schemeClr val="bg1"/>
                </a:solidFill>
              </a:rPr>
              <a:t>التقييم النهائي للدورة (Reflection Cards)</a:t>
            </a:r>
          </a:p>
        </p:txBody>
      </p:sp>
      <p:sp>
        <p:nvSpPr>
          <p:cNvPr id="4" name="Rectangle 3"/>
          <p:cNvSpPr/>
          <p:nvPr/>
        </p:nvSpPr>
        <p:spPr>
          <a:xfrm>
            <a:off x="8823960" y="1645920"/>
            <a:ext cx="2560320" cy="43891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Rectangle 4"/>
          <p:cNvSpPr/>
          <p:nvPr/>
        </p:nvSpPr>
        <p:spPr>
          <a:xfrm>
            <a:off x="8823960" y="1645920"/>
            <a:ext cx="2560320" cy="8229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6" name="TextBox 5"/>
          <p:cNvSpPr txBox="1"/>
          <p:nvPr/>
        </p:nvSpPr>
        <p:spPr>
          <a:xfrm>
            <a:off x="9881944" y="1645920"/>
            <a:ext cx="444352" cy="646331"/>
          </a:xfrm>
          <a:prstGeom prst="rect">
            <a:avLst/>
          </a:prstGeom>
          <a:noFill/>
        </p:spPr>
        <p:txBody>
          <a:bodyPr wrap="none">
            <a:spAutoFit/>
          </a:bodyPr>
          <a:lstStyle/>
          <a:p>
            <a:pPr algn="ctr">
              <a:defRPr sz="2200" b="1">
                <a:solidFill>
                  <a:srgbClr val="FFFFFF"/>
                </a:solidFill>
              </a:defRPr>
            </a:pPr>
            <a:r>
              <a:rPr lang="ar-EG" sz="3600" noProof="1"/>
              <a:t>1</a:t>
            </a:r>
          </a:p>
        </p:txBody>
      </p:sp>
      <p:sp>
        <p:nvSpPr>
          <p:cNvPr id="7" name="TextBox 6"/>
          <p:cNvSpPr txBox="1"/>
          <p:nvPr/>
        </p:nvSpPr>
        <p:spPr>
          <a:xfrm>
            <a:off x="8961120" y="2651760"/>
            <a:ext cx="2286000" cy="2369880"/>
          </a:xfrm>
          <a:prstGeom prst="rect">
            <a:avLst/>
          </a:prstGeom>
          <a:noFill/>
        </p:spPr>
        <p:txBody>
          <a:bodyPr wrap="square">
            <a:spAutoFit/>
          </a:bodyPr>
          <a:lstStyle/>
          <a:p>
            <a:pPr algn="ctr" rtl="1">
              <a:defRPr sz="1500" b="1">
                <a:solidFill>
                  <a:srgbClr val="1A2530"/>
                </a:solidFill>
              </a:defRPr>
            </a:pPr>
            <a:r>
              <a:rPr lang="ar-EG" sz="2800" noProof="1"/>
              <a:t>الأفكار المحورية</a:t>
            </a:r>
          </a:p>
          <a:p>
            <a:pPr algn="ctr" rtl="1"/>
            <a:br>
              <a:rPr lang="ar-EG" sz="2400" noProof="1"/>
            </a:br>
            <a:r>
              <a:rPr lang="ar-EG" sz="2400" noProof="1"/>
              <a:t>ما </a:t>
            </a:r>
            <a:r>
              <a:rPr lang="ar-EG" sz="2400" b="1" noProof="1"/>
              <a:t>أهم فكرة أو أداة حاسمة خرجت بها من هذه الرحلة التدريبية؟</a:t>
            </a:r>
          </a:p>
        </p:txBody>
      </p:sp>
      <p:sp>
        <p:nvSpPr>
          <p:cNvPr id="8" name="Rectangle 7"/>
          <p:cNvSpPr/>
          <p:nvPr/>
        </p:nvSpPr>
        <p:spPr>
          <a:xfrm>
            <a:off x="6126480" y="1645920"/>
            <a:ext cx="2560320" cy="4389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Rectangle 8"/>
          <p:cNvSpPr/>
          <p:nvPr/>
        </p:nvSpPr>
        <p:spPr>
          <a:xfrm>
            <a:off x="6126480" y="1645920"/>
            <a:ext cx="2560320"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0" name="TextBox 9"/>
          <p:cNvSpPr txBox="1"/>
          <p:nvPr/>
        </p:nvSpPr>
        <p:spPr>
          <a:xfrm>
            <a:off x="7184464" y="1645920"/>
            <a:ext cx="444352" cy="646331"/>
          </a:xfrm>
          <a:prstGeom prst="rect">
            <a:avLst/>
          </a:prstGeom>
          <a:noFill/>
        </p:spPr>
        <p:txBody>
          <a:bodyPr wrap="none">
            <a:spAutoFit/>
          </a:bodyPr>
          <a:lstStyle/>
          <a:p>
            <a:pPr algn="ctr">
              <a:defRPr sz="2200" b="1">
                <a:solidFill>
                  <a:srgbClr val="FFFFFF"/>
                </a:solidFill>
              </a:defRPr>
            </a:pPr>
            <a:r>
              <a:rPr lang="ar-EG" sz="3600" noProof="1"/>
              <a:t>2</a:t>
            </a:r>
          </a:p>
        </p:txBody>
      </p:sp>
      <p:sp>
        <p:nvSpPr>
          <p:cNvPr id="11" name="TextBox 10"/>
          <p:cNvSpPr txBox="1"/>
          <p:nvPr/>
        </p:nvSpPr>
        <p:spPr>
          <a:xfrm>
            <a:off x="6263640" y="2651760"/>
            <a:ext cx="2286000" cy="2000548"/>
          </a:xfrm>
          <a:prstGeom prst="rect">
            <a:avLst/>
          </a:prstGeom>
          <a:noFill/>
        </p:spPr>
        <p:txBody>
          <a:bodyPr wrap="square">
            <a:spAutoFit/>
          </a:bodyPr>
          <a:lstStyle/>
          <a:p>
            <a:pPr algn="ctr" rtl="1">
              <a:defRPr sz="1500" b="1">
                <a:solidFill>
                  <a:srgbClr val="1A2530"/>
                </a:solidFill>
              </a:defRPr>
            </a:pPr>
            <a:r>
              <a:rPr lang="ar-EG" sz="2800" noProof="1"/>
              <a:t>التطبيق المباشر</a:t>
            </a:r>
          </a:p>
          <a:p>
            <a:pPr algn="ctr" rtl="1"/>
            <a:br>
              <a:rPr lang="ar-EG" sz="2400" noProof="1"/>
            </a:br>
            <a:r>
              <a:rPr lang="ar-EG" sz="2400" noProof="1"/>
              <a:t>ما </a:t>
            </a:r>
            <a:r>
              <a:rPr lang="ar-EG" sz="2400" b="1" noProof="1"/>
              <a:t>أول قرار أو إجراء تنفيذي ستطبقه خلال أول 48 ساعة؟</a:t>
            </a:r>
          </a:p>
        </p:txBody>
      </p:sp>
      <p:sp>
        <p:nvSpPr>
          <p:cNvPr id="12" name="Rectangle 11"/>
          <p:cNvSpPr/>
          <p:nvPr/>
        </p:nvSpPr>
        <p:spPr>
          <a:xfrm>
            <a:off x="3429000" y="1645920"/>
            <a:ext cx="2560320" cy="43891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3" name="Rectangle 12"/>
          <p:cNvSpPr/>
          <p:nvPr/>
        </p:nvSpPr>
        <p:spPr>
          <a:xfrm>
            <a:off x="3429000" y="1645920"/>
            <a:ext cx="2560320" cy="82296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4" name="TextBox 13"/>
          <p:cNvSpPr txBox="1"/>
          <p:nvPr/>
        </p:nvSpPr>
        <p:spPr>
          <a:xfrm>
            <a:off x="4486984" y="1645920"/>
            <a:ext cx="444352" cy="646331"/>
          </a:xfrm>
          <a:prstGeom prst="rect">
            <a:avLst/>
          </a:prstGeom>
          <a:noFill/>
        </p:spPr>
        <p:txBody>
          <a:bodyPr wrap="none">
            <a:spAutoFit/>
          </a:bodyPr>
          <a:lstStyle/>
          <a:p>
            <a:pPr algn="ctr">
              <a:defRPr sz="2200" b="1">
                <a:solidFill>
                  <a:srgbClr val="FFFFFF"/>
                </a:solidFill>
              </a:defRPr>
            </a:pPr>
            <a:r>
              <a:rPr lang="ar-EG" sz="3600" noProof="1"/>
              <a:t>3</a:t>
            </a:r>
          </a:p>
        </p:txBody>
      </p:sp>
      <p:sp>
        <p:nvSpPr>
          <p:cNvPr id="15" name="TextBox 14"/>
          <p:cNvSpPr txBox="1"/>
          <p:nvPr/>
        </p:nvSpPr>
        <p:spPr>
          <a:xfrm>
            <a:off x="3566160" y="2651760"/>
            <a:ext cx="2286000" cy="2000548"/>
          </a:xfrm>
          <a:prstGeom prst="rect">
            <a:avLst/>
          </a:prstGeom>
          <a:noFill/>
        </p:spPr>
        <p:txBody>
          <a:bodyPr wrap="square">
            <a:spAutoFit/>
          </a:bodyPr>
          <a:lstStyle/>
          <a:p>
            <a:pPr algn="ctr" rtl="1">
              <a:defRPr sz="1500" b="1">
                <a:solidFill>
                  <a:srgbClr val="1A2530"/>
                </a:solidFill>
              </a:defRPr>
            </a:pPr>
            <a:r>
              <a:rPr lang="ar-EG" sz="2800" noProof="1"/>
              <a:t>إدارة التحديات</a:t>
            </a:r>
          </a:p>
          <a:p>
            <a:pPr algn="ctr" rtl="1"/>
            <a:br>
              <a:rPr lang="ar-EG" sz="2400" noProof="1"/>
            </a:br>
            <a:r>
              <a:rPr lang="ar-EG" sz="2400" b="1" noProof="1"/>
              <a:t>ما</a:t>
            </a:r>
            <a:r>
              <a:rPr lang="ar-EG" sz="2400" noProof="1"/>
              <a:t> </a:t>
            </a:r>
            <a:r>
              <a:rPr lang="ar-EG" sz="2400" b="1" noProof="1"/>
              <a:t>التحدي التنفيذي الأكبر المتوقع وكيف تخطط لتجاوزه؟</a:t>
            </a:r>
          </a:p>
        </p:txBody>
      </p:sp>
      <p:sp>
        <p:nvSpPr>
          <p:cNvPr id="16" name="Rectangle 15"/>
          <p:cNvSpPr/>
          <p:nvPr/>
        </p:nvSpPr>
        <p:spPr>
          <a:xfrm>
            <a:off x="731520" y="1645920"/>
            <a:ext cx="2560320" cy="43891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7" name="Rectangle 16"/>
          <p:cNvSpPr/>
          <p:nvPr/>
        </p:nvSpPr>
        <p:spPr>
          <a:xfrm>
            <a:off x="731520" y="1645920"/>
            <a:ext cx="2560320"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8" name="TextBox 17"/>
          <p:cNvSpPr txBox="1"/>
          <p:nvPr/>
        </p:nvSpPr>
        <p:spPr>
          <a:xfrm>
            <a:off x="1789504" y="1645920"/>
            <a:ext cx="444352" cy="646331"/>
          </a:xfrm>
          <a:prstGeom prst="rect">
            <a:avLst/>
          </a:prstGeom>
          <a:noFill/>
        </p:spPr>
        <p:txBody>
          <a:bodyPr wrap="none">
            <a:spAutoFit/>
          </a:bodyPr>
          <a:lstStyle/>
          <a:p>
            <a:pPr algn="ctr">
              <a:defRPr sz="2200" b="1">
                <a:solidFill>
                  <a:srgbClr val="FFFFFF"/>
                </a:solidFill>
              </a:defRPr>
            </a:pPr>
            <a:r>
              <a:rPr lang="ar-EG" sz="3600" noProof="1"/>
              <a:t>4</a:t>
            </a:r>
          </a:p>
        </p:txBody>
      </p:sp>
      <p:sp>
        <p:nvSpPr>
          <p:cNvPr id="19" name="TextBox 18"/>
          <p:cNvSpPr txBox="1"/>
          <p:nvPr/>
        </p:nvSpPr>
        <p:spPr>
          <a:xfrm>
            <a:off x="868680" y="2651760"/>
            <a:ext cx="2286000" cy="2000548"/>
          </a:xfrm>
          <a:prstGeom prst="rect">
            <a:avLst/>
          </a:prstGeom>
          <a:noFill/>
        </p:spPr>
        <p:txBody>
          <a:bodyPr wrap="square">
            <a:spAutoFit/>
          </a:bodyPr>
          <a:lstStyle/>
          <a:p>
            <a:pPr algn="ctr">
              <a:defRPr sz="1500" b="1">
                <a:solidFill>
                  <a:srgbClr val="1A2530"/>
                </a:solidFill>
              </a:defRPr>
            </a:pPr>
            <a:r>
              <a:rPr lang="ar-EG" sz="2800" noProof="1"/>
              <a:t>قياس الأثر</a:t>
            </a:r>
          </a:p>
          <a:p>
            <a:pPr algn="ctr"/>
            <a:br>
              <a:rPr lang="ar-EG" sz="2400" noProof="1"/>
            </a:br>
            <a:r>
              <a:rPr lang="ar-EG" sz="2400" b="1" noProof="1"/>
              <a:t>ما المؤشر أو الرقم الذي يسعدك رؤية تغييره بعد 3 أشهر؟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875" decel="50000" fill="hold">
                                          <p:stCondLst>
                                            <p:cond delay="0"/>
                                          </p:stCondLst>
                                        </p:cTn>
                                        <p:tgtEl>
                                          <p:spTgt spid="3"/>
                                        </p:tgtEl>
                                        <p:attrNameLst>
                                          <p:attrName>style.rotation</p:attrName>
                                        </p:attrNameLst>
                                      </p:cBhvr>
                                      <p:tavLst>
                                        <p:tav tm="0">
                                          <p:val>
                                            <p:fltVal val="-90"/>
                                          </p:val>
                                        </p:tav>
                                        <p:tav tm="100000">
                                          <p:val>
                                            <p:fltVal val="0"/>
                                          </p:val>
                                        </p:tav>
                                      </p:tavLst>
                                    </p:anim>
                                    <p:anim calcmode="lin" valueType="num">
                                      <p:cBhvr>
                                        <p:cTn id="8" dur="875" decel="50000" fill="hold">
                                          <p:stCondLst>
                                            <p:cond delay="0"/>
                                          </p:stCondLst>
                                        </p:cTn>
                                        <p:tgtEl>
                                          <p:spTgt spid="3"/>
                                        </p:tgtEl>
                                        <p:attrNameLst>
                                          <p:attrName>ppt_w</p:attrName>
                                        </p:attrNameLst>
                                      </p:cBhvr>
                                      <p:tavLst>
                                        <p:tav tm="0">
                                          <p:val>
                                            <p:strVal val="#ppt_w"/>
                                          </p:val>
                                        </p:tav>
                                        <p:tav tm="100000">
                                          <p:val>
                                            <p:strVal val="#ppt_w*.05"/>
                                          </p:val>
                                        </p:tav>
                                      </p:tavLst>
                                    </p:anim>
                                    <p:anim calcmode="lin" valueType="num">
                                      <p:cBhvr>
                                        <p:cTn id="9" dur="875" accel="50000" fill="hold">
                                          <p:stCondLst>
                                            <p:cond delay="875"/>
                                          </p:stCondLst>
                                        </p:cTn>
                                        <p:tgtEl>
                                          <p:spTgt spid="3"/>
                                        </p:tgtEl>
                                        <p:attrNameLst>
                                          <p:attrName>ppt_w</p:attrName>
                                        </p:attrNameLst>
                                      </p:cBhvr>
                                      <p:tavLst>
                                        <p:tav tm="0">
                                          <p:val>
                                            <p:strVal val="#ppt_w*.05"/>
                                          </p:val>
                                        </p:tav>
                                        <p:tav tm="100000">
                                          <p:val>
                                            <p:strVal val="#ppt_w"/>
                                          </p:val>
                                        </p:tav>
                                      </p:tavLst>
                                    </p:anim>
                                    <p:anim calcmode="lin" valueType="num">
                                      <p:cBhvr>
                                        <p:cTn id="10" dur="1750" fill="hold"/>
                                        <p:tgtEl>
                                          <p:spTgt spid="3"/>
                                        </p:tgtEl>
                                        <p:attrNameLst>
                                          <p:attrName>ppt_h</p:attrName>
                                        </p:attrNameLst>
                                      </p:cBhvr>
                                      <p:tavLst>
                                        <p:tav tm="0">
                                          <p:val>
                                            <p:strVal val="#ppt_h"/>
                                          </p:val>
                                        </p:tav>
                                        <p:tav tm="100000">
                                          <p:val>
                                            <p:strVal val="#ppt_h"/>
                                          </p:val>
                                        </p:tav>
                                      </p:tavLst>
                                    </p:anim>
                                    <p:anim calcmode="lin" valueType="num">
                                      <p:cBhvr>
                                        <p:cTn id="11" dur="875" decel="50000" fill="hold">
                                          <p:stCondLst>
                                            <p:cond delay="0"/>
                                          </p:stCondLst>
                                        </p:cTn>
                                        <p:tgtEl>
                                          <p:spTgt spid="3"/>
                                        </p:tgtEl>
                                        <p:attrNameLst>
                                          <p:attrName>ppt_x</p:attrName>
                                        </p:attrNameLst>
                                      </p:cBhvr>
                                      <p:tavLst>
                                        <p:tav tm="0">
                                          <p:val>
                                            <p:strVal val="#ppt_x+.4"/>
                                          </p:val>
                                        </p:tav>
                                        <p:tav tm="100000">
                                          <p:val>
                                            <p:strVal val="#ppt_x"/>
                                          </p:val>
                                        </p:tav>
                                      </p:tavLst>
                                    </p:anim>
                                    <p:anim calcmode="lin" valueType="num">
                                      <p:cBhvr>
                                        <p:cTn id="12" dur="875" decel="50000" fill="hold">
                                          <p:stCondLst>
                                            <p:cond delay="0"/>
                                          </p:stCondLst>
                                        </p:cTn>
                                        <p:tgtEl>
                                          <p:spTgt spid="3"/>
                                        </p:tgtEl>
                                        <p:attrNameLst>
                                          <p:attrName>ppt_y</p:attrName>
                                        </p:attrNameLst>
                                      </p:cBhvr>
                                      <p:tavLst>
                                        <p:tav tm="0">
                                          <p:val>
                                            <p:strVal val="#ppt_y-.2"/>
                                          </p:val>
                                        </p:tav>
                                        <p:tav tm="100000">
                                          <p:val>
                                            <p:strVal val="#ppt_y+.1"/>
                                          </p:val>
                                        </p:tav>
                                      </p:tavLst>
                                    </p:anim>
                                    <p:anim calcmode="lin" valueType="num">
                                      <p:cBhvr>
                                        <p:cTn id="13" dur="875" accel="50000" fill="hold">
                                          <p:stCondLst>
                                            <p:cond delay="875"/>
                                          </p:stCondLst>
                                        </p:cTn>
                                        <p:tgtEl>
                                          <p:spTgt spid="3"/>
                                        </p:tgtEl>
                                        <p:attrNameLst>
                                          <p:attrName>ppt_y</p:attrName>
                                        </p:attrNameLst>
                                      </p:cBhvr>
                                      <p:tavLst>
                                        <p:tav tm="0">
                                          <p:val>
                                            <p:strVal val="#ppt_y+.1"/>
                                          </p:val>
                                        </p:tav>
                                        <p:tav tm="100000">
                                          <p:val>
                                            <p:strVal val="#ppt_y"/>
                                          </p:val>
                                        </p:tav>
                                      </p:tavLst>
                                    </p:anim>
                                    <p:animEffect transition="in" filter="fade">
                                      <p:cBhvr>
                                        <p:cTn id="14" dur="1750" decel="50000">
                                          <p:stCondLst>
                                            <p:cond delay="0"/>
                                          </p:stCondLst>
                                        </p:cTn>
                                        <p:tgtEl>
                                          <p:spTgt spid="3"/>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875"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18" dur="875"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19" dur="875" accel="50000" fill="hold">
                                          <p:stCondLst>
                                            <p:cond delay="875"/>
                                          </p:stCondLst>
                                        </p:cTn>
                                        <p:tgtEl>
                                          <p:spTgt spid="4"/>
                                        </p:tgtEl>
                                        <p:attrNameLst>
                                          <p:attrName>ppt_w</p:attrName>
                                        </p:attrNameLst>
                                      </p:cBhvr>
                                      <p:tavLst>
                                        <p:tav tm="0">
                                          <p:val>
                                            <p:strVal val="#ppt_w*.05"/>
                                          </p:val>
                                        </p:tav>
                                        <p:tav tm="100000">
                                          <p:val>
                                            <p:strVal val="#ppt_w"/>
                                          </p:val>
                                        </p:tav>
                                      </p:tavLst>
                                    </p:anim>
                                    <p:anim calcmode="lin" valueType="num">
                                      <p:cBhvr>
                                        <p:cTn id="20" dur="1750" fill="hold"/>
                                        <p:tgtEl>
                                          <p:spTgt spid="4"/>
                                        </p:tgtEl>
                                        <p:attrNameLst>
                                          <p:attrName>ppt_h</p:attrName>
                                        </p:attrNameLst>
                                      </p:cBhvr>
                                      <p:tavLst>
                                        <p:tav tm="0">
                                          <p:val>
                                            <p:strVal val="#ppt_h"/>
                                          </p:val>
                                        </p:tav>
                                        <p:tav tm="100000">
                                          <p:val>
                                            <p:strVal val="#ppt_h"/>
                                          </p:val>
                                        </p:tav>
                                      </p:tavLst>
                                    </p:anim>
                                    <p:anim calcmode="lin" valueType="num">
                                      <p:cBhvr>
                                        <p:cTn id="21" dur="875"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22" dur="875"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23" dur="875" accel="50000" fill="hold">
                                          <p:stCondLst>
                                            <p:cond delay="875"/>
                                          </p:stCondLst>
                                        </p:cTn>
                                        <p:tgtEl>
                                          <p:spTgt spid="4"/>
                                        </p:tgtEl>
                                        <p:attrNameLst>
                                          <p:attrName>ppt_y</p:attrName>
                                        </p:attrNameLst>
                                      </p:cBhvr>
                                      <p:tavLst>
                                        <p:tav tm="0">
                                          <p:val>
                                            <p:strVal val="#ppt_y+.1"/>
                                          </p:val>
                                        </p:tav>
                                        <p:tav tm="100000">
                                          <p:val>
                                            <p:strVal val="#ppt_y"/>
                                          </p:val>
                                        </p:tav>
                                      </p:tavLst>
                                    </p:anim>
                                    <p:animEffect transition="in" filter="fade">
                                      <p:cBhvr>
                                        <p:cTn id="24" dur="1750" decel="50000">
                                          <p:stCondLst>
                                            <p:cond delay="0"/>
                                          </p:stCondLst>
                                        </p:cTn>
                                        <p:tgtEl>
                                          <p:spTgt spid="4"/>
                                        </p:tgtEl>
                                      </p:cBhvr>
                                    </p:animEffect>
                                  </p:childTnLst>
                                </p:cTn>
                              </p:par>
                              <p:par>
                                <p:cTn id="25" presetID="25"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875" decel="50000" fill="hold">
                                          <p:stCondLst>
                                            <p:cond delay="0"/>
                                          </p:stCondLst>
                                        </p:cTn>
                                        <p:tgtEl>
                                          <p:spTgt spid="5"/>
                                        </p:tgtEl>
                                        <p:attrNameLst>
                                          <p:attrName>style.rotation</p:attrName>
                                        </p:attrNameLst>
                                      </p:cBhvr>
                                      <p:tavLst>
                                        <p:tav tm="0">
                                          <p:val>
                                            <p:fltVal val="-90"/>
                                          </p:val>
                                        </p:tav>
                                        <p:tav tm="100000">
                                          <p:val>
                                            <p:fltVal val="0"/>
                                          </p:val>
                                        </p:tav>
                                      </p:tavLst>
                                    </p:anim>
                                    <p:anim calcmode="lin" valueType="num">
                                      <p:cBhvr>
                                        <p:cTn id="28" dur="875" decel="50000" fill="hold">
                                          <p:stCondLst>
                                            <p:cond delay="0"/>
                                          </p:stCondLst>
                                        </p:cTn>
                                        <p:tgtEl>
                                          <p:spTgt spid="5"/>
                                        </p:tgtEl>
                                        <p:attrNameLst>
                                          <p:attrName>ppt_w</p:attrName>
                                        </p:attrNameLst>
                                      </p:cBhvr>
                                      <p:tavLst>
                                        <p:tav tm="0">
                                          <p:val>
                                            <p:strVal val="#ppt_w"/>
                                          </p:val>
                                        </p:tav>
                                        <p:tav tm="100000">
                                          <p:val>
                                            <p:strVal val="#ppt_w*.05"/>
                                          </p:val>
                                        </p:tav>
                                      </p:tavLst>
                                    </p:anim>
                                    <p:anim calcmode="lin" valueType="num">
                                      <p:cBhvr>
                                        <p:cTn id="29" dur="875" accel="50000" fill="hold">
                                          <p:stCondLst>
                                            <p:cond delay="875"/>
                                          </p:stCondLst>
                                        </p:cTn>
                                        <p:tgtEl>
                                          <p:spTgt spid="5"/>
                                        </p:tgtEl>
                                        <p:attrNameLst>
                                          <p:attrName>ppt_w</p:attrName>
                                        </p:attrNameLst>
                                      </p:cBhvr>
                                      <p:tavLst>
                                        <p:tav tm="0">
                                          <p:val>
                                            <p:strVal val="#ppt_w*.05"/>
                                          </p:val>
                                        </p:tav>
                                        <p:tav tm="100000">
                                          <p:val>
                                            <p:strVal val="#ppt_w"/>
                                          </p:val>
                                        </p:tav>
                                      </p:tavLst>
                                    </p:anim>
                                    <p:anim calcmode="lin" valueType="num">
                                      <p:cBhvr>
                                        <p:cTn id="30" dur="1750" fill="hold"/>
                                        <p:tgtEl>
                                          <p:spTgt spid="5"/>
                                        </p:tgtEl>
                                        <p:attrNameLst>
                                          <p:attrName>ppt_h</p:attrName>
                                        </p:attrNameLst>
                                      </p:cBhvr>
                                      <p:tavLst>
                                        <p:tav tm="0">
                                          <p:val>
                                            <p:strVal val="#ppt_h"/>
                                          </p:val>
                                        </p:tav>
                                        <p:tav tm="100000">
                                          <p:val>
                                            <p:strVal val="#ppt_h"/>
                                          </p:val>
                                        </p:tav>
                                      </p:tavLst>
                                    </p:anim>
                                    <p:anim calcmode="lin" valueType="num">
                                      <p:cBhvr>
                                        <p:cTn id="31" dur="875" decel="50000" fill="hold">
                                          <p:stCondLst>
                                            <p:cond delay="0"/>
                                          </p:stCondLst>
                                        </p:cTn>
                                        <p:tgtEl>
                                          <p:spTgt spid="5"/>
                                        </p:tgtEl>
                                        <p:attrNameLst>
                                          <p:attrName>ppt_x</p:attrName>
                                        </p:attrNameLst>
                                      </p:cBhvr>
                                      <p:tavLst>
                                        <p:tav tm="0">
                                          <p:val>
                                            <p:strVal val="#ppt_x+.4"/>
                                          </p:val>
                                        </p:tav>
                                        <p:tav tm="100000">
                                          <p:val>
                                            <p:strVal val="#ppt_x"/>
                                          </p:val>
                                        </p:tav>
                                      </p:tavLst>
                                    </p:anim>
                                    <p:anim calcmode="lin" valueType="num">
                                      <p:cBhvr>
                                        <p:cTn id="32" dur="875" decel="50000" fill="hold">
                                          <p:stCondLst>
                                            <p:cond delay="0"/>
                                          </p:stCondLst>
                                        </p:cTn>
                                        <p:tgtEl>
                                          <p:spTgt spid="5"/>
                                        </p:tgtEl>
                                        <p:attrNameLst>
                                          <p:attrName>ppt_y</p:attrName>
                                        </p:attrNameLst>
                                      </p:cBhvr>
                                      <p:tavLst>
                                        <p:tav tm="0">
                                          <p:val>
                                            <p:strVal val="#ppt_y-.2"/>
                                          </p:val>
                                        </p:tav>
                                        <p:tav tm="100000">
                                          <p:val>
                                            <p:strVal val="#ppt_y+.1"/>
                                          </p:val>
                                        </p:tav>
                                      </p:tavLst>
                                    </p:anim>
                                    <p:anim calcmode="lin" valueType="num">
                                      <p:cBhvr>
                                        <p:cTn id="33" dur="875" accel="50000" fill="hold">
                                          <p:stCondLst>
                                            <p:cond delay="875"/>
                                          </p:stCondLst>
                                        </p:cTn>
                                        <p:tgtEl>
                                          <p:spTgt spid="5"/>
                                        </p:tgtEl>
                                        <p:attrNameLst>
                                          <p:attrName>ppt_y</p:attrName>
                                        </p:attrNameLst>
                                      </p:cBhvr>
                                      <p:tavLst>
                                        <p:tav tm="0">
                                          <p:val>
                                            <p:strVal val="#ppt_y+.1"/>
                                          </p:val>
                                        </p:tav>
                                        <p:tav tm="100000">
                                          <p:val>
                                            <p:strVal val="#ppt_y"/>
                                          </p:val>
                                        </p:tav>
                                      </p:tavLst>
                                    </p:anim>
                                    <p:animEffect transition="in" filter="fade">
                                      <p:cBhvr>
                                        <p:cTn id="34" dur="1750" decel="50000">
                                          <p:stCondLst>
                                            <p:cond delay="0"/>
                                          </p:stCondLst>
                                        </p:cTn>
                                        <p:tgtEl>
                                          <p:spTgt spid="5"/>
                                        </p:tgtEl>
                                      </p:cBhvr>
                                    </p:animEffect>
                                  </p:childTnLst>
                                </p:cTn>
                              </p:par>
                              <p:par>
                                <p:cTn id="35" presetID="25"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875"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38" dur="875"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39" dur="875" accel="50000" fill="hold">
                                          <p:stCondLst>
                                            <p:cond delay="875"/>
                                          </p:stCondLst>
                                        </p:cTn>
                                        <p:tgtEl>
                                          <p:spTgt spid="6"/>
                                        </p:tgtEl>
                                        <p:attrNameLst>
                                          <p:attrName>ppt_w</p:attrName>
                                        </p:attrNameLst>
                                      </p:cBhvr>
                                      <p:tavLst>
                                        <p:tav tm="0">
                                          <p:val>
                                            <p:strVal val="#ppt_w*.05"/>
                                          </p:val>
                                        </p:tav>
                                        <p:tav tm="100000">
                                          <p:val>
                                            <p:strVal val="#ppt_w"/>
                                          </p:val>
                                        </p:tav>
                                      </p:tavLst>
                                    </p:anim>
                                    <p:anim calcmode="lin" valueType="num">
                                      <p:cBhvr>
                                        <p:cTn id="40" dur="1750" fill="hold"/>
                                        <p:tgtEl>
                                          <p:spTgt spid="6"/>
                                        </p:tgtEl>
                                        <p:attrNameLst>
                                          <p:attrName>ppt_h</p:attrName>
                                        </p:attrNameLst>
                                      </p:cBhvr>
                                      <p:tavLst>
                                        <p:tav tm="0">
                                          <p:val>
                                            <p:strVal val="#ppt_h"/>
                                          </p:val>
                                        </p:tav>
                                        <p:tav tm="100000">
                                          <p:val>
                                            <p:strVal val="#ppt_h"/>
                                          </p:val>
                                        </p:tav>
                                      </p:tavLst>
                                    </p:anim>
                                    <p:anim calcmode="lin" valueType="num">
                                      <p:cBhvr>
                                        <p:cTn id="41" dur="875"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42" dur="875"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43" dur="875" accel="50000" fill="hold">
                                          <p:stCondLst>
                                            <p:cond delay="875"/>
                                          </p:stCondLst>
                                        </p:cTn>
                                        <p:tgtEl>
                                          <p:spTgt spid="6"/>
                                        </p:tgtEl>
                                        <p:attrNameLst>
                                          <p:attrName>ppt_y</p:attrName>
                                        </p:attrNameLst>
                                      </p:cBhvr>
                                      <p:tavLst>
                                        <p:tav tm="0">
                                          <p:val>
                                            <p:strVal val="#ppt_y+.1"/>
                                          </p:val>
                                        </p:tav>
                                        <p:tav tm="100000">
                                          <p:val>
                                            <p:strVal val="#ppt_y"/>
                                          </p:val>
                                        </p:tav>
                                      </p:tavLst>
                                    </p:anim>
                                    <p:animEffect transition="in" filter="fade">
                                      <p:cBhvr>
                                        <p:cTn id="44" dur="1750" decel="50000">
                                          <p:stCondLst>
                                            <p:cond delay="0"/>
                                          </p:stCondLst>
                                        </p:cTn>
                                        <p:tgtEl>
                                          <p:spTgt spid="6"/>
                                        </p:tgtEl>
                                      </p:cBhvr>
                                    </p:animEffect>
                                  </p:childTnLst>
                                </p:cTn>
                              </p:par>
                              <p:par>
                                <p:cTn id="45" presetID="25"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875"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48" dur="875"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49" dur="875" accel="50000" fill="hold">
                                          <p:stCondLst>
                                            <p:cond delay="875"/>
                                          </p:stCondLst>
                                        </p:cTn>
                                        <p:tgtEl>
                                          <p:spTgt spid="7"/>
                                        </p:tgtEl>
                                        <p:attrNameLst>
                                          <p:attrName>ppt_w</p:attrName>
                                        </p:attrNameLst>
                                      </p:cBhvr>
                                      <p:tavLst>
                                        <p:tav tm="0">
                                          <p:val>
                                            <p:strVal val="#ppt_w*.05"/>
                                          </p:val>
                                        </p:tav>
                                        <p:tav tm="100000">
                                          <p:val>
                                            <p:strVal val="#ppt_w"/>
                                          </p:val>
                                        </p:tav>
                                      </p:tavLst>
                                    </p:anim>
                                    <p:anim calcmode="lin" valueType="num">
                                      <p:cBhvr>
                                        <p:cTn id="50" dur="1750" fill="hold"/>
                                        <p:tgtEl>
                                          <p:spTgt spid="7"/>
                                        </p:tgtEl>
                                        <p:attrNameLst>
                                          <p:attrName>ppt_h</p:attrName>
                                        </p:attrNameLst>
                                      </p:cBhvr>
                                      <p:tavLst>
                                        <p:tav tm="0">
                                          <p:val>
                                            <p:strVal val="#ppt_h"/>
                                          </p:val>
                                        </p:tav>
                                        <p:tav tm="100000">
                                          <p:val>
                                            <p:strVal val="#ppt_h"/>
                                          </p:val>
                                        </p:tav>
                                      </p:tavLst>
                                    </p:anim>
                                    <p:anim calcmode="lin" valueType="num">
                                      <p:cBhvr>
                                        <p:cTn id="51" dur="875"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52" dur="875"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53" dur="875" accel="50000" fill="hold">
                                          <p:stCondLst>
                                            <p:cond delay="875"/>
                                          </p:stCondLst>
                                        </p:cTn>
                                        <p:tgtEl>
                                          <p:spTgt spid="7"/>
                                        </p:tgtEl>
                                        <p:attrNameLst>
                                          <p:attrName>ppt_y</p:attrName>
                                        </p:attrNameLst>
                                      </p:cBhvr>
                                      <p:tavLst>
                                        <p:tav tm="0">
                                          <p:val>
                                            <p:strVal val="#ppt_y+.1"/>
                                          </p:val>
                                        </p:tav>
                                        <p:tav tm="100000">
                                          <p:val>
                                            <p:strVal val="#ppt_y"/>
                                          </p:val>
                                        </p:tav>
                                      </p:tavLst>
                                    </p:anim>
                                    <p:animEffect transition="in" filter="fade">
                                      <p:cBhvr>
                                        <p:cTn id="54" dur="1750" decel="50000">
                                          <p:stCondLst>
                                            <p:cond delay="0"/>
                                          </p:stCondLst>
                                        </p:cTn>
                                        <p:tgtEl>
                                          <p:spTgt spid="7"/>
                                        </p:tgtEl>
                                      </p:cBhvr>
                                    </p:animEffect>
                                  </p:childTnLst>
                                </p:cTn>
                              </p:par>
                              <p:par>
                                <p:cTn id="55" presetID="25"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875"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58" dur="875"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59" dur="875" accel="50000" fill="hold">
                                          <p:stCondLst>
                                            <p:cond delay="875"/>
                                          </p:stCondLst>
                                        </p:cTn>
                                        <p:tgtEl>
                                          <p:spTgt spid="8"/>
                                        </p:tgtEl>
                                        <p:attrNameLst>
                                          <p:attrName>ppt_w</p:attrName>
                                        </p:attrNameLst>
                                      </p:cBhvr>
                                      <p:tavLst>
                                        <p:tav tm="0">
                                          <p:val>
                                            <p:strVal val="#ppt_w*.05"/>
                                          </p:val>
                                        </p:tav>
                                        <p:tav tm="100000">
                                          <p:val>
                                            <p:strVal val="#ppt_w"/>
                                          </p:val>
                                        </p:tav>
                                      </p:tavLst>
                                    </p:anim>
                                    <p:anim calcmode="lin" valueType="num">
                                      <p:cBhvr>
                                        <p:cTn id="60" dur="1750" fill="hold"/>
                                        <p:tgtEl>
                                          <p:spTgt spid="8"/>
                                        </p:tgtEl>
                                        <p:attrNameLst>
                                          <p:attrName>ppt_h</p:attrName>
                                        </p:attrNameLst>
                                      </p:cBhvr>
                                      <p:tavLst>
                                        <p:tav tm="0">
                                          <p:val>
                                            <p:strVal val="#ppt_h"/>
                                          </p:val>
                                        </p:tav>
                                        <p:tav tm="100000">
                                          <p:val>
                                            <p:strVal val="#ppt_h"/>
                                          </p:val>
                                        </p:tav>
                                      </p:tavLst>
                                    </p:anim>
                                    <p:anim calcmode="lin" valueType="num">
                                      <p:cBhvr>
                                        <p:cTn id="61" dur="875"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62" dur="875"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63" dur="875" accel="50000" fill="hold">
                                          <p:stCondLst>
                                            <p:cond delay="875"/>
                                          </p:stCondLst>
                                        </p:cTn>
                                        <p:tgtEl>
                                          <p:spTgt spid="8"/>
                                        </p:tgtEl>
                                        <p:attrNameLst>
                                          <p:attrName>ppt_y</p:attrName>
                                        </p:attrNameLst>
                                      </p:cBhvr>
                                      <p:tavLst>
                                        <p:tav tm="0">
                                          <p:val>
                                            <p:strVal val="#ppt_y+.1"/>
                                          </p:val>
                                        </p:tav>
                                        <p:tav tm="100000">
                                          <p:val>
                                            <p:strVal val="#ppt_y"/>
                                          </p:val>
                                        </p:tav>
                                      </p:tavLst>
                                    </p:anim>
                                    <p:animEffect transition="in" filter="fade">
                                      <p:cBhvr>
                                        <p:cTn id="64" dur="1750" decel="50000">
                                          <p:stCondLst>
                                            <p:cond delay="0"/>
                                          </p:stCondLst>
                                        </p:cTn>
                                        <p:tgtEl>
                                          <p:spTgt spid="8"/>
                                        </p:tgtEl>
                                      </p:cBhvr>
                                    </p:animEffect>
                                  </p:childTnLst>
                                </p:cTn>
                              </p:par>
                              <p:par>
                                <p:cTn id="65" presetID="25"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875" decel="50000" fill="hold">
                                          <p:stCondLst>
                                            <p:cond delay="0"/>
                                          </p:stCondLst>
                                        </p:cTn>
                                        <p:tgtEl>
                                          <p:spTgt spid="9"/>
                                        </p:tgtEl>
                                        <p:attrNameLst>
                                          <p:attrName>style.rotation</p:attrName>
                                        </p:attrNameLst>
                                      </p:cBhvr>
                                      <p:tavLst>
                                        <p:tav tm="0">
                                          <p:val>
                                            <p:fltVal val="-90"/>
                                          </p:val>
                                        </p:tav>
                                        <p:tav tm="100000">
                                          <p:val>
                                            <p:fltVal val="0"/>
                                          </p:val>
                                        </p:tav>
                                      </p:tavLst>
                                    </p:anim>
                                    <p:anim calcmode="lin" valueType="num">
                                      <p:cBhvr>
                                        <p:cTn id="68" dur="875" decel="50000" fill="hold">
                                          <p:stCondLst>
                                            <p:cond delay="0"/>
                                          </p:stCondLst>
                                        </p:cTn>
                                        <p:tgtEl>
                                          <p:spTgt spid="9"/>
                                        </p:tgtEl>
                                        <p:attrNameLst>
                                          <p:attrName>ppt_w</p:attrName>
                                        </p:attrNameLst>
                                      </p:cBhvr>
                                      <p:tavLst>
                                        <p:tav tm="0">
                                          <p:val>
                                            <p:strVal val="#ppt_w"/>
                                          </p:val>
                                        </p:tav>
                                        <p:tav tm="100000">
                                          <p:val>
                                            <p:strVal val="#ppt_w*.05"/>
                                          </p:val>
                                        </p:tav>
                                      </p:tavLst>
                                    </p:anim>
                                    <p:anim calcmode="lin" valueType="num">
                                      <p:cBhvr>
                                        <p:cTn id="69" dur="875" accel="50000" fill="hold">
                                          <p:stCondLst>
                                            <p:cond delay="875"/>
                                          </p:stCondLst>
                                        </p:cTn>
                                        <p:tgtEl>
                                          <p:spTgt spid="9"/>
                                        </p:tgtEl>
                                        <p:attrNameLst>
                                          <p:attrName>ppt_w</p:attrName>
                                        </p:attrNameLst>
                                      </p:cBhvr>
                                      <p:tavLst>
                                        <p:tav tm="0">
                                          <p:val>
                                            <p:strVal val="#ppt_w*.05"/>
                                          </p:val>
                                        </p:tav>
                                        <p:tav tm="100000">
                                          <p:val>
                                            <p:strVal val="#ppt_w"/>
                                          </p:val>
                                        </p:tav>
                                      </p:tavLst>
                                    </p:anim>
                                    <p:anim calcmode="lin" valueType="num">
                                      <p:cBhvr>
                                        <p:cTn id="70" dur="1750" fill="hold"/>
                                        <p:tgtEl>
                                          <p:spTgt spid="9"/>
                                        </p:tgtEl>
                                        <p:attrNameLst>
                                          <p:attrName>ppt_h</p:attrName>
                                        </p:attrNameLst>
                                      </p:cBhvr>
                                      <p:tavLst>
                                        <p:tav tm="0">
                                          <p:val>
                                            <p:strVal val="#ppt_h"/>
                                          </p:val>
                                        </p:tav>
                                        <p:tav tm="100000">
                                          <p:val>
                                            <p:strVal val="#ppt_h"/>
                                          </p:val>
                                        </p:tav>
                                      </p:tavLst>
                                    </p:anim>
                                    <p:anim calcmode="lin" valueType="num">
                                      <p:cBhvr>
                                        <p:cTn id="71" dur="875" decel="50000" fill="hold">
                                          <p:stCondLst>
                                            <p:cond delay="0"/>
                                          </p:stCondLst>
                                        </p:cTn>
                                        <p:tgtEl>
                                          <p:spTgt spid="9"/>
                                        </p:tgtEl>
                                        <p:attrNameLst>
                                          <p:attrName>ppt_x</p:attrName>
                                        </p:attrNameLst>
                                      </p:cBhvr>
                                      <p:tavLst>
                                        <p:tav tm="0">
                                          <p:val>
                                            <p:strVal val="#ppt_x+.4"/>
                                          </p:val>
                                        </p:tav>
                                        <p:tav tm="100000">
                                          <p:val>
                                            <p:strVal val="#ppt_x"/>
                                          </p:val>
                                        </p:tav>
                                      </p:tavLst>
                                    </p:anim>
                                    <p:anim calcmode="lin" valueType="num">
                                      <p:cBhvr>
                                        <p:cTn id="72" dur="875" decel="50000" fill="hold">
                                          <p:stCondLst>
                                            <p:cond delay="0"/>
                                          </p:stCondLst>
                                        </p:cTn>
                                        <p:tgtEl>
                                          <p:spTgt spid="9"/>
                                        </p:tgtEl>
                                        <p:attrNameLst>
                                          <p:attrName>ppt_y</p:attrName>
                                        </p:attrNameLst>
                                      </p:cBhvr>
                                      <p:tavLst>
                                        <p:tav tm="0">
                                          <p:val>
                                            <p:strVal val="#ppt_y-.2"/>
                                          </p:val>
                                        </p:tav>
                                        <p:tav tm="100000">
                                          <p:val>
                                            <p:strVal val="#ppt_y+.1"/>
                                          </p:val>
                                        </p:tav>
                                      </p:tavLst>
                                    </p:anim>
                                    <p:anim calcmode="lin" valueType="num">
                                      <p:cBhvr>
                                        <p:cTn id="73" dur="875" accel="50000" fill="hold">
                                          <p:stCondLst>
                                            <p:cond delay="875"/>
                                          </p:stCondLst>
                                        </p:cTn>
                                        <p:tgtEl>
                                          <p:spTgt spid="9"/>
                                        </p:tgtEl>
                                        <p:attrNameLst>
                                          <p:attrName>ppt_y</p:attrName>
                                        </p:attrNameLst>
                                      </p:cBhvr>
                                      <p:tavLst>
                                        <p:tav tm="0">
                                          <p:val>
                                            <p:strVal val="#ppt_y+.1"/>
                                          </p:val>
                                        </p:tav>
                                        <p:tav tm="100000">
                                          <p:val>
                                            <p:strVal val="#ppt_y"/>
                                          </p:val>
                                        </p:tav>
                                      </p:tavLst>
                                    </p:anim>
                                    <p:animEffect transition="in" filter="fade">
                                      <p:cBhvr>
                                        <p:cTn id="74" dur="1750" decel="50000">
                                          <p:stCondLst>
                                            <p:cond delay="0"/>
                                          </p:stCondLst>
                                        </p:cTn>
                                        <p:tgtEl>
                                          <p:spTgt spid="9"/>
                                        </p:tgtEl>
                                      </p:cBhvr>
                                    </p:animEffect>
                                  </p:childTnLst>
                                </p:cTn>
                              </p:par>
                              <p:par>
                                <p:cTn id="75" presetID="25"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 calcmode="lin" valueType="num">
                                      <p:cBhvr>
                                        <p:cTn id="77" dur="875"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78" dur="875"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79" dur="875" accel="50000" fill="hold">
                                          <p:stCondLst>
                                            <p:cond delay="875"/>
                                          </p:stCondLst>
                                        </p:cTn>
                                        <p:tgtEl>
                                          <p:spTgt spid="10"/>
                                        </p:tgtEl>
                                        <p:attrNameLst>
                                          <p:attrName>ppt_w</p:attrName>
                                        </p:attrNameLst>
                                      </p:cBhvr>
                                      <p:tavLst>
                                        <p:tav tm="0">
                                          <p:val>
                                            <p:strVal val="#ppt_w*.05"/>
                                          </p:val>
                                        </p:tav>
                                        <p:tav tm="100000">
                                          <p:val>
                                            <p:strVal val="#ppt_w"/>
                                          </p:val>
                                        </p:tav>
                                      </p:tavLst>
                                    </p:anim>
                                    <p:anim calcmode="lin" valueType="num">
                                      <p:cBhvr>
                                        <p:cTn id="80" dur="1750" fill="hold"/>
                                        <p:tgtEl>
                                          <p:spTgt spid="10"/>
                                        </p:tgtEl>
                                        <p:attrNameLst>
                                          <p:attrName>ppt_h</p:attrName>
                                        </p:attrNameLst>
                                      </p:cBhvr>
                                      <p:tavLst>
                                        <p:tav tm="0">
                                          <p:val>
                                            <p:strVal val="#ppt_h"/>
                                          </p:val>
                                        </p:tav>
                                        <p:tav tm="100000">
                                          <p:val>
                                            <p:strVal val="#ppt_h"/>
                                          </p:val>
                                        </p:tav>
                                      </p:tavLst>
                                    </p:anim>
                                    <p:anim calcmode="lin" valueType="num">
                                      <p:cBhvr>
                                        <p:cTn id="81" dur="875"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82" dur="875"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83" dur="875" accel="50000" fill="hold">
                                          <p:stCondLst>
                                            <p:cond delay="875"/>
                                          </p:stCondLst>
                                        </p:cTn>
                                        <p:tgtEl>
                                          <p:spTgt spid="10"/>
                                        </p:tgtEl>
                                        <p:attrNameLst>
                                          <p:attrName>ppt_y</p:attrName>
                                        </p:attrNameLst>
                                      </p:cBhvr>
                                      <p:tavLst>
                                        <p:tav tm="0">
                                          <p:val>
                                            <p:strVal val="#ppt_y+.1"/>
                                          </p:val>
                                        </p:tav>
                                        <p:tav tm="100000">
                                          <p:val>
                                            <p:strVal val="#ppt_y"/>
                                          </p:val>
                                        </p:tav>
                                      </p:tavLst>
                                    </p:anim>
                                    <p:animEffect transition="in" filter="fade">
                                      <p:cBhvr>
                                        <p:cTn id="84" dur="1750" decel="50000">
                                          <p:stCondLst>
                                            <p:cond delay="0"/>
                                          </p:stCondLst>
                                        </p:cTn>
                                        <p:tgtEl>
                                          <p:spTgt spid="10"/>
                                        </p:tgtEl>
                                      </p:cBhvr>
                                    </p:animEffect>
                                  </p:childTnLst>
                                </p:cTn>
                              </p:par>
                              <p:par>
                                <p:cTn id="85" presetID="25"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 calcmode="lin" valueType="num">
                                      <p:cBhvr>
                                        <p:cTn id="87" dur="875"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88" dur="875"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89" dur="875" accel="50000" fill="hold">
                                          <p:stCondLst>
                                            <p:cond delay="875"/>
                                          </p:stCondLst>
                                        </p:cTn>
                                        <p:tgtEl>
                                          <p:spTgt spid="11"/>
                                        </p:tgtEl>
                                        <p:attrNameLst>
                                          <p:attrName>ppt_w</p:attrName>
                                        </p:attrNameLst>
                                      </p:cBhvr>
                                      <p:tavLst>
                                        <p:tav tm="0">
                                          <p:val>
                                            <p:strVal val="#ppt_w*.05"/>
                                          </p:val>
                                        </p:tav>
                                        <p:tav tm="100000">
                                          <p:val>
                                            <p:strVal val="#ppt_w"/>
                                          </p:val>
                                        </p:tav>
                                      </p:tavLst>
                                    </p:anim>
                                    <p:anim calcmode="lin" valueType="num">
                                      <p:cBhvr>
                                        <p:cTn id="90" dur="1750" fill="hold"/>
                                        <p:tgtEl>
                                          <p:spTgt spid="11"/>
                                        </p:tgtEl>
                                        <p:attrNameLst>
                                          <p:attrName>ppt_h</p:attrName>
                                        </p:attrNameLst>
                                      </p:cBhvr>
                                      <p:tavLst>
                                        <p:tav tm="0">
                                          <p:val>
                                            <p:strVal val="#ppt_h"/>
                                          </p:val>
                                        </p:tav>
                                        <p:tav tm="100000">
                                          <p:val>
                                            <p:strVal val="#ppt_h"/>
                                          </p:val>
                                        </p:tav>
                                      </p:tavLst>
                                    </p:anim>
                                    <p:anim calcmode="lin" valueType="num">
                                      <p:cBhvr>
                                        <p:cTn id="91" dur="875"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92" dur="875"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93" dur="875" accel="50000" fill="hold">
                                          <p:stCondLst>
                                            <p:cond delay="875"/>
                                          </p:stCondLst>
                                        </p:cTn>
                                        <p:tgtEl>
                                          <p:spTgt spid="11"/>
                                        </p:tgtEl>
                                        <p:attrNameLst>
                                          <p:attrName>ppt_y</p:attrName>
                                        </p:attrNameLst>
                                      </p:cBhvr>
                                      <p:tavLst>
                                        <p:tav tm="0">
                                          <p:val>
                                            <p:strVal val="#ppt_y+.1"/>
                                          </p:val>
                                        </p:tav>
                                        <p:tav tm="100000">
                                          <p:val>
                                            <p:strVal val="#ppt_y"/>
                                          </p:val>
                                        </p:tav>
                                      </p:tavLst>
                                    </p:anim>
                                    <p:animEffect transition="in" filter="fade">
                                      <p:cBhvr>
                                        <p:cTn id="94" dur="1750" decel="50000">
                                          <p:stCondLst>
                                            <p:cond delay="0"/>
                                          </p:stCondLst>
                                        </p:cTn>
                                        <p:tgtEl>
                                          <p:spTgt spid="11"/>
                                        </p:tgtEl>
                                      </p:cBhvr>
                                    </p:animEffect>
                                  </p:childTnLst>
                                </p:cTn>
                              </p:par>
                              <p:par>
                                <p:cTn id="95" presetID="25" presetClass="entr" presetSubtype="0" fill="hold" grpId="0" nodeType="withEffect">
                                  <p:stCondLst>
                                    <p:cond delay="0"/>
                                  </p:stCondLst>
                                  <p:childTnLst>
                                    <p:set>
                                      <p:cBhvr>
                                        <p:cTn id="96" dur="1" fill="hold">
                                          <p:stCondLst>
                                            <p:cond delay="0"/>
                                          </p:stCondLst>
                                        </p:cTn>
                                        <p:tgtEl>
                                          <p:spTgt spid="12"/>
                                        </p:tgtEl>
                                        <p:attrNameLst>
                                          <p:attrName>style.visibility</p:attrName>
                                        </p:attrNameLst>
                                      </p:cBhvr>
                                      <p:to>
                                        <p:strVal val="visible"/>
                                      </p:to>
                                    </p:set>
                                    <p:anim calcmode="lin" valueType="num">
                                      <p:cBhvr>
                                        <p:cTn id="97" dur="875"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98" dur="875"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99" dur="875" accel="50000" fill="hold">
                                          <p:stCondLst>
                                            <p:cond delay="875"/>
                                          </p:stCondLst>
                                        </p:cTn>
                                        <p:tgtEl>
                                          <p:spTgt spid="12"/>
                                        </p:tgtEl>
                                        <p:attrNameLst>
                                          <p:attrName>ppt_w</p:attrName>
                                        </p:attrNameLst>
                                      </p:cBhvr>
                                      <p:tavLst>
                                        <p:tav tm="0">
                                          <p:val>
                                            <p:strVal val="#ppt_w*.05"/>
                                          </p:val>
                                        </p:tav>
                                        <p:tav tm="100000">
                                          <p:val>
                                            <p:strVal val="#ppt_w"/>
                                          </p:val>
                                        </p:tav>
                                      </p:tavLst>
                                    </p:anim>
                                    <p:anim calcmode="lin" valueType="num">
                                      <p:cBhvr>
                                        <p:cTn id="100" dur="1750" fill="hold"/>
                                        <p:tgtEl>
                                          <p:spTgt spid="12"/>
                                        </p:tgtEl>
                                        <p:attrNameLst>
                                          <p:attrName>ppt_h</p:attrName>
                                        </p:attrNameLst>
                                      </p:cBhvr>
                                      <p:tavLst>
                                        <p:tav tm="0">
                                          <p:val>
                                            <p:strVal val="#ppt_h"/>
                                          </p:val>
                                        </p:tav>
                                        <p:tav tm="100000">
                                          <p:val>
                                            <p:strVal val="#ppt_h"/>
                                          </p:val>
                                        </p:tav>
                                      </p:tavLst>
                                    </p:anim>
                                    <p:anim calcmode="lin" valueType="num">
                                      <p:cBhvr>
                                        <p:cTn id="101" dur="875"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102" dur="875"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103" dur="875" accel="50000" fill="hold">
                                          <p:stCondLst>
                                            <p:cond delay="875"/>
                                          </p:stCondLst>
                                        </p:cTn>
                                        <p:tgtEl>
                                          <p:spTgt spid="12"/>
                                        </p:tgtEl>
                                        <p:attrNameLst>
                                          <p:attrName>ppt_y</p:attrName>
                                        </p:attrNameLst>
                                      </p:cBhvr>
                                      <p:tavLst>
                                        <p:tav tm="0">
                                          <p:val>
                                            <p:strVal val="#ppt_y+.1"/>
                                          </p:val>
                                        </p:tav>
                                        <p:tav tm="100000">
                                          <p:val>
                                            <p:strVal val="#ppt_y"/>
                                          </p:val>
                                        </p:tav>
                                      </p:tavLst>
                                    </p:anim>
                                    <p:animEffect transition="in" filter="fade">
                                      <p:cBhvr>
                                        <p:cTn id="104" dur="1750" decel="50000">
                                          <p:stCondLst>
                                            <p:cond delay="0"/>
                                          </p:stCondLst>
                                        </p:cTn>
                                        <p:tgtEl>
                                          <p:spTgt spid="12"/>
                                        </p:tgtEl>
                                      </p:cBhvr>
                                    </p:animEffect>
                                  </p:childTnLst>
                                </p:cTn>
                              </p:par>
                              <p:par>
                                <p:cTn id="105" presetID="25" presetClass="entr" presetSubtype="0" fill="hold" grpId="0" nodeType="withEffect">
                                  <p:stCondLst>
                                    <p:cond delay="0"/>
                                  </p:stCondLst>
                                  <p:childTnLst>
                                    <p:set>
                                      <p:cBhvr>
                                        <p:cTn id="106" dur="1" fill="hold">
                                          <p:stCondLst>
                                            <p:cond delay="0"/>
                                          </p:stCondLst>
                                        </p:cTn>
                                        <p:tgtEl>
                                          <p:spTgt spid="13"/>
                                        </p:tgtEl>
                                        <p:attrNameLst>
                                          <p:attrName>style.visibility</p:attrName>
                                        </p:attrNameLst>
                                      </p:cBhvr>
                                      <p:to>
                                        <p:strVal val="visible"/>
                                      </p:to>
                                    </p:set>
                                    <p:anim calcmode="lin" valueType="num">
                                      <p:cBhvr>
                                        <p:cTn id="107" dur="875"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108" dur="875"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109" dur="875" accel="50000" fill="hold">
                                          <p:stCondLst>
                                            <p:cond delay="875"/>
                                          </p:stCondLst>
                                        </p:cTn>
                                        <p:tgtEl>
                                          <p:spTgt spid="13"/>
                                        </p:tgtEl>
                                        <p:attrNameLst>
                                          <p:attrName>ppt_w</p:attrName>
                                        </p:attrNameLst>
                                      </p:cBhvr>
                                      <p:tavLst>
                                        <p:tav tm="0">
                                          <p:val>
                                            <p:strVal val="#ppt_w*.05"/>
                                          </p:val>
                                        </p:tav>
                                        <p:tav tm="100000">
                                          <p:val>
                                            <p:strVal val="#ppt_w"/>
                                          </p:val>
                                        </p:tav>
                                      </p:tavLst>
                                    </p:anim>
                                    <p:anim calcmode="lin" valueType="num">
                                      <p:cBhvr>
                                        <p:cTn id="110" dur="1750" fill="hold"/>
                                        <p:tgtEl>
                                          <p:spTgt spid="13"/>
                                        </p:tgtEl>
                                        <p:attrNameLst>
                                          <p:attrName>ppt_h</p:attrName>
                                        </p:attrNameLst>
                                      </p:cBhvr>
                                      <p:tavLst>
                                        <p:tav tm="0">
                                          <p:val>
                                            <p:strVal val="#ppt_h"/>
                                          </p:val>
                                        </p:tav>
                                        <p:tav tm="100000">
                                          <p:val>
                                            <p:strVal val="#ppt_h"/>
                                          </p:val>
                                        </p:tav>
                                      </p:tavLst>
                                    </p:anim>
                                    <p:anim calcmode="lin" valueType="num">
                                      <p:cBhvr>
                                        <p:cTn id="111" dur="875"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112" dur="875"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113" dur="875" accel="50000" fill="hold">
                                          <p:stCondLst>
                                            <p:cond delay="875"/>
                                          </p:stCondLst>
                                        </p:cTn>
                                        <p:tgtEl>
                                          <p:spTgt spid="13"/>
                                        </p:tgtEl>
                                        <p:attrNameLst>
                                          <p:attrName>ppt_y</p:attrName>
                                        </p:attrNameLst>
                                      </p:cBhvr>
                                      <p:tavLst>
                                        <p:tav tm="0">
                                          <p:val>
                                            <p:strVal val="#ppt_y+.1"/>
                                          </p:val>
                                        </p:tav>
                                        <p:tav tm="100000">
                                          <p:val>
                                            <p:strVal val="#ppt_y"/>
                                          </p:val>
                                        </p:tav>
                                      </p:tavLst>
                                    </p:anim>
                                    <p:animEffect transition="in" filter="fade">
                                      <p:cBhvr>
                                        <p:cTn id="114" dur="1750" decel="50000">
                                          <p:stCondLst>
                                            <p:cond delay="0"/>
                                          </p:stCondLst>
                                        </p:cTn>
                                        <p:tgtEl>
                                          <p:spTgt spid="13"/>
                                        </p:tgtEl>
                                      </p:cBhvr>
                                    </p:animEffect>
                                  </p:childTnLst>
                                </p:cTn>
                              </p:par>
                              <p:par>
                                <p:cTn id="115" presetID="25" presetClass="entr" presetSubtype="0" fill="hold" grpId="0" nodeType="withEffect">
                                  <p:stCondLst>
                                    <p:cond delay="0"/>
                                  </p:stCondLst>
                                  <p:childTnLst>
                                    <p:set>
                                      <p:cBhvr>
                                        <p:cTn id="116" dur="1" fill="hold">
                                          <p:stCondLst>
                                            <p:cond delay="0"/>
                                          </p:stCondLst>
                                        </p:cTn>
                                        <p:tgtEl>
                                          <p:spTgt spid="14"/>
                                        </p:tgtEl>
                                        <p:attrNameLst>
                                          <p:attrName>style.visibility</p:attrName>
                                        </p:attrNameLst>
                                      </p:cBhvr>
                                      <p:to>
                                        <p:strVal val="visible"/>
                                      </p:to>
                                    </p:set>
                                    <p:anim calcmode="lin" valueType="num">
                                      <p:cBhvr>
                                        <p:cTn id="117" dur="875"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118" dur="875"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119" dur="875" accel="50000" fill="hold">
                                          <p:stCondLst>
                                            <p:cond delay="875"/>
                                          </p:stCondLst>
                                        </p:cTn>
                                        <p:tgtEl>
                                          <p:spTgt spid="14"/>
                                        </p:tgtEl>
                                        <p:attrNameLst>
                                          <p:attrName>ppt_w</p:attrName>
                                        </p:attrNameLst>
                                      </p:cBhvr>
                                      <p:tavLst>
                                        <p:tav tm="0">
                                          <p:val>
                                            <p:strVal val="#ppt_w*.05"/>
                                          </p:val>
                                        </p:tav>
                                        <p:tav tm="100000">
                                          <p:val>
                                            <p:strVal val="#ppt_w"/>
                                          </p:val>
                                        </p:tav>
                                      </p:tavLst>
                                    </p:anim>
                                    <p:anim calcmode="lin" valueType="num">
                                      <p:cBhvr>
                                        <p:cTn id="120" dur="1750" fill="hold"/>
                                        <p:tgtEl>
                                          <p:spTgt spid="14"/>
                                        </p:tgtEl>
                                        <p:attrNameLst>
                                          <p:attrName>ppt_h</p:attrName>
                                        </p:attrNameLst>
                                      </p:cBhvr>
                                      <p:tavLst>
                                        <p:tav tm="0">
                                          <p:val>
                                            <p:strVal val="#ppt_h"/>
                                          </p:val>
                                        </p:tav>
                                        <p:tav tm="100000">
                                          <p:val>
                                            <p:strVal val="#ppt_h"/>
                                          </p:val>
                                        </p:tav>
                                      </p:tavLst>
                                    </p:anim>
                                    <p:anim calcmode="lin" valueType="num">
                                      <p:cBhvr>
                                        <p:cTn id="121" dur="875"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122" dur="875"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123" dur="875" accel="50000" fill="hold">
                                          <p:stCondLst>
                                            <p:cond delay="875"/>
                                          </p:stCondLst>
                                        </p:cTn>
                                        <p:tgtEl>
                                          <p:spTgt spid="14"/>
                                        </p:tgtEl>
                                        <p:attrNameLst>
                                          <p:attrName>ppt_y</p:attrName>
                                        </p:attrNameLst>
                                      </p:cBhvr>
                                      <p:tavLst>
                                        <p:tav tm="0">
                                          <p:val>
                                            <p:strVal val="#ppt_y+.1"/>
                                          </p:val>
                                        </p:tav>
                                        <p:tav tm="100000">
                                          <p:val>
                                            <p:strVal val="#ppt_y"/>
                                          </p:val>
                                        </p:tav>
                                      </p:tavLst>
                                    </p:anim>
                                    <p:animEffect transition="in" filter="fade">
                                      <p:cBhvr>
                                        <p:cTn id="124" dur="1750" decel="50000">
                                          <p:stCondLst>
                                            <p:cond delay="0"/>
                                          </p:stCondLst>
                                        </p:cTn>
                                        <p:tgtEl>
                                          <p:spTgt spid="14"/>
                                        </p:tgtEl>
                                      </p:cBhvr>
                                    </p:animEffect>
                                  </p:childTnLst>
                                </p:cTn>
                              </p:par>
                              <p:par>
                                <p:cTn id="125" presetID="25" presetClass="entr" presetSubtype="0" fill="hold" grpId="0" nodeType="withEffect">
                                  <p:stCondLst>
                                    <p:cond delay="0"/>
                                  </p:stCondLst>
                                  <p:childTnLst>
                                    <p:set>
                                      <p:cBhvr>
                                        <p:cTn id="126" dur="1" fill="hold">
                                          <p:stCondLst>
                                            <p:cond delay="0"/>
                                          </p:stCondLst>
                                        </p:cTn>
                                        <p:tgtEl>
                                          <p:spTgt spid="15"/>
                                        </p:tgtEl>
                                        <p:attrNameLst>
                                          <p:attrName>style.visibility</p:attrName>
                                        </p:attrNameLst>
                                      </p:cBhvr>
                                      <p:to>
                                        <p:strVal val="visible"/>
                                      </p:to>
                                    </p:set>
                                    <p:anim calcmode="lin" valueType="num">
                                      <p:cBhvr>
                                        <p:cTn id="127" dur="875"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128" dur="875"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129" dur="875" accel="50000" fill="hold">
                                          <p:stCondLst>
                                            <p:cond delay="875"/>
                                          </p:stCondLst>
                                        </p:cTn>
                                        <p:tgtEl>
                                          <p:spTgt spid="15"/>
                                        </p:tgtEl>
                                        <p:attrNameLst>
                                          <p:attrName>ppt_w</p:attrName>
                                        </p:attrNameLst>
                                      </p:cBhvr>
                                      <p:tavLst>
                                        <p:tav tm="0">
                                          <p:val>
                                            <p:strVal val="#ppt_w*.05"/>
                                          </p:val>
                                        </p:tav>
                                        <p:tav tm="100000">
                                          <p:val>
                                            <p:strVal val="#ppt_w"/>
                                          </p:val>
                                        </p:tav>
                                      </p:tavLst>
                                    </p:anim>
                                    <p:anim calcmode="lin" valueType="num">
                                      <p:cBhvr>
                                        <p:cTn id="130" dur="1750" fill="hold"/>
                                        <p:tgtEl>
                                          <p:spTgt spid="15"/>
                                        </p:tgtEl>
                                        <p:attrNameLst>
                                          <p:attrName>ppt_h</p:attrName>
                                        </p:attrNameLst>
                                      </p:cBhvr>
                                      <p:tavLst>
                                        <p:tav tm="0">
                                          <p:val>
                                            <p:strVal val="#ppt_h"/>
                                          </p:val>
                                        </p:tav>
                                        <p:tav tm="100000">
                                          <p:val>
                                            <p:strVal val="#ppt_h"/>
                                          </p:val>
                                        </p:tav>
                                      </p:tavLst>
                                    </p:anim>
                                    <p:anim calcmode="lin" valueType="num">
                                      <p:cBhvr>
                                        <p:cTn id="131" dur="875"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32" dur="875"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3" dur="875" accel="50000" fill="hold">
                                          <p:stCondLst>
                                            <p:cond delay="875"/>
                                          </p:stCondLst>
                                        </p:cTn>
                                        <p:tgtEl>
                                          <p:spTgt spid="15"/>
                                        </p:tgtEl>
                                        <p:attrNameLst>
                                          <p:attrName>ppt_y</p:attrName>
                                        </p:attrNameLst>
                                      </p:cBhvr>
                                      <p:tavLst>
                                        <p:tav tm="0">
                                          <p:val>
                                            <p:strVal val="#ppt_y+.1"/>
                                          </p:val>
                                        </p:tav>
                                        <p:tav tm="100000">
                                          <p:val>
                                            <p:strVal val="#ppt_y"/>
                                          </p:val>
                                        </p:tav>
                                      </p:tavLst>
                                    </p:anim>
                                    <p:animEffect transition="in" filter="fade">
                                      <p:cBhvr>
                                        <p:cTn id="134" dur="1750" decel="50000">
                                          <p:stCondLst>
                                            <p:cond delay="0"/>
                                          </p:stCondLst>
                                        </p:cTn>
                                        <p:tgtEl>
                                          <p:spTgt spid="15"/>
                                        </p:tgtEl>
                                      </p:cBhvr>
                                    </p:animEffect>
                                  </p:childTnLst>
                                </p:cTn>
                              </p:par>
                              <p:par>
                                <p:cTn id="135" presetID="25" presetClass="entr" presetSubtype="0" fill="hold" grpId="0" nodeType="withEffect">
                                  <p:stCondLst>
                                    <p:cond delay="0"/>
                                  </p:stCondLst>
                                  <p:childTnLst>
                                    <p:set>
                                      <p:cBhvr>
                                        <p:cTn id="136" dur="1" fill="hold">
                                          <p:stCondLst>
                                            <p:cond delay="0"/>
                                          </p:stCondLst>
                                        </p:cTn>
                                        <p:tgtEl>
                                          <p:spTgt spid="16"/>
                                        </p:tgtEl>
                                        <p:attrNameLst>
                                          <p:attrName>style.visibility</p:attrName>
                                        </p:attrNameLst>
                                      </p:cBhvr>
                                      <p:to>
                                        <p:strVal val="visible"/>
                                      </p:to>
                                    </p:set>
                                    <p:anim calcmode="lin" valueType="num">
                                      <p:cBhvr>
                                        <p:cTn id="137" dur="875"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138" dur="875"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139" dur="875" accel="50000" fill="hold">
                                          <p:stCondLst>
                                            <p:cond delay="875"/>
                                          </p:stCondLst>
                                        </p:cTn>
                                        <p:tgtEl>
                                          <p:spTgt spid="16"/>
                                        </p:tgtEl>
                                        <p:attrNameLst>
                                          <p:attrName>ppt_w</p:attrName>
                                        </p:attrNameLst>
                                      </p:cBhvr>
                                      <p:tavLst>
                                        <p:tav tm="0">
                                          <p:val>
                                            <p:strVal val="#ppt_w*.05"/>
                                          </p:val>
                                        </p:tav>
                                        <p:tav tm="100000">
                                          <p:val>
                                            <p:strVal val="#ppt_w"/>
                                          </p:val>
                                        </p:tav>
                                      </p:tavLst>
                                    </p:anim>
                                    <p:anim calcmode="lin" valueType="num">
                                      <p:cBhvr>
                                        <p:cTn id="140" dur="1750" fill="hold"/>
                                        <p:tgtEl>
                                          <p:spTgt spid="16"/>
                                        </p:tgtEl>
                                        <p:attrNameLst>
                                          <p:attrName>ppt_h</p:attrName>
                                        </p:attrNameLst>
                                      </p:cBhvr>
                                      <p:tavLst>
                                        <p:tav tm="0">
                                          <p:val>
                                            <p:strVal val="#ppt_h"/>
                                          </p:val>
                                        </p:tav>
                                        <p:tav tm="100000">
                                          <p:val>
                                            <p:strVal val="#ppt_h"/>
                                          </p:val>
                                        </p:tav>
                                      </p:tavLst>
                                    </p:anim>
                                    <p:anim calcmode="lin" valueType="num">
                                      <p:cBhvr>
                                        <p:cTn id="141" dur="875"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142" dur="875"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143" dur="875" accel="50000" fill="hold">
                                          <p:stCondLst>
                                            <p:cond delay="875"/>
                                          </p:stCondLst>
                                        </p:cTn>
                                        <p:tgtEl>
                                          <p:spTgt spid="16"/>
                                        </p:tgtEl>
                                        <p:attrNameLst>
                                          <p:attrName>ppt_y</p:attrName>
                                        </p:attrNameLst>
                                      </p:cBhvr>
                                      <p:tavLst>
                                        <p:tav tm="0">
                                          <p:val>
                                            <p:strVal val="#ppt_y+.1"/>
                                          </p:val>
                                        </p:tav>
                                        <p:tav tm="100000">
                                          <p:val>
                                            <p:strVal val="#ppt_y"/>
                                          </p:val>
                                        </p:tav>
                                      </p:tavLst>
                                    </p:anim>
                                    <p:animEffect transition="in" filter="fade">
                                      <p:cBhvr>
                                        <p:cTn id="144" dur="1750" decel="50000">
                                          <p:stCondLst>
                                            <p:cond delay="0"/>
                                          </p:stCondLst>
                                        </p:cTn>
                                        <p:tgtEl>
                                          <p:spTgt spid="16"/>
                                        </p:tgtEl>
                                      </p:cBhvr>
                                    </p:animEffect>
                                  </p:childTnLst>
                                </p:cTn>
                              </p:par>
                              <p:par>
                                <p:cTn id="145" presetID="25" presetClass="entr" presetSubtype="0" fill="hold" grpId="0" nodeType="withEffect">
                                  <p:stCondLst>
                                    <p:cond delay="0"/>
                                  </p:stCondLst>
                                  <p:childTnLst>
                                    <p:set>
                                      <p:cBhvr>
                                        <p:cTn id="146" dur="1" fill="hold">
                                          <p:stCondLst>
                                            <p:cond delay="0"/>
                                          </p:stCondLst>
                                        </p:cTn>
                                        <p:tgtEl>
                                          <p:spTgt spid="17"/>
                                        </p:tgtEl>
                                        <p:attrNameLst>
                                          <p:attrName>style.visibility</p:attrName>
                                        </p:attrNameLst>
                                      </p:cBhvr>
                                      <p:to>
                                        <p:strVal val="visible"/>
                                      </p:to>
                                    </p:set>
                                    <p:anim calcmode="lin" valueType="num">
                                      <p:cBhvr>
                                        <p:cTn id="147" dur="875"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148" dur="875"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149" dur="875" accel="50000" fill="hold">
                                          <p:stCondLst>
                                            <p:cond delay="875"/>
                                          </p:stCondLst>
                                        </p:cTn>
                                        <p:tgtEl>
                                          <p:spTgt spid="17"/>
                                        </p:tgtEl>
                                        <p:attrNameLst>
                                          <p:attrName>ppt_w</p:attrName>
                                        </p:attrNameLst>
                                      </p:cBhvr>
                                      <p:tavLst>
                                        <p:tav tm="0">
                                          <p:val>
                                            <p:strVal val="#ppt_w*.05"/>
                                          </p:val>
                                        </p:tav>
                                        <p:tav tm="100000">
                                          <p:val>
                                            <p:strVal val="#ppt_w"/>
                                          </p:val>
                                        </p:tav>
                                      </p:tavLst>
                                    </p:anim>
                                    <p:anim calcmode="lin" valueType="num">
                                      <p:cBhvr>
                                        <p:cTn id="150" dur="1750" fill="hold"/>
                                        <p:tgtEl>
                                          <p:spTgt spid="17"/>
                                        </p:tgtEl>
                                        <p:attrNameLst>
                                          <p:attrName>ppt_h</p:attrName>
                                        </p:attrNameLst>
                                      </p:cBhvr>
                                      <p:tavLst>
                                        <p:tav tm="0">
                                          <p:val>
                                            <p:strVal val="#ppt_h"/>
                                          </p:val>
                                        </p:tav>
                                        <p:tav tm="100000">
                                          <p:val>
                                            <p:strVal val="#ppt_h"/>
                                          </p:val>
                                        </p:tav>
                                      </p:tavLst>
                                    </p:anim>
                                    <p:anim calcmode="lin" valueType="num">
                                      <p:cBhvr>
                                        <p:cTn id="151" dur="875"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152" dur="875"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153" dur="875" accel="50000" fill="hold">
                                          <p:stCondLst>
                                            <p:cond delay="875"/>
                                          </p:stCondLst>
                                        </p:cTn>
                                        <p:tgtEl>
                                          <p:spTgt spid="17"/>
                                        </p:tgtEl>
                                        <p:attrNameLst>
                                          <p:attrName>ppt_y</p:attrName>
                                        </p:attrNameLst>
                                      </p:cBhvr>
                                      <p:tavLst>
                                        <p:tav tm="0">
                                          <p:val>
                                            <p:strVal val="#ppt_y+.1"/>
                                          </p:val>
                                        </p:tav>
                                        <p:tav tm="100000">
                                          <p:val>
                                            <p:strVal val="#ppt_y"/>
                                          </p:val>
                                        </p:tav>
                                      </p:tavLst>
                                    </p:anim>
                                    <p:animEffect transition="in" filter="fade">
                                      <p:cBhvr>
                                        <p:cTn id="154" dur="1750" decel="50000">
                                          <p:stCondLst>
                                            <p:cond delay="0"/>
                                          </p:stCondLst>
                                        </p:cTn>
                                        <p:tgtEl>
                                          <p:spTgt spid="17"/>
                                        </p:tgtEl>
                                      </p:cBhvr>
                                    </p:animEffect>
                                  </p:childTnLst>
                                </p:cTn>
                              </p:par>
                              <p:par>
                                <p:cTn id="155" presetID="25" presetClass="entr" presetSubtype="0" fill="hold" grpId="0" nodeType="withEffect">
                                  <p:stCondLst>
                                    <p:cond delay="0"/>
                                  </p:stCondLst>
                                  <p:childTnLst>
                                    <p:set>
                                      <p:cBhvr>
                                        <p:cTn id="156" dur="1" fill="hold">
                                          <p:stCondLst>
                                            <p:cond delay="0"/>
                                          </p:stCondLst>
                                        </p:cTn>
                                        <p:tgtEl>
                                          <p:spTgt spid="18"/>
                                        </p:tgtEl>
                                        <p:attrNameLst>
                                          <p:attrName>style.visibility</p:attrName>
                                        </p:attrNameLst>
                                      </p:cBhvr>
                                      <p:to>
                                        <p:strVal val="visible"/>
                                      </p:to>
                                    </p:set>
                                    <p:anim calcmode="lin" valueType="num">
                                      <p:cBhvr>
                                        <p:cTn id="157" dur="875" decel="50000" fill="hold">
                                          <p:stCondLst>
                                            <p:cond delay="0"/>
                                          </p:stCondLst>
                                        </p:cTn>
                                        <p:tgtEl>
                                          <p:spTgt spid="18"/>
                                        </p:tgtEl>
                                        <p:attrNameLst>
                                          <p:attrName>style.rotation</p:attrName>
                                        </p:attrNameLst>
                                      </p:cBhvr>
                                      <p:tavLst>
                                        <p:tav tm="0">
                                          <p:val>
                                            <p:fltVal val="-90"/>
                                          </p:val>
                                        </p:tav>
                                        <p:tav tm="100000">
                                          <p:val>
                                            <p:fltVal val="0"/>
                                          </p:val>
                                        </p:tav>
                                      </p:tavLst>
                                    </p:anim>
                                    <p:anim calcmode="lin" valueType="num">
                                      <p:cBhvr>
                                        <p:cTn id="158" dur="875" decel="50000" fill="hold">
                                          <p:stCondLst>
                                            <p:cond delay="0"/>
                                          </p:stCondLst>
                                        </p:cTn>
                                        <p:tgtEl>
                                          <p:spTgt spid="18"/>
                                        </p:tgtEl>
                                        <p:attrNameLst>
                                          <p:attrName>ppt_w</p:attrName>
                                        </p:attrNameLst>
                                      </p:cBhvr>
                                      <p:tavLst>
                                        <p:tav tm="0">
                                          <p:val>
                                            <p:strVal val="#ppt_w"/>
                                          </p:val>
                                        </p:tav>
                                        <p:tav tm="100000">
                                          <p:val>
                                            <p:strVal val="#ppt_w*.05"/>
                                          </p:val>
                                        </p:tav>
                                      </p:tavLst>
                                    </p:anim>
                                    <p:anim calcmode="lin" valueType="num">
                                      <p:cBhvr>
                                        <p:cTn id="159" dur="875" accel="50000" fill="hold">
                                          <p:stCondLst>
                                            <p:cond delay="875"/>
                                          </p:stCondLst>
                                        </p:cTn>
                                        <p:tgtEl>
                                          <p:spTgt spid="18"/>
                                        </p:tgtEl>
                                        <p:attrNameLst>
                                          <p:attrName>ppt_w</p:attrName>
                                        </p:attrNameLst>
                                      </p:cBhvr>
                                      <p:tavLst>
                                        <p:tav tm="0">
                                          <p:val>
                                            <p:strVal val="#ppt_w*.05"/>
                                          </p:val>
                                        </p:tav>
                                        <p:tav tm="100000">
                                          <p:val>
                                            <p:strVal val="#ppt_w"/>
                                          </p:val>
                                        </p:tav>
                                      </p:tavLst>
                                    </p:anim>
                                    <p:anim calcmode="lin" valueType="num">
                                      <p:cBhvr>
                                        <p:cTn id="160" dur="1750" fill="hold"/>
                                        <p:tgtEl>
                                          <p:spTgt spid="18"/>
                                        </p:tgtEl>
                                        <p:attrNameLst>
                                          <p:attrName>ppt_h</p:attrName>
                                        </p:attrNameLst>
                                      </p:cBhvr>
                                      <p:tavLst>
                                        <p:tav tm="0">
                                          <p:val>
                                            <p:strVal val="#ppt_h"/>
                                          </p:val>
                                        </p:tav>
                                        <p:tav tm="100000">
                                          <p:val>
                                            <p:strVal val="#ppt_h"/>
                                          </p:val>
                                        </p:tav>
                                      </p:tavLst>
                                    </p:anim>
                                    <p:anim calcmode="lin" valueType="num">
                                      <p:cBhvr>
                                        <p:cTn id="161" dur="875" decel="50000" fill="hold">
                                          <p:stCondLst>
                                            <p:cond delay="0"/>
                                          </p:stCondLst>
                                        </p:cTn>
                                        <p:tgtEl>
                                          <p:spTgt spid="18"/>
                                        </p:tgtEl>
                                        <p:attrNameLst>
                                          <p:attrName>ppt_x</p:attrName>
                                        </p:attrNameLst>
                                      </p:cBhvr>
                                      <p:tavLst>
                                        <p:tav tm="0">
                                          <p:val>
                                            <p:strVal val="#ppt_x+.4"/>
                                          </p:val>
                                        </p:tav>
                                        <p:tav tm="100000">
                                          <p:val>
                                            <p:strVal val="#ppt_x"/>
                                          </p:val>
                                        </p:tav>
                                      </p:tavLst>
                                    </p:anim>
                                    <p:anim calcmode="lin" valueType="num">
                                      <p:cBhvr>
                                        <p:cTn id="162" dur="875" decel="50000" fill="hold">
                                          <p:stCondLst>
                                            <p:cond delay="0"/>
                                          </p:stCondLst>
                                        </p:cTn>
                                        <p:tgtEl>
                                          <p:spTgt spid="18"/>
                                        </p:tgtEl>
                                        <p:attrNameLst>
                                          <p:attrName>ppt_y</p:attrName>
                                        </p:attrNameLst>
                                      </p:cBhvr>
                                      <p:tavLst>
                                        <p:tav tm="0">
                                          <p:val>
                                            <p:strVal val="#ppt_y-.2"/>
                                          </p:val>
                                        </p:tav>
                                        <p:tav tm="100000">
                                          <p:val>
                                            <p:strVal val="#ppt_y+.1"/>
                                          </p:val>
                                        </p:tav>
                                      </p:tavLst>
                                    </p:anim>
                                    <p:anim calcmode="lin" valueType="num">
                                      <p:cBhvr>
                                        <p:cTn id="163" dur="875" accel="50000" fill="hold">
                                          <p:stCondLst>
                                            <p:cond delay="875"/>
                                          </p:stCondLst>
                                        </p:cTn>
                                        <p:tgtEl>
                                          <p:spTgt spid="18"/>
                                        </p:tgtEl>
                                        <p:attrNameLst>
                                          <p:attrName>ppt_y</p:attrName>
                                        </p:attrNameLst>
                                      </p:cBhvr>
                                      <p:tavLst>
                                        <p:tav tm="0">
                                          <p:val>
                                            <p:strVal val="#ppt_y+.1"/>
                                          </p:val>
                                        </p:tav>
                                        <p:tav tm="100000">
                                          <p:val>
                                            <p:strVal val="#ppt_y"/>
                                          </p:val>
                                        </p:tav>
                                      </p:tavLst>
                                    </p:anim>
                                    <p:animEffect transition="in" filter="fade">
                                      <p:cBhvr>
                                        <p:cTn id="164" dur="1750" decel="50000">
                                          <p:stCondLst>
                                            <p:cond delay="0"/>
                                          </p:stCondLst>
                                        </p:cTn>
                                        <p:tgtEl>
                                          <p:spTgt spid="18"/>
                                        </p:tgtEl>
                                      </p:cBhvr>
                                    </p:animEffect>
                                  </p:childTnLst>
                                </p:cTn>
                              </p:par>
                              <p:par>
                                <p:cTn id="165" presetID="25" presetClass="entr" presetSubtype="0" fill="hold" grpId="0" nodeType="withEffect">
                                  <p:stCondLst>
                                    <p:cond delay="0"/>
                                  </p:stCondLst>
                                  <p:childTnLst>
                                    <p:set>
                                      <p:cBhvr>
                                        <p:cTn id="166" dur="1" fill="hold">
                                          <p:stCondLst>
                                            <p:cond delay="0"/>
                                          </p:stCondLst>
                                        </p:cTn>
                                        <p:tgtEl>
                                          <p:spTgt spid="19"/>
                                        </p:tgtEl>
                                        <p:attrNameLst>
                                          <p:attrName>style.visibility</p:attrName>
                                        </p:attrNameLst>
                                      </p:cBhvr>
                                      <p:to>
                                        <p:strVal val="visible"/>
                                      </p:to>
                                    </p:set>
                                    <p:anim calcmode="lin" valueType="num">
                                      <p:cBhvr>
                                        <p:cTn id="167" dur="875"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168" dur="875"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169" dur="875" accel="50000" fill="hold">
                                          <p:stCondLst>
                                            <p:cond delay="875"/>
                                          </p:stCondLst>
                                        </p:cTn>
                                        <p:tgtEl>
                                          <p:spTgt spid="19"/>
                                        </p:tgtEl>
                                        <p:attrNameLst>
                                          <p:attrName>ppt_w</p:attrName>
                                        </p:attrNameLst>
                                      </p:cBhvr>
                                      <p:tavLst>
                                        <p:tav tm="0">
                                          <p:val>
                                            <p:strVal val="#ppt_w*.05"/>
                                          </p:val>
                                        </p:tav>
                                        <p:tav tm="100000">
                                          <p:val>
                                            <p:strVal val="#ppt_w"/>
                                          </p:val>
                                        </p:tav>
                                      </p:tavLst>
                                    </p:anim>
                                    <p:anim calcmode="lin" valueType="num">
                                      <p:cBhvr>
                                        <p:cTn id="170" dur="1750" fill="hold"/>
                                        <p:tgtEl>
                                          <p:spTgt spid="19"/>
                                        </p:tgtEl>
                                        <p:attrNameLst>
                                          <p:attrName>ppt_h</p:attrName>
                                        </p:attrNameLst>
                                      </p:cBhvr>
                                      <p:tavLst>
                                        <p:tav tm="0">
                                          <p:val>
                                            <p:strVal val="#ppt_h"/>
                                          </p:val>
                                        </p:tav>
                                        <p:tav tm="100000">
                                          <p:val>
                                            <p:strVal val="#ppt_h"/>
                                          </p:val>
                                        </p:tav>
                                      </p:tavLst>
                                    </p:anim>
                                    <p:anim calcmode="lin" valueType="num">
                                      <p:cBhvr>
                                        <p:cTn id="171" dur="875"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172" dur="875"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173" dur="875" accel="50000" fill="hold">
                                          <p:stCondLst>
                                            <p:cond delay="875"/>
                                          </p:stCondLst>
                                        </p:cTn>
                                        <p:tgtEl>
                                          <p:spTgt spid="19"/>
                                        </p:tgtEl>
                                        <p:attrNameLst>
                                          <p:attrName>ppt_y</p:attrName>
                                        </p:attrNameLst>
                                      </p:cBhvr>
                                      <p:tavLst>
                                        <p:tav tm="0">
                                          <p:val>
                                            <p:strVal val="#ppt_y+.1"/>
                                          </p:val>
                                        </p:tav>
                                        <p:tav tm="100000">
                                          <p:val>
                                            <p:strVal val="#ppt_y"/>
                                          </p:val>
                                        </p:tav>
                                      </p:tavLst>
                                    </p:anim>
                                    <p:animEffect transition="in" filter="fade">
                                      <p:cBhvr>
                                        <p:cTn id="174" dur="1750" decel="50000">
                                          <p:stCondLst>
                                            <p:cond delay="0"/>
                                          </p:stCondLst>
                                        </p:cTn>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9" grpId="0" animBg="1"/>
      <p:bldP spid="10" grpId="0"/>
      <p:bldP spid="11" grpId="0"/>
      <p:bldP spid="12" grpId="0" animBg="1"/>
      <p:bldP spid="13" grpId="0" animBg="1"/>
      <p:bldP spid="14" grpId="0"/>
      <p:bldP spid="15" grpId="0"/>
      <p:bldP spid="16" grpId="0" animBg="1"/>
      <p:bldP spid="17" grpId="0" animBg="1"/>
      <p:bldP spid="18" grpId="0"/>
      <p:bldP spid="1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592" y="1189612"/>
            <a:ext cx="10728655" cy="461665"/>
          </a:xfrm>
          <a:prstGeom prst="rect">
            <a:avLst/>
          </a:prstGeom>
          <a:noFill/>
        </p:spPr>
        <p:txBody>
          <a:bodyPr wrap="square">
            <a:spAutoFit/>
          </a:bodyPr>
          <a:lstStyle/>
          <a:p>
            <a:pPr algn="r" rtl="1">
              <a:defRPr sz="2400" b="1">
                <a:solidFill>
                  <a:srgbClr val="1A2530"/>
                </a:solidFill>
              </a:defRPr>
            </a:pPr>
            <a:r>
              <a:rPr lang="ar-EG" noProof="1">
                <a:solidFill>
                  <a:schemeClr val="bg1"/>
                </a:solidFill>
              </a:rPr>
              <a:t>مراجعة رحلة الدورة كاملة (Complete Journey Map)</a:t>
            </a:r>
          </a:p>
        </p:txBody>
      </p:sp>
      <p:sp>
        <p:nvSpPr>
          <p:cNvPr id="4" name="Rectangle 3"/>
          <p:cNvSpPr/>
          <p:nvPr/>
        </p:nvSpPr>
        <p:spPr>
          <a:xfrm>
            <a:off x="8823960" y="2011680"/>
            <a:ext cx="2560320" cy="16459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TextBox 4"/>
          <p:cNvSpPr txBox="1"/>
          <p:nvPr/>
        </p:nvSpPr>
        <p:spPr>
          <a:xfrm>
            <a:off x="8915400" y="2377440"/>
            <a:ext cx="2377440" cy="461665"/>
          </a:xfrm>
          <a:prstGeom prst="rect">
            <a:avLst/>
          </a:prstGeom>
          <a:noFill/>
        </p:spPr>
        <p:txBody>
          <a:bodyPr wrap="square">
            <a:spAutoFit/>
          </a:bodyPr>
          <a:lstStyle/>
          <a:p>
            <a:pPr algn="ctr" rtl="1">
              <a:defRPr sz="1500" b="1">
                <a:solidFill>
                  <a:srgbClr val="1A2530"/>
                </a:solidFill>
              </a:defRPr>
            </a:pPr>
            <a:r>
              <a:rPr lang="ar-EG" sz="2400" noProof="1"/>
              <a:t>1. فهم المؤشرات</a:t>
            </a:r>
          </a:p>
        </p:txBody>
      </p:sp>
      <p:sp>
        <p:nvSpPr>
          <p:cNvPr id="6" name="Rectangle 5"/>
          <p:cNvSpPr/>
          <p:nvPr/>
        </p:nvSpPr>
        <p:spPr>
          <a:xfrm>
            <a:off x="6126480" y="2011680"/>
            <a:ext cx="2560320" cy="16459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7" name="TextBox 6"/>
          <p:cNvSpPr txBox="1"/>
          <p:nvPr/>
        </p:nvSpPr>
        <p:spPr>
          <a:xfrm>
            <a:off x="6217920" y="2377440"/>
            <a:ext cx="2377440" cy="461665"/>
          </a:xfrm>
          <a:prstGeom prst="rect">
            <a:avLst/>
          </a:prstGeom>
          <a:noFill/>
        </p:spPr>
        <p:txBody>
          <a:bodyPr wrap="square">
            <a:spAutoFit/>
          </a:bodyPr>
          <a:lstStyle/>
          <a:p>
            <a:pPr algn="ctr" rtl="1">
              <a:defRPr sz="1500" b="1">
                <a:solidFill>
                  <a:srgbClr val="1A2530"/>
                </a:solidFill>
              </a:defRPr>
            </a:pPr>
            <a:r>
              <a:rPr lang="ar-EG" sz="2400" noProof="1"/>
              <a:t>2. تحليل النتائج</a:t>
            </a:r>
          </a:p>
        </p:txBody>
      </p:sp>
      <p:sp>
        <p:nvSpPr>
          <p:cNvPr id="8" name="Rectangle 7"/>
          <p:cNvSpPr/>
          <p:nvPr/>
        </p:nvSpPr>
        <p:spPr>
          <a:xfrm>
            <a:off x="3429000" y="2011680"/>
            <a:ext cx="2560320" cy="16459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TextBox 8"/>
          <p:cNvSpPr txBox="1"/>
          <p:nvPr/>
        </p:nvSpPr>
        <p:spPr>
          <a:xfrm>
            <a:off x="3520440" y="2377440"/>
            <a:ext cx="2377440" cy="461665"/>
          </a:xfrm>
          <a:prstGeom prst="rect">
            <a:avLst/>
          </a:prstGeom>
          <a:noFill/>
        </p:spPr>
        <p:txBody>
          <a:bodyPr wrap="square">
            <a:spAutoFit/>
          </a:bodyPr>
          <a:lstStyle/>
          <a:p>
            <a:pPr algn="ctr" rtl="1">
              <a:defRPr sz="1500" b="1">
                <a:solidFill>
                  <a:srgbClr val="1A2530"/>
                </a:solidFill>
              </a:defRPr>
            </a:pPr>
            <a:r>
              <a:rPr lang="ar-EG" sz="2400" noProof="1"/>
              <a:t>3. تحديد الفجوة</a:t>
            </a:r>
          </a:p>
        </p:txBody>
      </p:sp>
      <p:sp>
        <p:nvSpPr>
          <p:cNvPr id="10" name="Rectangle 9"/>
          <p:cNvSpPr/>
          <p:nvPr/>
        </p:nvSpPr>
        <p:spPr>
          <a:xfrm>
            <a:off x="731520" y="2011680"/>
            <a:ext cx="2560320" cy="164592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1" name="TextBox 10"/>
          <p:cNvSpPr txBox="1"/>
          <p:nvPr/>
        </p:nvSpPr>
        <p:spPr>
          <a:xfrm>
            <a:off x="822960" y="2377440"/>
            <a:ext cx="2377440" cy="461665"/>
          </a:xfrm>
          <a:prstGeom prst="rect">
            <a:avLst/>
          </a:prstGeom>
          <a:noFill/>
        </p:spPr>
        <p:txBody>
          <a:bodyPr wrap="square">
            <a:spAutoFit/>
          </a:bodyPr>
          <a:lstStyle/>
          <a:p>
            <a:pPr algn="ctr" rtl="1">
              <a:defRPr sz="1500" b="1">
                <a:solidFill>
                  <a:srgbClr val="1A2530"/>
                </a:solidFill>
              </a:defRPr>
            </a:pPr>
            <a:r>
              <a:rPr lang="ar-EG" sz="2400" noProof="1"/>
              <a:t>4. تحليل الأسباب</a:t>
            </a:r>
          </a:p>
        </p:txBody>
      </p:sp>
      <p:sp>
        <p:nvSpPr>
          <p:cNvPr id="12" name="Rectangle 11"/>
          <p:cNvSpPr/>
          <p:nvPr/>
        </p:nvSpPr>
        <p:spPr>
          <a:xfrm>
            <a:off x="8864600" y="4206240"/>
            <a:ext cx="2560320" cy="16459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3" name="TextBox 12"/>
          <p:cNvSpPr txBox="1"/>
          <p:nvPr/>
        </p:nvSpPr>
        <p:spPr>
          <a:xfrm>
            <a:off x="8956040" y="4572000"/>
            <a:ext cx="2377440" cy="461665"/>
          </a:xfrm>
          <a:prstGeom prst="rect">
            <a:avLst/>
          </a:prstGeom>
          <a:noFill/>
        </p:spPr>
        <p:txBody>
          <a:bodyPr wrap="square">
            <a:spAutoFit/>
          </a:bodyPr>
          <a:lstStyle/>
          <a:p>
            <a:pPr algn="ctr" rtl="1">
              <a:defRPr sz="1500" b="1">
                <a:solidFill>
                  <a:srgbClr val="1A2530"/>
                </a:solidFill>
              </a:defRPr>
            </a:pPr>
            <a:r>
              <a:rPr lang="ar-EG" sz="2400" noProof="1"/>
              <a:t>5. تصميم المبادرات</a:t>
            </a:r>
          </a:p>
        </p:txBody>
      </p:sp>
      <p:sp>
        <p:nvSpPr>
          <p:cNvPr id="14" name="Rectangle 13"/>
          <p:cNvSpPr/>
          <p:nvPr/>
        </p:nvSpPr>
        <p:spPr>
          <a:xfrm>
            <a:off x="6126480" y="4210705"/>
            <a:ext cx="2560320" cy="16459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5" name="TextBox 14"/>
          <p:cNvSpPr txBox="1"/>
          <p:nvPr/>
        </p:nvSpPr>
        <p:spPr>
          <a:xfrm>
            <a:off x="6217920" y="4576465"/>
            <a:ext cx="2377440" cy="461665"/>
          </a:xfrm>
          <a:prstGeom prst="rect">
            <a:avLst/>
          </a:prstGeom>
          <a:noFill/>
        </p:spPr>
        <p:txBody>
          <a:bodyPr wrap="square">
            <a:spAutoFit/>
          </a:bodyPr>
          <a:lstStyle/>
          <a:p>
            <a:pPr algn="ctr" rtl="1">
              <a:defRPr sz="1500" b="1">
                <a:solidFill>
                  <a:srgbClr val="1A2530"/>
                </a:solidFill>
              </a:defRPr>
            </a:pPr>
            <a:r>
              <a:rPr lang="ar-EG" sz="2400" noProof="1"/>
              <a:t>6. تنفيذ الخطة</a:t>
            </a:r>
          </a:p>
        </p:txBody>
      </p:sp>
      <p:sp>
        <p:nvSpPr>
          <p:cNvPr id="16" name="Rectangle 15"/>
          <p:cNvSpPr/>
          <p:nvPr/>
        </p:nvSpPr>
        <p:spPr>
          <a:xfrm>
            <a:off x="3429000" y="4206240"/>
            <a:ext cx="2560320" cy="16459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7" name="TextBox 16"/>
          <p:cNvSpPr txBox="1"/>
          <p:nvPr/>
        </p:nvSpPr>
        <p:spPr>
          <a:xfrm>
            <a:off x="3520440" y="4572000"/>
            <a:ext cx="2377440" cy="461665"/>
          </a:xfrm>
          <a:prstGeom prst="rect">
            <a:avLst/>
          </a:prstGeom>
          <a:noFill/>
        </p:spPr>
        <p:txBody>
          <a:bodyPr wrap="square">
            <a:spAutoFit/>
          </a:bodyPr>
          <a:lstStyle/>
          <a:p>
            <a:pPr algn="ctr" rtl="1">
              <a:defRPr sz="1500" b="1">
                <a:solidFill>
                  <a:srgbClr val="1A2530"/>
                </a:solidFill>
              </a:defRPr>
            </a:pPr>
            <a:r>
              <a:rPr lang="ar-EG" sz="2400" noProof="1"/>
              <a:t>7. قياس الأثر</a:t>
            </a:r>
          </a:p>
        </p:txBody>
      </p:sp>
      <p:sp>
        <p:nvSpPr>
          <p:cNvPr id="18" name="Rectangle 17"/>
          <p:cNvSpPr/>
          <p:nvPr/>
        </p:nvSpPr>
        <p:spPr>
          <a:xfrm>
            <a:off x="675640" y="4206240"/>
            <a:ext cx="2560320" cy="164592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9" name="TextBox 18"/>
          <p:cNvSpPr txBox="1"/>
          <p:nvPr/>
        </p:nvSpPr>
        <p:spPr>
          <a:xfrm>
            <a:off x="767080" y="4572000"/>
            <a:ext cx="2377440" cy="461665"/>
          </a:xfrm>
          <a:prstGeom prst="rect">
            <a:avLst/>
          </a:prstGeom>
          <a:noFill/>
        </p:spPr>
        <p:txBody>
          <a:bodyPr wrap="square">
            <a:spAutoFit/>
          </a:bodyPr>
          <a:lstStyle/>
          <a:p>
            <a:pPr algn="ctr" rtl="1">
              <a:defRPr sz="1500" b="1">
                <a:solidFill>
                  <a:srgbClr val="1A2530"/>
                </a:solidFill>
              </a:defRPr>
            </a:pPr>
            <a:r>
              <a:rPr lang="ar-EG" sz="2400" noProof="1"/>
              <a:t>8. الاستدامة</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825192"/>
            <a:ext cx="10728655" cy="461665"/>
          </a:xfrm>
          <a:prstGeom prst="rect">
            <a:avLst/>
          </a:prstGeom>
          <a:noFill/>
        </p:spPr>
        <p:txBody>
          <a:bodyPr wrap="square">
            <a:spAutoFit/>
          </a:bodyPr>
          <a:lstStyle/>
          <a:p>
            <a:pPr algn="r">
              <a:defRPr sz="2400" b="1">
                <a:solidFill>
                  <a:srgbClr val="1A2530"/>
                </a:solidFill>
              </a:defRPr>
            </a:pPr>
            <a:r>
              <a:rPr lang="ar-EG" noProof="1">
                <a:solidFill>
                  <a:schemeClr val="bg1"/>
                </a:solidFill>
              </a:rPr>
              <a:t>رسائل قيادية لقادة التحسين</a:t>
            </a:r>
          </a:p>
        </p:txBody>
      </p:sp>
      <p:sp>
        <p:nvSpPr>
          <p:cNvPr id="4" name="Rectangle 3"/>
          <p:cNvSpPr/>
          <p:nvPr/>
        </p:nvSpPr>
        <p:spPr>
          <a:xfrm>
            <a:off x="6217920" y="1645920"/>
            <a:ext cx="5242255" cy="2011680"/>
          </a:xfrm>
          <a:prstGeom prst="rect">
            <a:avLst/>
          </a:prstGeom>
          <a:solidFill>
            <a:srgbClr val="F5F7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5" name="TextBox 4"/>
          <p:cNvSpPr txBox="1"/>
          <p:nvPr/>
        </p:nvSpPr>
        <p:spPr>
          <a:xfrm>
            <a:off x="6400800" y="1828800"/>
            <a:ext cx="4876495" cy="1446550"/>
          </a:xfrm>
          <a:prstGeom prst="rect">
            <a:avLst/>
          </a:prstGeom>
          <a:noFill/>
        </p:spPr>
        <p:txBody>
          <a:bodyPr wrap="square">
            <a:spAutoFit/>
          </a:bodyPr>
          <a:lstStyle/>
          <a:p>
            <a:pPr algn="r" rtl="1">
              <a:defRPr sz="1600" b="1">
                <a:solidFill>
                  <a:srgbClr val="2980B9"/>
                </a:solidFill>
              </a:defRPr>
            </a:pPr>
            <a:r>
              <a:rPr lang="ar-EG" sz="2800" noProof="1"/>
              <a:t>💬 شفافية الواقع</a:t>
            </a:r>
          </a:p>
          <a:p>
            <a:pPr algn="r" rtl="1"/>
            <a:br>
              <a:rPr lang="ar-EG" sz="2000" noProof="1"/>
            </a:br>
            <a:r>
              <a:rPr lang="ar-EG" sz="2000" noProof="1"/>
              <a:t>"</a:t>
            </a:r>
            <a:r>
              <a:rPr lang="ar-EG" sz="2000" b="1" noProof="1"/>
              <a:t>لا يتحسن الأداء إلا عندما نعرف الواقع بشفافية ودون تجميل."</a:t>
            </a:r>
          </a:p>
        </p:txBody>
      </p:sp>
      <p:sp>
        <p:nvSpPr>
          <p:cNvPr id="6" name="Rectangle 5"/>
          <p:cNvSpPr/>
          <p:nvPr/>
        </p:nvSpPr>
        <p:spPr>
          <a:xfrm>
            <a:off x="731520" y="1645920"/>
            <a:ext cx="5242255" cy="201168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7" name="TextBox 6"/>
          <p:cNvSpPr txBox="1"/>
          <p:nvPr/>
        </p:nvSpPr>
        <p:spPr>
          <a:xfrm>
            <a:off x="914400" y="1828800"/>
            <a:ext cx="4876495" cy="1446550"/>
          </a:xfrm>
          <a:prstGeom prst="rect">
            <a:avLst/>
          </a:prstGeom>
          <a:noFill/>
        </p:spPr>
        <p:txBody>
          <a:bodyPr wrap="square">
            <a:spAutoFit/>
          </a:bodyPr>
          <a:lstStyle/>
          <a:p>
            <a:pPr algn="r" rtl="1">
              <a:defRPr sz="1600" b="1">
                <a:solidFill>
                  <a:srgbClr val="16A085"/>
                </a:solidFill>
              </a:defRPr>
            </a:pPr>
            <a:r>
              <a:rPr lang="ar-EG" sz="2800" noProof="1"/>
              <a:t>💬 القرارات الرشيدة</a:t>
            </a:r>
          </a:p>
          <a:p>
            <a:pPr algn="r" rtl="1"/>
            <a:br>
              <a:rPr lang="ar-EG" sz="2000" b="1" noProof="1"/>
            </a:br>
            <a:r>
              <a:rPr lang="ar-EG" sz="2000" b="1" noProof="1"/>
              <a:t>"البيانات تصنع القرارات، ولا مجال للتكهنات في التخطيط."</a:t>
            </a:r>
          </a:p>
        </p:txBody>
      </p:sp>
      <p:sp>
        <p:nvSpPr>
          <p:cNvPr id="8" name="Rectangle 7"/>
          <p:cNvSpPr/>
          <p:nvPr/>
        </p:nvSpPr>
        <p:spPr>
          <a:xfrm>
            <a:off x="6217920" y="3931920"/>
            <a:ext cx="5242255" cy="2011680"/>
          </a:xfrm>
          <a:prstGeom prst="rect">
            <a:avLst/>
          </a:prstGeom>
          <a:solidFill>
            <a:srgbClr val="F5F7F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9" name="TextBox 8"/>
          <p:cNvSpPr txBox="1"/>
          <p:nvPr/>
        </p:nvSpPr>
        <p:spPr>
          <a:xfrm>
            <a:off x="6400800" y="4114800"/>
            <a:ext cx="4876495" cy="1446550"/>
          </a:xfrm>
          <a:prstGeom prst="rect">
            <a:avLst/>
          </a:prstGeom>
          <a:noFill/>
        </p:spPr>
        <p:txBody>
          <a:bodyPr wrap="square">
            <a:spAutoFit/>
          </a:bodyPr>
          <a:lstStyle/>
          <a:p>
            <a:pPr algn="r" rtl="1">
              <a:defRPr sz="1600" b="1">
                <a:solidFill>
                  <a:srgbClr val="16A085"/>
                </a:solidFill>
              </a:defRPr>
            </a:pPr>
            <a:r>
              <a:rPr lang="ar-EG" sz="2800" noProof="1"/>
              <a:t>💬 الفاعلية الميدانية</a:t>
            </a:r>
          </a:p>
          <a:p>
            <a:pPr algn="r" rtl="1"/>
            <a:br>
              <a:rPr lang="ar-EG" sz="2000" noProof="1"/>
            </a:br>
            <a:r>
              <a:rPr lang="ar-EG" sz="2000" noProof="1"/>
              <a:t>"</a:t>
            </a:r>
            <a:r>
              <a:rPr lang="ar-EG" sz="2000" b="1" noProof="1"/>
              <a:t>المبادرات النوعية تصنع الفرق، والتنفيذ هو المحك الحقيقي."</a:t>
            </a:r>
          </a:p>
        </p:txBody>
      </p:sp>
      <p:sp>
        <p:nvSpPr>
          <p:cNvPr id="10" name="Rectangle 9"/>
          <p:cNvSpPr/>
          <p:nvPr/>
        </p:nvSpPr>
        <p:spPr>
          <a:xfrm>
            <a:off x="731520" y="3931920"/>
            <a:ext cx="5242255" cy="2011680"/>
          </a:xfrm>
          <a:prstGeom prst="rect">
            <a:avLst/>
          </a:prstGeom>
          <a:solidFill>
            <a:srgbClr val="F5F7FA"/>
          </a:solidFill>
          <a:ln w="12700">
            <a:solidFill>
              <a:srgbClr val="1A25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EG" noProof="1"/>
          </a:p>
        </p:txBody>
      </p:sp>
      <p:sp>
        <p:nvSpPr>
          <p:cNvPr id="11" name="TextBox 10"/>
          <p:cNvSpPr txBox="1"/>
          <p:nvPr/>
        </p:nvSpPr>
        <p:spPr>
          <a:xfrm>
            <a:off x="914400" y="4114800"/>
            <a:ext cx="4876495" cy="1446550"/>
          </a:xfrm>
          <a:prstGeom prst="rect">
            <a:avLst/>
          </a:prstGeom>
          <a:noFill/>
        </p:spPr>
        <p:txBody>
          <a:bodyPr wrap="square">
            <a:spAutoFit/>
          </a:bodyPr>
          <a:lstStyle/>
          <a:p>
            <a:pPr algn="r" rtl="1">
              <a:defRPr sz="1600" b="1">
                <a:solidFill>
                  <a:srgbClr val="1A2530"/>
                </a:solidFill>
              </a:defRPr>
            </a:pPr>
            <a:r>
              <a:rPr lang="ar-EG" sz="2800" noProof="1"/>
              <a:t>💬 الأثر المستدام</a:t>
            </a:r>
          </a:p>
          <a:p>
            <a:pPr algn="r" rtl="1"/>
            <a:br>
              <a:rPr lang="ar-EG" sz="2000" b="1" noProof="1"/>
            </a:br>
            <a:r>
              <a:rPr lang="ar-EG" sz="2000" b="1" noProof="1"/>
              <a:t>"الاستدامة هي ما يحول النجاح العابر إلى تميز مؤسسي مستمر."</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750">
        <p15:prstTrans prst="peelOff"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plus(in)">
                                      <p:cBhvr>
                                        <p:cTn id="7" dur="2000"/>
                                        <p:tgtEl>
                                          <p:spTgt spid="3"/>
                                        </p:tgtEl>
                                      </p:cBhvr>
                                    </p:animEffect>
                                  </p:childTnLst>
                                </p:cTn>
                              </p:par>
                              <p:par>
                                <p:cTn id="8" presetID="13" presetClass="entr" presetSubtype="16"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plus(in)">
                                      <p:cBhvr>
                                        <p:cTn id="10" dur="2000"/>
                                        <p:tgtEl>
                                          <p:spTgt spid="4"/>
                                        </p:tgtEl>
                                      </p:cBhvr>
                                    </p:animEffect>
                                  </p:childTnLst>
                                </p:cTn>
                              </p:par>
                              <p:par>
                                <p:cTn id="11" presetID="13"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plus(in)">
                                      <p:cBhvr>
                                        <p:cTn id="13" dur="2000"/>
                                        <p:tgtEl>
                                          <p:spTgt spid="5"/>
                                        </p:tgtEl>
                                      </p:cBhvr>
                                    </p:animEffect>
                                  </p:childTnLst>
                                </p:cTn>
                              </p:par>
                              <p:par>
                                <p:cTn id="14" presetID="1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plus(in)">
                                      <p:cBhvr>
                                        <p:cTn id="16" dur="2000"/>
                                        <p:tgtEl>
                                          <p:spTgt spid="6"/>
                                        </p:tgtEl>
                                      </p:cBhvr>
                                    </p:animEffect>
                                  </p:childTnLst>
                                </p:cTn>
                              </p:par>
                              <p:par>
                                <p:cTn id="17" presetID="13" presetClass="entr" presetSubtype="16"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plus(in)">
                                      <p:cBhvr>
                                        <p:cTn id="19" dur="2000"/>
                                        <p:tgtEl>
                                          <p:spTgt spid="7"/>
                                        </p:tgtEl>
                                      </p:cBhvr>
                                    </p:animEffect>
                                  </p:childTnLst>
                                </p:cTn>
                              </p:par>
                              <p:par>
                                <p:cTn id="20" presetID="1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plus(in)">
                                      <p:cBhvr>
                                        <p:cTn id="22" dur="2000"/>
                                        <p:tgtEl>
                                          <p:spTgt spid="8"/>
                                        </p:tgtEl>
                                      </p:cBhvr>
                                    </p:animEffect>
                                  </p:childTnLst>
                                </p:cTn>
                              </p:par>
                              <p:par>
                                <p:cTn id="23" presetID="13" presetClass="entr" presetSubtype="16"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plus(in)">
                                      <p:cBhvr>
                                        <p:cTn id="25" dur="2000"/>
                                        <p:tgtEl>
                                          <p:spTgt spid="9"/>
                                        </p:tgtEl>
                                      </p:cBhvr>
                                    </p:animEffect>
                                  </p:childTnLst>
                                </p:cTn>
                              </p:par>
                              <p:par>
                                <p:cTn id="26" presetID="13" presetClass="entr" presetSubtype="16"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plus(in)">
                                      <p:cBhvr>
                                        <p:cTn id="28" dur="2000"/>
                                        <p:tgtEl>
                                          <p:spTgt spid="10"/>
                                        </p:tgtEl>
                                      </p:cBhvr>
                                    </p:animEffect>
                                  </p:childTnLst>
                                </p:cTn>
                              </p:par>
                              <p:par>
                                <p:cTn id="29" presetID="1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plus(in)">
                                      <p:cBhvr>
                                        <p:cTn id="3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p:bldP spid="8" grpId="0" animBg="1"/>
      <p:bldP spid="9" grpId="0"/>
      <p:bldP spid="10" grpId="0" animBg="1"/>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2354" y="596926"/>
            <a:ext cx="11123271" cy="4862870"/>
          </a:xfrm>
          <a:prstGeom prst="rect">
            <a:avLst/>
          </a:prstGeom>
          <a:noFill/>
        </p:spPr>
        <p:txBody>
          <a:bodyPr wrap="square">
            <a:spAutoFit/>
          </a:bodyPr>
          <a:lstStyle/>
          <a:p>
            <a:pPr algn="ctr">
              <a:defRPr sz="2000" b="1">
                <a:solidFill>
                  <a:srgbClr val="16A085"/>
                </a:solidFill>
              </a:defRPr>
            </a:pPr>
            <a:r>
              <a:rPr lang="ar-EG" sz="6000" noProof="1">
                <a:solidFill>
                  <a:srgbClr val="00B050"/>
                </a:solidFill>
              </a:rPr>
              <a:t>الرسالة الختامية</a:t>
            </a:r>
          </a:p>
          <a:p>
            <a:pPr algn="ctr">
              <a:spcBef>
                <a:spcPts val="1200"/>
              </a:spcBef>
              <a:spcAft>
                <a:spcPts val="1200"/>
              </a:spcAft>
            </a:pPr>
            <a:br>
              <a:rPr lang="ar-EG" sz="2800" noProof="1">
                <a:solidFill>
                  <a:schemeClr val="bg1"/>
                </a:solidFill>
              </a:rPr>
            </a:br>
            <a:r>
              <a:rPr lang="ar-EG" sz="2800" noProof="1">
                <a:solidFill>
                  <a:schemeClr val="bg1"/>
                </a:solidFill>
              </a:rPr>
              <a:t>"</a:t>
            </a:r>
            <a:r>
              <a:rPr lang="ar-EG" sz="4800" noProof="1">
                <a:solidFill>
                  <a:schemeClr val="bg1"/>
                </a:solidFill>
              </a:rPr>
              <a:t>خطة التحسين ليست وثيقة تُعد من أجل الاعتماد،</a:t>
            </a:r>
            <a:br>
              <a:rPr lang="ar-EG" sz="4800" noProof="1">
                <a:solidFill>
                  <a:schemeClr val="bg1"/>
                </a:solidFill>
              </a:rPr>
            </a:br>
            <a:r>
              <a:rPr lang="ar-EG" sz="4800" noProof="1">
                <a:solidFill>
                  <a:schemeClr val="bg1"/>
                </a:solidFill>
              </a:rPr>
              <a:t>بل ثقافة عمل تُمارس يوميًا</a:t>
            </a:r>
            <a:br>
              <a:rPr lang="ar-EG" sz="4800" noProof="1">
                <a:solidFill>
                  <a:schemeClr val="bg1"/>
                </a:solidFill>
              </a:rPr>
            </a:br>
            <a:r>
              <a:rPr lang="ar-EG" sz="4800" noProof="1">
                <a:solidFill>
                  <a:schemeClr val="bg1"/>
                </a:solidFill>
              </a:rPr>
              <a:t>ووسيلة لرفع جودة الأداء </a:t>
            </a:r>
          </a:p>
          <a:p>
            <a:pPr algn="ctr">
              <a:spcBef>
                <a:spcPts val="1200"/>
              </a:spcBef>
              <a:spcAft>
                <a:spcPts val="1200"/>
              </a:spcAft>
            </a:pPr>
            <a:r>
              <a:rPr lang="ar-EG" sz="4800" noProof="1">
                <a:solidFill>
                  <a:schemeClr val="bg1"/>
                </a:solidFill>
              </a:rPr>
              <a:t>وتحقيق أثر مستدام في تعلم الطالبات</a:t>
            </a:r>
            <a:r>
              <a:rPr lang="ar-EG" noProof="1"/>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6000" fill="hold"/>
                                        <p:tgtEl>
                                          <p:spTgt spid="4"/>
                                        </p:tgtEl>
                                        <p:attrNameLst>
                                          <p:attrName>ppt_x</p:attrName>
                                        </p:attrNameLst>
                                      </p:cBhvr>
                                      <p:tavLst>
                                        <p:tav tm="0">
                                          <p:val>
                                            <p:strVal val="#ppt_x"/>
                                          </p:val>
                                        </p:tav>
                                        <p:tav tm="100000">
                                          <p:val>
                                            <p:strVal val="#ppt_x"/>
                                          </p:val>
                                        </p:tav>
                                      </p:tavLst>
                                    </p:anim>
                                    <p:anim calcmode="lin" valueType="num">
                                      <p:cBhvr>
                                        <p:cTn id="8" dur="16000" fill="hold"/>
                                        <p:tgtEl>
                                          <p:spTgt spid="4"/>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377</TotalTime>
  <Words>3442</Words>
  <Application>Microsoft Office PowerPoint</Application>
  <PresentationFormat>Widescreen</PresentationFormat>
  <Paragraphs>580</Paragraphs>
  <Slides>58</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Aptos</vt:lpstr>
      <vt:lpstr>Arial</vt:lpstr>
      <vt:lpstr>Cairo</vt:lpstr>
      <vt:lpstr>Cairo Black</vt:lpstr>
      <vt:lpstr>Cairo ExtraBold</vt:lpstr>
      <vt:lpstr>Cairo SemiBold</vt:lpstr>
      <vt:lpstr>Calibri</vt:lpstr>
      <vt:lpstr>Tajawal</vt:lpstr>
      <vt:lpstr>Tajawal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eyad algharaz</cp:lastModifiedBy>
  <cp:revision>30</cp:revision>
  <dcterms:created xsi:type="dcterms:W3CDTF">2013-01-27T09:14:16Z</dcterms:created>
  <dcterms:modified xsi:type="dcterms:W3CDTF">2026-08-03T11:02:17Z</dcterms:modified>
  <cp:category/>
</cp:coreProperties>
</file>